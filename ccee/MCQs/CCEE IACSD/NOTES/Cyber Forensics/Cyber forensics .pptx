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6"/>
  </p:notesMasterIdLst>
  <p:sldIdLst>
    <p:sldId id="258" r:id="rId2"/>
    <p:sldId id="257" r:id="rId3"/>
    <p:sldId id="476" r:id="rId4"/>
    <p:sldId id="259" r:id="rId5"/>
    <p:sldId id="260" r:id="rId6"/>
    <p:sldId id="261" r:id="rId7"/>
    <p:sldId id="262" r:id="rId8"/>
    <p:sldId id="263" r:id="rId9"/>
    <p:sldId id="296" r:id="rId10"/>
    <p:sldId id="264" r:id="rId11"/>
    <p:sldId id="265" r:id="rId12"/>
    <p:sldId id="266" r:id="rId13"/>
    <p:sldId id="297" r:id="rId14"/>
    <p:sldId id="298" r:id="rId15"/>
    <p:sldId id="299" r:id="rId16"/>
    <p:sldId id="300" r:id="rId17"/>
    <p:sldId id="301" r:id="rId18"/>
    <p:sldId id="302" r:id="rId19"/>
    <p:sldId id="477" r:id="rId20"/>
    <p:sldId id="303" r:id="rId21"/>
    <p:sldId id="304" r:id="rId22"/>
    <p:sldId id="478" r:id="rId23"/>
    <p:sldId id="305" r:id="rId24"/>
    <p:sldId id="306" r:id="rId25"/>
    <p:sldId id="307" r:id="rId26"/>
    <p:sldId id="308" r:id="rId27"/>
    <p:sldId id="309" r:id="rId28"/>
    <p:sldId id="310" r:id="rId29"/>
    <p:sldId id="311" r:id="rId30"/>
    <p:sldId id="312" r:id="rId31"/>
    <p:sldId id="313" r:id="rId32"/>
    <p:sldId id="314" r:id="rId33"/>
    <p:sldId id="315" r:id="rId34"/>
    <p:sldId id="316" r:id="rId35"/>
    <p:sldId id="317" r:id="rId36"/>
    <p:sldId id="318" r:id="rId37"/>
    <p:sldId id="319" r:id="rId38"/>
    <p:sldId id="320" r:id="rId39"/>
    <p:sldId id="321" r:id="rId40"/>
    <p:sldId id="267" r:id="rId41"/>
    <p:sldId id="322" r:id="rId42"/>
    <p:sldId id="269" r:id="rId43"/>
    <p:sldId id="270" r:id="rId44"/>
    <p:sldId id="271" r:id="rId45"/>
    <p:sldId id="272" r:id="rId46"/>
    <p:sldId id="274" r:id="rId47"/>
    <p:sldId id="275" r:id="rId48"/>
    <p:sldId id="276" r:id="rId49"/>
    <p:sldId id="277" r:id="rId50"/>
    <p:sldId id="278" r:id="rId51"/>
    <p:sldId id="279" r:id="rId52"/>
    <p:sldId id="280" r:id="rId53"/>
    <p:sldId id="281" r:id="rId54"/>
    <p:sldId id="282" r:id="rId55"/>
    <p:sldId id="283" r:id="rId56"/>
    <p:sldId id="284" r:id="rId57"/>
    <p:sldId id="285" r:id="rId58"/>
    <p:sldId id="286" r:id="rId59"/>
    <p:sldId id="287" r:id="rId60"/>
    <p:sldId id="323" r:id="rId61"/>
    <p:sldId id="324" r:id="rId62"/>
    <p:sldId id="288" r:id="rId63"/>
    <p:sldId id="289" r:id="rId64"/>
    <p:sldId id="290" r:id="rId65"/>
    <p:sldId id="291" r:id="rId66"/>
    <p:sldId id="292" r:id="rId67"/>
    <p:sldId id="293" r:id="rId68"/>
    <p:sldId id="294" r:id="rId69"/>
    <p:sldId id="295" r:id="rId70"/>
    <p:sldId id="325" r:id="rId71"/>
    <p:sldId id="327" r:id="rId72"/>
    <p:sldId id="329" r:id="rId73"/>
    <p:sldId id="330" r:id="rId74"/>
    <p:sldId id="326" r:id="rId75"/>
    <p:sldId id="332" r:id="rId76"/>
    <p:sldId id="335" r:id="rId77"/>
    <p:sldId id="336" r:id="rId78"/>
    <p:sldId id="338" r:id="rId79"/>
    <p:sldId id="339" r:id="rId80"/>
    <p:sldId id="340" r:id="rId81"/>
    <p:sldId id="341" r:id="rId82"/>
    <p:sldId id="342" r:id="rId83"/>
    <p:sldId id="343" r:id="rId84"/>
    <p:sldId id="344" r:id="rId85"/>
    <p:sldId id="345" r:id="rId86"/>
    <p:sldId id="346" r:id="rId87"/>
    <p:sldId id="347" r:id="rId88"/>
    <p:sldId id="348" r:id="rId89"/>
    <p:sldId id="356" r:id="rId90"/>
    <p:sldId id="357" r:id="rId91"/>
    <p:sldId id="358" r:id="rId92"/>
    <p:sldId id="365" r:id="rId93"/>
    <p:sldId id="367" r:id="rId94"/>
    <p:sldId id="369" r:id="rId95"/>
    <p:sldId id="370" r:id="rId96"/>
    <p:sldId id="373" r:id="rId97"/>
    <p:sldId id="408" r:id="rId98"/>
    <p:sldId id="409" r:id="rId99"/>
    <p:sldId id="378" r:id="rId100"/>
    <p:sldId id="379" r:id="rId101"/>
    <p:sldId id="380" r:id="rId102"/>
    <p:sldId id="381" r:id="rId103"/>
    <p:sldId id="383" r:id="rId104"/>
    <p:sldId id="384" r:id="rId105"/>
    <p:sldId id="386" r:id="rId106"/>
    <p:sldId id="387" r:id="rId107"/>
    <p:sldId id="388" r:id="rId108"/>
    <p:sldId id="389" r:id="rId109"/>
    <p:sldId id="390" r:id="rId110"/>
    <p:sldId id="391" r:id="rId111"/>
    <p:sldId id="392" r:id="rId112"/>
    <p:sldId id="393" r:id="rId113"/>
    <p:sldId id="394" r:id="rId114"/>
    <p:sldId id="395" r:id="rId115"/>
    <p:sldId id="397" r:id="rId116"/>
    <p:sldId id="398" r:id="rId117"/>
    <p:sldId id="399" r:id="rId118"/>
    <p:sldId id="400" r:id="rId119"/>
    <p:sldId id="401" r:id="rId120"/>
    <p:sldId id="402" r:id="rId121"/>
    <p:sldId id="403" r:id="rId122"/>
    <p:sldId id="404" r:id="rId123"/>
    <p:sldId id="405" r:id="rId124"/>
    <p:sldId id="406" r:id="rId125"/>
    <p:sldId id="407" r:id="rId126"/>
    <p:sldId id="414" r:id="rId127"/>
    <p:sldId id="413" r:id="rId128"/>
    <p:sldId id="415" r:id="rId129"/>
    <p:sldId id="418" r:id="rId130"/>
    <p:sldId id="416" r:id="rId131"/>
    <p:sldId id="417" r:id="rId132"/>
    <p:sldId id="419" r:id="rId133"/>
    <p:sldId id="420" r:id="rId134"/>
    <p:sldId id="421" r:id="rId135"/>
    <p:sldId id="422" r:id="rId136"/>
    <p:sldId id="423" r:id="rId137"/>
    <p:sldId id="424" r:id="rId138"/>
    <p:sldId id="425" r:id="rId139"/>
    <p:sldId id="426" r:id="rId140"/>
    <p:sldId id="427" r:id="rId141"/>
    <p:sldId id="428" r:id="rId142"/>
    <p:sldId id="429" r:id="rId143"/>
    <p:sldId id="431" r:id="rId144"/>
    <p:sldId id="432" r:id="rId145"/>
    <p:sldId id="435" r:id="rId146"/>
    <p:sldId id="433" r:id="rId147"/>
    <p:sldId id="434" r:id="rId148"/>
    <p:sldId id="436" r:id="rId149"/>
    <p:sldId id="430" r:id="rId150"/>
    <p:sldId id="437" r:id="rId151"/>
    <p:sldId id="438" r:id="rId152"/>
    <p:sldId id="439" r:id="rId153"/>
    <p:sldId id="440" r:id="rId154"/>
    <p:sldId id="441" r:id="rId155"/>
    <p:sldId id="442" r:id="rId156"/>
    <p:sldId id="443" r:id="rId157"/>
    <p:sldId id="444" r:id="rId158"/>
    <p:sldId id="445" r:id="rId159"/>
    <p:sldId id="446" r:id="rId160"/>
    <p:sldId id="447" r:id="rId161"/>
    <p:sldId id="449" r:id="rId162"/>
    <p:sldId id="450" r:id="rId163"/>
    <p:sldId id="452" r:id="rId164"/>
    <p:sldId id="451" r:id="rId165"/>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2" d="100"/>
          <a:sy n="82" d="100"/>
        </p:scale>
        <p:origin x="147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F05B2CCD-685A-4F26-A7BF-E4F470CE89E2}"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1/11/2024</a:t>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p>
            <a:pPr lvl="0" algn="r" eaLnBrk="1" hangingPunct="1">
              <a:buNone/>
            </a:pPr>
            <a:fld id="{9A0DB2DC-4C9A-4742-B13C-FB6460FD3503}" type="slidenum">
              <a:rPr lang="en-US" sz="1200" dirty="0"/>
              <a:t>‹#›</a:t>
            </a:fld>
            <a:endParaRPr 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sz="1200" dirty="0"/>
              <a:t>52</a:t>
            </a:fld>
            <a:endParaRPr lang="en-US" sz="1200" dirty="0"/>
          </a:p>
        </p:txBody>
      </p:sp>
      <p:sp>
        <p:nvSpPr>
          <p:cNvPr id="177155" name="Rectangle 2"/>
          <p:cNvSpPr>
            <a:spLocks noGrp="1" noRot="1" noChangeAspect="1" noTextEdit="1"/>
          </p:cNvSpPr>
          <p:nvPr>
            <p:ph type="sldImg"/>
          </p:nvPr>
        </p:nvSpPr>
        <p:spPr>
          <a:ln>
            <a:solidFill>
              <a:srgbClr val="000000">
                <a:alpha val="100000"/>
              </a:srgbClr>
            </a:solidFill>
            <a:miter lim="800000"/>
          </a:ln>
        </p:spPr>
      </p:sp>
      <p:sp>
        <p:nvSpPr>
          <p:cNvPr id="177156" name="Rectangle 3"/>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dirty="0"/>
              <a:t>Figure 2-22</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81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Font typeface="Times New Roman" panose="02020603050405020304" pitchFamily="18" charset="0"/>
            </a:pPr>
            <a:fld id="{9A0DB2DC-4C9A-4742-B13C-FB6460FD3503}" type="slidenum">
              <a:rPr lang="en-GB" altLang="x-none" sz="1200" dirty="0">
                <a:latin typeface="Times New Roman" panose="02020603050405020304" pitchFamily="18" charset="0"/>
              </a:rPr>
              <a:t>89</a:t>
            </a:fld>
            <a:endParaRPr lang="en-GB" altLang="x-none" sz="1200" dirty="0">
              <a:latin typeface="Times New Roman" panose="02020603050405020304" pitchFamily="18" charset="0"/>
            </a:endParaRPr>
          </a:p>
        </p:txBody>
      </p:sp>
      <p:sp>
        <p:nvSpPr>
          <p:cNvPr id="178179" name="Rectangle 1"/>
          <p:cNvSpPr>
            <a:spLocks noGrp="1" noRot="1" noChangeAspect="1" noTextEdit="1"/>
          </p:cNvSpPr>
          <p:nvPr>
            <p:ph type="sldImg"/>
          </p:nvPr>
        </p:nvSpPr>
        <p:spPr>
          <a:ln>
            <a:solidFill>
              <a:srgbClr val="000000">
                <a:alpha val="100000"/>
              </a:srgbClr>
            </a:solidFill>
            <a:miter lim="800000"/>
          </a:ln>
        </p:spPr>
      </p:sp>
      <p:sp>
        <p:nvSpPr>
          <p:cNvPr id="178180" name="Rectangle 2"/>
          <p:cNvSpPr>
            <a:spLocks noGrp="1"/>
          </p:cNvSpPr>
          <p:nvPr>
            <p:ph type="body" idx="1"/>
          </p:nvPr>
        </p:nvSpPr>
        <p:spPr>
          <a:xfrm>
            <a:off x="914400" y="4343400"/>
            <a:ext cx="5029200" cy="4114800"/>
          </a:xfrm>
          <a:noFill/>
          <a:ln>
            <a:noFill/>
          </a:ln>
        </p:spPr>
        <p:txBody>
          <a:bodyPr wrap="none" lIns="91440" tIns="45720" rIns="91440" bIns="45720" anchor="ctr" anchorCtr="0"/>
          <a:lstStyle/>
          <a:p>
            <a:pPr lvl="0" eaLnBrk="1" hangingPunct="1">
              <a:spcBef>
                <a:spcPct val="0"/>
              </a:spcBef>
            </a:pPr>
            <a:endParaRPr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920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Font typeface="Times New Roman" panose="02020603050405020304" pitchFamily="18" charset="0"/>
            </a:pPr>
            <a:fld id="{9A0DB2DC-4C9A-4742-B13C-FB6460FD3503}" type="slidenum">
              <a:rPr lang="en-GB" altLang="x-none" sz="1200" dirty="0">
                <a:latin typeface="Times New Roman" panose="02020603050405020304" pitchFamily="18" charset="0"/>
              </a:rPr>
              <a:t>90</a:t>
            </a:fld>
            <a:endParaRPr lang="en-GB" altLang="x-none" sz="1200" dirty="0">
              <a:latin typeface="Times New Roman" panose="02020603050405020304" pitchFamily="18" charset="0"/>
            </a:endParaRPr>
          </a:p>
        </p:txBody>
      </p:sp>
      <p:sp>
        <p:nvSpPr>
          <p:cNvPr id="179203" name="Rectangle 1"/>
          <p:cNvSpPr>
            <a:spLocks noGrp="1" noRot="1" noChangeAspect="1" noTextEdit="1"/>
          </p:cNvSpPr>
          <p:nvPr>
            <p:ph type="sldImg"/>
          </p:nvPr>
        </p:nvSpPr>
        <p:spPr>
          <a:ln>
            <a:solidFill>
              <a:srgbClr val="000000">
                <a:alpha val="100000"/>
              </a:srgbClr>
            </a:solidFill>
            <a:miter lim="800000"/>
          </a:ln>
        </p:spPr>
      </p:sp>
      <p:sp>
        <p:nvSpPr>
          <p:cNvPr id="179204" name="Rectangle 2"/>
          <p:cNvSpPr>
            <a:spLocks noGrp="1"/>
          </p:cNvSpPr>
          <p:nvPr>
            <p:ph type="body" idx="1"/>
          </p:nvPr>
        </p:nvSpPr>
        <p:spPr>
          <a:xfrm>
            <a:off x="914400" y="4343400"/>
            <a:ext cx="5029200" cy="4114800"/>
          </a:xfrm>
          <a:noFill/>
          <a:ln>
            <a:noFill/>
          </a:ln>
        </p:spPr>
        <p:txBody>
          <a:bodyPr wrap="none" lIns="91440" tIns="45720" rIns="91440" bIns="45720" anchor="ctr" anchorCtr="0"/>
          <a:lstStyle/>
          <a:p>
            <a:pPr lvl="0" eaLnBrk="1" hangingPunct="1">
              <a:spcBef>
                <a:spcPct val="0"/>
              </a:spcBef>
            </a:pPr>
            <a:endParaRPr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02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Font typeface="Times New Roman" panose="02020603050405020304" pitchFamily="18" charset="0"/>
            </a:pPr>
            <a:fld id="{9A0DB2DC-4C9A-4742-B13C-FB6460FD3503}" type="slidenum">
              <a:rPr lang="en-GB" altLang="x-none" sz="1200" dirty="0">
                <a:latin typeface="Times New Roman" panose="02020603050405020304" pitchFamily="18" charset="0"/>
              </a:rPr>
              <a:t>91</a:t>
            </a:fld>
            <a:endParaRPr lang="en-GB" altLang="x-none" sz="1200" dirty="0">
              <a:latin typeface="Times New Roman" panose="02020603050405020304" pitchFamily="18" charset="0"/>
            </a:endParaRPr>
          </a:p>
        </p:txBody>
      </p:sp>
      <p:sp>
        <p:nvSpPr>
          <p:cNvPr id="180227" name="Rectangle 1"/>
          <p:cNvSpPr>
            <a:spLocks noGrp="1" noRot="1" noChangeAspect="1" noTextEdit="1"/>
          </p:cNvSpPr>
          <p:nvPr>
            <p:ph type="sldImg"/>
          </p:nvPr>
        </p:nvSpPr>
        <p:spPr>
          <a:ln>
            <a:solidFill>
              <a:srgbClr val="000000">
                <a:alpha val="100000"/>
              </a:srgbClr>
            </a:solidFill>
            <a:miter lim="800000"/>
          </a:ln>
        </p:spPr>
      </p:sp>
      <p:sp>
        <p:nvSpPr>
          <p:cNvPr id="180228" name="Rectangle 2"/>
          <p:cNvSpPr>
            <a:spLocks noGrp="1"/>
          </p:cNvSpPr>
          <p:nvPr>
            <p:ph type="body" idx="1"/>
          </p:nvPr>
        </p:nvSpPr>
        <p:spPr>
          <a:xfrm>
            <a:off x="914400" y="4343400"/>
            <a:ext cx="5029200" cy="4114800"/>
          </a:xfrm>
          <a:noFill/>
          <a:ln>
            <a:noFill/>
          </a:ln>
        </p:spPr>
        <p:txBody>
          <a:bodyPr wrap="none" lIns="91440" tIns="45720" rIns="91440" bIns="45720" anchor="ctr" anchorCtr="0"/>
          <a:lstStyle/>
          <a:p>
            <a:pPr lvl="0" eaLnBrk="1" hangingPunct="1">
              <a:spcBef>
                <a:spcPct val="0"/>
              </a:spcBef>
            </a:pPr>
            <a:endParaRPr dirty="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Rectangle 11"/>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Rectangle 12"/>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Rectangle 14"/>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smtClean="0"/>
              <a:t>Click to edit Master title style</a:t>
            </a:r>
            <a:endParaRPr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6" name="Date Placeholder 27"/>
          <p:cNvSpPr>
            <a:spLocks noGrp="1"/>
          </p:cNvSpPr>
          <p:nvPr>
            <p:ph type="dt" sz="half" idx="2"/>
          </p:nvPr>
        </p:nvSpPr>
        <p:spPr>
          <a:xfrm>
            <a:off x="6400800" y="6354763"/>
            <a:ext cx="2286000" cy="366713"/>
          </a:xfrm>
          <a:prstGeom prst="rect">
            <a:avLst/>
          </a:prstGeom>
        </p:spPr>
        <p:txBody>
          <a:bodyPr vert="horz"/>
          <a:lstStyle>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fld id="{F872EB43-6E76-41AB-8541-876C15E807CC}" type="datetimeFigureOut">
              <a:rPr kumimoji="0" lang="en-US" sz="1400" b="0" i="0" u="none" strike="noStrike" kern="1200" cap="none" spc="0" normalizeH="0" baseline="0" noProof="0">
                <a:ln>
                  <a:noFill/>
                </a:ln>
                <a:solidFill>
                  <a:schemeClr val="tx2"/>
                </a:solidFill>
                <a:effectLst/>
                <a:uLnTx/>
                <a:uFillTx/>
                <a:latin typeface="+mn-lt"/>
                <a:ea typeface="+mn-ea"/>
                <a:cs typeface="+mn-cs"/>
              </a:rPr>
              <a:t>1/11/2024</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7" name="Footer Placeholder 16"/>
          <p:cNvSpPr>
            <a:spLocks noGrp="1"/>
          </p:cNvSpPr>
          <p:nvPr>
            <p:ph type="ftr" sz="quarter" idx="3"/>
          </p:nvPr>
        </p:nvSpPr>
        <p:spPr>
          <a:xfrm>
            <a:off x="2898775" y="6354763"/>
            <a:ext cx="3475038" cy="366713"/>
          </a:xfrm>
          <a:prstGeom prst="rect">
            <a:avLst/>
          </a:prstGeom>
        </p:spPr>
        <p:txBody>
          <a:bodyPr vert="horz"/>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8" name="Slide Number Placeholder 28"/>
          <p:cNvSpPr>
            <a:spLocks noGrp="1"/>
          </p:cNvSpPr>
          <p:nvPr>
            <p:ph type="sldNum" sz="quarter" idx="4"/>
          </p:nvPr>
        </p:nvSpPr>
        <p:spPr>
          <a:xfrm>
            <a:off x="1216025" y="6354763"/>
            <a:ext cx="1219200" cy="366713"/>
          </a:xfrm>
          <a:prstGeom prst="rect">
            <a:avLst/>
          </a:prstGeom>
        </p:spPr>
        <p:txBody>
          <a:bodyPr vert="horz"/>
          <a:lstStyle/>
          <a:p>
            <a:pPr>
              <a:buNone/>
            </a:pPr>
            <a:fld id="{9A0DB2DC-4C9A-4742-B13C-FB6460FD3503}" type="slidenum">
              <a:rPr lang="en-US" dirty="0">
                <a:latin typeface="Gill Sans MT"/>
              </a:rPr>
              <a:t>‹#›</a:t>
            </a:fld>
            <a:endParaRPr lang="en-US" dirty="0">
              <a:latin typeface="Gill Sans M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8" name="Content Placeholder 7"/>
          <p:cNvSpPr>
            <a:spLocks noGrp="1"/>
          </p:cNvSpPr>
          <p:nvPr>
            <p:ph sz="quarter" idx="1"/>
          </p:nvPr>
        </p:nvSpPr>
        <p:spPr>
          <a:xfrm>
            <a:off x="457200" y="1219200"/>
            <a:ext cx="8229600" cy="4937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91D5C8-3907-4477-AA53-BBEEA4ED11B4}" type="datetimeFigureOut">
              <a:rPr kumimoji="0" lang="en-US" sz="1400" b="0" i="0" u="none" strike="noStrike" kern="1200" cap="none" spc="0" normalizeH="0" baseline="0" noProof="0">
                <a:ln>
                  <a:noFill/>
                </a:ln>
                <a:solidFill>
                  <a:schemeClr val="tx2"/>
                </a:solidFill>
                <a:effectLst/>
                <a:uLnTx/>
                <a:uFillTx/>
                <a:latin typeface="+mn-lt"/>
                <a:ea typeface="+mn-ea"/>
                <a:cs typeface="+mn-cs"/>
              </a:rPr>
              <a:t>1/11/2024</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dirty="0"/>
              <a:t>‹#›</a:t>
            </a:fld>
            <a:endParaRPr 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1" name="Rectangle 10"/>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Rectangle 11"/>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13" name="Date Placeholder 3"/>
          <p:cNvSpPr>
            <a:spLocks noGrp="1"/>
          </p:cNvSpPr>
          <p:nvPr>
            <p:ph type="dt" sz="half" idx="2"/>
          </p:nvPr>
        </p:nvSpPr>
        <p:spPr>
          <a:xfrm>
            <a:off x="6400800" y="6354763"/>
            <a:ext cx="2286000" cy="366713"/>
          </a:xfrm>
          <a:prstGeom prst="rect">
            <a:avLst/>
          </a:prstGeom>
        </p:spPr>
        <p:txBody>
          <a:bodyPr vert="horz"/>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16F77619-A717-4807-AF76-5C93381A85E9}" type="datetimeFigureOut">
              <a:rPr kumimoji="0" lang="en-US" sz="1400" b="0" i="0" u="none" strike="noStrike" kern="1200" cap="none" spc="0" normalizeH="0" baseline="0" noProof="0">
                <a:ln>
                  <a:noFill/>
                </a:ln>
                <a:solidFill>
                  <a:schemeClr val="tx2"/>
                </a:solidFill>
                <a:effectLst/>
                <a:uLnTx/>
                <a:uFillTx/>
                <a:latin typeface="+mn-lt"/>
                <a:ea typeface="+mn-ea"/>
                <a:cs typeface="+mn-cs"/>
              </a:rPr>
              <a:t>1/11/2024</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5" name="Footer Placeholder 4"/>
          <p:cNvSpPr>
            <a:spLocks noGrp="1"/>
          </p:cNvSpPr>
          <p:nvPr>
            <p:ph type="ftr" sz="quarter" idx="3"/>
          </p:nvPr>
        </p:nvSpPr>
        <p:spPr>
          <a:xfrm>
            <a:off x="2898775" y="6354763"/>
            <a:ext cx="3475038" cy="366713"/>
          </a:xfrm>
          <a:prstGeom prst="rect">
            <a:avLst/>
          </a:prstGeom>
        </p:spPr>
        <p:txBody>
          <a:bodyPr vert="horz"/>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6" name="Slide Number Placeholder 5"/>
          <p:cNvSpPr>
            <a:spLocks noGrp="1"/>
          </p:cNvSpPr>
          <p:nvPr>
            <p:ph type="sldNum" sz="quarter" idx="4"/>
          </p:nvPr>
        </p:nvSpPr>
        <p:spPr>
          <a:xfrm>
            <a:off x="1069975" y="6354763"/>
            <a:ext cx="1520825" cy="366713"/>
          </a:xfrm>
          <a:prstGeom prst="rect">
            <a:avLst/>
          </a:prstGeom>
        </p:spPr>
        <p:txBody>
          <a:bodyPr vert="horz"/>
          <a:lstStyle/>
          <a:p>
            <a:pPr>
              <a:buNone/>
            </a:pPr>
            <a:fld id="{9A0DB2DC-4C9A-4742-B13C-FB6460FD3503}" type="slidenum">
              <a:rPr lang="en-US" dirty="0">
                <a:latin typeface="Gill Sans MT"/>
              </a:rPr>
              <a:t>‹#›</a:t>
            </a:fld>
            <a:endParaRPr lang="en-US" dirty="0">
              <a:latin typeface="Gill Sans MT"/>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smtClean="0"/>
              <a:t>Click to edit Master title style</a:t>
            </a:r>
            <a:endParaRPr lang="en-US"/>
          </a:p>
        </p:txBody>
      </p:sp>
      <p:sp>
        <p:nvSpPr>
          <p:cNvPr id="9" name="Content Placeholder 8"/>
          <p:cNvSpPr>
            <a:spLocks noGrp="1"/>
          </p:cNvSpPr>
          <p:nvPr>
            <p:ph sz="quarter" idx="1"/>
          </p:nvPr>
        </p:nvSpPr>
        <p:spPr>
          <a:xfrm>
            <a:off x="457200" y="1219200"/>
            <a:ext cx="4041648" cy="4937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2"/>
          </p:nvPr>
        </p:nvSpPr>
        <p:spPr>
          <a:xfrm>
            <a:off x="4632198" y="1216152"/>
            <a:ext cx="4041648" cy="4937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91D5C8-3907-4477-AA53-BBEEA4ED11B4}" type="datetimeFigureOut">
              <a:rPr kumimoji="0" lang="en-US" sz="1400" b="0" i="0" u="none" strike="noStrike" kern="1200" cap="none" spc="0" normalizeH="0" baseline="0" noProof="0">
                <a:ln>
                  <a:noFill/>
                </a:ln>
                <a:solidFill>
                  <a:schemeClr val="tx2"/>
                </a:solidFill>
                <a:effectLst/>
                <a:uLnTx/>
                <a:uFillTx/>
                <a:latin typeface="+mn-lt"/>
                <a:ea typeface="+mn-ea"/>
                <a:cs typeface="+mn-cs"/>
              </a:rPr>
              <a:t>1/11/2024</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dirty="0"/>
              <a:t>‹#›</a:t>
            </a:fld>
            <a:endParaRPr 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quarter" idx="4"/>
          </p:nvPr>
        </p:nvSpPr>
        <p:spPr>
          <a:xfrm>
            <a:off x="4648200" y="2133600"/>
            <a:ext cx="40386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91D5C8-3907-4477-AA53-BBEEA4ED11B4}" type="datetimeFigureOut">
              <a:rPr kumimoji="0" lang="en-US" sz="1400" b="0" i="0" u="none" strike="noStrike" kern="1200" cap="none" spc="0" normalizeH="0" baseline="0" noProof="0">
                <a:ln>
                  <a:noFill/>
                </a:ln>
                <a:solidFill>
                  <a:schemeClr val="tx2"/>
                </a:solidFill>
                <a:effectLst/>
                <a:uLnTx/>
                <a:uFillTx/>
                <a:latin typeface="+mn-lt"/>
                <a:ea typeface="+mn-ea"/>
                <a:cs typeface="+mn-cs"/>
              </a:rPr>
              <a:t>1/11/2024</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dirty="0"/>
              <a:t>‹#›</a:t>
            </a:fld>
            <a:endParaRPr 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Isosceles Triangle 10"/>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457200" y="228600"/>
            <a:ext cx="8229600" cy="914400"/>
          </a:xfrm>
        </p:spPr>
        <p:txBody>
          <a:bodyPr/>
          <a:lstStyle/>
          <a:p>
            <a:r>
              <a:rPr lang="en-US" smtClean="0"/>
              <a:t>Click to edit Master title style</a:t>
            </a:r>
            <a:endParaRPr lang="en-US"/>
          </a:p>
        </p:txBody>
      </p:sp>
      <p:sp>
        <p:nvSpPr>
          <p:cNvPr id="12" name="Date Placeholder 2"/>
          <p:cNvSpPr>
            <a:spLocks noGrp="1"/>
          </p:cNvSpPr>
          <p:nvPr>
            <p:ph type="dt" sz="half" idx="2"/>
          </p:nvPr>
        </p:nvSpPr>
        <p:spPr>
          <a:xfrm>
            <a:off x="6400800" y="6356350"/>
            <a:ext cx="2289175" cy="365125"/>
          </a:xfrm>
          <a:prstGeom prst="rect">
            <a:avLst/>
          </a:prstGeom>
        </p:spPr>
        <p:txBody>
          <a:bodyPr vert="horz"/>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18DB566E-AA71-44EA-8608-CF53D5C56B14}" type="datetimeFigureOut">
              <a:rPr kumimoji="0" lang="en-US" sz="1400" b="0" i="0" u="none" strike="noStrike" kern="1200" cap="none" spc="0" normalizeH="0" baseline="0" noProof="0">
                <a:ln>
                  <a:noFill/>
                </a:ln>
                <a:solidFill>
                  <a:schemeClr val="tx2"/>
                </a:solidFill>
                <a:effectLst/>
                <a:uLnTx/>
                <a:uFillTx/>
                <a:latin typeface="+mn-lt"/>
                <a:ea typeface="+mn-ea"/>
                <a:cs typeface="+mn-cs"/>
              </a:rPr>
              <a:t>1/11/2024</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3" name="Footer Placeholder 3"/>
          <p:cNvSpPr>
            <a:spLocks noGrp="1"/>
          </p:cNvSpPr>
          <p:nvPr>
            <p:ph type="ftr" sz="quarter" idx="3"/>
          </p:nvPr>
        </p:nvSpPr>
        <p:spPr>
          <a:xfrm>
            <a:off x="2898775" y="6356350"/>
            <a:ext cx="3505200" cy="365125"/>
          </a:xfrm>
          <a:prstGeom prst="rect">
            <a:avLst/>
          </a:prstGeom>
        </p:spPr>
        <p:txBody>
          <a:bodyPr vert="horz"/>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5" name="Slide Number Placeholder 4"/>
          <p:cNvSpPr>
            <a:spLocks noGrp="1"/>
          </p:cNvSpPr>
          <p:nvPr>
            <p:ph type="sldNum" sz="quarter" idx="4"/>
          </p:nvPr>
        </p:nvSpPr>
        <p:spPr>
          <a:xfrm>
            <a:off x="612775" y="6356350"/>
            <a:ext cx="1981200" cy="365125"/>
          </a:xfrm>
          <a:prstGeom prst="rect">
            <a:avLst/>
          </a:prstGeom>
        </p:spPr>
        <p:txBody>
          <a:bodyPr vert="horz"/>
          <a:lstStyle/>
          <a:p>
            <a:pPr>
              <a:buNone/>
            </a:pPr>
            <a:fld id="{9A0DB2DC-4C9A-4742-B13C-FB6460FD3503}" type="slidenum">
              <a:rPr lang="en-US" dirty="0">
                <a:latin typeface="Gill Sans MT"/>
              </a:rPr>
              <a:t>‹#›</a:t>
            </a:fld>
            <a:endParaRPr lang="en-US" dirty="0">
              <a:latin typeface="Gill Sans M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1" name="Straight Connector 10"/>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2" name="Isosceles Triangle 11"/>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Date Placeholder 1"/>
          <p:cNvSpPr>
            <a:spLocks noGrp="1"/>
          </p:cNvSpPr>
          <p:nvPr>
            <p:ph type="dt" sz="half" idx="2"/>
          </p:nvPr>
        </p:nvSpPr>
        <p:spPr>
          <a:xfrm>
            <a:off x="6400800" y="6356350"/>
            <a:ext cx="2289175" cy="365125"/>
          </a:xfrm>
          <a:prstGeom prst="rect">
            <a:avLst/>
          </a:prstGeom>
        </p:spPr>
        <p:txBody>
          <a:bodyPr vert="horz"/>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A7DA8C15-D543-45A3-B381-694575A12C9F}" type="datetimeFigureOut">
              <a:rPr kumimoji="0" lang="en-US" sz="1400" b="0" i="0" u="none" strike="noStrike" kern="1200" cap="none" spc="0" normalizeH="0" baseline="0" noProof="0">
                <a:ln>
                  <a:noFill/>
                </a:ln>
                <a:solidFill>
                  <a:schemeClr val="tx2"/>
                </a:solidFill>
                <a:effectLst/>
                <a:uLnTx/>
                <a:uFillTx/>
                <a:latin typeface="+mn-lt"/>
                <a:ea typeface="+mn-ea"/>
                <a:cs typeface="+mn-cs"/>
              </a:rPr>
              <a:t>1/11/2024</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5" name="Footer Placeholder 2"/>
          <p:cNvSpPr>
            <a:spLocks noGrp="1"/>
          </p:cNvSpPr>
          <p:nvPr>
            <p:ph type="ftr" sz="quarter" idx="3"/>
          </p:nvPr>
        </p:nvSpPr>
        <p:spPr>
          <a:xfrm>
            <a:off x="2898775" y="6356350"/>
            <a:ext cx="3505200" cy="365125"/>
          </a:xfrm>
          <a:prstGeom prst="rect">
            <a:avLst/>
          </a:prstGeom>
        </p:spPr>
        <p:txBody>
          <a:bodyPr vert="horz"/>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6" name="Slide Number Placeholder 3"/>
          <p:cNvSpPr>
            <a:spLocks noGrp="1"/>
          </p:cNvSpPr>
          <p:nvPr>
            <p:ph type="sldNum" sz="quarter" idx="4"/>
          </p:nvPr>
        </p:nvSpPr>
        <p:spPr>
          <a:xfrm>
            <a:off x="612775" y="6356350"/>
            <a:ext cx="1981200" cy="365125"/>
          </a:xfrm>
          <a:prstGeom prst="rect">
            <a:avLst/>
          </a:prstGeom>
        </p:spPr>
        <p:txBody>
          <a:bodyPr vert="horz"/>
          <a:lstStyle/>
          <a:p>
            <a:pPr>
              <a:buNone/>
            </a:pPr>
            <a:fld id="{9A0DB2DC-4C9A-4742-B13C-FB6460FD3503}" type="slidenum">
              <a:rPr lang="en-US" dirty="0">
                <a:latin typeface="Gill Sans MT"/>
              </a:rPr>
              <a:t>‹#›</a:t>
            </a:fld>
            <a:endParaRPr lang="en-US" dirty="0">
              <a:latin typeface="Gill Sans M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1" name="Straight Connector 10"/>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 name="Straight Connector 11"/>
          <p:cNvSpPr>
            <a:spLocks noChangeShapeType="1"/>
          </p:cNvSpPr>
          <p:nvPr/>
        </p:nvSpPr>
        <p:spPr bwMode="auto">
          <a:xfrm rot="5400000">
            <a:off x="3160713" y="3324225"/>
            <a:ext cx="6035675" cy="0"/>
          </a:xfrm>
          <a:prstGeom prst="line">
            <a:avLst/>
          </a:prstGeom>
          <a:noFill/>
          <a:ln w="9525" cap="flat" cmpd="sng" algn="ctr">
            <a:solidFill>
              <a:schemeClr val="accent2"/>
            </a:solidFill>
            <a:prstDash val="dash"/>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Isosceles Triangle 1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en-US" smtClean="0"/>
              <a:t>Click to edit Master title style</a:t>
            </a:r>
            <a:endParaRPr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5" name="Date Placeholder 4"/>
          <p:cNvSpPr>
            <a:spLocks noGrp="1"/>
          </p:cNvSpPr>
          <p:nvPr>
            <p:ph type="dt" sz="half" idx="12"/>
          </p:nvPr>
        </p:nvSpPr>
        <p:spPr>
          <a:xfrm>
            <a:off x="6400800" y="6356350"/>
            <a:ext cx="2289175" cy="365125"/>
          </a:xfrm>
          <a:prstGeom prst="rect">
            <a:avLst/>
          </a:prstGeom>
        </p:spPr>
        <p:txBody>
          <a:bodyPr vert="horz"/>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C5C18D6-F971-4A8D-A526-72AD11A20969}" type="datetimeFigureOut">
              <a:rPr kumimoji="0" lang="en-US" sz="1400" b="0" i="0" u="none" strike="noStrike" kern="1200" cap="none" spc="0" normalizeH="0" baseline="0" noProof="0">
                <a:ln>
                  <a:noFill/>
                </a:ln>
                <a:solidFill>
                  <a:schemeClr val="tx2"/>
                </a:solidFill>
                <a:effectLst/>
                <a:uLnTx/>
                <a:uFillTx/>
                <a:latin typeface="+mn-lt"/>
                <a:ea typeface="+mn-ea"/>
                <a:cs typeface="+mn-cs"/>
              </a:rPr>
              <a:t>1/11/2024</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6" name="Footer Placeholder 5"/>
          <p:cNvSpPr>
            <a:spLocks noGrp="1"/>
          </p:cNvSpPr>
          <p:nvPr>
            <p:ph type="ftr" sz="quarter" idx="3"/>
          </p:nvPr>
        </p:nvSpPr>
        <p:spPr>
          <a:xfrm>
            <a:off x="2898775" y="6356350"/>
            <a:ext cx="3505200" cy="365125"/>
          </a:xfrm>
          <a:prstGeom prst="rect">
            <a:avLst/>
          </a:prstGeom>
        </p:spPr>
        <p:txBody>
          <a:bodyPr vert="horz"/>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7" name="Slide Number Placeholder 6"/>
          <p:cNvSpPr>
            <a:spLocks noGrp="1"/>
          </p:cNvSpPr>
          <p:nvPr>
            <p:ph type="sldNum" sz="quarter" idx="4"/>
          </p:nvPr>
        </p:nvSpPr>
        <p:spPr>
          <a:xfrm>
            <a:off x="612775" y="6356350"/>
            <a:ext cx="1981200" cy="365125"/>
          </a:xfrm>
          <a:prstGeom prst="rect">
            <a:avLst/>
          </a:prstGeom>
        </p:spPr>
        <p:txBody>
          <a:bodyPr vert="horz"/>
          <a:lstStyle/>
          <a:p>
            <a:pPr>
              <a:buNone/>
            </a:pPr>
            <a:fld id="{9A0DB2DC-4C9A-4742-B13C-FB6460FD3503}" type="slidenum">
              <a:rPr lang="en-US" dirty="0">
                <a:latin typeface="Gill Sans MT"/>
              </a:rPr>
              <a:t>‹#›</a:t>
            </a:fld>
            <a:endParaRPr lang="en-US" dirty="0">
              <a:latin typeface="Gill Sans M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11" name="Straight Connector 10"/>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2" name="Isosceles Triangle 11"/>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Rectangle 12"/>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vert="horz" wrap="square" lIns="91440" tIns="45720" rIns="91440" bIns="45720" numCol="1" anchor="t" anchorCtr="0" compatLnSpc="1">
            <a:normAutofit/>
          </a:bodyPr>
          <a:lstStyle>
            <a:lvl1pPr marL="0" indent="0">
              <a:spcBef>
                <a:spcPts val="600"/>
              </a:spcBef>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6000"/>
              <a:buFont typeface="Wingdings 3" pitchFamily="18" charset="2"/>
              <a:buNone/>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15" name="Date Placeholder 4"/>
          <p:cNvSpPr>
            <a:spLocks noGrp="1"/>
          </p:cNvSpPr>
          <p:nvPr>
            <p:ph type="dt" sz="half" idx="12"/>
          </p:nvPr>
        </p:nvSpPr>
        <p:spPr>
          <a:xfrm>
            <a:off x="6400800" y="6356350"/>
            <a:ext cx="2289175" cy="365125"/>
          </a:xfrm>
          <a:prstGeom prst="rect">
            <a:avLst/>
          </a:prstGeom>
        </p:spPr>
        <p:txBody>
          <a:bodyPr vert="horz"/>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CC3A1B9-A1BE-4D2E-9B0B-1138991784C9}" type="datetimeFigureOut">
              <a:rPr kumimoji="0" lang="en-US" sz="1400" b="0" i="0" u="none" strike="noStrike" kern="1200" cap="none" spc="0" normalizeH="0" baseline="0" noProof="0">
                <a:ln>
                  <a:noFill/>
                </a:ln>
                <a:solidFill>
                  <a:schemeClr val="tx2"/>
                </a:solidFill>
                <a:effectLst/>
                <a:uLnTx/>
                <a:uFillTx/>
                <a:latin typeface="+mn-lt"/>
                <a:ea typeface="+mn-ea"/>
                <a:cs typeface="+mn-cs"/>
              </a:rPr>
              <a:t>1/11/2024</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6" name="Footer Placeholder 5"/>
          <p:cNvSpPr>
            <a:spLocks noGrp="1"/>
          </p:cNvSpPr>
          <p:nvPr>
            <p:ph type="ftr" sz="quarter" idx="3"/>
          </p:nvPr>
        </p:nvSpPr>
        <p:spPr>
          <a:xfrm>
            <a:off x="2898775" y="6356350"/>
            <a:ext cx="3505200" cy="365125"/>
          </a:xfrm>
          <a:prstGeom prst="rect">
            <a:avLst/>
          </a:prstGeom>
        </p:spPr>
        <p:txBody>
          <a:bodyPr vert="horz"/>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7" name="Slide Number Placeholder 6"/>
          <p:cNvSpPr>
            <a:spLocks noGrp="1"/>
          </p:cNvSpPr>
          <p:nvPr>
            <p:ph type="sldNum" sz="quarter" idx="4"/>
          </p:nvPr>
        </p:nvSpPr>
        <p:spPr>
          <a:xfrm>
            <a:off x="612775" y="6356350"/>
            <a:ext cx="1981200" cy="365125"/>
          </a:xfrm>
          <a:prstGeom prst="rect">
            <a:avLst/>
          </a:prstGeom>
        </p:spPr>
        <p:txBody>
          <a:bodyPr vert="horz"/>
          <a:lstStyle/>
          <a:p>
            <a:pPr>
              <a:buNone/>
            </a:pPr>
            <a:fld id="{9A0DB2DC-4C9A-4742-B13C-FB6460FD3503}" type="slidenum">
              <a:rPr lang="en-US" dirty="0">
                <a:latin typeface="Gill Sans MT"/>
              </a:rPr>
              <a:t>‹#›</a:t>
            </a:fld>
            <a:endParaRPr lang="en-US" dirty="0">
              <a:latin typeface="Gill Sans MT"/>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91D5C8-3907-4477-AA53-BBEEA4ED11B4}" type="datetimeFigureOut">
              <a:rPr kumimoji="0" lang="en-US" sz="1400" b="0" i="0" u="none" strike="noStrike" kern="1200" cap="none" spc="0" normalizeH="0" baseline="0" noProof="0">
                <a:ln>
                  <a:noFill/>
                </a:ln>
                <a:solidFill>
                  <a:schemeClr val="tx2"/>
                </a:solidFill>
                <a:effectLst/>
                <a:uLnTx/>
                <a:uFillTx/>
                <a:latin typeface="+mn-lt"/>
                <a:ea typeface="+mn-ea"/>
                <a:cs typeface="+mn-cs"/>
              </a:rPr>
              <a:t>1/11/2024</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t>‹#›</a:t>
            </a:fld>
            <a:endParaRPr 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1" name="Straight Connector 10"/>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2" name="Isosceles Triangle 11"/>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Straight Connector 12"/>
          <p:cNvSpPr>
            <a:spLocks noChangeShapeType="1"/>
          </p:cNvSpPr>
          <p:nvPr/>
        </p:nvSpPr>
        <p:spPr bwMode="auto">
          <a:xfrm rot="5400000">
            <a:off x="3630613" y="3201988"/>
            <a:ext cx="5851525" cy="0"/>
          </a:xfrm>
          <a:prstGeom prst="line">
            <a:avLst/>
          </a:prstGeom>
          <a:noFill/>
          <a:ln w="9525" cap="flat" cmpd="sng" algn="ctr">
            <a:solidFill>
              <a:schemeClr val="accent2"/>
            </a:solidFill>
            <a:prstDash val="dash"/>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5" name="Date Placeholder 3"/>
          <p:cNvSpPr>
            <a:spLocks noGrp="1"/>
          </p:cNvSpPr>
          <p:nvPr>
            <p:ph type="dt" sz="half" idx="2"/>
          </p:nvPr>
        </p:nvSpPr>
        <p:spPr>
          <a:xfrm>
            <a:off x="6400800" y="6356350"/>
            <a:ext cx="2289175" cy="365125"/>
          </a:xfrm>
          <a:prstGeom prst="rect">
            <a:avLst/>
          </a:prstGeom>
        </p:spPr>
        <p:txBody>
          <a:bodyPr vert="horz"/>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E6CD526-5AE8-458A-B70A-6DE16B736FC6}" type="datetimeFigureOut">
              <a:rPr kumimoji="0" lang="en-US" sz="1400" b="0" i="0" u="none" strike="noStrike" kern="1200" cap="none" spc="0" normalizeH="0" baseline="0" noProof="0">
                <a:ln>
                  <a:noFill/>
                </a:ln>
                <a:solidFill>
                  <a:schemeClr val="tx2"/>
                </a:solidFill>
                <a:effectLst/>
                <a:uLnTx/>
                <a:uFillTx/>
                <a:latin typeface="+mn-lt"/>
                <a:ea typeface="+mn-ea"/>
                <a:cs typeface="+mn-cs"/>
              </a:rPr>
              <a:t>1/11/2024</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6" name="Footer Placeholder 4"/>
          <p:cNvSpPr>
            <a:spLocks noGrp="1"/>
          </p:cNvSpPr>
          <p:nvPr>
            <p:ph type="ftr" sz="quarter" idx="3"/>
          </p:nvPr>
        </p:nvSpPr>
        <p:spPr>
          <a:xfrm>
            <a:off x="2898775" y="6356350"/>
            <a:ext cx="3505200" cy="365125"/>
          </a:xfrm>
          <a:prstGeom prst="rect">
            <a:avLst/>
          </a:prstGeom>
        </p:spPr>
        <p:txBody>
          <a:bodyPr vert="horz"/>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7" name="Slide Number Placeholder 5"/>
          <p:cNvSpPr>
            <a:spLocks noGrp="1"/>
          </p:cNvSpPr>
          <p:nvPr>
            <p:ph type="sldNum" sz="quarter" idx="4"/>
          </p:nvPr>
        </p:nvSpPr>
        <p:spPr>
          <a:xfrm>
            <a:off x="612775" y="6356350"/>
            <a:ext cx="1981200" cy="365125"/>
          </a:xfrm>
          <a:prstGeom prst="rect">
            <a:avLst/>
          </a:prstGeom>
        </p:spPr>
        <p:txBody>
          <a:bodyPr vert="horz"/>
          <a:lstStyle/>
          <a:p>
            <a:pPr>
              <a:buNone/>
            </a:pPr>
            <a:fld id="{9A0DB2DC-4C9A-4742-B13C-FB6460FD3503}" type="slidenum">
              <a:rPr lang="en-US" dirty="0">
                <a:latin typeface="Gill Sans MT"/>
              </a:rPr>
              <a:t>‹#›</a:t>
            </a:fld>
            <a:endParaRPr lang="en-US" dirty="0">
              <a:latin typeface="Gill Sans MT"/>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371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981200"/>
            <a:ext cx="40386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40386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Date Placeholder 10"/>
          <p:cNvSpPr>
            <a:spLocks noGrp="1" noChangeArrowheads="1"/>
          </p:cNvSpPr>
          <p:nvPr>
            <p:ph type="dt" sz="half" idx="12"/>
          </p:nvPr>
        </p:nvSpPr>
        <p:spPr>
          <a:xfrm>
            <a:off x="6400800" y="6356350"/>
            <a:ext cx="2289175" cy="365125"/>
          </a:xfrm>
          <a:prstGeom prst="rect">
            <a:avLst/>
          </a:prstGeom>
        </p:spPr>
        <p:txBody>
          <a:bodyPr vert="horz"/>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2" name="Footer Placeholder 11"/>
          <p:cNvSpPr>
            <a:spLocks noGrp="1" noChangeArrowheads="1"/>
          </p:cNvSpPr>
          <p:nvPr>
            <p:ph type="ftr" sz="quarter" idx="3"/>
          </p:nvPr>
        </p:nvSpPr>
        <p:spPr>
          <a:xfrm>
            <a:off x="2898775" y="6356350"/>
            <a:ext cx="3505200" cy="365125"/>
          </a:xfrm>
          <a:prstGeom prst="rect">
            <a:avLst/>
          </a:prstGeom>
        </p:spPr>
        <p:txBody>
          <a:bodyPr vert="horz"/>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3" name="Slide Number Placeholder 12"/>
          <p:cNvSpPr>
            <a:spLocks noGrp="1" noChangeArrowheads="1"/>
          </p:cNvSpPr>
          <p:nvPr>
            <p:ph type="sldNum" sz="quarter" idx="4"/>
          </p:nvPr>
        </p:nvSpPr>
        <p:spPr>
          <a:xfrm>
            <a:off x="612775" y="6356350"/>
            <a:ext cx="1981200" cy="365125"/>
          </a:xfrm>
          <a:prstGeom prst="rect">
            <a:avLst/>
          </a:prstGeom>
        </p:spPr>
        <p:txBody>
          <a:bodyPr vert="horz"/>
          <a:lstStyle/>
          <a:p>
            <a:pPr>
              <a:buNone/>
            </a:pPr>
            <a:fld id="{9A0DB2DC-4C9A-4742-B13C-FB6460FD3503}" type="slidenum">
              <a:rPr lang="en-US" dirty="0">
                <a:latin typeface="Gill Sans MT"/>
              </a:rPr>
              <a:t>‹#›</a:t>
            </a:fld>
            <a:endParaRPr lang="en-US" dirty="0">
              <a:latin typeface="Gill Sans M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21"/>
          <p:cNvSpPr>
            <a:spLocks noGrp="1"/>
          </p:cNvSpPr>
          <p:nvPr>
            <p:ph type="title"/>
          </p:nvPr>
        </p:nvSpPr>
        <p:spPr>
          <a:xfrm>
            <a:off x="457200" y="152400"/>
            <a:ext cx="8229600" cy="990600"/>
          </a:xfrm>
          <a:prstGeom prst="rect">
            <a:avLst/>
          </a:prstGeom>
          <a:noFill/>
          <a:ln w="9525">
            <a:noFill/>
          </a:ln>
        </p:spPr>
        <p:txBody>
          <a:bodyPr anchor="b" anchorCtr="0"/>
          <a:lstStyle/>
          <a:p>
            <a:pPr lvl="0"/>
            <a:r>
              <a:rPr dirty="0"/>
              <a:t>Click to edit Master title style</a:t>
            </a:r>
          </a:p>
        </p:txBody>
      </p:sp>
      <p:sp>
        <p:nvSpPr>
          <p:cNvPr id="2051" name="Text Placeholder 12"/>
          <p:cNvSpPr>
            <a:spLocks noGrp="1"/>
          </p:cNvSpPr>
          <p:nvPr>
            <p:ph type="body" idx="1"/>
          </p:nvPr>
        </p:nvSpPr>
        <p:spPr>
          <a:xfrm>
            <a:off x="457200" y="1219200"/>
            <a:ext cx="8229600" cy="4910138"/>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4" name="Date Placeholder 13"/>
          <p:cNvSpPr>
            <a:spLocks noGrp="1"/>
          </p:cNvSpPr>
          <p:nvPr>
            <p:ph type="dt" sz="half" idx="2"/>
          </p:nvPr>
        </p:nvSpPr>
        <p:spPr>
          <a:xfrm>
            <a:off x="6400800" y="6356350"/>
            <a:ext cx="2289175" cy="365125"/>
          </a:xfrm>
          <a:prstGeom prst="rect">
            <a:avLst/>
          </a:prstGeom>
        </p:spPr>
        <p:txBody>
          <a:bodyPr vert="horz"/>
          <a:lstStyle>
            <a:lvl1pPr algn="l" eaLnBrk="1" fontAlgn="auto" latinLnBrk="0" hangingPunct="1">
              <a:spcBef>
                <a:spcPts val="0"/>
              </a:spcBef>
              <a:spcAft>
                <a:spcPts val="0"/>
              </a:spcAft>
              <a:defRPr kumimoji="0" sz="1400">
                <a:solidFill>
                  <a:schemeClr val="tx2"/>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991D5C8-3907-4477-AA53-BBEEA4ED11B4}" type="datetimeFigureOut">
              <a:rPr kumimoji="0" lang="en-US" sz="1400" b="0" i="0" u="none" strike="noStrike" kern="1200" cap="none" spc="0" normalizeH="0" baseline="0" noProof="0">
                <a:ln>
                  <a:noFill/>
                </a:ln>
                <a:solidFill>
                  <a:schemeClr val="tx2"/>
                </a:solidFill>
                <a:effectLst/>
                <a:uLnTx/>
                <a:uFillTx/>
                <a:latin typeface="+mn-lt"/>
                <a:ea typeface="+mn-ea"/>
                <a:cs typeface="+mn-cs"/>
              </a:rPr>
              <a:t>1/11/2024</a:t>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a:spLocks noGrp="1"/>
          </p:cNvSpPr>
          <p:nvPr>
            <p:ph type="ftr" sz="quarter" idx="3"/>
          </p:nvPr>
        </p:nvSpPr>
        <p:spPr>
          <a:xfrm>
            <a:off x="2898775" y="6356350"/>
            <a:ext cx="3505200" cy="365125"/>
          </a:xfrm>
          <a:prstGeom prst="rect">
            <a:avLst/>
          </a:prstGeom>
        </p:spPr>
        <p:txBody>
          <a:bodyPr vert="horz"/>
          <a:lstStyle>
            <a:lvl1pPr algn="r" eaLnBrk="1" fontAlgn="auto" latinLnBrk="0" hangingPunct="1">
              <a:spcBef>
                <a:spcPts val="0"/>
              </a:spcBef>
              <a:spcAft>
                <a:spcPts val="0"/>
              </a:spcAft>
              <a:defRPr kumimoji="0" sz="1400">
                <a:solidFill>
                  <a:schemeClr val="tx2"/>
                </a:solidFill>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23" name="Slide Number Placeholder 22"/>
          <p:cNvSpPr>
            <a:spLocks noGrp="1"/>
          </p:cNvSpPr>
          <p:nvPr>
            <p:ph type="sldNum" sz="quarter" idx="4"/>
          </p:nvPr>
        </p:nvSpPr>
        <p:spPr>
          <a:xfrm>
            <a:off x="612775" y="6356350"/>
            <a:ext cx="1981200" cy="365125"/>
          </a:xfrm>
          <a:prstGeom prst="rect">
            <a:avLst/>
          </a:prstGeom>
        </p:spPr>
        <p:txBody>
          <a:bodyPr vert="horz"/>
          <a:lstStyle>
            <a:lvl1pPr>
              <a:defRPr sz="1400">
                <a:solidFill>
                  <a:schemeClr val="tx2"/>
                </a:solidFill>
                <a:latin typeface="Gill Sans MT"/>
              </a:defRPr>
            </a:lvl1pPr>
          </a:lstStyle>
          <a:p>
            <a:pPr lvl="0" eaLnBrk="1" hangingPunct="1">
              <a:buNone/>
            </a:pPr>
            <a:fld id="{9A0DB2DC-4C9A-4742-B13C-FB6460FD3503}" type="slidenum">
              <a:rPr lang="en-US" dirty="0"/>
              <a:t>‹#›</a:t>
            </a:fld>
            <a:endParaRPr lang="en-US" dirty="0">
              <a:latin typeface="Arial" panose="020B0604020202020204" pitchFamily="34" charset="0"/>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0" name="Isosceles Triangle 9"/>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8005" indent="-273050" algn="l" rtl="0"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7280" indent="-228600" algn="l" rtl="0" eaLnBrk="0" fontAlgn="base" hangingPunct="0">
        <a:spcBef>
          <a:spcPts val="400"/>
        </a:spcBef>
        <a:spcAft>
          <a:spcPct val="0"/>
        </a:spcAft>
        <a:buClr>
          <a:srgbClr val="8BA2B4"/>
        </a:buClr>
        <a:buSzPct val="70000"/>
        <a:buFont typeface="Wingdings" panose="05000000000000000000" pitchFamily="2" charset="2"/>
        <a:buChar char=""/>
        <a:defRPr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www.howstuffworks.com/operating-system.htm"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4.wmf"/><Relationship Id="rId4" Type="http://schemas.openxmlformats.org/officeDocument/2006/relationships/oleObject" Target="../embeddings/oleObject1.bin"/></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jpeg"/></Relationships>
</file>

<file path=ppt/slides/_rels/slide12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 Id="rId5" Type="http://schemas.openxmlformats.org/officeDocument/2006/relationships/image" Target="../media/image42.jpeg"/><Relationship Id="rId4" Type="http://schemas.openxmlformats.org/officeDocument/2006/relationships/image" Target="../media/image41.jpeg"/></Relationships>
</file>

<file path=ppt/slides/_rels/slide12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581400"/>
            <a:ext cx="8001000" cy="1295400"/>
          </a:xfrm>
        </p:spPr>
        <p:txBody>
          <a:bodyPr vert="horz" wrap="square" lIns="91440" tIns="45720" rIns="91440" bIns="45720" numCol="1" anchor="t" anchorCtr="0" compatLnSpc="1">
            <a:normAutofit fontScale="90000"/>
          </a:bodyPr>
          <a:lstStyle/>
          <a:p>
            <a:pPr marL="0" marR="0" lvl="0" indent="0" algn="r"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1"/>
                </a:solidFill>
                <a:effectLst/>
                <a:uLnTx/>
                <a:uFillTx/>
                <a:latin typeface="+mj-lt"/>
                <a:ea typeface="+mj-ea"/>
                <a:cs typeface="+mj-cs"/>
              </a:rPr>
              <a:t/>
            </a:r>
            <a:br>
              <a:rPr kumimoji="0" lang="en-US" sz="3200" b="0" i="0" u="none" strike="noStrike" kern="1200" cap="none" spc="0" normalizeH="0" baseline="0" noProof="0" dirty="0" smtClean="0">
                <a:ln>
                  <a:noFill/>
                </a:ln>
                <a:solidFill>
                  <a:schemeClr val="tx1"/>
                </a:solidFill>
                <a:effectLst/>
                <a:uLnTx/>
                <a:uFillTx/>
                <a:latin typeface="+mj-lt"/>
                <a:ea typeface="+mj-ea"/>
                <a:cs typeface="+mj-cs"/>
              </a:rPr>
            </a:br>
            <a:r>
              <a:rPr kumimoji="0" lang="en-US" sz="3200" b="0" i="0" u="none" strike="noStrike" kern="1200" cap="none" spc="0" normalizeH="0" baseline="0" noProof="0" dirty="0" smtClean="0">
                <a:ln>
                  <a:noFill/>
                </a:ln>
                <a:solidFill>
                  <a:schemeClr val="tx1"/>
                </a:solidFill>
                <a:effectLst/>
                <a:uLnTx/>
                <a:uFillTx/>
                <a:latin typeface="+mj-lt"/>
                <a:ea typeface="+mj-ea"/>
                <a:cs typeface="+mj-cs"/>
              </a:rPr>
              <a:t>Introduction to Cyber Crime and </a:t>
            </a:r>
            <a:br>
              <a:rPr kumimoji="0" lang="en-US" sz="3200" b="0" i="0" u="none" strike="noStrike" kern="1200" cap="none" spc="0" normalizeH="0" baseline="0" noProof="0" dirty="0" smtClean="0">
                <a:ln>
                  <a:noFill/>
                </a:ln>
                <a:solidFill>
                  <a:schemeClr val="tx1"/>
                </a:solidFill>
                <a:effectLst/>
                <a:uLnTx/>
                <a:uFillTx/>
                <a:latin typeface="+mj-lt"/>
                <a:ea typeface="+mj-ea"/>
                <a:cs typeface="+mj-cs"/>
              </a:rPr>
            </a:br>
            <a:r>
              <a:rPr kumimoji="0" lang="en-US" sz="3200" b="0" i="0" u="none" strike="noStrike" kern="1200" cap="none" spc="0" normalizeH="0" baseline="0" noProof="0" dirty="0" smtClean="0">
                <a:ln>
                  <a:noFill/>
                </a:ln>
                <a:solidFill>
                  <a:schemeClr val="tx1"/>
                </a:solidFill>
                <a:effectLst/>
                <a:uLnTx/>
                <a:uFillTx/>
                <a:latin typeface="+mj-lt"/>
                <a:ea typeface="+mj-ea"/>
                <a:cs typeface="+mj-cs"/>
              </a:rPr>
              <a:t>Cyber Forensics</a:t>
            </a:r>
            <a:endParaRPr kumimoji="0" lang="en-US" sz="32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Subtitle 3"/>
          <p:cNvSpPr>
            <a:spLocks noGrp="1"/>
          </p:cNvSpPr>
          <p:nvPr>
            <p:ph type="subTitle" idx="1"/>
          </p:nvPr>
        </p:nvSpPr>
        <p:spPr/>
        <p:txBody>
          <a:bodyPr vert="horz" wrap="square" lIns="91440" tIns="45720" rIns="91440" bIns="45720" numCol="1" anchor="t" anchorCtr="0" compatLnSpc="1">
            <a:normAutofit/>
          </a:bodyPr>
          <a:lstStyle/>
          <a:p>
            <a:pPr marL="0" marR="0" lvl="0" indent="0" algn="r" defTabSz="914400" rtl="0" eaLnBrk="1" fontAlgn="auto" latinLnBrk="0" hangingPunct="1">
              <a:lnSpc>
                <a:spcPct val="100000"/>
              </a:lnSpc>
              <a:spcBef>
                <a:spcPts val="600"/>
              </a:spcBef>
              <a:spcAft>
                <a:spcPts val="0"/>
              </a:spcAft>
              <a:buClr>
                <a:schemeClr val="accent1"/>
              </a:buClr>
              <a:buSzPct val="76000"/>
              <a:buFont typeface="Wingdings 3"/>
              <a:buNone/>
              <a:defRPr/>
            </a:pPr>
            <a:endParaRPr kumimoji="0" lang="en-US" sz="2000" b="0" i="0" u="none" strike="noStrike" kern="1200" cap="none" spc="0" normalizeH="0" baseline="0" noProof="0">
              <a:ln>
                <a:noFill/>
              </a:ln>
              <a:solidFill>
                <a:schemeClr val="tx2"/>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vert="horz" wrap="square" lIns="91440" tIns="45720" rIns="91440" bIns="45720" anchor="b" anchorCtr="0"/>
          <a:lstStyle/>
          <a:p>
            <a:pPr eaLnBrk="1" hangingPunct="1"/>
            <a:r>
              <a:rPr dirty="0"/>
              <a:t>Introduction to Cyber Crime</a:t>
            </a:r>
          </a:p>
        </p:txBody>
      </p:sp>
      <p:sp>
        <p:nvSpPr>
          <p:cNvPr id="3" name="Content Placeholder 2"/>
          <p:cNvSpPr>
            <a:spLocks noGrp="1"/>
          </p:cNvSpPr>
          <p:nvPr>
            <p:ph sz="quarter" idx="1"/>
          </p:nvPr>
        </p:nvSpPr>
        <p:spPr>
          <a:xfrm>
            <a:off x="457200" y="1219200"/>
            <a:ext cx="8229600" cy="4937125"/>
          </a:xfrm>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r>
              <a:rPr kumimoji="0" lang="en-US" sz="2600" b="1" i="0" u="sng" strike="noStrike" kern="1200" cap="none" spc="0" normalizeH="0" baseline="0" noProof="0" dirty="0" smtClean="0">
                <a:ln>
                  <a:noFill/>
                </a:ln>
                <a:solidFill>
                  <a:schemeClr val="tx1"/>
                </a:solidFill>
                <a:effectLst/>
                <a:uLnTx/>
                <a:uFillTx/>
                <a:latin typeface="+mn-lt"/>
                <a:ea typeface="+mn-ea"/>
                <a:cs typeface="+mn-cs"/>
              </a:rPr>
              <a:t>Cyber Crime</a:t>
            </a: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Cyber crime</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is defined as criminal activity involving the IT infrastructure, including illegal access, illegal interception, data interference, misuse of devices, ID theft and electronic fraud.</a:t>
            </a: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Thus if a computer(Digital Device) is used to conduct a crime it is a cyber crime.</a:t>
            </a: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Also if a computer is a victim (Target) of a crime it will be a cyber crime.</a:t>
            </a: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Today there is a huge rise in the amount of the cyber crimes that take place.  </a:t>
            </a: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endParaRPr kumimoji="0" lang="en-US" sz="2300" b="0" i="0" u="none" strike="noStrike" kern="1200" cap="none" spc="0" normalizeH="0" baseline="0" noProof="0" dirty="0" smtClean="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vert="horz" wrap="square" lIns="91440" tIns="45720" rIns="91440" bIns="45720" anchor="b" anchorCtr="0"/>
          <a:lstStyle/>
          <a:p>
            <a:pPr eaLnBrk="1" hangingPunct="1"/>
            <a:r>
              <a:rPr dirty="0"/>
              <a:t>Introduction to Cyber Crime</a:t>
            </a:r>
          </a:p>
        </p:txBody>
      </p:sp>
      <p:sp>
        <p:nvSpPr>
          <p:cNvPr id="3" name="Content Placeholder 2"/>
          <p:cNvSpPr>
            <a:spLocks noGrp="1"/>
          </p:cNvSpPr>
          <p:nvPr>
            <p:ph sz="quarter" idx="1"/>
          </p:nvPr>
        </p:nvSpPr>
        <p:spPr>
          <a:xfrm>
            <a:off x="457200" y="1219200"/>
            <a:ext cx="8229600" cy="4937125"/>
          </a:xfrm>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Computers are a poor man’s weapon</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a:t>
            </a:r>
          </a:p>
          <a:p>
            <a:pPr marL="548640" marR="0" lvl="1" indent="-274320" algn="l" defTabSz="914400" rtl="0" eaLnBrk="1" fontAlgn="auto" latinLnBrk="0" hangingPunct="1">
              <a:lnSpc>
                <a:spcPct val="100000"/>
              </a:lnSpc>
              <a:spcBef>
                <a:spcPts val="500"/>
              </a:spcBef>
              <a:spcAft>
                <a:spcPts val="0"/>
              </a:spcAft>
              <a:buClr>
                <a:schemeClr val="accent2"/>
              </a:buClr>
              <a:buSzPct val="76000"/>
              <a:buFont typeface="Wingdings 3"/>
              <a:buChar char=""/>
              <a:defRPr/>
            </a:pPr>
            <a:r>
              <a:rPr kumimoji="0" lang="en-US" sz="2300" b="0" i="0" u="none" strike="noStrike" kern="1200" cap="none" spc="0" normalizeH="0" baseline="0" noProof="0" dirty="0" smtClean="0">
                <a:ln>
                  <a:noFill/>
                </a:ln>
                <a:solidFill>
                  <a:schemeClr val="tx2"/>
                </a:solidFill>
                <a:effectLst/>
                <a:uLnTx/>
                <a:uFillTx/>
                <a:latin typeface="+mn-lt"/>
                <a:ea typeface="+mn-ea"/>
                <a:cs typeface="+mn-cs"/>
              </a:rPr>
              <a:t>Richard Clarke- Special Advisor to the U.S. President on Cyberspace Security.</a:t>
            </a:r>
          </a:p>
          <a:p>
            <a:pPr marL="548640" marR="0" lvl="1" indent="-274320" algn="l" defTabSz="914400" rtl="0" eaLnBrk="1" fontAlgn="auto" latinLnBrk="0" hangingPunct="1">
              <a:lnSpc>
                <a:spcPct val="100000"/>
              </a:lnSpc>
              <a:spcBef>
                <a:spcPts val="500"/>
              </a:spcBef>
              <a:spcAft>
                <a:spcPts val="0"/>
              </a:spcAft>
              <a:buClr>
                <a:schemeClr val="accent2"/>
              </a:buClr>
              <a:buSzPct val="76000"/>
              <a:buFont typeface="Wingdings 3"/>
              <a:buChar char=""/>
              <a:defRPr/>
            </a:pPr>
            <a:endParaRPr kumimoji="0" lang="en-US" sz="2300" b="0" i="0" u="none" strike="noStrike" kern="1200" cap="none" spc="0" normalizeH="0" baseline="0" noProof="0" dirty="0" smtClean="0">
              <a:ln>
                <a:noFill/>
              </a:ln>
              <a:solidFill>
                <a:schemeClr val="tx2"/>
              </a:solidFill>
              <a:effectLst/>
              <a:uLnTx/>
              <a:uFillTx/>
              <a:latin typeface="+mn-lt"/>
              <a:ea typeface="+mn-ea"/>
              <a:cs typeface="+mn-cs"/>
            </a:endParaRPr>
          </a:p>
          <a:p>
            <a:pPr marL="548640" marR="0" lvl="1" indent="-274320" algn="l" defTabSz="914400" rtl="0" eaLnBrk="1" fontAlgn="auto" latinLnBrk="0" hangingPunct="1">
              <a:lnSpc>
                <a:spcPct val="100000"/>
              </a:lnSpc>
              <a:spcBef>
                <a:spcPts val="500"/>
              </a:spcBef>
              <a:spcAft>
                <a:spcPts val="0"/>
              </a:spcAft>
              <a:buClr>
                <a:schemeClr val="accent2"/>
              </a:buClr>
              <a:buSzPct val="76000"/>
              <a:buFont typeface="Wingdings 3"/>
              <a:buChar char=""/>
              <a:defRPr/>
            </a:pPr>
            <a:endParaRPr kumimoji="0" lang="en-US" sz="2300" b="0" i="0" u="none" strike="noStrike" kern="1200" cap="none" spc="0" normalizeH="0" baseline="0" noProof="0" dirty="0" smtClean="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r>
              <a:rPr dirty="0">
                <a:sym typeface="+mn-ea"/>
              </a:rPr>
              <a:t>Cyber crime can also be defined as “Unlawful acts wherein the computer is either a tool or a target or both.”</a:t>
            </a:r>
            <a:endParaRPr dirty="0"/>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vert="horz" wrap="square" lIns="91440" tIns="45720" rIns="91440" bIns="45720" anchor="b" anchorCtr="0"/>
          <a:lstStyle/>
          <a:p>
            <a:pPr eaLnBrk="1" hangingPunct="1"/>
            <a:r>
              <a:rPr dirty="0"/>
              <a:t>Introduction to Cyber Crime</a:t>
            </a:r>
          </a:p>
        </p:txBody>
      </p:sp>
      <p:sp>
        <p:nvSpPr>
          <p:cNvPr id="14339"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buClr>
                <a:schemeClr val="accent1"/>
              </a:buClr>
              <a:buSzPct val="76000"/>
              <a:buFont typeface="Wingdings 3" pitchFamily="18" charset="2"/>
            </a:pPr>
            <a:r>
              <a:rPr dirty="0"/>
              <a:t>Some Examples of Cyber Crime</a:t>
            </a:r>
          </a:p>
          <a:p>
            <a:pPr eaLnBrk="1" hangingPunct="1">
              <a:buClr>
                <a:schemeClr val="accent1"/>
              </a:buClr>
              <a:buSzPct val="76000"/>
              <a:buFont typeface="Wingdings 3" pitchFamily="18" charset="2"/>
            </a:pPr>
            <a:r>
              <a:rPr sz="2400" b="1" dirty="0"/>
              <a:t>Financial Cyber Crimes- </a:t>
            </a:r>
            <a:r>
              <a:rPr sz="2400" dirty="0"/>
              <a:t>Cheating, Credit Card frauds, money laundering etc.</a:t>
            </a:r>
          </a:p>
          <a:p>
            <a:pPr eaLnBrk="1" hangingPunct="1">
              <a:buClr>
                <a:schemeClr val="accent1"/>
              </a:buClr>
              <a:buSzPct val="76000"/>
              <a:buFont typeface="Wingdings 3" pitchFamily="18" charset="2"/>
            </a:pPr>
            <a:r>
              <a:rPr sz="2400" dirty="0"/>
              <a:t>Sometimes fake websites are created, which pose to provide goods at a low cost but in reality their main aim is to collect credit card information.</a:t>
            </a:r>
          </a:p>
          <a:p>
            <a:pPr eaLnBrk="1" hangingPunct="1">
              <a:buClr>
                <a:schemeClr val="accent1"/>
              </a:buClr>
              <a:buSzPct val="76000"/>
              <a:buFont typeface="Wingdings 3" pitchFamily="18" charset="2"/>
            </a:pPr>
            <a:r>
              <a:rPr sz="2400" dirty="0"/>
              <a:t>Fishing emails posing as sent by banks are sent asking users to click the link and update their net banking information. In fact the link takes the customer to a fake replica website of that bank. When user gives it’s username and password it is captured. This is used by criminals to withdraw money from that account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vert="horz" wrap="square" lIns="91440" tIns="45720" rIns="91440" bIns="45720" anchor="b" anchorCtr="0"/>
          <a:lstStyle/>
          <a:p>
            <a:pPr eaLnBrk="1" hangingPunct="1"/>
            <a:r>
              <a:rPr dirty="0"/>
              <a:t>Introduction to Cyber Crime</a:t>
            </a:r>
          </a:p>
        </p:txBody>
      </p:sp>
      <p:sp>
        <p:nvSpPr>
          <p:cNvPr id="15363"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eaLnBrk="1" hangingPunct="1">
              <a:buClr>
                <a:schemeClr val="accent1"/>
              </a:buClr>
              <a:buSzPct val="76000"/>
              <a:buFont typeface="Wingdings 3" pitchFamily="18" charset="2"/>
            </a:pPr>
            <a:r>
              <a:rPr sz="2400" b="1" dirty="0"/>
              <a:t>Sale of illegal items – </a:t>
            </a:r>
            <a:r>
              <a:rPr sz="2400" dirty="0"/>
              <a:t>sale of drugs, banned chemicals, weapons, wildlife etc.</a:t>
            </a:r>
          </a:p>
          <a:p>
            <a:pPr eaLnBrk="1" hangingPunct="1">
              <a:buClr>
                <a:schemeClr val="accent1"/>
              </a:buClr>
              <a:buSzPct val="76000"/>
              <a:buFont typeface="Wingdings 3" pitchFamily="18" charset="2"/>
            </a:pPr>
            <a:r>
              <a:rPr sz="2400" dirty="0"/>
              <a:t>Specific(code) names are used for these items.</a:t>
            </a:r>
          </a:p>
          <a:p>
            <a:pPr eaLnBrk="1" hangingPunct="1">
              <a:buClr>
                <a:schemeClr val="accent1"/>
              </a:buClr>
              <a:buSzPct val="76000"/>
              <a:buFont typeface="Wingdings 3" pitchFamily="18" charset="2"/>
            </a:pPr>
            <a:r>
              <a:rPr sz="2400" dirty="0"/>
              <a:t>Advertisements are posted on websites or on auction sites. Also blogs or bulletin boards are used to publicize these items. Even social networking sites and email communication is used for spreading information about these items.</a:t>
            </a:r>
          </a:p>
          <a:p>
            <a:pPr eaLnBrk="1" hangingPunct="1">
              <a:buClr>
                <a:schemeClr val="accent1"/>
              </a:buClr>
              <a:buSzPct val="76000"/>
              <a:buFont typeface="Wingdings 3" pitchFamily="18" charset="2"/>
            </a:pPr>
            <a:r>
              <a:rPr sz="2400" dirty="0"/>
              <a:t>It was found by police that for all recent Rave parties social networking sites were used to advertise the event. Drug selling is the main aim of such parties.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vert="horz" wrap="square" lIns="91440" tIns="45720" rIns="91440" bIns="45720" anchor="b" anchorCtr="0"/>
          <a:lstStyle/>
          <a:p>
            <a:pPr eaLnBrk="1" hangingPunct="1"/>
            <a:r>
              <a:rPr dirty="0"/>
              <a:t>Introduction to Cyber Crime</a:t>
            </a:r>
          </a:p>
        </p:txBody>
      </p:sp>
      <p:sp>
        <p:nvSpPr>
          <p:cNvPr id="16387" name="Content Placeholder 2"/>
          <p:cNvSpPr>
            <a:spLocks noGrp="1"/>
          </p:cNvSpPr>
          <p:nvPr>
            <p:ph sz="quarter" idx="1"/>
          </p:nvPr>
        </p:nvSpPr>
        <p:spPr>
          <a:xfrm>
            <a:off x="457200" y="1066800"/>
            <a:ext cx="8229600" cy="5257800"/>
          </a:xfrm>
        </p:spPr>
        <p:txBody>
          <a:bodyPr vert="horz" wrap="square" lIns="91440" tIns="45720" rIns="91440" bIns="45720" anchor="t" anchorCtr="0"/>
          <a:lstStyle/>
          <a:p>
            <a:pPr eaLnBrk="1" hangingPunct="1">
              <a:buClr>
                <a:schemeClr val="accent1"/>
              </a:buClr>
              <a:buSzPct val="76000"/>
              <a:buFont typeface="Wingdings 3" pitchFamily="18" charset="2"/>
            </a:pPr>
            <a:r>
              <a:rPr sz="2400" b="1" dirty="0"/>
              <a:t>Intellectual Property Crimes- </a:t>
            </a:r>
            <a:r>
              <a:rPr sz="2400" dirty="0"/>
              <a:t>Software piracy, copyright infringement, theft of source code, trademark violation.</a:t>
            </a:r>
          </a:p>
          <a:p>
            <a:pPr eaLnBrk="1" hangingPunct="1">
              <a:buClr>
                <a:schemeClr val="accent1"/>
              </a:buClr>
              <a:buSzPct val="76000"/>
              <a:buFont typeface="Wingdings 3" pitchFamily="18" charset="2"/>
            </a:pPr>
            <a:r>
              <a:rPr sz="2400" b="1" dirty="0"/>
              <a:t>Cyber Defamation- </a:t>
            </a:r>
            <a:r>
              <a:rPr sz="2400" dirty="0"/>
              <a:t>creating fake profile of a person on social networking site to deface him/her, sending emails by a person name to all his/her friend and relatives containing vulgar things to deface him/her. Sharing forged pictures or clips by MMS/SMS or using web sites to deface a person.</a:t>
            </a:r>
          </a:p>
          <a:p>
            <a:pPr eaLnBrk="1" hangingPunct="1">
              <a:buClr>
                <a:schemeClr val="accent1"/>
              </a:buClr>
              <a:buSzPct val="76000"/>
              <a:buFont typeface="Wingdings 3" pitchFamily="18" charset="2"/>
            </a:pPr>
            <a:r>
              <a:rPr sz="2400" b="1" dirty="0"/>
              <a:t>Forgery – </a:t>
            </a:r>
            <a:r>
              <a:rPr sz="2400" dirty="0"/>
              <a:t>creating counterfeit university Degree certificates, Mark sheets, stamp papers, currency notes etc. using computers, high end scanners and printers.</a:t>
            </a:r>
            <a:endParaRPr sz="2400" b="1" dirty="0"/>
          </a:p>
          <a:p>
            <a:pPr eaLnBrk="1" hangingPunct="1">
              <a:buClr>
                <a:schemeClr val="accent1"/>
              </a:buClr>
              <a:buSzPct val="76000"/>
              <a:buFont typeface="Wingdings 3" pitchFamily="18" charset="2"/>
            </a:pPr>
            <a:endParaRPr dirty="0"/>
          </a:p>
          <a:p>
            <a:pPr eaLnBrk="1" hangingPunct="1">
              <a:buClr>
                <a:schemeClr val="accent1"/>
              </a:buClr>
              <a:buSzPct val="76000"/>
              <a:buFont typeface="Wingdings 3" pitchFamily="18" charset="2"/>
            </a:pPr>
            <a:r>
              <a:rPr dirty="0"/>
              <a:t> </a:t>
            </a:r>
            <a:endParaRPr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vert="horz" wrap="square" lIns="91440" tIns="45720" rIns="91440" bIns="45720" anchor="b" anchorCtr="0"/>
          <a:lstStyle/>
          <a:p>
            <a:pPr eaLnBrk="1" hangingPunct="1"/>
            <a:r>
              <a:rPr dirty="0"/>
              <a:t>Introduction to Cyber Crime</a:t>
            </a:r>
          </a:p>
        </p:txBody>
      </p:sp>
      <p:sp>
        <p:nvSpPr>
          <p:cNvPr id="17411"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buClr>
                <a:schemeClr val="accent1"/>
              </a:buClr>
              <a:buSzPct val="76000"/>
              <a:buFont typeface="Wingdings 3" pitchFamily="18" charset="2"/>
            </a:pPr>
            <a:endParaRPr b="1" dirty="0"/>
          </a:p>
          <a:p>
            <a:pPr eaLnBrk="1" hangingPunct="1">
              <a:buClr>
                <a:schemeClr val="accent1"/>
              </a:buClr>
              <a:buSzPct val="76000"/>
              <a:buFont typeface="Wingdings 3" pitchFamily="18" charset="2"/>
            </a:pPr>
            <a:endParaRPr b="1" dirty="0"/>
          </a:p>
          <a:p>
            <a:pPr eaLnBrk="1" hangingPunct="1">
              <a:buClr>
                <a:schemeClr val="accent1"/>
              </a:buClr>
              <a:buSzPct val="76000"/>
              <a:buFont typeface="Wingdings 3" pitchFamily="18" charset="2"/>
            </a:pPr>
            <a:r>
              <a:rPr b="1" dirty="0"/>
              <a:t>Email Spoofing- </a:t>
            </a:r>
            <a:r>
              <a:rPr dirty="0"/>
              <a:t>Sending emails such that for receiver it appears as if it send by an authorized source.</a:t>
            </a:r>
          </a:p>
          <a:p>
            <a:pPr eaLnBrk="1" hangingPunct="1">
              <a:buClr>
                <a:schemeClr val="accent1"/>
              </a:buClr>
              <a:buSzPct val="76000"/>
              <a:buFont typeface="Wingdings 3" pitchFamily="18" charset="2"/>
            </a:pPr>
            <a:endParaRPr dirty="0"/>
          </a:p>
          <a:p>
            <a:pPr eaLnBrk="1" hangingPunct="1">
              <a:buClr>
                <a:schemeClr val="accent1"/>
              </a:buClr>
              <a:buSzPct val="76000"/>
              <a:buFont typeface="Wingdings 3" pitchFamily="18" charset="2"/>
            </a:pPr>
            <a:r>
              <a:rPr b="1" dirty="0"/>
              <a:t>Online Gambling- </a:t>
            </a:r>
            <a:r>
              <a:rPr dirty="0"/>
              <a:t>some countries like India have ban on gambling. Most of the time these sites are used for money laundering.</a:t>
            </a:r>
          </a:p>
          <a:p>
            <a:pPr eaLnBrk="1" hangingPunct="1">
              <a:buClr>
                <a:schemeClr val="accent1"/>
              </a:buClr>
              <a:buSzPct val="76000"/>
              <a:buFont typeface="Wingdings 3" pitchFamily="18" charset="2"/>
              <a:buNone/>
            </a:pPr>
            <a:r>
              <a:rPr b="1"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vert="horz" wrap="square" lIns="91440" tIns="45720" rIns="91440" bIns="45720" anchor="b" anchorCtr="0"/>
          <a:lstStyle/>
          <a:p>
            <a:pPr eaLnBrk="1" hangingPunct="1"/>
            <a:r>
              <a:rPr dirty="0"/>
              <a:t>Introduction to Cyber Crime</a:t>
            </a:r>
          </a:p>
        </p:txBody>
      </p:sp>
      <p:sp>
        <p:nvSpPr>
          <p:cNvPr id="18435"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buClr>
                <a:schemeClr val="accent1"/>
              </a:buClr>
              <a:buSzPct val="76000"/>
              <a:buFont typeface="Wingdings 3" pitchFamily="18" charset="2"/>
            </a:pPr>
            <a:r>
              <a:rPr sz="2400" dirty="0"/>
              <a:t>Unauthorized access to computers and networks.</a:t>
            </a:r>
          </a:p>
          <a:p>
            <a:pPr eaLnBrk="1" hangingPunct="1">
              <a:buClr>
                <a:schemeClr val="accent1"/>
              </a:buClr>
              <a:buSzPct val="76000"/>
              <a:buFont typeface="Wingdings 3" pitchFamily="18" charset="2"/>
            </a:pPr>
            <a:r>
              <a:rPr sz="2400" dirty="0"/>
              <a:t>Unauthorized copying of data from computer systems using CD/DVD or pen drives.</a:t>
            </a:r>
          </a:p>
          <a:p>
            <a:pPr eaLnBrk="1" hangingPunct="1">
              <a:buClr>
                <a:schemeClr val="accent1"/>
              </a:buClr>
              <a:buSzPct val="76000"/>
              <a:buFont typeface="Wingdings 3" pitchFamily="18" charset="2"/>
            </a:pPr>
            <a:r>
              <a:rPr sz="2400" dirty="0"/>
              <a:t>Sending large amount of emails to someone to block his account or sometimes to crash the email server.</a:t>
            </a:r>
          </a:p>
          <a:p>
            <a:pPr eaLnBrk="1" hangingPunct="1">
              <a:buClr>
                <a:schemeClr val="accent1"/>
              </a:buClr>
              <a:buSzPct val="76000"/>
              <a:buFont typeface="Wingdings 3" pitchFamily="18" charset="2"/>
            </a:pPr>
            <a:r>
              <a:rPr sz="2400" dirty="0"/>
              <a:t>Causing Denial Of Service attack by sending huge amount of fake requests to a web server so that the valid users do not get access to the web site.</a:t>
            </a:r>
          </a:p>
          <a:p>
            <a:pPr eaLnBrk="1" hangingPunct="1">
              <a:buClr>
                <a:schemeClr val="accent1"/>
              </a:buClr>
              <a:buSzPct val="76000"/>
              <a:buFont typeface="Wingdings 3" pitchFamily="18" charset="2"/>
            </a:pPr>
            <a:r>
              <a:rPr sz="2400" dirty="0"/>
              <a:t>Creating and spreading viruses, worms, spywares and root kits etc.</a:t>
            </a:r>
          </a:p>
          <a:p>
            <a:pPr eaLnBrk="1" hangingPunct="1">
              <a:buClr>
                <a:schemeClr val="accent1"/>
              </a:buClr>
              <a:buSzPct val="76000"/>
              <a:buFont typeface="Wingdings 3" pitchFamily="18" charset="2"/>
            </a:pPr>
            <a:r>
              <a:rPr sz="2400" dirty="0"/>
              <a:t>Physically damaging computers, equipments or networks. </a:t>
            </a:r>
          </a:p>
          <a:p>
            <a:pPr eaLnBrk="1" hangingPunct="1">
              <a:buClr>
                <a:schemeClr val="accent1"/>
              </a:buClr>
              <a:buSzPct val="76000"/>
              <a:buFont typeface="Wingdings 3" pitchFamily="18" charset="2"/>
            </a:pPr>
            <a:endParaRPr dirty="0"/>
          </a:p>
          <a:p>
            <a:pPr eaLnBrk="1" hangingPunct="1">
              <a:buClr>
                <a:schemeClr val="accent1"/>
              </a:buClr>
              <a:buSzPct val="76000"/>
              <a:buFont typeface="Wingdings 3" pitchFamily="18" charset="2"/>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vert="horz" wrap="square" lIns="91440" tIns="45720" rIns="91440" bIns="45720" anchor="b" anchorCtr="0"/>
          <a:lstStyle/>
          <a:p>
            <a:pPr eaLnBrk="1" hangingPunct="1"/>
            <a:r>
              <a:rPr dirty="0"/>
              <a:t>Introduction to Digital Evidence</a:t>
            </a:r>
          </a:p>
        </p:txBody>
      </p:sp>
      <p:sp>
        <p:nvSpPr>
          <p:cNvPr id="19459"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eaLnBrk="1" hangingPunct="1">
              <a:buClr>
                <a:schemeClr val="accent1"/>
              </a:buClr>
              <a:buSzPct val="76000"/>
              <a:buFont typeface="Wingdings 3" pitchFamily="18" charset="2"/>
            </a:pPr>
            <a:r>
              <a:rPr sz="2200" dirty="0"/>
              <a:t>Any information that is stored electronically is said to be in Digital format.</a:t>
            </a:r>
          </a:p>
          <a:p>
            <a:pPr eaLnBrk="1" hangingPunct="1">
              <a:buClr>
                <a:schemeClr val="accent1"/>
              </a:buClr>
              <a:buSzPct val="76000"/>
              <a:buFont typeface="Wingdings 3" pitchFamily="18" charset="2"/>
            </a:pPr>
            <a:r>
              <a:rPr sz="2200" dirty="0"/>
              <a:t>This is because it is stored in the form of digits i.e. zero(0) and One (1) , the Binary format.</a:t>
            </a:r>
          </a:p>
          <a:p>
            <a:pPr eaLnBrk="1" hangingPunct="1">
              <a:buClr>
                <a:schemeClr val="accent1"/>
              </a:buClr>
              <a:buSzPct val="76000"/>
              <a:buFont typeface="Wingdings 3" pitchFamily="18" charset="2"/>
            </a:pPr>
            <a:r>
              <a:rPr sz="2200" dirty="0"/>
              <a:t>Any data like documents, photographs and video clips etc. are stored in this format.</a:t>
            </a:r>
          </a:p>
          <a:p>
            <a:pPr eaLnBrk="1" hangingPunct="1">
              <a:buClr>
                <a:schemeClr val="accent1"/>
              </a:buClr>
              <a:buSzPct val="76000"/>
              <a:buFont typeface="Wingdings 3" pitchFamily="18" charset="2"/>
            </a:pPr>
            <a:r>
              <a:rPr sz="2200" dirty="0"/>
              <a:t>When this information is used as an evidence legally to prove a crime, it is called Digital Evidence.</a:t>
            </a:r>
          </a:p>
          <a:p>
            <a:pPr eaLnBrk="1" hangingPunct="1">
              <a:buClr>
                <a:schemeClr val="accent1"/>
              </a:buClr>
              <a:buSzPct val="76000"/>
              <a:buFont typeface="Wingdings 3" pitchFamily="18" charset="2"/>
            </a:pPr>
            <a:r>
              <a:rPr sz="2200" dirty="0"/>
              <a:t>Digital Evidence may come into use in various crimes like murder, rapes, suicides, child abuse, theft etc.</a:t>
            </a:r>
          </a:p>
          <a:p>
            <a:pPr eaLnBrk="1" hangingPunct="1">
              <a:buClr>
                <a:schemeClr val="accent1"/>
              </a:buClr>
              <a:buSzPct val="76000"/>
              <a:buFont typeface="Wingdings 3" pitchFamily="18" charset="2"/>
            </a:pPr>
            <a:r>
              <a:rPr sz="2200" dirty="0"/>
              <a:t>Computer documents, emails, web posts, internet browsing history, transaction logs, MMS/SMS, etc. can be used as Digital Evidence.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vert="horz" wrap="square" lIns="91440" tIns="45720" rIns="91440" bIns="45720" anchor="b" anchorCtr="0"/>
          <a:lstStyle/>
          <a:p>
            <a:pPr eaLnBrk="1" hangingPunct="1"/>
            <a:r>
              <a:rPr dirty="0"/>
              <a:t>Introduction to Digital Evidence</a:t>
            </a:r>
          </a:p>
        </p:txBody>
      </p:sp>
      <p:sp>
        <p:nvSpPr>
          <p:cNvPr id="20483"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eaLnBrk="1" hangingPunct="1">
              <a:buClr>
                <a:schemeClr val="accent1"/>
              </a:buClr>
              <a:buSzPct val="76000"/>
              <a:buFont typeface="Wingdings 3" pitchFamily="18" charset="2"/>
            </a:pPr>
            <a:r>
              <a:rPr sz="2400" dirty="0"/>
              <a:t>It is any or all digital data that can establish that a crime has been committed or can provide a link between a crime and its performer or a crime and its victim.</a:t>
            </a:r>
          </a:p>
          <a:p>
            <a:pPr eaLnBrk="1" hangingPunct="1">
              <a:buClr>
                <a:schemeClr val="accent1"/>
              </a:buClr>
              <a:buSzPct val="76000"/>
              <a:buFont typeface="Wingdings 3" pitchFamily="18" charset="2"/>
            </a:pPr>
            <a:endParaRPr sz="2400" dirty="0"/>
          </a:p>
          <a:p>
            <a:pPr eaLnBrk="1" hangingPunct="1">
              <a:buClr>
                <a:schemeClr val="accent1"/>
              </a:buClr>
              <a:buSzPct val="76000"/>
              <a:buFont typeface="Wingdings 3" pitchFamily="18" charset="2"/>
            </a:pPr>
            <a:r>
              <a:rPr sz="2400" dirty="0"/>
              <a:t>This is an information and data of value to an investigation that is stored on, received or transmitted by an electronic device.</a:t>
            </a:r>
          </a:p>
          <a:p>
            <a:pPr eaLnBrk="1" hangingPunct="1">
              <a:buClr>
                <a:schemeClr val="accent1"/>
              </a:buClr>
              <a:buSzPct val="76000"/>
              <a:buFont typeface="Wingdings 3" pitchFamily="18" charset="2"/>
            </a:pPr>
            <a:endParaRPr sz="2400" dirty="0"/>
          </a:p>
          <a:p>
            <a:pPr eaLnBrk="1" hangingPunct="1">
              <a:buClr>
                <a:schemeClr val="accent1"/>
              </a:buClr>
              <a:buSzPct val="76000"/>
              <a:buFont typeface="Wingdings 3" pitchFamily="18" charset="2"/>
            </a:pPr>
            <a:r>
              <a:rPr sz="2400" dirty="0"/>
              <a:t>The digital evidence is mostly hidden, crosses jurisdictional boundaries quickly and easily, can be time sensitive, can be easily altered, destroyed or damaged with little efforts.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vert="horz" wrap="square" lIns="91440" tIns="45720" rIns="91440" bIns="45720" anchor="b" anchorCtr="0"/>
          <a:lstStyle/>
          <a:p>
            <a:pPr eaLnBrk="1" hangingPunct="1"/>
            <a:r>
              <a:rPr dirty="0"/>
              <a:t>Introduction to Digital Evidence</a:t>
            </a:r>
          </a:p>
        </p:txBody>
      </p:sp>
      <p:sp>
        <p:nvSpPr>
          <p:cNvPr id="21507"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eaLnBrk="1" hangingPunct="1">
              <a:buClr>
                <a:schemeClr val="accent1"/>
              </a:buClr>
              <a:buSzPct val="76000"/>
              <a:buFont typeface="Wingdings 3" pitchFamily="18" charset="2"/>
            </a:pPr>
            <a:r>
              <a:rPr dirty="0"/>
              <a:t>Today digital evidence plays an important role in conventional crime investigation.</a:t>
            </a:r>
          </a:p>
          <a:p>
            <a:pPr eaLnBrk="1" hangingPunct="1">
              <a:buClr>
                <a:schemeClr val="accent1"/>
              </a:buClr>
              <a:buSzPct val="76000"/>
              <a:buFont typeface="Wingdings 3" pitchFamily="18" charset="2"/>
            </a:pPr>
            <a:r>
              <a:rPr dirty="0"/>
              <a:t>The victim or criminal CCTV recordings, mobile call records, GPRS tracking of their locations etc. are used to link them to the crime.</a:t>
            </a:r>
          </a:p>
          <a:p>
            <a:pPr eaLnBrk="1" hangingPunct="1">
              <a:buClr>
                <a:schemeClr val="accent1"/>
              </a:buClr>
              <a:buSzPct val="76000"/>
              <a:buFont typeface="Wingdings 3" pitchFamily="18" charset="2"/>
            </a:pPr>
            <a:r>
              <a:rPr dirty="0"/>
              <a:t>The Indian Parliament in 2000 enacted the Information Technology (IT) Act 2000.</a:t>
            </a:r>
          </a:p>
          <a:p>
            <a:pPr eaLnBrk="1" hangingPunct="1">
              <a:buClr>
                <a:schemeClr val="accent1"/>
              </a:buClr>
              <a:buSzPct val="76000"/>
              <a:buFont typeface="Wingdings 3" pitchFamily="18" charset="2"/>
            </a:pPr>
            <a:r>
              <a:rPr dirty="0"/>
              <a:t>This Act amended the Indian Evidence Act 1872, the Indian Penal Code 1860 and the Banker’s Book Evidence Act 1891.</a:t>
            </a:r>
          </a:p>
          <a:p>
            <a:pPr eaLnBrk="1" hangingPunct="1">
              <a:buClr>
                <a:schemeClr val="accent1"/>
              </a:buClr>
              <a:buSzPct val="76000"/>
              <a:buFont typeface="Wingdings 3" pitchFamily="18" charset="2"/>
            </a:pPr>
            <a:r>
              <a:rPr dirty="0"/>
              <a:t>This amendment allows these Acts to consider Digital Evidence.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vert="horz" wrap="square" lIns="91440" tIns="45720" rIns="91440" bIns="45720" anchor="b" anchorCtr="0"/>
          <a:lstStyle/>
          <a:p>
            <a:pPr eaLnBrk="1" hangingPunct="1"/>
            <a:r>
              <a:rPr dirty="0"/>
              <a:t>Introduction to Digital Evidence</a:t>
            </a:r>
          </a:p>
        </p:txBody>
      </p:sp>
      <p:sp>
        <p:nvSpPr>
          <p:cNvPr id="22531"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dirty="0"/>
              <a:t>Sec. 2(1) (t) Defining Electronic Record</a:t>
            </a:r>
          </a:p>
          <a:p>
            <a:pPr>
              <a:buClr>
                <a:schemeClr val="accent1"/>
              </a:buClr>
              <a:buSzPct val="76000"/>
              <a:buFont typeface="Wingdings 3" pitchFamily="18" charset="2"/>
            </a:pPr>
            <a:endParaRPr dirty="0"/>
          </a:p>
          <a:p>
            <a:pPr>
              <a:buClr>
                <a:schemeClr val="accent1"/>
              </a:buClr>
              <a:buSzPct val="76000"/>
              <a:buFont typeface="Wingdings 3" pitchFamily="18" charset="2"/>
            </a:pPr>
            <a:r>
              <a:rPr dirty="0"/>
              <a:t>"Electronic record" means data, record or data generated, image or sound stored, received or sent in an electronic form or micro film or computer generated micro fiche.</a:t>
            </a:r>
          </a:p>
          <a:p>
            <a:pPr>
              <a:buClr>
                <a:schemeClr val="accent1"/>
              </a:buClr>
              <a:buSzPct val="76000"/>
              <a:buFont typeface="Wingdings 3" pitchFamily="18" charset="2"/>
            </a:pPr>
            <a:r>
              <a:rPr dirty="0"/>
              <a:t>The section has made electronic record legally admissible in the court of law.</a:t>
            </a:r>
          </a:p>
          <a:p>
            <a:pPr>
              <a:buClr>
                <a:schemeClr val="accent1"/>
              </a:buClr>
              <a:buSzPct val="76000"/>
              <a:buFont typeface="Wingdings 3" pitchFamily="18" charset="2"/>
            </a:pPr>
            <a:r>
              <a:rPr dirty="0"/>
              <a:t>Sec. 3 (a) – Scope of definition of evidence expanded to include electronic records.</a:t>
            </a:r>
          </a:p>
          <a:p>
            <a:pPr>
              <a:buClr>
                <a:schemeClr val="accent1"/>
              </a:buClr>
              <a:buSzPct val="76000"/>
              <a:buFont typeface="Wingdings 3" pitchFamily="18" charset="2"/>
            </a:pPr>
            <a:r>
              <a:rPr dirty="0"/>
              <a:t>Sec. 65B – Admissibility of electronic records</a:t>
            </a:r>
          </a:p>
          <a:p>
            <a:pPr eaLnBrk="1" hangingPunct="1">
              <a:buClr>
                <a:schemeClr val="accent1"/>
              </a:buClr>
              <a:buSzPct val="76000"/>
              <a:buFont typeface="Wingdings 3" pitchFamily="18" charset="2"/>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vert="horz" wrap="square" lIns="91440" tIns="45720" rIns="91440" bIns="45720" anchor="b" anchorCtr="0"/>
          <a:lstStyle/>
          <a:p>
            <a:pPr eaLnBrk="1" hangingPunct="1"/>
            <a:r>
              <a:rPr dirty="0"/>
              <a:t>Introduction to Digital Evidence</a:t>
            </a:r>
          </a:p>
        </p:txBody>
      </p:sp>
      <p:sp>
        <p:nvSpPr>
          <p:cNvPr id="23555"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buClr>
                <a:schemeClr val="accent1"/>
              </a:buClr>
              <a:buSzPct val="76000"/>
              <a:buFont typeface="Wingdings 3" pitchFamily="18" charset="2"/>
            </a:pPr>
            <a:r>
              <a:rPr sz="2400" dirty="0"/>
              <a:t>As the Cyber Crimes are mostly carried by using computers and internets Digital Evidence is of most important.</a:t>
            </a:r>
          </a:p>
          <a:p>
            <a:pPr eaLnBrk="1" hangingPunct="1">
              <a:buClr>
                <a:schemeClr val="accent1"/>
              </a:buClr>
              <a:buSzPct val="76000"/>
              <a:buFont typeface="Wingdings 3" pitchFamily="18" charset="2"/>
            </a:pPr>
            <a:r>
              <a:rPr sz="2400" dirty="0"/>
              <a:t>It is very important that the Digital Evidence is prepared properly.</a:t>
            </a:r>
          </a:p>
          <a:p>
            <a:pPr eaLnBrk="1" hangingPunct="1">
              <a:buClr>
                <a:schemeClr val="accent1"/>
              </a:buClr>
              <a:buSzPct val="76000"/>
              <a:buFont typeface="Wingdings 3" pitchFamily="18" charset="2"/>
            </a:pPr>
            <a:r>
              <a:rPr sz="2400" dirty="0"/>
              <a:t>A proper procedure is required so that the Digital Evidence is trusted by the courts.</a:t>
            </a:r>
          </a:p>
          <a:p>
            <a:pPr eaLnBrk="1" hangingPunct="1">
              <a:buClr>
                <a:schemeClr val="accent1"/>
              </a:buClr>
              <a:buSzPct val="76000"/>
              <a:buFont typeface="Wingdings 3" pitchFamily="18" charset="2"/>
            </a:pPr>
            <a:r>
              <a:rPr sz="2400" dirty="0"/>
              <a:t>As some Digital Evidence can be fragile/volatile due care has to be taken to protect it.</a:t>
            </a:r>
          </a:p>
          <a:p>
            <a:pPr eaLnBrk="1" hangingPunct="1">
              <a:buClr>
                <a:schemeClr val="accent1"/>
              </a:buClr>
              <a:buSzPct val="76000"/>
              <a:buFont typeface="Wingdings 3" pitchFamily="18" charset="2"/>
            </a:pPr>
            <a:r>
              <a:rPr sz="2400" dirty="0"/>
              <a:t> A person who performs Digital Forensics needs to be professional with proper knowledge of Digital technologies.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vert="horz" wrap="square" lIns="91440" tIns="45720" rIns="91440" bIns="45720" anchor="b" anchorCtr="0"/>
          <a:lstStyle/>
          <a:p>
            <a:pPr eaLnBrk="1" hangingPunct="1"/>
            <a:r>
              <a:rPr dirty="0"/>
              <a:t>The Rules of Evidence</a:t>
            </a:r>
          </a:p>
        </p:txBody>
      </p:sp>
      <p:sp>
        <p:nvSpPr>
          <p:cNvPr id="24579"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buClr>
                <a:schemeClr val="accent1"/>
              </a:buClr>
              <a:buSzPct val="76000"/>
              <a:buFont typeface="Wingdings 3" pitchFamily="18" charset="2"/>
            </a:pPr>
            <a:r>
              <a:rPr sz="2300" dirty="0"/>
              <a:t>The rules of evidence are guidelines that determine how evidence should be handled.</a:t>
            </a:r>
          </a:p>
          <a:p>
            <a:pPr eaLnBrk="1" hangingPunct="1">
              <a:buClr>
                <a:schemeClr val="accent1"/>
              </a:buClr>
              <a:buSzPct val="76000"/>
              <a:buFont typeface="Wingdings 3" pitchFamily="18" charset="2"/>
            </a:pPr>
            <a:r>
              <a:rPr sz="2300" dirty="0"/>
              <a:t> These guidelines take many things into consideration like what evidence is admissible, when it is admissible, and who is entitled to present it.</a:t>
            </a:r>
          </a:p>
          <a:p>
            <a:pPr eaLnBrk="1" hangingPunct="1">
              <a:buClr>
                <a:schemeClr val="accent1"/>
              </a:buClr>
              <a:buSzPct val="76000"/>
              <a:buFont typeface="Wingdings 3" pitchFamily="18" charset="2"/>
            </a:pPr>
            <a:r>
              <a:rPr sz="2300" dirty="0"/>
              <a:t>There is no universal set of rules of evidence.</a:t>
            </a:r>
          </a:p>
          <a:p>
            <a:pPr eaLnBrk="1" hangingPunct="1">
              <a:buClr>
                <a:schemeClr val="accent1"/>
              </a:buClr>
              <a:buSzPct val="76000"/>
              <a:buFont typeface="Wingdings 3" pitchFamily="18" charset="2"/>
            </a:pPr>
            <a:r>
              <a:rPr sz="2300" dirty="0"/>
              <a:t>A court may also have its own set of rules. </a:t>
            </a:r>
          </a:p>
          <a:p>
            <a:pPr eaLnBrk="1" hangingPunct="1">
              <a:buClr>
                <a:schemeClr val="accent1"/>
              </a:buClr>
              <a:buSzPct val="76000"/>
              <a:buFont typeface="Wingdings 3" pitchFamily="18" charset="2"/>
            </a:pPr>
            <a:r>
              <a:rPr sz="2300" dirty="0"/>
              <a:t>This means that evidence may be handled differently in a criminal case than it is in a civil case within the same state.</a:t>
            </a:r>
          </a:p>
          <a:p>
            <a:pPr eaLnBrk="1" hangingPunct="1">
              <a:buClr>
                <a:schemeClr val="accent1"/>
              </a:buClr>
              <a:buSzPct val="76000"/>
              <a:buFont typeface="Wingdings 3" pitchFamily="18" charset="2"/>
            </a:pPr>
            <a:r>
              <a:rPr sz="2300" dirty="0"/>
              <a:t>They were put into place to regulate the portion of the trial process that pertains to evidence so that proceedings can be fair for all involved.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vert="horz" wrap="square" lIns="91440" tIns="45720" rIns="91440" bIns="45720" anchor="b" anchorCtr="0"/>
          <a:lstStyle/>
          <a:p>
            <a:pPr eaLnBrk="1" hangingPunct="1"/>
            <a:r>
              <a:rPr dirty="0"/>
              <a:t>The Rules of Evidence</a:t>
            </a:r>
          </a:p>
        </p:txBody>
      </p:sp>
      <p:sp>
        <p:nvSpPr>
          <p:cNvPr id="25603"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200" dirty="0"/>
              <a:t>Rules of evidence also can be used to assist the judge. </a:t>
            </a:r>
          </a:p>
          <a:p>
            <a:pPr>
              <a:buClr>
                <a:schemeClr val="accent1"/>
              </a:buClr>
              <a:buSzPct val="76000"/>
              <a:buFont typeface="Wingdings 3" pitchFamily="18" charset="2"/>
            </a:pPr>
            <a:r>
              <a:rPr sz="2200" dirty="0"/>
              <a:t>The judge has to weigh the evidence to make a final determination.</a:t>
            </a:r>
          </a:p>
          <a:p>
            <a:pPr>
              <a:buClr>
                <a:schemeClr val="accent1"/>
              </a:buClr>
              <a:buSzPct val="76000"/>
              <a:buFont typeface="Wingdings 3" pitchFamily="18" charset="2"/>
            </a:pPr>
            <a:r>
              <a:rPr sz="2200" dirty="0"/>
              <a:t> If there are not rules that outline what evidence can be presented at what time and by whom, the duties of these individuals could become laborious and complicated. </a:t>
            </a:r>
          </a:p>
          <a:p>
            <a:pPr>
              <a:buClr>
                <a:schemeClr val="accent1"/>
              </a:buClr>
              <a:buSzPct val="76000"/>
              <a:buFont typeface="Wingdings 3" pitchFamily="18" charset="2"/>
            </a:pPr>
            <a:r>
              <a:rPr sz="2200" dirty="0"/>
              <a:t>The best interest of the parties may be affected and justice may not be served.</a:t>
            </a:r>
          </a:p>
          <a:p>
            <a:pPr>
              <a:buClr>
                <a:schemeClr val="accent1"/>
              </a:buClr>
              <a:buSzPct val="76000"/>
              <a:buFont typeface="Wingdings 3" pitchFamily="18" charset="2"/>
            </a:pPr>
            <a:r>
              <a:rPr sz="2200" dirty="0"/>
              <a:t>Three factors that commonly are used to determine admissibility are whether the potential evidence is material, relevant, and competent. </a:t>
            </a:r>
          </a:p>
          <a:p>
            <a:pPr>
              <a:buClr>
                <a:schemeClr val="accent1"/>
              </a:buClr>
              <a:buSzPct val="76000"/>
              <a:buFont typeface="Wingdings 3" pitchFamily="18" charset="2"/>
            </a:pPr>
            <a:r>
              <a:rPr sz="2200" dirty="0"/>
              <a:t>Rules of evidence deal with many issues involving witnesses.</a:t>
            </a:r>
          </a:p>
          <a:p>
            <a:pPr eaLnBrk="1" hangingPunct="1">
              <a:buClr>
                <a:schemeClr val="accent1"/>
              </a:buClr>
              <a:buSzPct val="76000"/>
              <a:buFont typeface="Wingdings 3" pitchFamily="18" charset="2"/>
            </a:pPr>
            <a:endParaRPr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vert="horz" wrap="square" lIns="91440" tIns="45720" rIns="91440" bIns="45720" anchor="b" anchorCtr="0"/>
          <a:lstStyle/>
          <a:p>
            <a:pPr eaLnBrk="1" hangingPunct="1"/>
            <a:r>
              <a:rPr dirty="0"/>
              <a:t>The Rules of Evidence</a:t>
            </a:r>
          </a:p>
        </p:txBody>
      </p:sp>
      <p:sp>
        <p:nvSpPr>
          <p:cNvPr id="26627"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buClr>
                <a:schemeClr val="accent1"/>
              </a:buClr>
              <a:buSzPct val="76000"/>
              <a:buFont typeface="Wingdings 3" pitchFamily="18" charset="2"/>
            </a:pPr>
            <a:r>
              <a:rPr dirty="0"/>
              <a:t>Thus it is very much important for a forensic expert to know about the rules of evidence.</a:t>
            </a:r>
          </a:p>
          <a:p>
            <a:pPr eaLnBrk="1" hangingPunct="1">
              <a:buClr>
                <a:schemeClr val="accent1"/>
              </a:buClr>
              <a:buSzPct val="76000"/>
              <a:buFont typeface="Wingdings 3" pitchFamily="18" charset="2"/>
            </a:pPr>
            <a:r>
              <a:rPr dirty="0"/>
              <a:t>It will make his job easier as he will capture the evidences which are admissible in the court.</a:t>
            </a:r>
          </a:p>
          <a:p>
            <a:pPr eaLnBrk="1" hangingPunct="1">
              <a:buClr>
                <a:schemeClr val="accent1"/>
              </a:buClr>
              <a:buSzPct val="76000"/>
              <a:buFont typeface="Wingdings 3" pitchFamily="18" charset="2"/>
            </a:pPr>
            <a:r>
              <a:rPr dirty="0"/>
              <a:t>As there is no universal rule of evidence, each time a forensics expert start his work he needs to know the rules of evidence in that area.</a:t>
            </a:r>
          </a:p>
          <a:p>
            <a:pPr eaLnBrk="1" hangingPunct="1">
              <a:buClr>
                <a:schemeClr val="accent1"/>
              </a:buClr>
              <a:buSzPct val="76000"/>
              <a:buFont typeface="Wingdings 3" pitchFamily="18" charset="2"/>
            </a:pPr>
            <a:r>
              <a:rPr dirty="0"/>
              <a:t>Thus it makes the job of a cyber forensics difficult as the cyber crime may involve multiple courts or areas and thus may have different rules of evidence applicable.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vert="horz" wrap="square" lIns="91440" tIns="45720" rIns="91440" bIns="45720" anchor="b" anchorCtr="0"/>
          <a:lstStyle/>
          <a:p>
            <a:pPr eaLnBrk="1" hangingPunct="1"/>
            <a:r>
              <a:rPr dirty="0"/>
              <a:t>Locard’s Exchange Principle</a:t>
            </a:r>
          </a:p>
        </p:txBody>
      </p:sp>
      <p:sp>
        <p:nvSpPr>
          <p:cNvPr id="27651"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buClr>
                <a:schemeClr val="accent1"/>
              </a:buClr>
              <a:buSzPct val="76000"/>
              <a:buFont typeface="Wingdings 3" pitchFamily="18" charset="2"/>
            </a:pPr>
            <a:r>
              <a:rPr sz="2400" dirty="0">
                <a:solidFill>
                  <a:srgbClr val="FF0000"/>
                </a:solidFill>
              </a:rPr>
              <a:t>Dr. Edmond Locard (13 December 1877 – 4 May 1966) was a pioneer in forensic science.</a:t>
            </a:r>
          </a:p>
          <a:p>
            <a:pPr eaLnBrk="1" hangingPunct="1">
              <a:buClr>
                <a:schemeClr val="accent1"/>
              </a:buClr>
              <a:buSzPct val="76000"/>
              <a:buFont typeface="Wingdings 3" pitchFamily="18" charset="2"/>
            </a:pPr>
            <a:r>
              <a:rPr sz="2400" dirty="0"/>
              <a:t>He put forward a concept “When there is a contact between two items there will an exchange” OR “Every contact leaves a trace”.</a:t>
            </a:r>
          </a:p>
          <a:p>
            <a:pPr eaLnBrk="1" hangingPunct="1">
              <a:buClr>
                <a:schemeClr val="accent1"/>
              </a:buClr>
              <a:buSzPct val="76000"/>
              <a:buFont typeface="Wingdings 3" pitchFamily="18" charset="2"/>
            </a:pPr>
            <a:r>
              <a:rPr sz="2400" dirty="0"/>
              <a:t>Locard believed that no matter where a criminal goes or what a criminal does, he will leave something at the scene of the crime. </a:t>
            </a:r>
          </a:p>
          <a:p>
            <a:pPr eaLnBrk="1" hangingPunct="1">
              <a:buClr>
                <a:schemeClr val="accent1"/>
              </a:buClr>
              <a:buSzPct val="76000"/>
              <a:buFont typeface="Wingdings 3" pitchFamily="18" charset="2"/>
            </a:pPr>
            <a:r>
              <a:rPr sz="2400" dirty="0"/>
              <a:t>At the same time, he will also take something back with him.</a:t>
            </a:r>
          </a:p>
          <a:p>
            <a:pPr eaLnBrk="1" hangingPunct="1">
              <a:buClr>
                <a:schemeClr val="accent1"/>
              </a:buClr>
              <a:buSzPct val="76000"/>
              <a:buFont typeface="Wingdings 3" pitchFamily="18" charset="2"/>
            </a:pPr>
            <a:r>
              <a:rPr sz="2400" dirty="0"/>
              <a:t>Locard successfully used this principle while working as forensic expert on many cases and solved them.</a:t>
            </a:r>
          </a:p>
          <a:p>
            <a:pPr eaLnBrk="1" hangingPunct="1">
              <a:buClr>
                <a:schemeClr val="accent1"/>
              </a:buClr>
              <a:buSzPct val="76000"/>
              <a:buFont typeface="Wingdings 3" pitchFamily="18" charset="2"/>
            </a:pPr>
            <a:endParaRPr sz="2400" dirty="0"/>
          </a:p>
          <a:p>
            <a:pPr eaLnBrk="1" hangingPunct="1">
              <a:buClr>
                <a:schemeClr val="accent1"/>
              </a:buClr>
              <a:buSzPct val="76000"/>
              <a:buFont typeface="Wingdings 3" pitchFamily="18" charset="2"/>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vert="horz" wrap="square" lIns="91440" tIns="45720" rIns="91440" bIns="45720" anchor="b" anchorCtr="0"/>
          <a:lstStyle/>
          <a:p>
            <a:pPr eaLnBrk="1" hangingPunct="1"/>
            <a:r>
              <a:rPr dirty="0"/>
              <a:t>Locard’s Exchange Principle</a:t>
            </a:r>
          </a:p>
        </p:txBody>
      </p:sp>
      <p:sp>
        <p:nvSpPr>
          <p:cNvPr id="28675"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buClr>
                <a:schemeClr val="accent1"/>
              </a:buClr>
              <a:buSzPct val="76000"/>
              <a:buFont typeface="Wingdings 3" pitchFamily="18" charset="2"/>
            </a:pPr>
            <a:r>
              <a:rPr sz="2400" dirty="0"/>
              <a:t>Wherever he steps, whatever he touches, whatever he leaves, even unconsciously, will serve as a silent witness against him. </a:t>
            </a:r>
          </a:p>
          <a:p>
            <a:pPr eaLnBrk="1" hangingPunct="1">
              <a:buClr>
                <a:schemeClr val="accent1"/>
              </a:buClr>
              <a:buSzPct val="76000"/>
              <a:buFont typeface="Wingdings 3" pitchFamily="18" charset="2"/>
            </a:pPr>
            <a:endParaRPr sz="2400" dirty="0"/>
          </a:p>
          <a:p>
            <a:pPr eaLnBrk="1" hangingPunct="1">
              <a:buClr>
                <a:schemeClr val="accent1"/>
              </a:buClr>
              <a:buSzPct val="76000"/>
              <a:buFont typeface="Wingdings 3" pitchFamily="18" charset="2"/>
            </a:pPr>
            <a:r>
              <a:rPr sz="2400" dirty="0"/>
              <a:t>Not only his fingerprints or his footprints, but his hair, the fibers from his clothes, the glass he breaks, the tool mark he leaves, the paint he scratches, the blood he deposits or collects. </a:t>
            </a:r>
          </a:p>
          <a:p>
            <a:pPr eaLnBrk="1" hangingPunct="1">
              <a:buClr>
                <a:schemeClr val="accent1"/>
              </a:buClr>
              <a:buSzPct val="76000"/>
              <a:buFont typeface="Wingdings 3" pitchFamily="18" charset="2"/>
            </a:pPr>
            <a:endParaRPr sz="2400" dirty="0"/>
          </a:p>
          <a:p>
            <a:pPr eaLnBrk="1" hangingPunct="1">
              <a:buClr>
                <a:schemeClr val="accent1"/>
              </a:buClr>
              <a:buSzPct val="76000"/>
              <a:buFont typeface="Wingdings 3" pitchFamily="18" charset="2"/>
            </a:pPr>
            <a:r>
              <a:rPr sz="2400" dirty="0"/>
              <a:t>All of these and more, bear mute witness against him. This is evidence that does not forget. It is not confused by the excitement of the moment.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vert="horz" wrap="square" lIns="91440" tIns="45720" rIns="91440" bIns="45720" anchor="b" anchorCtr="0"/>
          <a:lstStyle/>
          <a:p>
            <a:pPr eaLnBrk="1" hangingPunct="1"/>
            <a:r>
              <a:rPr dirty="0"/>
              <a:t>Locard’s Exchange Principle</a:t>
            </a:r>
          </a:p>
        </p:txBody>
      </p:sp>
      <p:sp>
        <p:nvSpPr>
          <p:cNvPr id="28675"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buClr>
                <a:schemeClr val="accent1"/>
              </a:buClr>
              <a:buSzPct val="76000"/>
              <a:buFont typeface="Wingdings 3" pitchFamily="18" charset="2"/>
            </a:pPr>
            <a:r>
              <a:rPr sz="2400" dirty="0"/>
              <a:t>It is not absent because human witnesses are. </a:t>
            </a:r>
          </a:p>
          <a:p>
            <a:pPr eaLnBrk="1" hangingPunct="1">
              <a:buClr>
                <a:schemeClr val="accent1"/>
              </a:buClr>
              <a:buSzPct val="76000"/>
              <a:buFont typeface="Wingdings 3" pitchFamily="18" charset="2"/>
            </a:pPr>
            <a:endParaRPr sz="2400" dirty="0"/>
          </a:p>
          <a:p>
            <a:pPr eaLnBrk="1" hangingPunct="1">
              <a:buClr>
                <a:schemeClr val="accent1"/>
              </a:buClr>
              <a:buSzPct val="76000"/>
              <a:buFont typeface="Wingdings 3" pitchFamily="18" charset="2"/>
            </a:pPr>
            <a:r>
              <a:rPr sz="2400" dirty="0"/>
              <a:t>It is factual evidence. </a:t>
            </a:r>
          </a:p>
          <a:p>
            <a:pPr eaLnBrk="1" hangingPunct="1">
              <a:buClr>
                <a:schemeClr val="accent1"/>
              </a:buClr>
              <a:buSzPct val="76000"/>
              <a:buFont typeface="Wingdings 3" pitchFamily="18" charset="2"/>
            </a:pPr>
            <a:endParaRPr sz="2400" dirty="0"/>
          </a:p>
          <a:p>
            <a:pPr eaLnBrk="1" hangingPunct="1">
              <a:buClr>
                <a:schemeClr val="accent1"/>
              </a:buClr>
              <a:buSzPct val="76000"/>
              <a:buFont typeface="Wingdings 3" pitchFamily="18" charset="2"/>
            </a:pPr>
            <a:r>
              <a:rPr sz="2400" dirty="0"/>
              <a:t>Physical evidence cannot be wrong, it cannot perjure itself, it cannot be wholly absent. </a:t>
            </a:r>
          </a:p>
          <a:p>
            <a:pPr eaLnBrk="1" hangingPunct="1">
              <a:buClr>
                <a:schemeClr val="accent1"/>
              </a:buClr>
              <a:buSzPct val="76000"/>
              <a:buFont typeface="Wingdings 3" pitchFamily="18" charset="2"/>
            </a:pPr>
            <a:endParaRPr sz="2400" dirty="0"/>
          </a:p>
          <a:p>
            <a:pPr eaLnBrk="1" hangingPunct="1">
              <a:buClr>
                <a:schemeClr val="accent1"/>
              </a:buClr>
              <a:buSzPct val="76000"/>
              <a:buFont typeface="Wingdings 3" pitchFamily="18" charset="2"/>
            </a:pPr>
            <a:r>
              <a:rPr sz="2400" dirty="0"/>
              <a:t>Only human failure to find it, study and understand it, can diminish its value."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vert="horz" wrap="square" lIns="91440" tIns="45720" rIns="91440" bIns="45720" anchor="b" anchorCtr="0"/>
          <a:lstStyle/>
          <a:p>
            <a:pPr eaLnBrk="1" hangingPunct="1"/>
            <a:r>
              <a:rPr dirty="0"/>
              <a:t>Why is Computer Forensics necessary?</a:t>
            </a:r>
          </a:p>
        </p:txBody>
      </p:sp>
      <p:sp>
        <p:nvSpPr>
          <p:cNvPr id="29699" name="Content Placeholder 2"/>
          <p:cNvSpPr>
            <a:spLocks noGrp="1"/>
          </p:cNvSpPr>
          <p:nvPr>
            <p:ph sz="quarter" idx="1"/>
          </p:nvPr>
        </p:nvSpPr>
        <p:spPr>
          <a:xfrm>
            <a:off x="457200" y="1143000"/>
            <a:ext cx="8229600" cy="5181600"/>
          </a:xfrm>
        </p:spPr>
        <p:txBody>
          <a:bodyPr vert="horz" wrap="square" lIns="91440" tIns="45720" rIns="91440" bIns="45720" anchor="t" anchorCtr="0"/>
          <a:lstStyle/>
          <a:p>
            <a:pPr eaLnBrk="1" hangingPunct="1">
              <a:buClr>
                <a:schemeClr val="accent1"/>
              </a:buClr>
              <a:buSzPct val="76000"/>
              <a:buFont typeface="Wingdings 3" pitchFamily="18" charset="2"/>
            </a:pPr>
            <a:r>
              <a:rPr dirty="0"/>
              <a:t>Today is the age of IT.</a:t>
            </a:r>
          </a:p>
          <a:p>
            <a:pPr eaLnBrk="1" hangingPunct="1">
              <a:buClr>
                <a:schemeClr val="accent1"/>
              </a:buClr>
              <a:buSzPct val="76000"/>
              <a:buFont typeface="Wingdings 3" pitchFamily="18" charset="2"/>
            </a:pPr>
            <a:r>
              <a:rPr dirty="0"/>
              <a:t>Every individual or organizations use computers to store valuable information or to perform commercial transactions.</a:t>
            </a:r>
          </a:p>
          <a:p>
            <a:pPr eaLnBrk="1" hangingPunct="1">
              <a:buClr>
                <a:schemeClr val="accent1"/>
              </a:buClr>
              <a:buSzPct val="76000"/>
              <a:buFont typeface="Wingdings 3" pitchFamily="18" charset="2"/>
            </a:pPr>
            <a:r>
              <a:rPr dirty="0"/>
              <a:t>Today the rate of cyber crime is increased and the organizations or individuals suffer a great monetary loss due to this.</a:t>
            </a:r>
          </a:p>
          <a:p>
            <a:pPr>
              <a:buClr>
                <a:schemeClr val="accent1"/>
              </a:buClr>
              <a:buSzPct val="76000"/>
              <a:buFont typeface="Wingdings 3" pitchFamily="18" charset="2"/>
            </a:pPr>
            <a:r>
              <a:rPr dirty="0"/>
              <a:t>Thus in order to prosecute such crimes, evidence must first be gathered both:</a:t>
            </a:r>
          </a:p>
          <a:p>
            <a:pPr lvl="1">
              <a:buClr>
                <a:schemeClr val="accent2"/>
              </a:buClr>
              <a:buSzPct val="76000"/>
              <a:buFont typeface="Wingdings 3" pitchFamily="18" charset="2"/>
            </a:pPr>
            <a:r>
              <a:rPr dirty="0"/>
              <a:t>in sufficient quantity to substantiate any criminal or civil charges, and handled properly so that the evidence will hold up in court.</a:t>
            </a:r>
          </a:p>
          <a:p>
            <a:pPr eaLnBrk="1" hangingPunct="1">
              <a:buClr>
                <a:schemeClr val="accent1"/>
              </a:buClr>
              <a:buSzPct val="76000"/>
              <a:buFont typeface="Wingdings 3" pitchFamily="18" charset="2"/>
            </a:pP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vert="horz" wrap="square" lIns="91440" tIns="45720" rIns="91440" bIns="45720" anchor="b" anchorCtr="0"/>
          <a:lstStyle/>
          <a:p>
            <a:pPr eaLnBrk="1" hangingPunct="1"/>
            <a:r>
              <a:rPr dirty="0"/>
              <a:t>Why is Computer Forensics necessary?</a:t>
            </a:r>
          </a:p>
        </p:txBody>
      </p:sp>
      <p:sp>
        <p:nvSpPr>
          <p:cNvPr id="30723"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300" dirty="0"/>
              <a:t>However as much of this evidence will be in digital format the ability to extract the relevant digital evidence in a manner that preserves the value and integrity of the data is critical. </a:t>
            </a:r>
          </a:p>
          <a:p>
            <a:pPr>
              <a:buClr>
                <a:schemeClr val="accent1"/>
              </a:buClr>
              <a:buSzPct val="76000"/>
              <a:buFont typeface="Wingdings 3" pitchFamily="18" charset="2"/>
            </a:pPr>
            <a:r>
              <a:rPr sz="2300" dirty="0"/>
              <a:t>This is the reason we need a careful, methodical process for gathering digital data in the first place ; and this is why we need computer forensics.</a:t>
            </a:r>
          </a:p>
          <a:p>
            <a:pPr>
              <a:buClr>
                <a:schemeClr val="accent1"/>
              </a:buClr>
              <a:buSzPct val="76000"/>
              <a:buFont typeface="Wingdings 3" pitchFamily="18" charset="2"/>
            </a:pPr>
            <a:r>
              <a:rPr sz="2300" dirty="0"/>
              <a:t>But handling digital evidence differs in many ways from handling physical evidence and an investigator must know:</a:t>
            </a:r>
          </a:p>
          <a:p>
            <a:pPr lvl="1">
              <a:buClr>
                <a:schemeClr val="accent2"/>
              </a:buClr>
              <a:buSzPct val="76000"/>
              <a:buFont typeface="Wingdings 3" pitchFamily="18" charset="2"/>
            </a:pPr>
            <a:r>
              <a:rPr sz="2100" dirty="0"/>
              <a:t>Where to look for digital evidence </a:t>
            </a:r>
          </a:p>
          <a:p>
            <a:pPr lvl="1">
              <a:buClr>
                <a:schemeClr val="accent2"/>
              </a:buClr>
              <a:buSzPct val="76000"/>
              <a:buFont typeface="Wingdings 3" pitchFamily="18" charset="2"/>
            </a:pPr>
            <a:r>
              <a:rPr sz="2100" dirty="0"/>
              <a:t>The proper way to acquire this evidence </a:t>
            </a:r>
          </a:p>
          <a:p>
            <a:pPr lvl="1">
              <a:buClr>
                <a:schemeClr val="accent2"/>
              </a:buClr>
              <a:buSzPct val="76000"/>
              <a:buFont typeface="Wingdings 3" pitchFamily="18" charset="2"/>
            </a:pPr>
            <a:r>
              <a:rPr sz="2100" dirty="0"/>
              <a:t>How to handle and preserve this evidence in such a manner that preserves its probative value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533400" y="124409"/>
            <a:ext cx="8229600" cy="990600"/>
          </a:xfrm>
        </p:spPr>
        <p:txBody>
          <a:bodyPr vert="horz" wrap="square" lIns="91440" tIns="45720" rIns="91440" bIns="45720" anchor="b" anchorCtr="0"/>
          <a:lstStyle/>
          <a:p>
            <a:pPr eaLnBrk="1" hangingPunct="1"/>
            <a:r>
              <a:rPr dirty="0"/>
              <a:t>Computer Forensics </a:t>
            </a:r>
          </a:p>
        </p:txBody>
      </p:sp>
      <p:sp>
        <p:nvSpPr>
          <p:cNvPr id="30723"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500" dirty="0">
                <a:solidFill>
                  <a:srgbClr val="FF0000"/>
                </a:solidFill>
              </a:rPr>
              <a:t>This concept was firstly defined in 2001 by the Digital Forensics Research Workshop (DFRWS) </a:t>
            </a:r>
            <a:r>
              <a:rPr sz="2500" dirty="0"/>
              <a:t>as “The use of scientifically derived and proven methods toward the preservation, collection, validation, identification, analysis, interpretation, documentation and presentation of digital evidence derived from digital sources for the purpose of facilitating or furthering the reconstruction of events found to be criminal or helping to anticipate unauthorized actions shown to be disruptive to planned operations”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vert="horz" wrap="square" lIns="91440" tIns="45720" rIns="91440" bIns="45720" anchor="b" anchorCtr="0"/>
          <a:lstStyle/>
          <a:p>
            <a:r>
              <a:rPr dirty="0"/>
              <a:t>Cyber Forensics and Incident Response Plan</a:t>
            </a:r>
          </a:p>
        </p:txBody>
      </p:sp>
      <p:sp>
        <p:nvSpPr>
          <p:cNvPr id="31747"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dirty="0">
                <a:latin typeface="Arial" panose="020B0604020202020204" pitchFamily="34" charset="0"/>
              </a:rPr>
              <a:t>Incident response is about planning for the unexpected or undesirable events</a:t>
            </a:r>
          </a:p>
          <a:p>
            <a:pPr>
              <a:buClr>
                <a:schemeClr val="accent1"/>
              </a:buClr>
              <a:buSzPct val="76000"/>
              <a:buFont typeface="Wingdings 3" pitchFamily="18" charset="2"/>
            </a:pPr>
            <a:r>
              <a:rPr dirty="0">
                <a:latin typeface="Arial" panose="020B0604020202020204" pitchFamily="34" charset="0"/>
              </a:rPr>
              <a:t>The </a:t>
            </a:r>
            <a:r>
              <a:rPr dirty="0">
                <a:solidFill>
                  <a:srgbClr val="FF0000"/>
                </a:solidFill>
                <a:latin typeface="Arial" panose="020B0604020202020204" pitchFamily="34" charset="0"/>
              </a:rPr>
              <a:t>incident response plan (IRP) </a:t>
            </a:r>
            <a:r>
              <a:rPr dirty="0">
                <a:latin typeface="Arial" panose="020B0604020202020204" pitchFamily="34" charset="0"/>
              </a:rPr>
              <a:t>is the document that contains procedures to follow in case of an emergency.</a:t>
            </a:r>
          </a:p>
          <a:p>
            <a:pPr>
              <a:buClr>
                <a:schemeClr val="accent1"/>
              </a:buClr>
              <a:buSzPct val="76000"/>
              <a:buFont typeface="Wingdings 3" pitchFamily="18" charset="2"/>
            </a:pPr>
            <a:r>
              <a:rPr sz="2800" dirty="0"/>
              <a:t>Organization must have sufficient detection &amp; monitoring capabilities to detect incidents in a timely manner.</a:t>
            </a:r>
          </a:p>
          <a:p>
            <a:pPr>
              <a:buClr>
                <a:schemeClr val="accent1"/>
              </a:buClr>
              <a:buSzPct val="76000"/>
              <a:buFont typeface="Wingdings 3" pitchFamily="18" charset="2"/>
            </a:pPr>
            <a:r>
              <a:rPr sz="2800" dirty="0"/>
              <a:t>Thus timely detection of an incident and proper action against it will make sure that the incident causes negligible or no damage to an organization.</a:t>
            </a:r>
          </a:p>
          <a:p>
            <a:pPr>
              <a:buClr>
                <a:schemeClr val="accent1"/>
              </a:buClr>
              <a:buSzPct val="76000"/>
              <a:buFont typeface="Wingdings 3" pitchFamily="18" charset="2"/>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vert="horz" wrap="square" lIns="91440" tIns="45720" rIns="91440" bIns="45720" anchor="b" anchorCtr="0"/>
          <a:lstStyle/>
          <a:p>
            <a:r>
              <a:rPr dirty="0"/>
              <a:t>Cyber Forensics and Incident Response Plan</a:t>
            </a:r>
          </a:p>
        </p:txBody>
      </p:sp>
      <p:sp>
        <p:nvSpPr>
          <p:cNvPr id="32771"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dirty="0"/>
              <a:t>However when an incident happens like a virus attack or a network intrusion following questions require answers.</a:t>
            </a:r>
          </a:p>
          <a:p>
            <a:pPr lvl="1">
              <a:buClr>
                <a:schemeClr val="accent2"/>
              </a:buClr>
              <a:buSzPct val="76000"/>
              <a:buFont typeface="Wingdings 3" pitchFamily="18" charset="2"/>
            </a:pPr>
            <a:r>
              <a:rPr dirty="0"/>
              <a:t>How the attack happened?</a:t>
            </a:r>
          </a:p>
          <a:p>
            <a:pPr lvl="1" eaLnBrk="1" hangingPunct="1">
              <a:lnSpc>
                <a:spcPct val="90000"/>
              </a:lnSpc>
              <a:buClr>
                <a:schemeClr val="accent2"/>
              </a:buClr>
              <a:buSzPct val="76000"/>
              <a:buFont typeface="Wingdings 3" pitchFamily="18" charset="2"/>
            </a:pPr>
            <a:r>
              <a:rPr dirty="0"/>
              <a:t>Who was involved?</a:t>
            </a:r>
          </a:p>
          <a:p>
            <a:pPr lvl="1" eaLnBrk="1" hangingPunct="1">
              <a:lnSpc>
                <a:spcPct val="90000"/>
              </a:lnSpc>
              <a:buClr>
                <a:schemeClr val="accent2"/>
              </a:buClr>
              <a:buSzPct val="76000"/>
              <a:buFont typeface="Wingdings 3" pitchFamily="18" charset="2"/>
            </a:pPr>
            <a:r>
              <a:rPr dirty="0"/>
              <a:t>What was the reason for the attack?</a:t>
            </a:r>
          </a:p>
          <a:p>
            <a:pPr lvl="1" eaLnBrk="1" hangingPunct="1">
              <a:lnSpc>
                <a:spcPct val="90000"/>
              </a:lnSpc>
              <a:buClr>
                <a:schemeClr val="accent2"/>
              </a:buClr>
              <a:buSzPct val="76000"/>
              <a:buFont typeface="Wingdings 3" pitchFamily="18" charset="2"/>
            </a:pPr>
            <a:r>
              <a:rPr dirty="0"/>
              <a:t>Where did attack originate from?</a:t>
            </a:r>
          </a:p>
          <a:p>
            <a:pPr lvl="1" eaLnBrk="1" hangingPunct="1">
              <a:lnSpc>
                <a:spcPct val="90000"/>
              </a:lnSpc>
              <a:buClr>
                <a:schemeClr val="accent2"/>
              </a:buClr>
              <a:buSzPct val="76000"/>
              <a:buFont typeface="Wingdings 3" pitchFamily="18" charset="2"/>
            </a:pPr>
            <a:r>
              <a:rPr dirty="0"/>
              <a:t>When did the initial attack occur?</a:t>
            </a:r>
          </a:p>
          <a:p>
            <a:pPr lvl="1" eaLnBrk="1" hangingPunct="1">
              <a:lnSpc>
                <a:spcPct val="90000"/>
              </a:lnSpc>
              <a:buClr>
                <a:schemeClr val="accent2"/>
              </a:buClr>
              <a:buSzPct val="76000"/>
              <a:buFont typeface="Wingdings 3" pitchFamily="18" charset="2"/>
            </a:pPr>
            <a:r>
              <a:rPr dirty="0"/>
              <a:t>How did it happen?</a:t>
            </a:r>
          </a:p>
          <a:p>
            <a:pPr lvl="1" eaLnBrk="1" hangingPunct="1">
              <a:lnSpc>
                <a:spcPct val="90000"/>
              </a:lnSpc>
              <a:buClr>
                <a:schemeClr val="accent2"/>
              </a:buClr>
              <a:buSzPct val="76000"/>
              <a:buFont typeface="Wingdings 3" pitchFamily="18" charset="2"/>
            </a:pPr>
            <a:r>
              <a:rPr dirty="0"/>
              <a:t>What vulnerability enabled the attack?</a:t>
            </a:r>
          </a:p>
          <a:p>
            <a:pPr eaLnBrk="1" hangingPunct="1">
              <a:lnSpc>
                <a:spcPct val="90000"/>
              </a:lnSpc>
              <a:buClr>
                <a:schemeClr val="accent1"/>
              </a:buClr>
              <a:buSzPct val="76000"/>
              <a:buFont typeface="Wingdings 3" pitchFamily="18" charset="2"/>
            </a:pPr>
            <a:r>
              <a:rPr dirty="0"/>
              <a:t>Also an organization may want to take legal action against the initiator of the attack.</a:t>
            </a:r>
          </a:p>
          <a:p>
            <a:pPr eaLnBrk="1" hangingPunct="1">
              <a:lnSpc>
                <a:spcPct val="90000"/>
              </a:lnSpc>
              <a:buClr>
                <a:schemeClr val="accent1"/>
              </a:buClr>
              <a:buSzPct val="76000"/>
              <a:buFont typeface="Wingdings 3" pitchFamily="18" charset="2"/>
            </a:pPr>
            <a:r>
              <a:rPr dirty="0"/>
              <a:t>Thus cyber forensics team is required.</a:t>
            </a:r>
          </a:p>
          <a:p>
            <a:pPr>
              <a:buClr>
                <a:schemeClr val="accent1"/>
              </a:buClr>
              <a:buSzPct val="76000"/>
              <a:buFont typeface="Wingdings 3" pitchFamily="18" charset="2"/>
            </a:pP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ctrTitle"/>
          </p:nvPr>
        </p:nvSpPr>
        <p:spPr>
          <a:xfrm>
            <a:off x="228600" y="3581400"/>
            <a:ext cx="8001000" cy="1295400"/>
          </a:xfrm>
        </p:spPr>
        <p:txBody>
          <a:bodyPr vert="horz" wrap="square" lIns="91440" tIns="45720" rIns="91440" bIns="45720" anchor="t" anchorCtr="0"/>
          <a:lstStyle/>
          <a:p>
            <a:pPr eaLnBrk="1" hangingPunct="1">
              <a:buClrTx/>
              <a:buSzTx/>
              <a:buFontTx/>
            </a:pPr>
            <a:r>
              <a:rPr kern="1200" dirty="0">
                <a:latin typeface="+mj-lt"/>
                <a:ea typeface="+mj-ea"/>
                <a:cs typeface="+mj-cs"/>
              </a:rPr>
              <a:t>Module 2</a:t>
            </a:r>
            <a:br>
              <a:rPr kern="1200" dirty="0">
                <a:latin typeface="+mj-lt"/>
                <a:ea typeface="+mj-ea"/>
                <a:cs typeface="+mj-cs"/>
              </a:rPr>
            </a:br>
            <a:r>
              <a:rPr kern="1200" dirty="0">
                <a:latin typeface="+mj-lt"/>
                <a:ea typeface="+mj-ea"/>
                <a:cs typeface="+mj-cs"/>
              </a:rPr>
              <a:t>Basic Forensics principle</a:t>
            </a:r>
          </a:p>
        </p:txBody>
      </p:sp>
      <p:sp>
        <p:nvSpPr>
          <p:cNvPr id="4" name="Subtitle 3"/>
          <p:cNvSpPr>
            <a:spLocks noGrp="1"/>
          </p:cNvSpPr>
          <p:nvPr>
            <p:ph type="subTitle" idx="1"/>
          </p:nvPr>
        </p:nvSpPr>
        <p:spPr/>
        <p:txBody>
          <a:bodyPr vert="horz" wrap="square" lIns="91440" tIns="45720" rIns="91440" bIns="45720" numCol="1" anchor="t" anchorCtr="0" compatLnSpc="1">
            <a:normAutofit/>
          </a:bodyPr>
          <a:lstStyle/>
          <a:p>
            <a:pPr marL="0" marR="0" lvl="0" indent="0" algn="r" defTabSz="914400" rtl="0" eaLnBrk="1" fontAlgn="auto" latinLnBrk="0" hangingPunct="1">
              <a:lnSpc>
                <a:spcPct val="100000"/>
              </a:lnSpc>
              <a:spcBef>
                <a:spcPts val="600"/>
              </a:spcBef>
              <a:spcAft>
                <a:spcPts val="0"/>
              </a:spcAft>
              <a:buClr>
                <a:schemeClr val="accent1"/>
              </a:buClr>
              <a:buSzPct val="76000"/>
              <a:buFont typeface="Wingdings 3"/>
              <a:buNone/>
              <a:defRPr/>
            </a:pPr>
            <a:endParaRPr kumimoji="0" lang="en-US" sz="2000" b="0" i="0" u="none" strike="noStrike" kern="1200" cap="none" spc="0" normalizeH="0" baseline="0" noProof="0">
              <a:ln>
                <a:noFill/>
              </a:ln>
              <a:solidFill>
                <a:schemeClr val="tx2"/>
              </a:solidFill>
              <a:effectLst/>
              <a:uLnTx/>
              <a:uFillTx/>
              <a:latin typeface="+mj-lt"/>
              <a:ea typeface="+mj-ea"/>
              <a:cs typeface="+mj-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vert="horz" wrap="square" lIns="91440" tIns="45720" rIns="91440" bIns="45720" anchor="b" anchorCtr="0"/>
          <a:lstStyle/>
          <a:p>
            <a:r>
              <a:rPr dirty="0"/>
              <a:t>Principles of Cyber Forensics</a:t>
            </a:r>
          </a:p>
        </p:txBody>
      </p:sp>
      <p:sp>
        <p:nvSpPr>
          <p:cNvPr id="34819"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dirty="0"/>
              <a:t>The four main principles of cyber forensics are </a:t>
            </a:r>
          </a:p>
          <a:p>
            <a:pPr>
              <a:buClr>
                <a:schemeClr val="accent1"/>
              </a:buClr>
              <a:buSzPct val="76000"/>
              <a:buFont typeface="Wingdings 3" pitchFamily="18" charset="2"/>
            </a:pPr>
            <a:endParaRPr dirty="0"/>
          </a:p>
          <a:p>
            <a:pPr>
              <a:buClr>
                <a:schemeClr val="accent1"/>
              </a:buClr>
              <a:buSzPct val="76000"/>
              <a:buFont typeface="Wingdings 3" pitchFamily="18" charset="2"/>
            </a:pPr>
            <a:r>
              <a:rPr dirty="0"/>
              <a:t>1. No action should change data held on a computer or storage media which may be subsequently relied upon in court.</a:t>
            </a:r>
          </a:p>
          <a:p>
            <a:pPr>
              <a:buClr>
                <a:schemeClr val="accent1"/>
              </a:buClr>
              <a:buSzPct val="76000"/>
              <a:buFont typeface="Wingdings 3" pitchFamily="18" charset="2"/>
            </a:pPr>
            <a:r>
              <a:rPr dirty="0"/>
              <a:t/>
            </a:r>
            <a:br>
              <a:rPr dirty="0"/>
            </a:br>
            <a:r>
              <a:rPr dirty="0"/>
              <a:t>2. In circumstances where a person finds it necessary to access original data held on a computer or storage media, that person must be competent to do so and be able to give evidence explaining the relevance and the implications of their actions.</a:t>
            </a:r>
            <a:br>
              <a:rPr dirty="0"/>
            </a:b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vert="horz" wrap="square" lIns="91440" tIns="45720" rIns="91440" bIns="45720" anchor="b" anchorCtr="0"/>
          <a:lstStyle/>
          <a:p>
            <a:r>
              <a:rPr dirty="0"/>
              <a:t>Principles of Cyber Forensics</a:t>
            </a:r>
          </a:p>
        </p:txBody>
      </p:sp>
      <p:sp>
        <p:nvSpPr>
          <p:cNvPr id="35843"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dirty="0"/>
              <a:t>The four main principles of cyber forensics are </a:t>
            </a:r>
          </a:p>
          <a:p>
            <a:pPr>
              <a:buClr>
                <a:schemeClr val="accent1"/>
              </a:buClr>
              <a:buSzPct val="76000"/>
              <a:buFont typeface="Wingdings 3" pitchFamily="18" charset="2"/>
            </a:pPr>
            <a:endParaRPr dirty="0"/>
          </a:p>
          <a:p>
            <a:pPr>
              <a:buClr>
                <a:schemeClr val="accent1"/>
              </a:buClr>
              <a:buSzPct val="76000"/>
              <a:buFont typeface="Wingdings 3" pitchFamily="18" charset="2"/>
            </a:pPr>
            <a:r>
              <a:rPr dirty="0"/>
              <a:t>3. An audit trail or other record of all processes applied to computer-based electronic evidence should be created and preserved. An independent third-party should be able to examine those processes and achieve the same result.</a:t>
            </a:r>
          </a:p>
          <a:p>
            <a:pPr>
              <a:buClr>
                <a:schemeClr val="accent1"/>
              </a:buClr>
              <a:buSzPct val="76000"/>
              <a:buFont typeface="Wingdings 3" pitchFamily="18" charset="2"/>
            </a:pPr>
            <a:r>
              <a:rPr dirty="0"/>
              <a:t/>
            </a:r>
            <a:br>
              <a:rPr dirty="0"/>
            </a:br>
            <a:r>
              <a:rPr dirty="0"/>
              <a:t>4. The person in charge of the investigation has overall responsibility for ensuring that the law and these principles are adhered to.</a:t>
            </a:r>
          </a:p>
          <a:p>
            <a:pPr>
              <a:buClr>
                <a:schemeClr val="accent1"/>
              </a:buClr>
              <a:buSzPct val="76000"/>
              <a:buFont typeface="Wingdings 3" pitchFamily="18" charset="2"/>
            </a:pP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vert="horz" wrap="square" lIns="91440" tIns="45720" rIns="91440" bIns="45720" anchor="b" anchorCtr="0"/>
          <a:lstStyle/>
          <a:p>
            <a:r>
              <a:rPr dirty="0"/>
              <a:t>Principles of Cyber Forensics</a:t>
            </a:r>
          </a:p>
        </p:txBody>
      </p:sp>
      <p:sp>
        <p:nvSpPr>
          <p:cNvPr id="36867"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sz="2400" dirty="0"/>
              <a:t>However, sometimes it is not possible or desirable to switch a computer off. </a:t>
            </a:r>
          </a:p>
          <a:p>
            <a:pPr>
              <a:buClr>
                <a:schemeClr val="accent1"/>
              </a:buClr>
              <a:buSzPct val="76000"/>
              <a:buFont typeface="Wingdings 3" pitchFamily="18" charset="2"/>
            </a:pPr>
            <a:endParaRPr sz="2400" dirty="0"/>
          </a:p>
          <a:p>
            <a:pPr>
              <a:buClr>
                <a:schemeClr val="accent1"/>
              </a:buClr>
              <a:buSzPct val="76000"/>
              <a:buFont typeface="Wingdings 3" pitchFamily="18" charset="2"/>
            </a:pPr>
            <a:r>
              <a:rPr sz="2400" dirty="0"/>
              <a:t>It may not be desirable if doing so would mean that potentially valuable evidence may be lost or may cause the owner a great financial loss.</a:t>
            </a:r>
          </a:p>
          <a:p>
            <a:pPr>
              <a:buClr>
                <a:schemeClr val="accent1"/>
              </a:buClr>
              <a:buSzPct val="76000"/>
              <a:buFont typeface="Wingdings 3" pitchFamily="18" charset="2"/>
            </a:pPr>
            <a:endParaRPr sz="2400" dirty="0"/>
          </a:p>
          <a:p>
            <a:pPr>
              <a:buClr>
                <a:schemeClr val="accent1"/>
              </a:buClr>
              <a:buSzPct val="76000"/>
              <a:buFont typeface="Wingdings 3" pitchFamily="18" charset="2"/>
            </a:pPr>
            <a:r>
              <a:rPr sz="2400" dirty="0"/>
              <a:t>In both these circumstances the computer forensic examiner would need to carry out a ‘live acquisition’ which would involve running a small program on the suspect computer in order to copy (or acquire) the data to the examiner’s hard drive.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vert="horz" wrap="square" lIns="91440" tIns="45720" rIns="91440" bIns="45720" anchor="b" anchorCtr="0"/>
          <a:lstStyle/>
          <a:p>
            <a:r>
              <a:rPr dirty="0"/>
              <a:t>Principles of Cyber Forensics</a:t>
            </a:r>
          </a:p>
        </p:txBody>
      </p:sp>
      <p:sp>
        <p:nvSpPr>
          <p:cNvPr id="37891"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dirty="0"/>
              <a:t>By running such a program and attaching a destination drive to the suspect computer, the examiner will make changes and/or additions to the state of the computer which were not present before his actions. </a:t>
            </a:r>
          </a:p>
          <a:p>
            <a:pPr>
              <a:buClr>
                <a:schemeClr val="accent1"/>
              </a:buClr>
              <a:buSzPct val="76000"/>
              <a:buFont typeface="Wingdings 3" pitchFamily="18" charset="2"/>
            </a:pPr>
            <a:endParaRPr dirty="0"/>
          </a:p>
          <a:p>
            <a:pPr>
              <a:buClr>
                <a:schemeClr val="accent1"/>
              </a:buClr>
              <a:buSzPct val="76000"/>
              <a:buFont typeface="Wingdings 3" pitchFamily="18" charset="2"/>
            </a:pPr>
            <a:r>
              <a:rPr dirty="0"/>
              <a:t>Such actions would remain admissible as long as the examiner recorded their actions, was aware of their impact and was able to explain them.</a:t>
            </a:r>
          </a:p>
          <a:p>
            <a:pPr>
              <a:buClr>
                <a:schemeClr val="accent1"/>
              </a:buClr>
              <a:buSzPct val="76000"/>
              <a:buFont typeface="Wingdings 3" pitchFamily="18" charset="2"/>
            </a:pPr>
            <a:endParaRPr dirty="0"/>
          </a:p>
          <a:p>
            <a:pPr>
              <a:buClr>
                <a:schemeClr val="accent1"/>
              </a:buClr>
              <a:buSzPct val="76000"/>
              <a:buFont typeface="Wingdings 3" pitchFamily="18" charset="2"/>
            </a:pP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vert="horz" wrap="square" lIns="91440" tIns="45720" rIns="91440" bIns="45720" anchor="b" anchorCtr="0"/>
          <a:lstStyle/>
          <a:p>
            <a:r>
              <a:rPr dirty="0"/>
              <a:t>Chain of Custody</a:t>
            </a:r>
          </a:p>
        </p:txBody>
      </p:sp>
      <p:sp>
        <p:nvSpPr>
          <p:cNvPr id="38915"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sz="2400" dirty="0"/>
              <a:t>A chain of custody is a procedure that shows how evidence was collected, analyzed, and preserved in order to be presented as evidence in court.</a:t>
            </a:r>
          </a:p>
          <a:p>
            <a:pPr>
              <a:buClr>
                <a:schemeClr val="accent1"/>
              </a:buClr>
              <a:buSzPct val="76000"/>
              <a:buFont typeface="Wingdings 3" pitchFamily="18" charset="2"/>
            </a:pPr>
            <a:r>
              <a:rPr sz="2400" dirty="0"/>
              <a:t> Establishing a clear chain of custody is crucial because electronic evidence can be easily altered. </a:t>
            </a:r>
          </a:p>
          <a:p>
            <a:pPr>
              <a:buClr>
                <a:schemeClr val="accent1"/>
              </a:buClr>
              <a:buSzPct val="76000"/>
              <a:buFont typeface="Wingdings 3" pitchFamily="18" charset="2"/>
            </a:pPr>
            <a:r>
              <a:rPr sz="2400" dirty="0"/>
              <a:t>A clear chain of custody demonstrates that electronic evidence is trustworthy.</a:t>
            </a:r>
          </a:p>
          <a:p>
            <a:pPr>
              <a:buClr>
                <a:schemeClr val="accent1"/>
              </a:buClr>
              <a:buSzPct val="76000"/>
              <a:buFont typeface="Wingdings 3" pitchFamily="18" charset="2"/>
            </a:pPr>
            <a:r>
              <a:rPr sz="2400" dirty="0"/>
              <a:t>Preserving a chain of custody for electronic evidence, at a minimum, requires proving that:</a:t>
            </a:r>
          </a:p>
          <a:p>
            <a:pPr lvl="1">
              <a:buClr>
                <a:schemeClr val="accent2"/>
              </a:buClr>
              <a:buSzPct val="76000"/>
              <a:buFont typeface="Wingdings 3" pitchFamily="18" charset="2"/>
            </a:pPr>
            <a:r>
              <a:rPr sz="2100" dirty="0"/>
              <a:t>No information has been added or changed</a:t>
            </a:r>
          </a:p>
          <a:p>
            <a:pPr lvl="1">
              <a:buClr>
                <a:schemeClr val="accent2"/>
              </a:buClr>
              <a:buSzPct val="76000"/>
              <a:buFont typeface="Wingdings 3" pitchFamily="18" charset="2"/>
            </a:pPr>
            <a:r>
              <a:rPr sz="2100" dirty="0"/>
              <a:t>A complete copy was made </a:t>
            </a:r>
          </a:p>
          <a:p>
            <a:pPr lvl="1">
              <a:buClr>
                <a:schemeClr val="accent2"/>
              </a:buClr>
              <a:buSzPct val="76000"/>
              <a:buFont typeface="Wingdings 3" pitchFamily="18" charset="2"/>
            </a:pPr>
            <a:r>
              <a:rPr sz="2100" dirty="0"/>
              <a:t>A reliable copying process was used</a:t>
            </a:r>
          </a:p>
          <a:p>
            <a:pPr lvl="1">
              <a:buClr>
                <a:schemeClr val="accent2"/>
              </a:buClr>
              <a:buSzPct val="76000"/>
              <a:buFont typeface="Wingdings 3" pitchFamily="18" charset="2"/>
            </a:pPr>
            <a:r>
              <a:rPr sz="2100" dirty="0"/>
              <a:t>All media was secured</a:t>
            </a:r>
            <a:r>
              <a:rPr sz="2100" baseline="30000" dirty="0"/>
              <a:t>[</a:t>
            </a:r>
            <a:r>
              <a:rPr sz="2100" baseline="30000" dirty="0">
                <a:hlinkClick r:id="" action="ppaction://hlinkfile"/>
              </a:rPr>
              <a:t>v</a:t>
            </a:r>
            <a:r>
              <a:rPr sz="2100" baseline="30000" dirty="0"/>
              <a:t>]</a:t>
            </a:r>
            <a:r>
              <a:rPr sz="2100" dirty="0"/>
              <a:t> </a:t>
            </a:r>
          </a:p>
          <a:p>
            <a:pPr>
              <a:buClr>
                <a:schemeClr val="accent1"/>
              </a:buClr>
              <a:buSzPct val="76000"/>
              <a:buFont typeface="Wingdings 3" pitchFamily="18" charset="2"/>
            </a:pPr>
            <a:endParaRPr sz="2400" dirty="0"/>
          </a:p>
          <a:p>
            <a:pPr>
              <a:buClr>
                <a:schemeClr val="accent1"/>
              </a:buClr>
              <a:buSzPct val="76000"/>
              <a:buFont typeface="Wingdings 3" pitchFamily="18" charset="2"/>
              <a:buNone/>
            </a:pPr>
            <a:endParaRPr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vert="horz" wrap="square" lIns="91440" tIns="45720" rIns="91440" bIns="45720" anchor="b" anchorCtr="0"/>
          <a:lstStyle/>
          <a:p>
            <a:r>
              <a:rPr dirty="0"/>
              <a:t>Chain of Custody</a:t>
            </a:r>
          </a:p>
        </p:txBody>
      </p:sp>
      <p:sp>
        <p:nvSpPr>
          <p:cNvPr id="39939"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sz="2800" dirty="0"/>
              <a:t> </a:t>
            </a:r>
            <a:r>
              <a:rPr sz="2500" dirty="0"/>
              <a:t>Proving this chain is unbroken is a prosecutor’s primary tool in authenticating electronic evidence.</a:t>
            </a:r>
          </a:p>
          <a:p>
            <a:pPr>
              <a:buClr>
                <a:schemeClr val="accent1"/>
              </a:buClr>
              <a:buSzPct val="76000"/>
              <a:buFont typeface="Wingdings 3" pitchFamily="18" charset="2"/>
            </a:pPr>
            <a:r>
              <a:rPr sz="2500" dirty="0"/>
              <a:t> The Chain of Custody is very crucial as during the evidence collection phase the digital media may undergo various processes.</a:t>
            </a:r>
          </a:p>
          <a:p>
            <a:pPr>
              <a:buClr>
                <a:schemeClr val="accent1"/>
              </a:buClr>
              <a:buSzPct val="76000"/>
              <a:buFont typeface="Wingdings 3" pitchFamily="18" charset="2"/>
            </a:pPr>
            <a:r>
              <a:rPr sz="2500" dirty="0"/>
              <a:t>Also sometimes to gather evidences different experts may require to handle the digital media.</a:t>
            </a:r>
          </a:p>
          <a:p>
            <a:pPr>
              <a:buClr>
                <a:schemeClr val="accent1"/>
              </a:buClr>
              <a:buSzPct val="76000"/>
              <a:buFont typeface="Wingdings 3" pitchFamily="18" charset="2"/>
            </a:pPr>
            <a:r>
              <a:rPr sz="2500" dirty="0"/>
              <a:t>Thus it is very important to keep track of everything i.e. who handled the media, for what purpose, tools used etc. </a:t>
            </a:r>
          </a:p>
          <a:p>
            <a:pPr>
              <a:buClr>
                <a:schemeClr val="accent1"/>
              </a:buClr>
              <a:buSzPct val="76000"/>
              <a:buFont typeface="Wingdings 3" pitchFamily="18" charset="2"/>
            </a:pPr>
            <a:r>
              <a:rPr sz="2500" dirty="0"/>
              <a:t>This proves the integrity of the evidences.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vert="horz" wrap="square" lIns="91440" tIns="45720" rIns="91440" bIns="45720" anchor="b" anchorCtr="0"/>
          <a:lstStyle/>
          <a:p>
            <a:r>
              <a:rPr dirty="0"/>
              <a:t>Methodology of Cyber Forensics</a:t>
            </a:r>
          </a:p>
        </p:txBody>
      </p:sp>
      <p:sp>
        <p:nvSpPr>
          <p:cNvPr id="40963" name="Content Placeholder 2"/>
          <p:cNvSpPr>
            <a:spLocks noGrp="1"/>
          </p:cNvSpPr>
          <p:nvPr>
            <p:ph sz="quarter" idx="1"/>
          </p:nvPr>
        </p:nvSpPr>
        <p:spPr>
          <a:xfrm>
            <a:off x="457200" y="1219200"/>
            <a:ext cx="8458200" cy="5105400"/>
          </a:xfrm>
        </p:spPr>
        <p:txBody>
          <a:bodyPr vert="horz" wrap="square" lIns="91440" tIns="45720" rIns="91440" bIns="45720" anchor="t" anchorCtr="0"/>
          <a:lstStyle/>
          <a:p>
            <a:pPr>
              <a:buClr>
                <a:schemeClr val="accent1"/>
              </a:buClr>
              <a:buSzPct val="76000"/>
              <a:buFont typeface="Wingdings 3" pitchFamily="18" charset="2"/>
            </a:pPr>
            <a:r>
              <a:rPr sz="2400" dirty="0"/>
              <a:t>There is a basic, inherent process to computer forensics.</a:t>
            </a:r>
          </a:p>
          <a:p>
            <a:pPr>
              <a:buClr>
                <a:schemeClr val="accent1"/>
              </a:buClr>
              <a:buSzPct val="76000"/>
              <a:buFont typeface="Wingdings 3" pitchFamily="18" charset="2"/>
            </a:pPr>
            <a:r>
              <a:rPr sz="2400" dirty="0"/>
              <a:t>As in any discipline, computer forensics analysts or specialists will follow clear, well defined methodologies and procedures, and flexibility is expected and encouraged when encountering with the unusual.</a:t>
            </a:r>
          </a:p>
          <a:p>
            <a:pPr>
              <a:buClr>
                <a:schemeClr val="accent1"/>
              </a:buClr>
              <a:buSzPct val="76000"/>
              <a:buFont typeface="Wingdings 3" pitchFamily="18" charset="2"/>
            </a:pPr>
            <a:r>
              <a:rPr sz="2400" dirty="0"/>
              <a:t>The  basic methodology consists of </a:t>
            </a:r>
          </a:p>
          <a:p>
            <a:pPr lvl="1">
              <a:buClr>
                <a:schemeClr val="accent2"/>
              </a:buClr>
              <a:buSzPct val="76000"/>
              <a:buFont typeface="Wingdings 3" pitchFamily="18" charset="2"/>
            </a:pPr>
            <a:r>
              <a:rPr sz="2400" dirty="0"/>
              <a:t>1. Acquire the evidence without altering or damaging the source.</a:t>
            </a:r>
          </a:p>
          <a:p>
            <a:pPr lvl="1">
              <a:buClr>
                <a:schemeClr val="accent2"/>
              </a:buClr>
              <a:buSzPct val="76000"/>
              <a:buFont typeface="Wingdings 3" pitchFamily="18" charset="2"/>
            </a:pPr>
            <a:r>
              <a:rPr sz="2400" dirty="0"/>
              <a:t>2. Authenticate that the recovered evidence is the same as in the seized source.</a:t>
            </a:r>
          </a:p>
          <a:p>
            <a:pPr lvl="1">
              <a:buClr>
                <a:schemeClr val="accent2"/>
              </a:buClr>
              <a:buSzPct val="76000"/>
              <a:buFont typeface="Wingdings 3" pitchFamily="18" charset="2"/>
            </a:pPr>
            <a:r>
              <a:rPr sz="2400" dirty="0"/>
              <a:t>3. Analyze the data without altering it.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vert="horz" wrap="square" lIns="91440" tIns="45720" rIns="91440" bIns="45720" anchor="b" anchorCtr="0"/>
          <a:lstStyle/>
          <a:p>
            <a:r>
              <a:rPr dirty="0"/>
              <a:t>Methodology of Cyber Forensics</a:t>
            </a:r>
          </a:p>
        </p:txBody>
      </p:sp>
      <p:sp>
        <p:nvSpPr>
          <p:cNvPr id="41987" name="Content Placeholder 2"/>
          <p:cNvSpPr>
            <a:spLocks noGrp="1"/>
          </p:cNvSpPr>
          <p:nvPr>
            <p:ph sz="quarter" idx="1"/>
          </p:nvPr>
        </p:nvSpPr>
        <p:spPr>
          <a:xfrm>
            <a:off x="457200" y="1219200"/>
            <a:ext cx="8458200" cy="5105400"/>
          </a:xfrm>
        </p:spPr>
        <p:txBody>
          <a:bodyPr vert="horz" wrap="square" lIns="91440" tIns="45720" rIns="91440" bIns="45720" anchor="t" anchorCtr="0"/>
          <a:lstStyle/>
          <a:p>
            <a:pPr>
              <a:buClr>
                <a:schemeClr val="accent1"/>
              </a:buClr>
              <a:buSzPct val="76000"/>
              <a:buFont typeface="Wingdings 3" pitchFamily="18" charset="2"/>
            </a:pPr>
            <a:r>
              <a:rPr dirty="0"/>
              <a:t>The process of Computer Forensics can be outlined as follows…</a:t>
            </a:r>
          </a:p>
          <a:p>
            <a:pPr lvl="1">
              <a:buClr>
                <a:schemeClr val="accent2"/>
              </a:buClr>
              <a:buSzPct val="76000"/>
              <a:buFont typeface="Wingdings 3" pitchFamily="18" charset="2"/>
            </a:pPr>
            <a:r>
              <a:rPr dirty="0"/>
              <a:t>Identification Phase</a:t>
            </a:r>
          </a:p>
          <a:p>
            <a:pPr lvl="1">
              <a:buClr>
                <a:schemeClr val="accent2"/>
              </a:buClr>
              <a:buSzPct val="76000"/>
              <a:buFont typeface="Wingdings 3" pitchFamily="18" charset="2"/>
            </a:pPr>
            <a:r>
              <a:rPr dirty="0"/>
              <a:t>Acquisition of Evidence</a:t>
            </a:r>
          </a:p>
          <a:p>
            <a:pPr lvl="1">
              <a:buClr>
                <a:schemeClr val="accent2"/>
              </a:buClr>
              <a:buSzPct val="76000"/>
              <a:buFont typeface="Wingdings 3" pitchFamily="18" charset="2"/>
            </a:pPr>
            <a:r>
              <a:rPr dirty="0"/>
              <a:t>Authentication of Evidence</a:t>
            </a:r>
          </a:p>
          <a:p>
            <a:pPr lvl="1">
              <a:buClr>
                <a:schemeClr val="accent2"/>
              </a:buClr>
              <a:buSzPct val="76000"/>
              <a:buFont typeface="Wingdings 3" pitchFamily="18" charset="2"/>
            </a:pPr>
            <a:r>
              <a:rPr dirty="0"/>
              <a:t>Analysis of gathered Evidence</a:t>
            </a:r>
          </a:p>
          <a:p>
            <a:pPr lvl="1">
              <a:buClr>
                <a:schemeClr val="accent2"/>
              </a:buClr>
              <a:buSzPct val="76000"/>
              <a:buFont typeface="Wingdings 3" pitchFamily="18" charset="2"/>
            </a:pPr>
            <a:r>
              <a:rPr dirty="0"/>
              <a:t>Presentation of Evidence</a:t>
            </a:r>
          </a:p>
          <a:p>
            <a:pPr lvl="1">
              <a:buClr>
                <a:schemeClr val="accent2"/>
              </a:buClr>
              <a:buSzPct val="76000"/>
              <a:buFont typeface="Wingdings 3" pitchFamily="18" charset="2"/>
            </a:pPr>
            <a:endParaRPr dirty="0"/>
          </a:p>
          <a:p>
            <a:pPr>
              <a:buClr>
                <a:schemeClr val="accent1"/>
              </a:buClr>
              <a:buSzPct val="76000"/>
              <a:buFont typeface="Wingdings 3" pitchFamily="18" charset="2"/>
            </a:pPr>
            <a:r>
              <a:rPr dirty="0"/>
              <a:t>However sometimes it is required to come back to earlier stage or phase, as in later phases it may become necessary to include more data sources.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vert="horz" wrap="square" lIns="91440" tIns="45720" rIns="91440" bIns="45720" anchor="b" anchorCtr="0"/>
          <a:lstStyle/>
          <a:p>
            <a:r>
              <a:rPr dirty="0"/>
              <a:t>General Evidence processing Guidelines and Procedures</a:t>
            </a:r>
          </a:p>
        </p:txBody>
      </p:sp>
      <p:sp>
        <p:nvSpPr>
          <p:cNvPr id="43011"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sz="2400" dirty="0"/>
              <a:t>Computer evidence is fragile by its very nature and the problem is compounded by the potential for destructive programs and hidden data.</a:t>
            </a:r>
          </a:p>
          <a:p>
            <a:pPr>
              <a:buClr>
                <a:schemeClr val="accent1"/>
              </a:buClr>
              <a:buSzPct val="76000"/>
              <a:buFont typeface="Wingdings 3" pitchFamily="18" charset="2"/>
            </a:pPr>
            <a:r>
              <a:rPr sz="2400" dirty="0"/>
              <a:t>Even the normal operation of a computer can destroy computer evidence that might be present in temporary operating system files, temporary application working files and working data storage areas.</a:t>
            </a:r>
          </a:p>
          <a:p>
            <a:pPr>
              <a:buClr>
                <a:schemeClr val="accent1"/>
              </a:buClr>
              <a:buSzPct val="76000"/>
              <a:buFont typeface="Wingdings 3" pitchFamily="18" charset="2"/>
            </a:pPr>
            <a:r>
              <a:rPr sz="2400" dirty="0"/>
              <a:t>Thus it is not enough to run a computer forensics program and get results.</a:t>
            </a:r>
          </a:p>
          <a:p>
            <a:pPr>
              <a:buClr>
                <a:schemeClr val="accent1"/>
              </a:buClr>
              <a:buSzPct val="76000"/>
              <a:buFont typeface="Wingdings 3" pitchFamily="18" charset="2"/>
            </a:pPr>
            <a:r>
              <a:rPr sz="2400" dirty="0"/>
              <a:t> Good decisions are to be made by knowledgeable individuals who understand the underlying technical issues tied to the potential security risks and evidence processing issues tied to personal computers. </a:t>
            </a:r>
          </a:p>
          <a:p>
            <a:pPr>
              <a:buClr>
                <a:schemeClr val="accent1"/>
              </a:buClr>
              <a:buSzPct val="76000"/>
              <a:buFont typeface="Wingdings 3" pitchFamily="18" charset="2"/>
            </a:pP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vert="horz" wrap="square" lIns="91440" tIns="45720" rIns="91440" bIns="45720" anchor="b" anchorCtr="0"/>
          <a:lstStyle/>
          <a:p>
            <a:r>
              <a:rPr dirty="0"/>
              <a:t>General Evidence processing Guidelines and Procedures</a:t>
            </a:r>
          </a:p>
        </p:txBody>
      </p:sp>
      <p:sp>
        <p:nvSpPr>
          <p:cNvPr id="44035"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dirty="0"/>
              <a:t>There are no strict rules that must be followed concerning the processing of computer evidence.</a:t>
            </a:r>
          </a:p>
          <a:p>
            <a:pPr>
              <a:buClr>
                <a:schemeClr val="accent1"/>
              </a:buClr>
              <a:buSzPct val="76000"/>
              <a:buFont typeface="Wingdings 3" pitchFamily="18" charset="2"/>
            </a:pPr>
            <a:r>
              <a:rPr dirty="0"/>
              <a:t> Every case is different and flexibility and good technical knowledge make the difference between success and failure. </a:t>
            </a:r>
          </a:p>
          <a:p>
            <a:pPr>
              <a:buClr>
                <a:schemeClr val="accent1"/>
              </a:buClr>
              <a:buSzPct val="76000"/>
              <a:buFont typeface="Wingdings 3" pitchFamily="18" charset="2"/>
            </a:pPr>
            <a:r>
              <a:rPr dirty="0"/>
              <a:t>However, many times decisions need to be made without full the knowledge of the issues involved. </a:t>
            </a:r>
          </a:p>
          <a:p>
            <a:pPr>
              <a:buClr>
                <a:schemeClr val="accent1"/>
              </a:buClr>
              <a:buSzPct val="76000"/>
              <a:buFont typeface="Wingdings 3" pitchFamily="18" charset="2"/>
            </a:pPr>
            <a:r>
              <a:rPr dirty="0"/>
              <a:t>This where the guidelines come in picture.</a:t>
            </a:r>
          </a:p>
          <a:p>
            <a:pPr>
              <a:buClr>
                <a:schemeClr val="accent1"/>
              </a:buClr>
              <a:buSzPct val="76000"/>
              <a:buFont typeface="Wingdings 3" pitchFamily="18" charset="2"/>
            </a:pPr>
            <a:r>
              <a:rPr dirty="0"/>
              <a:t>They help you in take immediate decisions regarding the digital evidence capture process.</a:t>
            </a:r>
          </a:p>
          <a:p>
            <a:pPr>
              <a:buClr>
                <a:schemeClr val="accent1"/>
              </a:buClr>
              <a:buSzPct val="76000"/>
              <a:buFont typeface="Wingdings 3" pitchFamily="18" charset="2"/>
            </a:pPr>
            <a:r>
              <a:rPr dirty="0"/>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vert="horz" wrap="square" lIns="91440" tIns="45720" rIns="91440" bIns="45720" anchor="b" anchorCtr="0"/>
          <a:lstStyle/>
          <a:p>
            <a:r>
              <a:rPr dirty="0"/>
              <a:t>General Evidence processing Guidelines and Procedures</a:t>
            </a:r>
          </a:p>
        </p:txBody>
      </p:sp>
      <p:sp>
        <p:nvSpPr>
          <p:cNvPr id="45059" name="Content Placeholder 2"/>
          <p:cNvSpPr>
            <a:spLocks noGrp="1"/>
          </p:cNvSpPr>
          <p:nvPr>
            <p:ph sz="quarter" idx="1"/>
          </p:nvPr>
        </p:nvSpPr>
        <p:spPr>
          <a:xfrm>
            <a:off x="457200" y="1143000"/>
            <a:ext cx="8229600" cy="5013325"/>
          </a:xfrm>
        </p:spPr>
        <p:txBody>
          <a:bodyPr vert="horz" wrap="square" lIns="91440" tIns="45720" rIns="91440" bIns="45720" anchor="t" anchorCtr="0"/>
          <a:lstStyle/>
          <a:p>
            <a:pPr>
              <a:buClr>
                <a:schemeClr val="accent1"/>
              </a:buClr>
              <a:buSzPct val="76000"/>
              <a:buFont typeface="Wingdings 3" pitchFamily="18" charset="2"/>
            </a:pPr>
            <a:r>
              <a:rPr dirty="0"/>
              <a:t>If the computer needs shutdown?</a:t>
            </a:r>
          </a:p>
          <a:p>
            <a:pPr lvl="1">
              <a:buClr>
                <a:schemeClr val="accent2"/>
              </a:buClr>
              <a:buSzPct val="76000"/>
              <a:buFont typeface="Wingdings 3" pitchFamily="18" charset="2"/>
            </a:pPr>
            <a:r>
              <a:rPr dirty="0"/>
              <a:t>What about volatile data?</a:t>
            </a:r>
          </a:p>
          <a:p>
            <a:pPr lvl="1">
              <a:buClr>
                <a:schemeClr val="accent2"/>
              </a:buClr>
              <a:buSzPct val="76000"/>
              <a:buFont typeface="Wingdings 3" pitchFamily="18" charset="2"/>
            </a:pPr>
            <a:r>
              <a:rPr dirty="0"/>
              <a:t>Running configuration information like cookies, sessions, cached data etc. needs to be considered</a:t>
            </a:r>
          </a:p>
          <a:p>
            <a:pPr lvl="1">
              <a:buClr>
                <a:schemeClr val="accent2"/>
              </a:buClr>
              <a:buSzPct val="76000"/>
              <a:buFont typeface="Wingdings 3" pitchFamily="18" charset="2"/>
            </a:pPr>
            <a:r>
              <a:rPr dirty="0"/>
              <a:t>Is logic bomb running in the background?</a:t>
            </a:r>
          </a:p>
          <a:p>
            <a:pPr lvl="1">
              <a:buClr>
                <a:schemeClr val="accent2"/>
              </a:buClr>
              <a:buSzPct val="76000"/>
              <a:buFont typeface="Wingdings 3" pitchFamily="18" charset="2"/>
            </a:pPr>
            <a:r>
              <a:rPr dirty="0"/>
              <a:t>Which forensic tool to use?</a:t>
            </a:r>
          </a:p>
          <a:p>
            <a:pPr lvl="1">
              <a:buClr>
                <a:schemeClr val="accent2"/>
              </a:buClr>
              <a:buSzPct val="76000"/>
              <a:buFont typeface="Wingdings 3" pitchFamily="18" charset="2"/>
            </a:pPr>
            <a:r>
              <a:rPr dirty="0"/>
              <a:t>Whether to shutdown the system using OS commands or simply pull the plug( preferred )?</a:t>
            </a:r>
          </a:p>
          <a:p>
            <a:pPr>
              <a:buClr>
                <a:schemeClr val="accent1"/>
              </a:buClr>
              <a:buSzPct val="76000"/>
              <a:buFont typeface="Wingdings 3" pitchFamily="18" charset="2"/>
            </a:pPr>
            <a:r>
              <a:rPr dirty="0"/>
              <a:t>Transport the computer system securely to a safe place.</a:t>
            </a:r>
          </a:p>
          <a:p>
            <a:pPr lvl="1">
              <a:buClr>
                <a:schemeClr val="accent2"/>
              </a:buClr>
              <a:buSzPct val="76000"/>
              <a:buFont typeface="Wingdings 3" pitchFamily="18" charset="2"/>
            </a:pPr>
            <a:r>
              <a:rPr dirty="0"/>
              <a:t>Make sure the transportation is safe… else may damage parts like Hard Disk / CD-DVD etc.</a:t>
            </a:r>
          </a:p>
          <a:p>
            <a:pPr lvl="1">
              <a:buClr>
                <a:schemeClr val="accent2"/>
              </a:buClr>
              <a:buSzPct val="76000"/>
              <a:buFont typeface="Wingdings 3" pitchFamily="18" charset="2"/>
            </a:pPr>
            <a:r>
              <a:rPr dirty="0"/>
              <a:t>Decide who can access it and record all handlings</a:t>
            </a:r>
          </a:p>
          <a:p>
            <a:pPr>
              <a:buClr>
                <a:schemeClr val="accent1"/>
              </a:buClr>
              <a:buSzPct val="76000"/>
              <a:buFont typeface="Wingdings 3" pitchFamily="18" charset="2"/>
            </a:pP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vert="horz" wrap="square" lIns="91440" tIns="45720" rIns="91440" bIns="45720" anchor="b" anchorCtr="0"/>
          <a:lstStyle/>
          <a:p>
            <a:r>
              <a:rPr dirty="0"/>
              <a:t>General Evidence processing Guidelines and Procedures</a:t>
            </a:r>
          </a:p>
        </p:txBody>
      </p:sp>
      <p:sp>
        <p:nvSpPr>
          <p:cNvPr id="46083"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dirty="0"/>
              <a:t>Make Bit-Stream backup of all digital media</a:t>
            </a:r>
          </a:p>
          <a:p>
            <a:pPr lvl="1">
              <a:buClr>
                <a:schemeClr val="accent2"/>
              </a:buClr>
              <a:buSzPct val="76000"/>
              <a:buFont typeface="Wingdings 3" pitchFamily="18" charset="2"/>
            </a:pPr>
            <a:r>
              <a:rPr dirty="0"/>
              <a:t>Make duplicate copies of all Hard disks, CD-DVD, Pen Drives, SD cards, Floppies etc.</a:t>
            </a:r>
          </a:p>
          <a:p>
            <a:pPr lvl="1">
              <a:buClr>
                <a:schemeClr val="accent2"/>
              </a:buClr>
              <a:buSzPct val="76000"/>
              <a:buFont typeface="Wingdings 3" pitchFamily="18" charset="2"/>
            </a:pPr>
            <a:r>
              <a:rPr dirty="0"/>
              <a:t>Use some hash algorithm to prove that the copy is exact replica of the original and no alterations made to original because of this duplicating.</a:t>
            </a:r>
          </a:p>
          <a:p>
            <a:pPr lvl="1">
              <a:buClr>
                <a:schemeClr val="accent2"/>
              </a:buClr>
              <a:buSzPct val="76000"/>
              <a:buFont typeface="Wingdings 3" pitchFamily="18" charset="2"/>
            </a:pPr>
            <a:r>
              <a:rPr dirty="0"/>
              <a:t>Always work on the restored duplicate copy.</a:t>
            </a:r>
          </a:p>
          <a:p>
            <a:pPr lvl="1">
              <a:buClr>
                <a:schemeClr val="accent2"/>
              </a:buClr>
              <a:buSzPct val="76000"/>
              <a:buFont typeface="Wingdings 3" pitchFamily="18" charset="2"/>
            </a:pPr>
            <a:r>
              <a:rPr dirty="0"/>
              <a:t>Document each every thing you do.</a:t>
            </a:r>
          </a:p>
          <a:p>
            <a:pPr>
              <a:buClr>
                <a:schemeClr val="accent1"/>
              </a:buClr>
              <a:buSzPct val="76000"/>
              <a:buFont typeface="Wingdings 3" pitchFamily="18" charset="2"/>
            </a:pPr>
            <a:r>
              <a:rPr dirty="0"/>
              <a:t>Create search filters</a:t>
            </a:r>
          </a:p>
          <a:p>
            <a:pPr lvl="1">
              <a:buClr>
                <a:schemeClr val="accent2"/>
              </a:buClr>
              <a:buSzPct val="76000"/>
              <a:buFont typeface="Wingdings 3" pitchFamily="18" charset="2"/>
            </a:pPr>
            <a:r>
              <a:rPr dirty="0"/>
              <a:t>The volume of data you have will be very high.</a:t>
            </a:r>
          </a:p>
          <a:p>
            <a:pPr lvl="1">
              <a:buClr>
                <a:schemeClr val="accent2"/>
              </a:buClr>
              <a:buSzPct val="76000"/>
              <a:buFont typeface="Wingdings 3" pitchFamily="18" charset="2"/>
            </a:pPr>
            <a:r>
              <a:rPr dirty="0"/>
              <a:t>Searching all data is not possible, thus identify the words, filenames that are related to the crime.</a:t>
            </a:r>
          </a:p>
          <a:p>
            <a:pPr lvl="1">
              <a:buClr>
                <a:schemeClr val="accent2"/>
              </a:buClr>
              <a:buSzPct val="76000"/>
              <a:buFont typeface="Wingdings 3" pitchFamily="18" charset="2"/>
            </a:pPr>
            <a:r>
              <a:rPr dirty="0"/>
              <a:t>Search for this data only.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vert="horz" wrap="square" lIns="91440" tIns="45720" rIns="91440" bIns="45720" anchor="b" anchorCtr="0"/>
          <a:lstStyle/>
          <a:p>
            <a:r>
              <a:rPr dirty="0"/>
              <a:t>General Evidence processing Guidelines and Procedures</a:t>
            </a:r>
          </a:p>
        </p:txBody>
      </p:sp>
      <p:sp>
        <p:nvSpPr>
          <p:cNvPr id="47107"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dirty="0"/>
              <a:t>Check for the deleted data </a:t>
            </a:r>
          </a:p>
          <a:p>
            <a:pPr lvl="1">
              <a:buClr>
                <a:schemeClr val="accent2"/>
              </a:buClr>
              <a:buSzPct val="76000"/>
              <a:buFont typeface="Wingdings 3" pitchFamily="18" charset="2"/>
            </a:pPr>
            <a:r>
              <a:rPr dirty="0"/>
              <a:t>The evidence may be deleted by the culprit.</a:t>
            </a:r>
          </a:p>
          <a:p>
            <a:pPr lvl="1">
              <a:buClr>
                <a:schemeClr val="accent2"/>
              </a:buClr>
              <a:buSzPct val="76000"/>
              <a:buFont typeface="Wingdings 3" pitchFamily="18" charset="2"/>
            </a:pPr>
            <a:r>
              <a:rPr dirty="0"/>
              <a:t>Use good forensics data recovery tools to find deleted data.</a:t>
            </a:r>
          </a:p>
          <a:p>
            <a:pPr lvl="1">
              <a:buClr>
                <a:schemeClr val="accent2"/>
              </a:buClr>
              <a:buSzPct val="76000"/>
              <a:buFont typeface="Wingdings 3" pitchFamily="18" charset="2"/>
            </a:pPr>
            <a:r>
              <a:rPr dirty="0"/>
              <a:t>Document the entire process</a:t>
            </a:r>
          </a:p>
          <a:p>
            <a:pPr>
              <a:buClr>
                <a:schemeClr val="accent1"/>
              </a:buClr>
              <a:buSzPct val="76000"/>
              <a:buFont typeface="Wingdings 3" pitchFamily="18" charset="2"/>
            </a:pPr>
            <a:r>
              <a:rPr dirty="0"/>
              <a:t>Check for hidden data</a:t>
            </a:r>
          </a:p>
          <a:p>
            <a:pPr lvl="1">
              <a:buClr>
                <a:schemeClr val="accent2"/>
              </a:buClr>
              <a:buSzPct val="76000"/>
              <a:buFont typeface="Wingdings 3" pitchFamily="18" charset="2"/>
            </a:pPr>
            <a:r>
              <a:rPr dirty="0"/>
              <a:t>Attacker may take advantage of some file system features like NTFS data streams to hide data.</a:t>
            </a:r>
          </a:p>
          <a:p>
            <a:pPr lvl="1">
              <a:buClr>
                <a:schemeClr val="accent2"/>
              </a:buClr>
              <a:buSzPct val="76000"/>
              <a:buFont typeface="Wingdings 3" pitchFamily="18" charset="2"/>
            </a:pPr>
            <a:r>
              <a:rPr dirty="0"/>
              <a:t>Use special tools to check for these kind of data </a:t>
            </a:r>
          </a:p>
          <a:p>
            <a:pPr>
              <a:buClr>
                <a:schemeClr val="accent1"/>
              </a:buClr>
              <a:buSzPct val="76000"/>
              <a:buFont typeface="Wingdings 3" pitchFamily="18" charset="2"/>
            </a:pPr>
            <a:r>
              <a:rPr dirty="0"/>
              <a:t>Document all programs found on the system.</a:t>
            </a:r>
          </a:p>
          <a:p>
            <a:pPr lvl="1">
              <a:buClr>
                <a:schemeClr val="accent2"/>
              </a:buClr>
              <a:buSzPct val="76000"/>
              <a:buFont typeface="Wingdings 3" pitchFamily="18" charset="2"/>
            </a:pPr>
            <a:r>
              <a:rPr dirty="0"/>
              <a:t>Some hacking tools installed?</a:t>
            </a:r>
          </a:p>
          <a:p>
            <a:pPr lvl="1">
              <a:buClr>
                <a:schemeClr val="accent2"/>
              </a:buClr>
              <a:buSzPct val="76000"/>
              <a:buFont typeface="Wingdings 3" pitchFamily="18" charset="2"/>
            </a:pPr>
            <a:r>
              <a:rPr dirty="0"/>
              <a:t>Some data destroying tools installed?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vert="horz" wrap="square" lIns="91440" tIns="45720" rIns="91440" bIns="45720" anchor="b" anchorCtr="0"/>
          <a:lstStyle/>
          <a:p>
            <a:r>
              <a:rPr dirty="0"/>
              <a:t>General Evidence processing Guidelines and Procedures</a:t>
            </a:r>
          </a:p>
        </p:txBody>
      </p:sp>
      <p:sp>
        <p:nvSpPr>
          <p:cNvPr id="48131" name="Content Placeholder 2"/>
          <p:cNvSpPr>
            <a:spLocks noGrp="1"/>
          </p:cNvSpPr>
          <p:nvPr>
            <p:ph sz="quarter" idx="1"/>
          </p:nvPr>
        </p:nvSpPr>
        <p:spPr>
          <a:xfrm>
            <a:off x="457200" y="1219200"/>
            <a:ext cx="8229600" cy="5029200"/>
          </a:xfrm>
        </p:spPr>
        <p:txBody>
          <a:bodyPr vert="horz" wrap="square" lIns="91440" tIns="45720" rIns="91440" bIns="45720" anchor="t" anchorCtr="0"/>
          <a:lstStyle/>
          <a:p>
            <a:pPr>
              <a:buClr>
                <a:schemeClr val="accent1"/>
              </a:buClr>
              <a:buSzPct val="76000"/>
              <a:buFont typeface="Wingdings 3" pitchFamily="18" charset="2"/>
            </a:pPr>
            <a:r>
              <a:rPr dirty="0"/>
              <a:t>Record time stamps for all files.</a:t>
            </a:r>
          </a:p>
          <a:p>
            <a:pPr lvl="1">
              <a:buClr>
                <a:schemeClr val="accent2"/>
              </a:buClr>
              <a:buSzPct val="76000"/>
              <a:buFont typeface="Wingdings 3" pitchFamily="18" charset="2"/>
            </a:pPr>
            <a:r>
              <a:rPr dirty="0"/>
              <a:t>Creation date</a:t>
            </a:r>
          </a:p>
          <a:p>
            <a:pPr lvl="1">
              <a:buClr>
                <a:schemeClr val="accent2"/>
              </a:buClr>
              <a:buSzPct val="76000"/>
              <a:buFont typeface="Wingdings 3" pitchFamily="18" charset="2"/>
            </a:pPr>
            <a:r>
              <a:rPr dirty="0"/>
              <a:t>Last Modified date</a:t>
            </a:r>
          </a:p>
          <a:p>
            <a:pPr lvl="1">
              <a:buClr>
                <a:schemeClr val="accent2"/>
              </a:buClr>
              <a:buSzPct val="76000"/>
              <a:buFont typeface="Wingdings 3" pitchFamily="18" charset="2"/>
            </a:pPr>
            <a:r>
              <a:rPr dirty="0"/>
              <a:t>Find as much information as possible</a:t>
            </a:r>
          </a:p>
          <a:p>
            <a:pPr>
              <a:buClr>
                <a:schemeClr val="accent1"/>
              </a:buClr>
              <a:buSzPct val="76000"/>
              <a:buFont typeface="Wingdings 3" pitchFamily="18" charset="2"/>
            </a:pPr>
            <a:r>
              <a:rPr dirty="0"/>
              <a:t>Take electronic snapshot of files and data.</a:t>
            </a:r>
          </a:p>
          <a:p>
            <a:pPr lvl="1">
              <a:buClr>
                <a:schemeClr val="accent2"/>
              </a:buClr>
              <a:buSzPct val="76000"/>
              <a:buFont typeface="Wingdings 3" pitchFamily="18" charset="2"/>
            </a:pPr>
            <a:r>
              <a:rPr dirty="0"/>
              <a:t>Make an electronic copy of the files or data to be used as evidence.</a:t>
            </a:r>
          </a:p>
          <a:p>
            <a:pPr lvl="1">
              <a:buClr>
                <a:schemeClr val="accent2"/>
              </a:buClr>
              <a:buSzPct val="76000"/>
              <a:buFont typeface="Wingdings 3" pitchFamily="18" charset="2"/>
            </a:pPr>
            <a:r>
              <a:rPr dirty="0"/>
              <a:t>Document everything about this data like location, tools used to recover and copy etc.  </a:t>
            </a:r>
          </a:p>
          <a:p>
            <a:pPr>
              <a:buClr>
                <a:schemeClr val="accent1"/>
              </a:buClr>
              <a:buSzPct val="76000"/>
              <a:buFont typeface="Wingdings 3" pitchFamily="18" charset="2"/>
            </a:pPr>
            <a:r>
              <a:rPr dirty="0"/>
              <a:t>Document your findings</a:t>
            </a:r>
          </a:p>
          <a:p>
            <a:pPr lvl="1">
              <a:buClr>
                <a:schemeClr val="accent2"/>
              </a:buClr>
              <a:buSzPct val="76000"/>
              <a:buFont typeface="Wingdings 3" pitchFamily="18" charset="2"/>
              <a:buNone/>
            </a:pP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ctrTitle"/>
          </p:nvPr>
        </p:nvSpPr>
        <p:spPr>
          <a:xfrm>
            <a:off x="228600" y="3581400"/>
            <a:ext cx="8001000" cy="1295400"/>
          </a:xfrm>
        </p:spPr>
        <p:txBody>
          <a:bodyPr vert="horz" wrap="square" lIns="91440" tIns="45720" rIns="91440" bIns="45720" anchor="t" anchorCtr="0"/>
          <a:lstStyle/>
          <a:p>
            <a:pPr eaLnBrk="1" hangingPunct="1">
              <a:buClrTx/>
              <a:buSzTx/>
              <a:buFontTx/>
            </a:pPr>
            <a:r>
              <a:rPr kern="1200" dirty="0">
                <a:latin typeface="+mj-lt"/>
                <a:ea typeface="+mj-ea"/>
                <a:cs typeface="+mj-cs"/>
              </a:rPr>
              <a:t>Module 3</a:t>
            </a:r>
            <a:br>
              <a:rPr kern="1200" dirty="0">
                <a:latin typeface="+mj-lt"/>
                <a:ea typeface="+mj-ea"/>
                <a:cs typeface="+mj-cs"/>
              </a:rPr>
            </a:br>
            <a:r>
              <a:rPr kern="1200" dirty="0">
                <a:latin typeface="+mj-lt"/>
                <a:ea typeface="+mj-ea"/>
                <a:cs typeface="+mj-cs"/>
              </a:rPr>
              <a:t>General Computing Principles</a:t>
            </a:r>
          </a:p>
        </p:txBody>
      </p:sp>
      <p:sp>
        <p:nvSpPr>
          <p:cNvPr id="4" name="Subtitle 3"/>
          <p:cNvSpPr>
            <a:spLocks noGrp="1"/>
          </p:cNvSpPr>
          <p:nvPr>
            <p:ph type="subTitle" idx="1"/>
          </p:nvPr>
        </p:nvSpPr>
        <p:spPr/>
        <p:txBody>
          <a:bodyPr vert="horz" wrap="square" lIns="91440" tIns="45720" rIns="91440" bIns="45720" numCol="1" anchor="t" anchorCtr="0" compatLnSpc="1">
            <a:normAutofit/>
          </a:bodyPr>
          <a:lstStyle/>
          <a:p>
            <a:pPr marL="0" marR="0" lvl="0" indent="0" algn="r" defTabSz="914400" rtl="0" eaLnBrk="1" fontAlgn="auto" latinLnBrk="0" hangingPunct="1">
              <a:lnSpc>
                <a:spcPct val="100000"/>
              </a:lnSpc>
              <a:spcBef>
                <a:spcPts val="600"/>
              </a:spcBef>
              <a:spcAft>
                <a:spcPts val="0"/>
              </a:spcAft>
              <a:buClr>
                <a:schemeClr val="accent1"/>
              </a:buClr>
              <a:buSzPct val="76000"/>
              <a:buFont typeface="Wingdings 3"/>
              <a:buNone/>
              <a:defRPr/>
            </a:pPr>
            <a:endParaRPr kumimoji="0" lang="en-US" sz="2000" b="0" i="0" u="none" strike="noStrike" kern="1200" cap="none" spc="0" normalizeH="0" baseline="0" noProof="0">
              <a:ln>
                <a:noFill/>
              </a:ln>
              <a:solidFill>
                <a:schemeClr val="tx2"/>
              </a:solidFill>
              <a:effectLst/>
              <a:uLnTx/>
              <a:uFillTx/>
              <a:latin typeface="+mj-lt"/>
              <a:ea typeface="+mj-ea"/>
              <a:cs typeface="+mj-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vert="horz" wrap="square" lIns="91440" tIns="45720" rIns="91440" bIns="45720" anchor="b" anchorCtr="0"/>
          <a:lstStyle/>
          <a:p>
            <a:r>
              <a:rPr dirty="0"/>
              <a:t>Storage Basics</a:t>
            </a:r>
          </a:p>
        </p:txBody>
      </p:sp>
      <p:sp>
        <p:nvSpPr>
          <p:cNvPr id="50179"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lnSpc>
                <a:spcPct val="80000"/>
              </a:lnSpc>
              <a:buClr>
                <a:schemeClr val="accent1"/>
              </a:buClr>
              <a:buSzPct val="76000"/>
              <a:buFont typeface="Wingdings 3" pitchFamily="18" charset="2"/>
            </a:pPr>
            <a:r>
              <a:rPr dirty="0"/>
              <a:t>With magnetic media, such as floppy discs, data is stored magnetically</a:t>
            </a:r>
          </a:p>
          <a:p>
            <a:pPr lvl="1">
              <a:lnSpc>
                <a:spcPct val="80000"/>
              </a:lnSpc>
              <a:buClr>
                <a:schemeClr val="accent2"/>
              </a:buClr>
              <a:buSzPct val="76000"/>
              <a:buFont typeface="Wingdings 3" pitchFamily="18" charset="2"/>
            </a:pPr>
            <a:r>
              <a:rPr dirty="0"/>
              <a:t>The data (0s and 1s) is represented using different magnetic alignments</a:t>
            </a:r>
          </a:p>
          <a:p>
            <a:pPr lvl="1">
              <a:lnSpc>
                <a:spcPct val="80000"/>
              </a:lnSpc>
              <a:buClr>
                <a:schemeClr val="accent2"/>
              </a:buClr>
              <a:buSzPct val="76000"/>
              <a:buFont typeface="Wingdings 3" pitchFamily="18" charset="2"/>
            </a:pPr>
            <a:endParaRPr dirty="0"/>
          </a:p>
          <a:p>
            <a:pPr>
              <a:lnSpc>
                <a:spcPct val="80000"/>
              </a:lnSpc>
              <a:buClr>
                <a:schemeClr val="accent1"/>
              </a:buClr>
              <a:buSzPct val="76000"/>
              <a:buFont typeface="Wingdings 3" pitchFamily="18" charset="2"/>
            </a:pPr>
            <a:r>
              <a:rPr dirty="0"/>
              <a:t>Optical media (such as CDs and DVDs) store data optically using laser beams</a:t>
            </a:r>
          </a:p>
          <a:p>
            <a:pPr lvl="1">
              <a:lnSpc>
                <a:spcPct val="80000"/>
              </a:lnSpc>
              <a:buClr>
                <a:schemeClr val="accent2"/>
              </a:buClr>
              <a:buSzPct val="76000"/>
              <a:buFont typeface="Wingdings 3" pitchFamily="18" charset="2"/>
            </a:pPr>
            <a:r>
              <a:rPr dirty="0"/>
              <a:t>Data can be permanently burned on the disc</a:t>
            </a:r>
          </a:p>
          <a:p>
            <a:pPr lvl="1">
              <a:lnSpc>
                <a:spcPct val="80000"/>
              </a:lnSpc>
              <a:buClr>
                <a:schemeClr val="accent2"/>
              </a:buClr>
              <a:buSzPct val="76000"/>
              <a:buFont typeface="Wingdings 3" pitchFamily="18" charset="2"/>
            </a:pPr>
            <a:r>
              <a:rPr dirty="0"/>
              <a:t>Rewritable optical media can be erased and rewritten</a:t>
            </a:r>
          </a:p>
          <a:p>
            <a:pPr lvl="1">
              <a:lnSpc>
                <a:spcPct val="80000"/>
              </a:lnSpc>
              <a:buClr>
                <a:schemeClr val="accent2"/>
              </a:buClr>
              <a:buSzPct val="76000"/>
              <a:buFont typeface="Wingdings 3" pitchFamily="18" charset="2"/>
            </a:pPr>
            <a:endParaRPr dirty="0"/>
          </a:p>
          <a:p>
            <a:pPr>
              <a:lnSpc>
                <a:spcPct val="80000"/>
              </a:lnSpc>
              <a:buClr>
                <a:schemeClr val="accent1"/>
              </a:buClr>
              <a:buSzPct val="76000"/>
              <a:buFont typeface="Wingdings 3" pitchFamily="18" charset="2"/>
            </a:pPr>
            <a:r>
              <a:rPr dirty="0"/>
              <a:t>Magnetic tape: Plastic tape with a magnetizable surface that stores data as a series of magnetic spots</a:t>
            </a:r>
          </a:p>
          <a:p>
            <a:pPr>
              <a:lnSpc>
                <a:spcPct val="80000"/>
              </a:lnSpc>
              <a:buClr>
                <a:schemeClr val="accent1"/>
              </a:buClr>
              <a:buSzPct val="76000"/>
              <a:buFont typeface="Wingdings 3" pitchFamily="18" charset="2"/>
            </a:pPr>
            <a:endParaRPr dirty="0"/>
          </a:p>
          <a:p>
            <a:pPr>
              <a:buClr>
                <a:schemeClr val="accent1"/>
              </a:buClr>
              <a:buSzPct val="76000"/>
              <a:buFont typeface="Wingdings 3" pitchFamily="18" charset="2"/>
            </a:pP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p:txBody>
          <a:bodyPr vert="horz" wrap="square" lIns="91440" tIns="45720" rIns="91440" bIns="45720" anchor="b" anchorCtr="0"/>
          <a:lstStyle/>
          <a:p>
            <a:pPr eaLnBrk="1" hangingPunct="1"/>
            <a:r>
              <a:rPr dirty="0"/>
              <a:t>Storage….. Hard Disk Basics</a:t>
            </a:r>
          </a:p>
        </p:txBody>
      </p:sp>
      <p:pic>
        <p:nvPicPr>
          <p:cNvPr id="51203" name="Picture 4" descr="hard disk open"/>
          <p:cNvPicPr>
            <a:picLocks noGrp="1" noChangeAspect="1"/>
          </p:cNvPicPr>
          <p:nvPr>
            <p:ph sz="quarter" idx="1"/>
          </p:nvPr>
        </p:nvPicPr>
        <p:blipFill>
          <a:blip r:embed="rId2"/>
          <a:srcRect/>
          <a:stretch>
            <a:fillRect/>
          </a:stretch>
        </p:blipFill>
        <p:spPr>
          <a:xfrm>
            <a:off x="990600" y="1905000"/>
            <a:ext cx="7162800" cy="4343400"/>
          </a:xfr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p:txBody>
          <a:bodyPr vert="horz" wrap="square" lIns="91440" tIns="45720" rIns="91440" bIns="45720" anchor="b" anchorCtr="0"/>
          <a:lstStyle/>
          <a:p>
            <a:pPr eaLnBrk="1" hangingPunct="1"/>
            <a:r>
              <a:rPr dirty="0"/>
              <a:t>Hard Disk Basics</a:t>
            </a:r>
          </a:p>
        </p:txBody>
      </p:sp>
      <p:sp>
        <p:nvSpPr>
          <p:cNvPr id="52227" name="Rectangle 3"/>
          <p:cNvSpPr>
            <a:spLocks noGrp="1"/>
          </p:cNvSpPr>
          <p:nvPr>
            <p:ph sz="quarter" idx="1"/>
          </p:nvPr>
        </p:nvSpPr>
        <p:spPr>
          <a:xfrm>
            <a:off x="457200" y="1219200"/>
            <a:ext cx="8229600" cy="4937125"/>
          </a:xfrm>
        </p:spPr>
        <p:txBody>
          <a:bodyPr vert="horz" wrap="square" lIns="91440" tIns="45720" rIns="91440" bIns="45720" anchor="t" anchorCtr="0"/>
          <a:lstStyle/>
          <a:p>
            <a:pPr eaLnBrk="1" hangingPunct="1"/>
            <a:endParaRPr sz="2800" dirty="0"/>
          </a:p>
          <a:p>
            <a:pPr eaLnBrk="1" hangingPunct="1"/>
            <a:r>
              <a:rPr sz="2800" dirty="0"/>
              <a:t>Hard disks have a </a:t>
            </a:r>
            <a:r>
              <a:rPr sz="2800" b="1" dirty="0"/>
              <a:t>metal platter</a:t>
            </a:r>
            <a:r>
              <a:rPr sz="2800" dirty="0"/>
              <a:t> that holds the magnetic medium, as opposed to the flexible plastic film found in tapes and floppies. </a:t>
            </a:r>
          </a:p>
          <a:p>
            <a:pPr eaLnBrk="1" hangingPunct="1"/>
            <a:endParaRPr sz="2800" dirty="0"/>
          </a:p>
          <a:p>
            <a:pPr eaLnBrk="1" hangingPunct="1"/>
            <a:r>
              <a:rPr sz="2800" dirty="0"/>
              <a:t>In a hard disk, the magnetic recording material is layered onto a high-precision aluminum or glass disk. The hard-disk platter is then polished to mirror-type smoothness.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p:cNvSpPr>
          <p:nvPr>
            <p:ph sz="quarter" idx="1"/>
          </p:nvPr>
        </p:nvSpPr>
        <p:spPr>
          <a:xfrm>
            <a:off x="457200" y="1143000"/>
            <a:ext cx="8229600" cy="5181600"/>
          </a:xfrm>
        </p:spPr>
        <p:txBody>
          <a:bodyPr vert="horz" wrap="square" lIns="91440" tIns="45720" rIns="91440" bIns="45720" anchor="t" anchorCtr="0"/>
          <a:lstStyle/>
          <a:p>
            <a:pPr eaLnBrk="1" hangingPunct="1">
              <a:lnSpc>
                <a:spcPct val="90000"/>
              </a:lnSpc>
            </a:pPr>
            <a:endParaRPr sz="2800" dirty="0"/>
          </a:p>
          <a:p>
            <a:pPr eaLnBrk="1" hangingPunct="1">
              <a:lnSpc>
                <a:spcPct val="90000"/>
              </a:lnSpc>
            </a:pPr>
            <a:r>
              <a:rPr sz="2800" dirty="0"/>
              <a:t>There are two ways to measure the performance of a hard disk: </a:t>
            </a:r>
          </a:p>
          <a:p>
            <a:pPr eaLnBrk="1" hangingPunct="1">
              <a:lnSpc>
                <a:spcPct val="90000"/>
              </a:lnSpc>
              <a:buFont typeface="Wingdings" panose="05000000000000000000" pitchFamily="2" charset="2"/>
              <a:buNone/>
            </a:pPr>
            <a:endParaRPr sz="2800" dirty="0"/>
          </a:p>
          <a:p>
            <a:pPr eaLnBrk="1" hangingPunct="1">
              <a:lnSpc>
                <a:spcPct val="90000"/>
              </a:lnSpc>
            </a:pPr>
            <a:r>
              <a:rPr sz="2800" b="1" dirty="0">
                <a:solidFill>
                  <a:srgbClr val="FF0000"/>
                </a:solidFill>
              </a:rPr>
              <a:t>Data rate - </a:t>
            </a:r>
            <a:r>
              <a:rPr sz="2800" dirty="0">
                <a:solidFill>
                  <a:srgbClr val="FF0000"/>
                </a:solidFill>
              </a:rPr>
              <a:t>The data rate is the number of bytes per second that the drive can deliver to the CPU. Rates between 5 and 40 megabytes per second are common.</a:t>
            </a:r>
            <a:r>
              <a:rPr sz="2800" b="1" dirty="0">
                <a:solidFill>
                  <a:srgbClr val="FF0000"/>
                </a:solidFill>
              </a:rPr>
              <a:t> </a:t>
            </a:r>
          </a:p>
          <a:p>
            <a:pPr eaLnBrk="1" hangingPunct="1">
              <a:lnSpc>
                <a:spcPct val="90000"/>
              </a:lnSpc>
            </a:pPr>
            <a:r>
              <a:rPr sz="2800" b="1" dirty="0">
                <a:solidFill>
                  <a:srgbClr val="FF0000"/>
                </a:solidFill>
              </a:rPr>
              <a:t>Seek time - </a:t>
            </a:r>
            <a:r>
              <a:rPr sz="2800" dirty="0">
                <a:solidFill>
                  <a:srgbClr val="FF0000"/>
                </a:solidFill>
              </a:rPr>
              <a:t>The seek time is the amount of time between when the CPU requests a file and when the first byte of the file is sent to the CPU. Times between 10 and 20 milliseconds are common.</a:t>
            </a:r>
            <a:r>
              <a:rPr sz="2800" b="1" dirty="0">
                <a:solidFill>
                  <a:srgbClr val="FF0000"/>
                </a:solidFill>
              </a:rPr>
              <a:t> </a:t>
            </a:r>
            <a:endParaRPr sz="2800" dirty="0">
              <a:solidFill>
                <a:srgbClr val="FF0000"/>
              </a:solidFill>
            </a:endParaRPr>
          </a:p>
          <a:p>
            <a:pPr eaLnBrk="1" hangingPunct="1">
              <a:lnSpc>
                <a:spcPct val="90000"/>
              </a:lnSpc>
            </a:pPr>
            <a:endParaRPr sz="2800" dirty="0">
              <a:solidFill>
                <a:srgbClr val="FF0000"/>
              </a:solidFill>
            </a:endParaRPr>
          </a:p>
        </p:txBody>
      </p:sp>
      <p:sp>
        <p:nvSpPr>
          <p:cNvPr id="3" name="TextBox 2"/>
          <p:cNvSpPr txBox="1"/>
          <p:nvPr/>
        </p:nvSpPr>
        <p:spPr>
          <a:xfrm>
            <a:off x="685800" y="609600"/>
            <a:ext cx="8077200" cy="584200"/>
          </a:xfrm>
          <a:prstGeom prst="rect">
            <a:avLst/>
          </a:prstGeom>
          <a:noFill/>
        </p:spPr>
        <p:txBody>
          <a:bodyPr>
            <a:spAutoFit/>
          </a:bodyPr>
          <a:lstStyle/>
          <a:p>
            <a:pPr marR="0" defTabSz="914400">
              <a:buClrTx/>
              <a:buSzTx/>
              <a:buFontTx/>
              <a:buNone/>
              <a:defRPr/>
            </a:pPr>
            <a:r>
              <a:rPr kumimoji="0" lang="en-US" sz="3200" kern="1200" cap="none" spc="0" normalizeH="0" baseline="0" noProof="0" dirty="0">
                <a:latin typeface="+mj-lt"/>
                <a:ea typeface="+mn-ea"/>
                <a:cs typeface="Arial" panose="020B0604020202020204" pitchFamily="34" charset="0"/>
              </a:rPr>
              <a:t>Hard Disk Basics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p:nvPr>
        </p:nvSpPr>
        <p:spPr/>
        <p:txBody>
          <a:bodyPr vert="horz" wrap="square" lIns="91440" tIns="45720" rIns="91440" bIns="45720" anchor="b" anchorCtr="0"/>
          <a:lstStyle/>
          <a:p>
            <a:pPr eaLnBrk="1" hangingPunct="1"/>
            <a:r>
              <a:rPr dirty="0"/>
              <a:t>Hard Disk Basics</a:t>
            </a:r>
          </a:p>
        </p:txBody>
      </p:sp>
      <p:sp>
        <p:nvSpPr>
          <p:cNvPr id="54275" name="Rectangle 3"/>
          <p:cNvSpPr>
            <a:spLocks noGrp="1"/>
          </p:cNvSpPr>
          <p:nvPr>
            <p:ph sz="quarter" idx="1"/>
          </p:nvPr>
        </p:nvSpPr>
        <p:spPr>
          <a:xfrm>
            <a:off x="457200" y="1219200"/>
            <a:ext cx="8229600" cy="4937125"/>
          </a:xfrm>
        </p:spPr>
        <p:txBody>
          <a:bodyPr vert="horz" wrap="square" lIns="91440" tIns="45720" rIns="91440" bIns="45720" anchor="t" anchorCtr="0"/>
          <a:lstStyle/>
          <a:p>
            <a:pPr eaLnBrk="1" hangingPunct="1"/>
            <a:endParaRPr dirty="0"/>
          </a:p>
          <a:p>
            <a:pPr eaLnBrk="1" hangingPunct="1"/>
            <a:r>
              <a:rPr dirty="0"/>
              <a:t>The other important parameter is the </a:t>
            </a:r>
            <a:r>
              <a:rPr b="1" dirty="0"/>
              <a:t>capacity</a:t>
            </a:r>
            <a:r>
              <a:rPr dirty="0"/>
              <a:t> of the drive, which is the number of bytes it can hold. </a:t>
            </a:r>
          </a:p>
          <a:p>
            <a:pPr eaLnBrk="1" hangingPunct="1">
              <a:buFont typeface="Wingdings" panose="05000000000000000000" pitchFamily="2" charset="2"/>
              <a:buNone/>
            </a:pPr>
            <a:endParaRPr dirty="0"/>
          </a:p>
          <a:p>
            <a:pPr eaLnBrk="1" hangingPunct="1"/>
            <a:r>
              <a:rPr dirty="0"/>
              <a:t>Normally the </a:t>
            </a:r>
            <a:r>
              <a:rPr b="1" dirty="0"/>
              <a:t>capacity</a:t>
            </a:r>
            <a:r>
              <a:rPr dirty="0"/>
              <a:t> of the drive is measured in </a:t>
            </a:r>
            <a:r>
              <a:rPr b="1" dirty="0"/>
              <a:t>Gigabyte (GB).</a:t>
            </a:r>
          </a:p>
          <a:p>
            <a:pPr eaLnBrk="1" hangingPunct="1"/>
            <a:endParaRPr b="1" dirty="0"/>
          </a:p>
          <a:p>
            <a:pPr eaLnBrk="1" hangingPunct="1"/>
            <a:r>
              <a:rPr b="1" dirty="0"/>
              <a:t>E.g.  40 GB  / 80 GB  / 160GB /250GB</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p:txBody>
          <a:bodyPr vert="horz" wrap="square" lIns="91440" tIns="45720" rIns="91440" bIns="45720" anchor="b" anchorCtr="0"/>
          <a:lstStyle/>
          <a:p>
            <a:pPr eaLnBrk="1" hangingPunct="1"/>
            <a:r>
              <a:rPr dirty="0">
                <a:solidFill>
                  <a:schemeClr val="folHlink"/>
                </a:solidFill>
              </a:rPr>
              <a:t>Heads, tracks, and Cylinders</a:t>
            </a:r>
          </a:p>
        </p:txBody>
      </p:sp>
      <p:pic>
        <p:nvPicPr>
          <p:cNvPr id="55299" name="Picture 4" descr="CHS"/>
          <p:cNvPicPr>
            <a:picLocks noChangeAspect="1"/>
          </p:cNvPicPr>
          <p:nvPr/>
        </p:nvPicPr>
        <p:blipFill>
          <a:blip r:embed="rId2"/>
          <a:stretch>
            <a:fillRect/>
          </a:stretch>
        </p:blipFill>
        <p:spPr>
          <a:xfrm>
            <a:off x="457200" y="1371600"/>
            <a:ext cx="7772400" cy="5105400"/>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lnSpc>
                <a:spcPct val="90000"/>
              </a:lnSpc>
            </a:pPr>
            <a:r>
              <a:rPr sz="2400" b="1" dirty="0">
                <a:solidFill>
                  <a:srgbClr val="FF0000"/>
                </a:solidFill>
              </a:rPr>
              <a:t>The platters - </a:t>
            </a:r>
            <a:r>
              <a:rPr sz="2400" dirty="0">
                <a:solidFill>
                  <a:srgbClr val="FF0000"/>
                </a:solidFill>
              </a:rPr>
              <a:t>These typically spin at 3,600 or 7,200 rpm </a:t>
            </a:r>
            <a:r>
              <a:rPr sz="2400" dirty="0"/>
              <a:t>when the drive is operating. These platters are manufactured to amazing tolerances and are mirror-smooth.</a:t>
            </a:r>
          </a:p>
          <a:p>
            <a:pPr eaLnBrk="1" hangingPunct="1">
              <a:lnSpc>
                <a:spcPct val="90000"/>
              </a:lnSpc>
              <a:buFont typeface="Wingdings" panose="05000000000000000000" pitchFamily="2" charset="2"/>
              <a:buNone/>
            </a:pPr>
            <a:r>
              <a:rPr sz="2400" dirty="0"/>
              <a:t> </a:t>
            </a:r>
            <a:r>
              <a:rPr sz="2400" b="1" dirty="0"/>
              <a:t>The arm - </a:t>
            </a:r>
            <a:r>
              <a:rPr sz="2400" dirty="0"/>
              <a:t>This holds the read/write heads and is controlled by the mechanism in the upper-left corner. The arm is able to move the heads from the hub to the edge of the drive. The arm and its movement mechanism are extremely light and fast. The arm on a typical hard-disk drive can move from hub to edge and back up to 50 times per second. </a:t>
            </a:r>
          </a:p>
          <a:p>
            <a:pPr eaLnBrk="1" hangingPunct="1">
              <a:lnSpc>
                <a:spcPct val="90000"/>
              </a:lnSpc>
            </a:pPr>
            <a:endParaRPr sz="2400" dirty="0"/>
          </a:p>
          <a:p>
            <a:pPr eaLnBrk="1" hangingPunct="1">
              <a:lnSpc>
                <a:spcPct val="90000"/>
              </a:lnSpc>
            </a:pPr>
            <a:r>
              <a:rPr sz="2400" dirty="0"/>
              <a:t>In order to increase the amount of information the drive can store, most hard disks have </a:t>
            </a:r>
            <a:r>
              <a:rPr sz="2400" b="1" dirty="0"/>
              <a:t>multiple platters</a:t>
            </a:r>
            <a:r>
              <a:rPr sz="2400" dirty="0"/>
              <a:t>. </a:t>
            </a:r>
          </a:p>
        </p:txBody>
      </p:sp>
      <p:sp>
        <p:nvSpPr>
          <p:cNvPr id="3" name="TextBox 2"/>
          <p:cNvSpPr txBox="1"/>
          <p:nvPr/>
        </p:nvSpPr>
        <p:spPr>
          <a:xfrm>
            <a:off x="609600" y="457200"/>
            <a:ext cx="8534400" cy="584200"/>
          </a:xfrm>
          <a:prstGeom prst="rect">
            <a:avLst/>
          </a:prstGeom>
          <a:noFill/>
        </p:spPr>
        <p:txBody>
          <a:bodyPr>
            <a:spAutoFit/>
          </a:bodyPr>
          <a:lstStyle/>
          <a:p>
            <a:pPr marR="0" defTabSz="914400">
              <a:buClrTx/>
              <a:buSzTx/>
              <a:buFontTx/>
              <a:buNone/>
              <a:defRPr/>
            </a:pPr>
            <a:r>
              <a:rPr kumimoji="0" lang="en-US" sz="3200" kern="1200" cap="none" spc="0" normalizeH="0" baseline="0" noProof="0" dirty="0">
                <a:latin typeface="+mj-lt"/>
                <a:ea typeface="+mn-ea"/>
                <a:cs typeface="Arial" panose="020B0604020202020204" pitchFamily="34" charset="0"/>
              </a:rPr>
              <a:t>Hard Disk Basics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4" descr="z_wdc_hdop"/>
          <p:cNvPicPr>
            <a:picLocks noGrp="1" noChangeAspect="1"/>
          </p:cNvPicPr>
          <p:nvPr>
            <p:ph sz="quarter" idx="1"/>
          </p:nvPr>
        </p:nvPicPr>
        <p:blipFill>
          <a:blip r:embed="rId2"/>
          <a:srcRect/>
          <a:stretch>
            <a:fillRect/>
          </a:stretch>
        </p:blipFill>
        <p:spPr>
          <a:xfrm>
            <a:off x="304800" y="685800"/>
            <a:ext cx="8382000" cy="5638800"/>
          </a:xfr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descr="hard-disk2"/>
          <p:cNvPicPr>
            <a:picLocks noGrp="1" noChangeAspect="1"/>
          </p:cNvPicPr>
          <p:nvPr>
            <p:ph sz="quarter" idx="1"/>
          </p:nvPr>
        </p:nvPicPr>
        <p:blipFill>
          <a:blip r:embed="rId2"/>
          <a:srcRect/>
          <a:stretch>
            <a:fillRect/>
          </a:stretch>
        </p:blipFill>
        <p:spPr>
          <a:xfrm>
            <a:off x="457200" y="609600"/>
            <a:ext cx="8153400" cy="5715000"/>
          </a:xfrm>
        </p:spPr>
      </p:pic>
      <p:sp>
        <p:nvSpPr>
          <p:cNvPr id="58371" name="Line 3"/>
          <p:cNvSpPr/>
          <p:nvPr/>
        </p:nvSpPr>
        <p:spPr>
          <a:xfrm flipH="1">
            <a:off x="1981200" y="1371600"/>
            <a:ext cx="1219200" cy="3657600"/>
          </a:xfrm>
          <a:prstGeom prst="line">
            <a:avLst/>
          </a:prstGeom>
          <a:ln w="57150" cap="flat" cmpd="sng">
            <a:solidFill>
              <a:srgbClr val="000000"/>
            </a:solidFill>
            <a:prstDash val="solid"/>
            <a:headEnd type="stealth" w="med" len="med"/>
            <a:tailEnd type="none" w="med" len="med"/>
          </a:ln>
        </p:spPr>
      </p:sp>
      <p:sp>
        <p:nvSpPr>
          <p:cNvPr id="58372" name="Text Box 4"/>
          <p:cNvSpPr txBox="1"/>
          <p:nvPr/>
        </p:nvSpPr>
        <p:spPr>
          <a:xfrm>
            <a:off x="1524000" y="4902200"/>
            <a:ext cx="1003300" cy="519113"/>
          </a:xfrm>
          <a:prstGeom prst="rect">
            <a:avLst/>
          </a:prstGeom>
          <a:noFill/>
          <a:ln w="9525">
            <a:noFill/>
          </a:ln>
        </p:spPr>
        <p:txBody>
          <a:bodyPr wrap="none">
            <a:spAutoFit/>
          </a:bodyPr>
          <a:lstStyle/>
          <a:p>
            <a:r>
              <a:rPr sz="2800" b="1" dirty="0">
                <a:solidFill>
                  <a:srgbClr val="0000FF"/>
                </a:solidFill>
                <a:latin typeface="Arial" panose="020B0604020202020204" pitchFamily="34" charset="0"/>
              </a:rPr>
              <a:t>ARM</a:t>
            </a:r>
          </a:p>
        </p:txBody>
      </p:sp>
      <p:sp>
        <p:nvSpPr>
          <p:cNvPr id="58373" name="Line 5"/>
          <p:cNvSpPr/>
          <p:nvPr/>
        </p:nvSpPr>
        <p:spPr>
          <a:xfrm flipV="1">
            <a:off x="5257800" y="2743200"/>
            <a:ext cx="1371600" cy="2590800"/>
          </a:xfrm>
          <a:prstGeom prst="line">
            <a:avLst/>
          </a:prstGeom>
          <a:ln w="57150" cap="flat" cmpd="sng">
            <a:solidFill>
              <a:srgbClr val="000000"/>
            </a:solidFill>
            <a:prstDash val="solid"/>
            <a:headEnd type="none" w="med" len="med"/>
            <a:tailEnd type="triangle" w="med" len="med"/>
          </a:ln>
        </p:spPr>
      </p:sp>
      <p:sp>
        <p:nvSpPr>
          <p:cNvPr id="58374" name="Text Box 6"/>
          <p:cNvSpPr txBox="1"/>
          <p:nvPr/>
        </p:nvSpPr>
        <p:spPr>
          <a:xfrm>
            <a:off x="4403725" y="5238750"/>
            <a:ext cx="1558925" cy="519113"/>
          </a:xfrm>
          <a:prstGeom prst="rect">
            <a:avLst/>
          </a:prstGeom>
          <a:noFill/>
          <a:ln w="9525">
            <a:noFill/>
          </a:ln>
        </p:spPr>
        <p:txBody>
          <a:bodyPr wrap="none">
            <a:spAutoFit/>
          </a:bodyPr>
          <a:lstStyle/>
          <a:p>
            <a:r>
              <a:rPr sz="2800" b="1" dirty="0">
                <a:solidFill>
                  <a:srgbClr val="993300"/>
                </a:solidFill>
                <a:latin typeface="Arial" panose="020B0604020202020204" pitchFamily="34" charset="0"/>
              </a:rPr>
              <a:t>PLATER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p:cNvSpPr>
          <p:nvPr>
            <p:ph type="body" sz="half" idx="1"/>
          </p:nvPr>
        </p:nvSpPr>
        <p:spPr>
          <a:xfrm>
            <a:off x="457200" y="1524000"/>
            <a:ext cx="4038600" cy="4572000"/>
          </a:xfrm>
        </p:spPr>
        <p:txBody>
          <a:bodyPr vert="horz" wrap="square" lIns="91440" tIns="45720" rIns="91440" bIns="45720" anchor="t" anchorCtr="0"/>
          <a:lstStyle/>
          <a:p>
            <a:pPr eaLnBrk="1" hangingPunct="1">
              <a:buClr>
                <a:schemeClr val="accent1"/>
              </a:buClr>
              <a:buSzPct val="76000"/>
              <a:buFont typeface="Wingdings 3" pitchFamily="18" charset="2"/>
            </a:pPr>
            <a:r>
              <a:rPr sz="2800" dirty="0"/>
              <a:t>Many drives use a "</a:t>
            </a:r>
            <a:r>
              <a:rPr sz="2800" b="1" dirty="0"/>
              <a:t>voice coil</a:t>
            </a:r>
            <a:r>
              <a:rPr sz="2800" dirty="0"/>
              <a:t>" approach that moves the arms on a hard disk &amp; has to be incredibly fast and precise. </a:t>
            </a:r>
          </a:p>
          <a:p>
            <a:pPr eaLnBrk="1" hangingPunct="1">
              <a:buClr>
                <a:schemeClr val="accent1"/>
              </a:buClr>
              <a:buSzPct val="76000"/>
              <a:buFont typeface="Wingdings 3" pitchFamily="18" charset="2"/>
            </a:pPr>
            <a:endParaRPr sz="2800" dirty="0"/>
          </a:p>
        </p:txBody>
      </p:sp>
      <p:pic>
        <p:nvPicPr>
          <p:cNvPr id="59395" name="Picture 4" descr="hard-disk3"/>
          <p:cNvPicPr>
            <a:picLocks noGrp="1" noChangeAspect="1"/>
          </p:cNvPicPr>
          <p:nvPr>
            <p:ph sz="half" idx="2"/>
          </p:nvPr>
        </p:nvPicPr>
        <p:blipFill>
          <a:blip r:embed="rId2"/>
          <a:srcRect/>
          <a:stretch>
            <a:fillRect/>
          </a:stretch>
        </p:blipFill>
        <p:spPr>
          <a:xfrm>
            <a:off x="4648200" y="1447800"/>
            <a:ext cx="4267200" cy="4495800"/>
          </a:xfr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p:cNvSpPr>
          <p:nvPr>
            <p:ph sz="quarter" idx="1"/>
          </p:nvPr>
        </p:nvSpPr>
        <p:spPr>
          <a:xfrm>
            <a:off x="457200" y="1143000"/>
            <a:ext cx="8229600" cy="5257800"/>
          </a:xfrm>
        </p:spPr>
        <p:txBody>
          <a:bodyPr vert="horz" wrap="square" lIns="91440" tIns="45720" rIns="91440" bIns="45720" anchor="t" anchorCtr="0"/>
          <a:lstStyle/>
          <a:p>
            <a:pPr eaLnBrk="1" hangingPunct="1">
              <a:lnSpc>
                <a:spcPct val="90000"/>
              </a:lnSpc>
            </a:pPr>
            <a:r>
              <a:rPr sz="2400" dirty="0"/>
              <a:t>The read/write heads do not touch the platters in the drive. </a:t>
            </a:r>
          </a:p>
          <a:p>
            <a:pPr eaLnBrk="1" hangingPunct="1">
              <a:lnSpc>
                <a:spcPct val="90000"/>
              </a:lnSpc>
            </a:pPr>
            <a:endParaRPr sz="2400" dirty="0"/>
          </a:p>
          <a:p>
            <a:pPr eaLnBrk="1" hangingPunct="1">
              <a:lnSpc>
                <a:spcPct val="90000"/>
              </a:lnSpc>
            </a:pPr>
            <a:r>
              <a:rPr sz="2400" dirty="0"/>
              <a:t>When the platters spin up, they rotate at anywhere between 3,600 rpm and 7,200 rpm. </a:t>
            </a:r>
          </a:p>
          <a:p>
            <a:pPr eaLnBrk="1" hangingPunct="1">
              <a:lnSpc>
                <a:spcPct val="90000"/>
              </a:lnSpc>
            </a:pPr>
            <a:r>
              <a:rPr sz="2400" dirty="0"/>
              <a:t>To the head, the platter seems to be moving at about 150 mph, and a very thin cushion of air forms between the head and the platter so that the head "flies" over the platter.</a:t>
            </a:r>
          </a:p>
          <a:p>
            <a:pPr eaLnBrk="1" hangingPunct="1">
              <a:lnSpc>
                <a:spcPct val="90000"/>
              </a:lnSpc>
            </a:pPr>
            <a:r>
              <a:rPr sz="2400" dirty="0"/>
              <a:t> If even the smallest bit of </a:t>
            </a:r>
            <a:r>
              <a:rPr sz="2400" b="1" dirty="0"/>
              <a:t>dust</a:t>
            </a:r>
            <a:r>
              <a:rPr sz="2400" dirty="0"/>
              <a:t> makes its way onto the platter, the flight is disrupted and the head "</a:t>
            </a:r>
            <a:r>
              <a:rPr sz="2400" b="1" dirty="0"/>
              <a:t>crashes</a:t>
            </a:r>
            <a:r>
              <a:rPr sz="2400" dirty="0"/>
              <a:t>" into the platter, scratching it. The crash, of course, sprays a lot more dust and debris onto the platter and then it's all over. </a:t>
            </a:r>
          </a:p>
          <a:p>
            <a:pPr eaLnBrk="1" hangingPunct="1">
              <a:lnSpc>
                <a:spcPct val="90000"/>
              </a:lnSpc>
            </a:pPr>
            <a:endParaRPr sz="2400" dirty="0"/>
          </a:p>
        </p:txBody>
      </p:sp>
      <p:sp>
        <p:nvSpPr>
          <p:cNvPr id="3" name="TextBox 2"/>
          <p:cNvSpPr txBox="1"/>
          <p:nvPr/>
        </p:nvSpPr>
        <p:spPr>
          <a:xfrm>
            <a:off x="685800" y="609600"/>
            <a:ext cx="3676650" cy="584200"/>
          </a:xfrm>
          <a:prstGeom prst="rect">
            <a:avLst/>
          </a:prstGeom>
          <a:noFill/>
        </p:spPr>
        <p:txBody>
          <a:bodyPr>
            <a:spAutoFit/>
          </a:bodyPr>
          <a:lstStyle/>
          <a:p>
            <a:pPr marR="0" defTabSz="914400">
              <a:buClrTx/>
              <a:buSzTx/>
              <a:buFontTx/>
              <a:buNone/>
              <a:defRPr/>
            </a:pPr>
            <a:r>
              <a:rPr kumimoji="0" lang="en-US" sz="3200" kern="1200" cap="none" spc="0" normalizeH="0" baseline="0" noProof="0" dirty="0">
                <a:latin typeface="+mj-lt"/>
                <a:ea typeface="+mn-ea"/>
                <a:cs typeface="Arial" panose="020B0604020202020204" pitchFamily="34" charset="0"/>
              </a:rPr>
              <a:t>Hard Disk Basics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p:cNvSpPr>
          <p:nvPr>
            <p:ph sz="quarter" idx="1"/>
          </p:nvPr>
        </p:nvSpPr>
        <p:spPr>
          <a:xfrm>
            <a:off x="457200" y="1295400"/>
            <a:ext cx="8229600" cy="4800600"/>
          </a:xfrm>
        </p:spPr>
        <p:txBody>
          <a:bodyPr vert="horz" wrap="square" lIns="91440" tIns="45720" rIns="91440" bIns="45720" anchor="t" anchorCtr="0"/>
          <a:lstStyle/>
          <a:p>
            <a:pPr eaLnBrk="1" hangingPunct="1"/>
            <a:r>
              <a:rPr dirty="0"/>
              <a:t>Magnetic storage stores data by magnetizing microscopic particles on the disk surface</a:t>
            </a:r>
          </a:p>
        </p:txBody>
      </p:sp>
      <p:pic>
        <p:nvPicPr>
          <p:cNvPr id="61443" name="Picture 4"/>
          <p:cNvPicPr>
            <a:picLocks noChangeAspect="1"/>
          </p:cNvPicPr>
          <p:nvPr/>
        </p:nvPicPr>
        <p:blipFill>
          <a:blip r:embed="rId3"/>
          <a:stretch>
            <a:fillRect/>
          </a:stretch>
        </p:blipFill>
        <p:spPr>
          <a:xfrm>
            <a:off x="762000" y="2590800"/>
            <a:ext cx="7696200" cy="3733800"/>
          </a:xfrm>
          <a:prstGeom prst="rect">
            <a:avLst/>
          </a:prstGeom>
          <a:noFill/>
          <a:ln w="9525">
            <a:noFill/>
          </a:ln>
        </p:spPr>
      </p:pic>
      <p:sp>
        <p:nvSpPr>
          <p:cNvPr id="4" name="TextBox 3"/>
          <p:cNvSpPr txBox="1"/>
          <p:nvPr/>
        </p:nvSpPr>
        <p:spPr>
          <a:xfrm>
            <a:off x="609600" y="533400"/>
            <a:ext cx="3676650" cy="584200"/>
          </a:xfrm>
          <a:prstGeom prst="rect">
            <a:avLst/>
          </a:prstGeom>
          <a:noFill/>
        </p:spPr>
        <p:txBody>
          <a:bodyPr wrap="none">
            <a:spAutoFit/>
          </a:bodyPr>
          <a:lstStyle/>
          <a:p>
            <a:pPr marR="0" defTabSz="914400">
              <a:buClrTx/>
              <a:buSzTx/>
              <a:buFontTx/>
              <a:buNone/>
              <a:defRPr/>
            </a:pPr>
            <a:r>
              <a:rPr kumimoji="0" lang="en-US" sz="3200" kern="1200" cap="none" spc="0" normalizeH="0" baseline="0" noProof="0" dirty="0">
                <a:latin typeface="+mj-lt"/>
                <a:ea typeface="+mn-ea"/>
                <a:cs typeface="Arial" panose="020B0604020202020204" pitchFamily="34" charset="0"/>
              </a:rPr>
              <a:t>Hard Disk Basics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Grp="1"/>
          </p:cNvSpPr>
          <p:nvPr>
            <p:ph sz="quarter" idx="1"/>
          </p:nvPr>
        </p:nvSpPr>
        <p:spPr>
          <a:xfrm>
            <a:off x="457200" y="1295400"/>
            <a:ext cx="8229600" cy="5029200"/>
          </a:xfrm>
        </p:spPr>
        <p:txBody>
          <a:bodyPr vert="horz" wrap="square" lIns="91440" tIns="45720" rIns="91440" bIns="45720" anchor="t" anchorCtr="0"/>
          <a:lstStyle/>
          <a:p>
            <a:pPr eaLnBrk="1" hangingPunct="1">
              <a:lnSpc>
                <a:spcPct val="90000"/>
              </a:lnSpc>
            </a:pPr>
            <a:r>
              <a:rPr dirty="0"/>
              <a:t>Data is stored on the surface of a platter in </a:t>
            </a:r>
            <a:r>
              <a:rPr b="1" dirty="0"/>
              <a:t>sectors</a:t>
            </a:r>
            <a:r>
              <a:rPr dirty="0"/>
              <a:t> and </a:t>
            </a:r>
            <a:r>
              <a:rPr b="1" dirty="0"/>
              <a:t>tracks</a:t>
            </a:r>
            <a:r>
              <a:rPr dirty="0"/>
              <a:t>. </a:t>
            </a:r>
          </a:p>
          <a:p>
            <a:pPr eaLnBrk="1" hangingPunct="1">
              <a:lnSpc>
                <a:spcPct val="90000"/>
              </a:lnSpc>
              <a:buFont typeface="Wingdings" panose="05000000000000000000" pitchFamily="2" charset="2"/>
              <a:buNone/>
            </a:pPr>
            <a:endParaRPr dirty="0"/>
          </a:p>
          <a:p>
            <a:pPr eaLnBrk="1" hangingPunct="1">
              <a:lnSpc>
                <a:spcPct val="90000"/>
              </a:lnSpc>
            </a:pPr>
            <a:r>
              <a:rPr dirty="0"/>
              <a:t>Tracks are concentric circles, and sectors are pie-shaped wedges on a track.</a:t>
            </a:r>
          </a:p>
          <a:p>
            <a:pPr eaLnBrk="1" hangingPunct="1">
              <a:lnSpc>
                <a:spcPct val="90000"/>
              </a:lnSpc>
            </a:pPr>
            <a:endParaRPr dirty="0"/>
          </a:p>
          <a:p>
            <a:pPr eaLnBrk="1" hangingPunct="1">
              <a:lnSpc>
                <a:spcPct val="90000"/>
              </a:lnSpc>
            </a:pPr>
            <a:r>
              <a:rPr dirty="0"/>
              <a:t>A sector contains a fixed number of bytes -- for example, 256 or 512.</a:t>
            </a:r>
          </a:p>
          <a:p>
            <a:pPr eaLnBrk="1" hangingPunct="1">
              <a:lnSpc>
                <a:spcPct val="90000"/>
              </a:lnSpc>
              <a:buFont typeface="Wingdings" panose="05000000000000000000" pitchFamily="2" charset="2"/>
              <a:buNone/>
            </a:pPr>
            <a:endParaRPr dirty="0"/>
          </a:p>
          <a:p>
            <a:pPr eaLnBrk="1" hangingPunct="1">
              <a:lnSpc>
                <a:spcPct val="90000"/>
              </a:lnSpc>
            </a:pPr>
            <a:r>
              <a:rPr dirty="0"/>
              <a:t> Either at the drive or the </a:t>
            </a:r>
            <a:r>
              <a:rPr dirty="0">
                <a:hlinkClick r:id="rId2"/>
              </a:rPr>
              <a:t>operating system</a:t>
            </a:r>
            <a:r>
              <a:rPr dirty="0"/>
              <a:t> level, sectors are often grouped together into </a:t>
            </a:r>
            <a:r>
              <a:rPr b="1" dirty="0"/>
              <a:t>clusters</a:t>
            </a:r>
            <a:r>
              <a:rPr dirty="0"/>
              <a:t>. </a:t>
            </a:r>
          </a:p>
        </p:txBody>
      </p:sp>
      <p:sp>
        <p:nvSpPr>
          <p:cNvPr id="3" name="TextBox 2"/>
          <p:cNvSpPr txBox="1"/>
          <p:nvPr/>
        </p:nvSpPr>
        <p:spPr>
          <a:xfrm>
            <a:off x="533400" y="685800"/>
            <a:ext cx="8077200" cy="584200"/>
          </a:xfrm>
          <a:prstGeom prst="rect">
            <a:avLst/>
          </a:prstGeom>
          <a:noFill/>
        </p:spPr>
        <p:txBody>
          <a:bodyPr>
            <a:spAutoFit/>
          </a:bodyPr>
          <a:lstStyle/>
          <a:p>
            <a:pPr marR="0" defTabSz="914400">
              <a:buClrTx/>
              <a:buSzTx/>
              <a:buFontTx/>
              <a:buNone/>
              <a:defRPr/>
            </a:pPr>
            <a:r>
              <a:rPr kumimoji="0" lang="en-US" sz="3200" kern="1200" cap="none" spc="0" normalizeH="0" baseline="0" noProof="0" dirty="0">
                <a:latin typeface="+mj-lt"/>
                <a:ea typeface="+mn-ea"/>
                <a:cs typeface="Arial" panose="020B0604020202020204" pitchFamily="34" charset="0"/>
              </a:rPr>
              <a:t>Hard Disk Basics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4" descr="hard-disk-track"/>
          <p:cNvPicPr>
            <a:picLocks noGrp="1" noChangeAspect="1"/>
          </p:cNvPicPr>
          <p:nvPr>
            <p:ph sz="quarter" idx="1"/>
          </p:nvPr>
        </p:nvPicPr>
        <p:blipFill>
          <a:blip r:embed="rId2"/>
          <a:srcRect/>
          <a:stretch>
            <a:fillRect/>
          </a:stretch>
        </p:blipFill>
        <p:spPr>
          <a:xfrm>
            <a:off x="457200" y="1905000"/>
            <a:ext cx="4495800" cy="3524250"/>
          </a:xfrm>
        </p:spPr>
      </p:pic>
      <p:sp>
        <p:nvSpPr>
          <p:cNvPr id="63491" name="Line 7"/>
          <p:cNvSpPr/>
          <p:nvPr/>
        </p:nvSpPr>
        <p:spPr>
          <a:xfrm flipH="1">
            <a:off x="4267200" y="4724400"/>
            <a:ext cx="2667000" cy="0"/>
          </a:xfrm>
          <a:prstGeom prst="line">
            <a:avLst/>
          </a:prstGeom>
          <a:ln w="57150" cap="flat" cmpd="sng">
            <a:solidFill>
              <a:srgbClr val="000000"/>
            </a:solidFill>
            <a:prstDash val="solid"/>
            <a:headEnd type="none" w="med" len="med"/>
            <a:tailEnd type="triangle" w="med" len="med"/>
          </a:ln>
        </p:spPr>
      </p:sp>
      <p:sp>
        <p:nvSpPr>
          <p:cNvPr id="63492" name="Text Box 8"/>
          <p:cNvSpPr txBox="1"/>
          <p:nvPr/>
        </p:nvSpPr>
        <p:spPr>
          <a:xfrm>
            <a:off x="7010400" y="4419600"/>
            <a:ext cx="1389063" cy="519113"/>
          </a:xfrm>
          <a:prstGeom prst="rect">
            <a:avLst/>
          </a:prstGeom>
          <a:noFill/>
          <a:ln w="9525">
            <a:noFill/>
          </a:ln>
        </p:spPr>
        <p:txBody>
          <a:bodyPr wrap="none">
            <a:spAutoFit/>
          </a:bodyPr>
          <a:lstStyle/>
          <a:p>
            <a:r>
              <a:rPr sz="2800" b="1" dirty="0">
                <a:latin typeface="Arial" panose="020B0604020202020204" pitchFamily="34" charset="0"/>
              </a:rPr>
              <a:t>TRACK</a:t>
            </a:r>
          </a:p>
        </p:txBody>
      </p:sp>
      <p:sp>
        <p:nvSpPr>
          <p:cNvPr id="63493" name="Line 9"/>
          <p:cNvSpPr/>
          <p:nvPr/>
        </p:nvSpPr>
        <p:spPr>
          <a:xfrm flipH="1">
            <a:off x="3886200" y="3048000"/>
            <a:ext cx="2438400" cy="0"/>
          </a:xfrm>
          <a:prstGeom prst="line">
            <a:avLst/>
          </a:prstGeom>
          <a:ln w="57150" cap="flat" cmpd="sng">
            <a:solidFill>
              <a:srgbClr val="000000"/>
            </a:solidFill>
            <a:prstDash val="solid"/>
            <a:headEnd type="none" w="med" len="med"/>
            <a:tailEnd type="triangle" w="med" len="med"/>
          </a:ln>
        </p:spPr>
      </p:sp>
      <p:sp>
        <p:nvSpPr>
          <p:cNvPr id="63494" name="Text Box 10"/>
          <p:cNvSpPr txBox="1"/>
          <p:nvPr/>
        </p:nvSpPr>
        <p:spPr>
          <a:xfrm>
            <a:off x="6537325" y="2724150"/>
            <a:ext cx="1616075" cy="519113"/>
          </a:xfrm>
          <a:prstGeom prst="rect">
            <a:avLst/>
          </a:prstGeom>
          <a:noFill/>
          <a:ln w="9525">
            <a:noFill/>
          </a:ln>
        </p:spPr>
        <p:txBody>
          <a:bodyPr wrap="none">
            <a:spAutoFit/>
          </a:bodyPr>
          <a:lstStyle/>
          <a:p>
            <a:r>
              <a:rPr sz="2800" b="1" dirty="0">
                <a:latin typeface="Arial" panose="020B0604020202020204" pitchFamily="34" charset="0"/>
              </a:rPr>
              <a:t>SECTOR</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p:cNvSpPr>
          <p:nvPr>
            <p:ph sz="quarter" idx="1"/>
          </p:nvPr>
        </p:nvSpPr>
        <p:spPr>
          <a:xfrm>
            <a:off x="457200" y="1295400"/>
            <a:ext cx="8229600" cy="4953000"/>
          </a:xfrm>
        </p:spPr>
        <p:txBody>
          <a:bodyPr vert="horz" wrap="square" lIns="91440" tIns="45720" rIns="91440" bIns="45720" anchor="t" anchorCtr="0"/>
          <a:lstStyle/>
          <a:p>
            <a:pPr eaLnBrk="1" hangingPunct="1">
              <a:lnSpc>
                <a:spcPct val="90000"/>
              </a:lnSpc>
            </a:pPr>
            <a:r>
              <a:rPr sz="2400" dirty="0"/>
              <a:t>The process of </a:t>
            </a:r>
            <a:r>
              <a:rPr sz="2400" b="1" dirty="0"/>
              <a:t>low-level formatting</a:t>
            </a:r>
            <a:r>
              <a:rPr sz="2400" dirty="0"/>
              <a:t> a drive establishes the tracks and sectors on the platter. </a:t>
            </a:r>
          </a:p>
          <a:p>
            <a:pPr eaLnBrk="1" hangingPunct="1">
              <a:lnSpc>
                <a:spcPct val="90000"/>
              </a:lnSpc>
              <a:buFont typeface="Wingdings" panose="05000000000000000000" pitchFamily="2" charset="2"/>
              <a:buNone/>
            </a:pPr>
            <a:endParaRPr sz="2400" dirty="0"/>
          </a:p>
          <a:p>
            <a:pPr eaLnBrk="1" hangingPunct="1">
              <a:lnSpc>
                <a:spcPct val="90000"/>
              </a:lnSpc>
            </a:pPr>
            <a:r>
              <a:rPr sz="2400" dirty="0"/>
              <a:t>The starting and ending points of each sector are written onto the platter. This process prepares the drive to hold blocks of bytes. </a:t>
            </a:r>
          </a:p>
          <a:p>
            <a:pPr eaLnBrk="1" hangingPunct="1">
              <a:lnSpc>
                <a:spcPct val="90000"/>
              </a:lnSpc>
              <a:buFont typeface="Wingdings" panose="05000000000000000000" pitchFamily="2" charset="2"/>
              <a:buNone/>
            </a:pPr>
            <a:endParaRPr sz="2400" dirty="0"/>
          </a:p>
          <a:p>
            <a:pPr eaLnBrk="1" hangingPunct="1">
              <a:lnSpc>
                <a:spcPct val="90000"/>
              </a:lnSpc>
            </a:pPr>
            <a:r>
              <a:rPr sz="2400" dirty="0"/>
              <a:t>A partition needs to be created on the hard disk.</a:t>
            </a:r>
          </a:p>
          <a:p>
            <a:pPr eaLnBrk="1" hangingPunct="1">
              <a:lnSpc>
                <a:spcPct val="90000"/>
              </a:lnSpc>
              <a:buFont typeface="Wingdings" panose="05000000000000000000" pitchFamily="2" charset="2"/>
              <a:buNone/>
            </a:pPr>
            <a:endParaRPr sz="2400" dirty="0"/>
          </a:p>
          <a:p>
            <a:pPr eaLnBrk="1" hangingPunct="1">
              <a:lnSpc>
                <a:spcPct val="90000"/>
              </a:lnSpc>
            </a:pPr>
            <a:r>
              <a:rPr sz="2400" b="1" dirty="0"/>
              <a:t>High-level formatting</a:t>
            </a:r>
            <a:r>
              <a:rPr sz="2400" dirty="0"/>
              <a:t> then writes the file-storage structures, like the file-allocation table, into the sectors. </a:t>
            </a:r>
          </a:p>
          <a:p>
            <a:pPr eaLnBrk="1" hangingPunct="1">
              <a:lnSpc>
                <a:spcPct val="90000"/>
              </a:lnSpc>
              <a:buFont typeface="Wingdings" panose="05000000000000000000" pitchFamily="2" charset="2"/>
              <a:buNone/>
            </a:pPr>
            <a:endParaRPr sz="2400" dirty="0"/>
          </a:p>
          <a:p>
            <a:pPr eaLnBrk="1" hangingPunct="1">
              <a:lnSpc>
                <a:spcPct val="90000"/>
              </a:lnSpc>
            </a:pPr>
            <a:r>
              <a:rPr sz="2400" dirty="0"/>
              <a:t>This process prepares the drive to hold files. </a:t>
            </a:r>
          </a:p>
        </p:txBody>
      </p:sp>
      <p:sp>
        <p:nvSpPr>
          <p:cNvPr id="3" name="TextBox 2"/>
          <p:cNvSpPr txBox="1"/>
          <p:nvPr/>
        </p:nvSpPr>
        <p:spPr>
          <a:xfrm>
            <a:off x="609600" y="533400"/>
            <a:ext cx="3676650" cy="584200"/>
          </a:xfrm>
          <a:prstGeom prst="rect">
            <a:avLst/>
          </a:prstGeom>
          <a:noFill/>
        </p:spPr>
        <p:txBody>
          <a:bodyPr wrap="none">
            <a:spAutoFit/>
          </a:bodyPr>
          <a:lstStyle/>
          <a:p>
            <a:pPr marR="0" defTabSz="914400">
              <a:buClrTx/>
              <a:buSzTx/>
              <a:buFontTx/>
              <a:buNone/>
              <a:defRPr/>
            </a:pPr>
            <a:r>
              <a:rPr kumimoji="0" lang="en-US" sz="3200" kern="1200" cap="none" spc="0" normalizeH="0" baseline="0" noProof="0" dirty="0">
                <a:latin typeface="+mj-lt"/>
                <a:ea typeface="+mn-ea"/>
                <a:cs typeface="Arial" panose="020B0604020202020204" pitchFamily="34" charset="0"/>
              </a:rPr>
              <a:t>Hard Disk Basics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vert="horz" wrap="square" lIns="91440" tIns="45720" rIns="91440" bIns="45720" anchor="b" anchorCtr="0"/>
          <a:lstStyle/>
          <a:p>
            <a:pPr eaLnBrk="1" hangingPunct="1"/>
            <a:r>
              <a:rPr dirty="0"/>
              <a:t>Hard Disk Interface</a:t>
            </a:r>
          </a:p>
        </p:txBody>
      </p:sp>
      <p:sp>
        <p:nvSpPr>
          <p:cNvPr id="65539" name="Content Placeholder 2"/>
          <p:cNvSpPr>
            <a:spLocks noGrp="1"/>
          </p:cNvSpPr>
          <p:nvPr>
            <p:ph sz="quarter" idx="1"/>
          </p:nvPr>
        </p:nvSpPr>
        <p:spPr>
          <a:xfrm>
            <a:off x="457200" y="1143000"/>
            <a:ext cx="8229600" cy="5181600"/>
          </a:xfrm>
        </p:spPr>
        <p:txBody>
          <a:bodyPr vert="horz" wrap="square" lIns="91440" tIns="45720" rIns="91440" bIns="45720" anchor="t" anchorCtr="0"/>
          <a:lstStyle/>
          <a:p>
            <a:pPr>
              <a:buClr>
                <a:schemeClr val="accent1"/>
              </a:buClr>
              <a:buSzPct val="76000"/>
              <a:buFont typeface="Wingdings 3" pitchFamily="18" charset="2"/>
            </a:pPr>
            <a:r>
              <a:rPr dirty="0"/>
              <a:t>Determine how a drive connect to the PC and other characteristics</a:t>
            </a:r>
            <a:endParaRPr dirty="0">
              <a:cs typeface="Times New Roman" panose="02020603050405020304" pitchFamily="18" charset="0"/>
            </a:endParaRPr>
          </a:p>
          <a:p>
            <a:pPr>
              <a:buClr>
                <a:schemeClr val="accent1"/>
              </a:buClr>
              <a:buSzPct val="76000"/>
              <a:buFont typeface="Wingdings 3" pitchFamily="18" charset="2"/>
            </a:pPr>
            <a:r>
              <a:rPr dirty="0">
                <a:cs typeface="Times New Roman" panose="02020603050405020304" pitchFamily="18" charset="0"/>
              </a:rPr>
              <a:t>Common standards:</a:t>
            </a:r>
          </a:p>
          <a:p>
            <a:pPr lvl="1">
              <a:buClr>
                <a:schemeClr val="accent2"/>
              </a:buClr>
              <a:buSzPct val="76000"/>
              <a:buFont typeface="Wingdings 3" pitchFamily="18" charset="2"/>
            </a:pPr>
            <a:r>
              <a:rPr dirty="0">
                <a:cs typeface="Times New Roman" panose="02020603050405020304" pitchFamily="18" charset="0"/>
              </a:rPr>
              <a:t>Parallel ATA (PATA)</a:t>
            </a:r>
          </a:p>
          <a:p>
            <a:pPr lvl="1">
              <a:buClr>
                <a:schemeClr val="accent2"/>
              </a:buClr>
              <a:buSzPct val="76000"/>
              <a:buFont typeface="Wingdings 3" pitchFamily="18" charset="2"/>
            </a:pPr>
            <a:r>
              <a:rPr dirty="0">
                <a:cs typeface="Times New Roman" panose="02020603050405020304" pitchFamily="18" charset="0"/>
              </a:rPr>
              <a:t>Serial ATA (SATA) and serial ATA II (SATA II)</a:t>
            </a:r>
          </a:p>
          <a:p>
            <a:pPr lvl="1">
              <a:buClr>
                <a:schemeClr val="accent2"/>
              </a:buClr>
              <a:buSzPct val="76000"/>
              <a:buFont typeface="Wingdings 3" pitchFamily="18" charset="2"/>
            </a:pPr>
            <a:r>
              <a:rPr dirty="0">
                <a:cs typeface="Times New Roman" panose="02020603050405020304" pitchFamily="18" charset="0"/>
              </a:rPr>
              <a:t>SCSI and the newer </a:t>
            </a:r>
            <a:r>
              <a:rPr dirty="0"/>
              <a:t>serial attached SCSI (SAS)</a:t>
            </a:r>
          </a:p>
          <a:p>
            <a:pPr lvl="1">
              <a:buClr>
                <a:schemeClr val="accent2"/>
              </a:buClr>
              <a:buSzPct val="76000"/>
              <a:buFont typeface="Wingdings 3" pitchFamily="18" charset="2"/>
            </a:pPr>
            <a:r>
              <a:rPr dirty="0">
                <a:cs typeface="Times New Roman" panose="02020603050405020304" pitchFamily="18" charset="0"/>
              </a:rPr>
              <a:t>Fibre Channel</a:t>
            </a:r>
          </a:p>
          <a:p>
            <a:pPr lvl="1">
              <a:buClr>
                <a:schemeClr val="accent2"/>
              </a:buClr>
              <a:buSzPct val="76000"/>
              <a:buFont typeface="Wingdings 3" pitchFamily="18" charset="2"/>
            </a:pPr>
            <a:r>
              <a:rPr dirty="0">
                <a:cs typeface="Times New Roman" panose="02020603050405020304" pitchFamily="18" charset="0"/>
              </a:rPr>
              <a:t>Fibre Channel over Ethernet (FCoE)</a:t>
            </a:r>
          </a:p>
          <a:p>
            <a:pPr lvl="1">
              <a:buClr>
                <a:schemeClr val="accent2"/>
              </a:buClr>
              <a:buSzPct val="76000"/>
              <a:buFont typeface="Wingdings 3" pitchFamily="18" charset="2"/>
            </a:pPr>
            <a:r>
              <a:rPr dirty="0">
                <a:cs typeface="Times New Roman" panose="02020603050405020304" pitchFamily="18" charset="0"/>
              </a:rPr>
              <a:t>eSATA</a:t>
            </a:r>
          </a:p>
          <a:p>
            <a:pPr lvl="1">
              <a:buClr>
                <a:schemeClr val="accent2"/>
              </a:buClr>
              <a:buSzPct val="76000"/>
              <a:buFont typeface="Wingdings 3" pitchFamily="18" charset="2"/>
            </a:pPr>
            <a:r>
              <a:rPr dirty="0">
                <a:cs typeface="Times New Roman" panose="02020603050405020304" pitchFamily="18" charset="0"/>
              </a:rPr>
              <a:t>External hard drives can also connect via USB or FireWire, but eSATA  is closer in performance to internal hard drives</a:t>
            </a:r>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vert="horz" wrap="square" lIns="91440" tIns="45720" rIns="91440" bIns="45720" anchor="b" anchorCtr="0"/>
          <a:lstStyle/>
          <a:p>
            <a:pPr eaLnBrk="1" hangingPunct="1"/>
            <a:r>
              <a:rPr dirty="0"/>
              <a:t>CD/DVD Storage Basics</a:t>
            </a:r>
          </a:p>
        </p:txBody>
      </p:sp>
      <p:sp>
        <p:nvSpPr>
          <p:cNvPr id="66563"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lnSpc>
                <a:spcPct val="80000"/>
              </a:lnSpc>
              <a:buClr>
                <a:schemeClr val="accent1"/>
              </a:buClr>
              <a:buSzPct val="76000"/>
              <a:buFont typeface="Wingdings 3" pitchFamily="18" charset="2"/>
            </a:pPr>
            <a:r>
              <a:rPr dirty="0"/>
              <a:t>Optical discs: store data optically (using laser beams) instead of magnetically</a:t>
            </a:r>
          </a:p>
          <a:p>
            <a:pPr lvl="1">
              <a:lnSpc>
                <a:spcPct val="80000"/>
              </a:lnSpc>
              <a:buClr>
                <a:schemeClr val="accent2"/>
              </a:buClr>
              <a:buSzPct val="76000"/>
              <a:buFont typeface="Wingdings 3" pitchFamily="18" charset="2"/>
            </a:pPr>
            <a:r>
              <a:rPr dirty="0"/>
              <a:t>Divided into tracks and sectors like magnetic discs but use a single grooved spiral track</a:t>
            </a:r>
          </a:p>
          <a:p>
            <a:pPr lvl="1">
              <a:lnSpc>
                <a:spcPct val="80000"/>
              </a:lnSpc>
              <a:buClr>
                <a:schemeClr val="accent2"/>
              </a:buClr>
              <a:buSzPct val="76000"/>
              <a:buFont typeface="Wingdings 3" pitchFamily="18" charset="2"/>
            </a:pPr>
            <a:r>
              <a:rPr dirty="0"/>
              <a:t>Can be read-only, recordable, or rewritable</a:t>
            </a:r>
          </a:p>
          <a:p>
            <a:pPr lvl="1">
              <a:lnSpc>
                <a:spcPct val="80000"/>
              </a:lnSpc>
              <a:buClr>
                <a:schemeClr val="accent2"/>
              </a:buClr>
              <a:buSzPct val="76000"/>
              <a:buFont typeface="Wingdings 3" pitchFamily="18" charset="2"/>
            </a:pPr>
            <a:r>
              <a:rPr dirty="0"/>
              <a:t>Conventional CD discs use infrared lasers</a:t>
            </a:r>
          </a:p>
          <a:p>
            <a:pPr lvl="1">
              <a:lnSpc>
                <a:spcPct val="80000"/>
              </a:lnSpc>
              <a:buClr>
                <a:schemeClr val="accent2"/>
              </a:buClr>
              <a:buSzPct val="76000"/>
              <a:buFont typeface="Wingdings 3" pitchFamily="18" charset="2"/>
            </a:pPr>
            <a:r>
              <a:rPr dirty="0"/>
              <a:t>DVDs use red lasers</a:t>
            </a:r>
          </a:p>
          <a:p>
            <a:pPr lvl="1">
              <a:lnSpc>
                <a:spcPct val="80000"/>
              </a:lnSpc>
              <a:buClr>
                <a:schemeClr val="accent2"/>
              </a:buClr>
              <a:buSzPct val="76000"/>
              <a:buFont typeface="Wingdings 3" pitchFamily="18" charset="2"/>
            </a:pPr>
            <a:r>
              <a:rPr dirty="0"/>
              <a:t>High-definition DVDs use blue-violet lasers to store data more compactly</a:t>
            </a:r>
          </a:p>
          <a:p>
            <a:pPr>
              <a:lnSpc>
                <a:spcPct val="80000"/>
              </a:lnSpc>
              <a:buClr>
                <a:schemeClr val="accent1"/>
              </a:buClr>
              <a:buSzPct val="76000"/>
              <a:buFont typeface="Wingdings 3" pitchFamily="18" charset="2"/>
            </a:pPr>
            <a:r>
              <a:rPr dirty="0"/>
              <a:t>Burning: Recording data onto an optical disc</a:t>
            </a:r>
          </a:p>
          <a:p>
            <a:pPr lvl="1">
              <a:lnSpc>
                <a:spcPct val="80000"/>
              </a:lnSpc>
              <a:buClr>
                <a:schemeClr val="accent2"/>
              </a:buClr>
              <a:buSzPct val="76000"/>
              <a:buFont typeface="Wingdings 3" pitchFamily="18" charset="2"/>
            </a:pPr>
            <a:r>
              <a:rPr dirty="0"/>
              <a:t>Pits and lands are used to represent 1s and 0s</a:t>
            </a:r>
          </a:p>
          <a:p>
            <a:pPr lvl="1">
              <a:lnSpc>
                <a:spcPct val="80000"/>
              </a:lnSpc>
              <a:buClr>
                <a:schemeClr val="accent2"/>
              </a:buClr>
              <a:buSzPct val="76000"/>
              <a:buFont typeface="Wingdings 3" pitchFamily="18" charset="2"/>
            </a:pPr>
            <a:r>
              <a:rPr dirty="0"/>
              <a:t>Pits can be molded into the disc surface or created by changing the reflectivity of the disc</a:t>
            </a:r>
          </a:p>
          <a:p>
            <a:pPr lvl="1">
              <a:lnSpc>
                <a:spcPct val="80000"/>
              </a:lnSpc>
              <a:buClr>
                <a:schemeClr val="accent2"/>
              </a:buClr>
              <a:buSzPct val="76000"/>
              <a:buFont typeface="Wingdings 3" pitchFamily="18" charset="2"/>
            </a:pPr>
            <a:r>
              <a:rPr dirty="0"/>
              <a:t>The transition between a pit and a land represents a 1; no transition represents a 0</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vert="horz" wrap="square" lIns="91440" tIns="45720" rIns="91440" bIns="45720" anchor="b" anchorCtr="0"/>
          <a:lstStyle/>
          <a:p>
            <a:pPr eaLnBrk="1" hangingPunct="1"/>
            <a:r>
              <a:rPr dirty="0"/>
              <a:t>CD/DVD Storage Basics</a:t>
            </a:r>
          </a:p>
        </p:txBody>
      </p:sp>
      <p:sp>
        <p:nvSpPr>
          <p:cNvPr id="67587"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dirty="0"/>
              <a:t>CDs and DVDs have a large capacity</a:t>
            </a:r>
          </a:p>
          <a:p>
            <a:pPr lvl="1">
              <a:buClr>
                <a:schemeClr val="accent2"/>
              </a:buClr>
              <a:buSzPct val="76000"/>
              <a:buFont typeface="Wingdings 3" pitchFamily="18" charset="2"/>
            </a:pPr>
            <a:r>
              <a:rPr dirty="0"/>
              <a:t>Multiple layers and multiple sides can be used to increase capacity</a:t>
            </a:r>
          </a:p>
          <a:p>
            <a:pPr lvl="1">
              <a:buClr>
                <a:schemeClr val="accent2"/>
              </a:buClr>
              <a:buSzPct val="76000"/>
              <a:buFont typeface="Wingdings 3" pitchFamily="18" charset="2"/>
            </a:pPr>
            <a:r>
              <a:rPr dirty="0">
                <a:solidFill>
                  <a:srgbClr val="FF0000"/>
                </a:solidFill>
              </a:rPr>
              <a:t>Standard CD discs hold 650 MB to 700 MB</a:t>
            </a:r>
          </a:p>
          <a:p>
            <a:pPr lvl="1">
              <a:buClr>
                <a:schemeClr val="accent2"/>
              </a:buClr>
              <a:buSzPct val="76000"/>
              <a:buFont typeface="Wingdings 3" pitchFamily="18" charset="2"/>
            </a:pPr>
            <a:r>
              <a:rPr dirty="0">
                <a:solidFill>
                  <a:srgbClr val="FF0000"/>
                </a:solidFill>
              </a:rPr>
              <a:t>Standard DVD discs hold 4.7 GB (single-layer disc) or 8.5 GB (double-layer disc)</a:t>
            </a:r>
          </a:p>
          <a:p>
            <a:pPr lvl="1">
              <a:buClr>
                <a:schemeClr val="accent2"/>
              </a:buClr>
              <a:buSzPct val="76000"/>
              <a:buFont typeface="Wingdings 3" pitchFamily="18" charset="2"/>
            </a:pPr>
            <a:r>
              <a:rPr dirty="0">
                <a:solidFill>
                  <a:srgbClr val="FF0000"/>
                </a:solidFill>
              </a:rPr>
              <a:t>High definition DVDs hold up to 50 GB</a:t>
            </a:r>
          </a:p>
          <a:p>
            <a:pPr>
              <a:buClr>
                <a:schemeClr val="accent1"/>
              </a:buClr>
              <a:buSzPct val="76000"/>
              <a:buFont typeface="Wingdings 3" pitchFamily="18" charset="2"/>
            </a:pPr>
            <a:r>
              <a:rPr dirty="0"/>
              <a:t>Optical discs also have great durability</a:t>
            </a:r>
          </a:p>
          <a:p>
            <a:pPr lvl="1">
              <a:buClr>
                <a:schemeClr val="accent2"/>
              </a:buClr>
              <a:buSzPct val="76000"/>
              <a:buFont typeface="Wingdings 3" pitchFamily="18" charset="2"/>
            </a:pPr>
            <a:r>
              <a:rPr dirty="0"/>
              <a:t>Do not degrade with use, but should be handled carefully</a:t>
            </a:r>
          </a:p>
          <a:p>
            <a:pPr eaLnBrk="1" hangingPunct="1">
              <a:buClr>
                <a:schemeClr val="accent1"/>
              </a:buClr>
              <a:buSzPct val="76000"/>
              <a:buFont typeface="Wingdings 3" pitchFamily="18" charset="2"/>
            </a:pPr>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vert="horz" wrap="square" lIns="91440" tIns="45720" rIns="91440" bIns="45720" anchor="b" anchorCtr="0"/>
          <a:lstStyle/>
          <a:p>
            <a:pPr eaLnBrk="1" hangingPunct="1"/>
            <a:r>
              <a:rPr dirty="0"/>
              <a:t>Small Storage Basics</a:t>
            </a:r>
          </a:p>
        </p:txBody>
      </p:sp>
      <p:sp>
        <p:nvSpPr>
          <p:cNvPr id="68611"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spcBef>
                <a:spcPct val="10000"/>
              </a:spcBef>
              <a:spcAft>
                <a:spcPct val="10000"/>
              </a:spcAft>
              <a:buClr>
                <a:schemeClr val="accent1"/>
              </a:buClr>
              <a:buSzPct val="76000"/>
              <a:buFont typeface="Wingdings 3" pitchFamily="18" charset="2"/>
            </a:pPr>
            <a:r>
              <a:rPr dirty="0"/>
              <a:t>Use flash memory media</a:t>
            </a:r>
          </a:p>
          <a:p>
            <a:pPr lvl="1">
              <a:spcBef>
                <a:spcPct val="10000"/>
              </a:spcBef>
              <a:spcAft>
                <a:spcPct val="10000"/>
              </a:spcAft>
              <a:buClr>
                <a:schemeClr val="accent2"/>
              </a:buClr>
              <a:buSzPct val="76000"/>
              <a:buFont typeface="Wingdings 3" pitchFamily="18" charset="2"/>
            </a:pPr>
            <a:r>
              <a:rPr dirty="0">
                <a:cs typeface="Times New Roman" panose="02020603050405020304" pitchFamily="18" charset="0"/>
              </a:rPr>
              <a:t>No moving parts so more resistant to shock and vibration, require less power, makes no sound</a:t>
            </a:r>
          </a:p>
          <a:p>
            <a:pPr lvl="1">
              <a:spcBef>
                <a:spcPct val="10000"/>
              </a:spcBef>
              <a:spcAft>
                <a:spcPct val="10000"/>
              </a:spcAft>
              <a:buClr>
                <a:schemeClr val="accent2"/>
              </a:buClr>
              <a:buSzPct val="76000"/>
              <a:buFont typeface="Wingdings 3" pitchFamily="18" charset="2"/>
            </a:pPr>
            <a:r>
              <a:rPr dirty="0">
                <a:cs typeface="Times New Roman" panose="02020603050405020304" pitchFamily="18" charset="0"/>
              </a:rPr>
              <a:t>Solid-state storage system</a:t>
            </a:r>
          </a:p>
          <a:p>
            <a:pPr>
              <a:spcBef>
                <a:spcPct val="10000"/>
              </a:spcBef>
              <a:spcAft>
                <a:spcPct val="10000"/>
              </a:spcAft>
              <a:buClr>
                <a:schemeClr val="accent1"/>
              </a:buClr>
              <a:buSzPct val="76000"/>
              <a:buFont typeface="Wingdings 3" pitchFamily="18" charset="2"/>
            </a:pPr>
            <a:r>
              <a:rPr dirty="0">
                <a:cs typeface="Times New Roman" panose="02020603050405020304" pitchFamily="18" charset="0"/>
              </a:rPr>
              <a:t>Most often found in the form of:</a:t>
            </a:r>
          </a:p>
          <a:p>
            <a:pPr lvl="1">
              <a:spcBef>
                <a:spcPct val="10000"/>
              </a:spcBef>
              <a:spcAft>
                <a:spcPct val="10000"/>
              </a:spcAft>
              <a:buClr>
                <a:schemeClr val="accent2"/>
              </a:buClr>
              <a:buSzPct val="76000"/>
              <a:buFont typeface="Wingdings 3" pitchFamily="18" charset="2"/>
            </a:pPr>
            <a:r>
              <a:rPr dirty="0">
                <a:cs typeface="Times New Roman" panose="02020603050405020304" pitchFamily="18" charset="0"/>
              </a:rPr>
              <a:t>Flash memory cards</a:t>
            </a:r>
          </a:p>
          <a:p>
            <a:pPr lvl="1">
              <a:spcBef>
                <a:spcPct val="10000"/>
              </a:spcBef>
              <a:spcAft>
                <a:spcPct val="10000"/>
              </a:spcAft>
              <a:buClr>
                <a:schemeClr val="accent2"/>
              </a:buClr>
              <a:buSzPct val="76000"/>
              <a:buFont typeface="Wingdings 3" pitchFamily="18" charset="2"/>
            </a:pPr>
            <a:r>
              <a:rPr dirty="0">
                <a:cs typeface="Times New Roman" panose="02020603050405020304" pitchFamily="18" charset="0"/>
              </a:rPr>
              <a:t>USB flash drives</a:t>
            </a:r>
          </a:p>
          <a:p>
            <a:pPr lvl="1">
              <a:spcBef>
                <a:spcPct val="10000"/>
              </a:spcBef>
              <a:spcAft>
                <a:spcPct val="10000"/>
              </a:spcAft>
              <a:buClr>
                <a:schemeClr val="accent2"/>
              </a:buClr>
              <a:buSzPct val="76000"/>
              <a:buFont typeface="Wingdings 3" pitchFamily="18" charset="2"/>
            </a:pPr>
            <a:r>
              <a:rPr dirty="0">
                <a:cs typeface="Times New Roman" panose="02020603050405020304" pitchFamily="18" charset="0"/>
              </a:rPr>
              <a:t>Solid-state drives</a:t>
            </a:r>
          </a:p>
          <a:p>
            <a:pPr lvl="1">
              <a:spcBef>
                <a:spcPct val="10000"/>
              </a:spcBef>
              <a:spcAft>
                <a:spcPct val="10000"/>
              </a:spcAft>
              <a:buClr>
                <a:schemeClr val="accent2"/>
              </a:buClr>
              <a:buSzPct val="76000"/>
              <a:buFont typeface="Wingdings 3" pitchFamily="18" charset="2"/>
            </a:pPr>
            <a:r>
              <a:rPr dirty="0">
                <a:cs typeface="Times New Roman" panose="02020603050405020304" pitchFamily="18" charset="0"/>
              </a:rPr>
              <a:t>Hybrid hard drives</a:t>
            </a:r>
            <a:endParaRPr dirty="0"/>
          </a:p>
          <a:p>
            <a:pPr>
              <a:spcBef>
                <a:spcPct val="10000"/>
              </a:spcBef>
              <a:spcAft>
                <a:spcPct val="10000"/>
              </a:spcAft>
              <a:buClr>
                <a:schemeClr val="accent1"/>
              </a:buClr>
              <a:buSzPct val="76000"/>
              <a:buFont typeface="Wingdings 3" pitchFamily="18" charset="2"/>
            </a:pPr>
            <a:r>
              <a:rPr dirty="0"/>
              <a:t>Very small and so are very appropriate for use with digital cameras, digital music players, handheld PCs, notebook computers, smart phones, etc.</a:t>
            </a:r>
          </a:p>
          <a:p>
            <a:pPr eaLnBrk="1" hangingPunct="1">
              <a:buClr>
                <a:schemeClr val="accent1"/>
              </a:buClr>
              <a:buSzPct val="76000"/>
              <a:buFont typeface="Wingdings 3" pitchFamily="18" charset="2"/>
            </a:pPr>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vert="horz" wrap="square" lIns="91440" tIns="45720" rIns="91440" bIns="45720" anchor="b" anchorCtr="0"/>
          <a:lstStyle/>
          <a:p>
            <a:r>
              <a:rPr dirty="0"/>
              <a:t>Storage Basics</a:t>
            </a:r>
          </a:p>
        </p:txBody>
      </p:sp>
      <p:sp>
        <p:nvSpPr>
          <p:cNvPr id="69635" name="Content Placeholder 2"/>
          <p:cNvSpPr>
            <a:spLocks noGrp="1"/>
          </p:cNvSpPr>
          <p:nvPr>
            <p:ph sz="quarter" idx="1"/>
          </p:nvPr>
        </p:nvSpPr>
        <p:spPr>
          <a:xfrm>
            <a:off x="457200" y="1143000"/>
            <a:ext cx="8229600" cy="5013325"/>
          </a:xfrm>
        </p:spPr>
        <p:txBody>
          <a:bodyPr vert="horz" wrap="square" lIns="91440" tIns="45720" rIns="91440" bIns="45720" anchor="t" anchorCtr="0"/>
          <a:lstStyle/>
          <a:p>
            <a:pPr>
              <a:buClr>
                <a:schemeClr val="accent1"/>
              </a:buClr>
              <a:buSzPct val="76000"/>
              <a:buFont typeface="Wingdings 3" pitchFamily="18" charset="2"/>
            </a:pPr>
            <a:r>
              <a:rPr dirty="0"/>
              <a:t>Remote storage: Using a storage device not directly a part of the PC being used</a:t>
            </a:r>
          </a:p>
          <a:p>
            <a:pPr lvl="1">
              <a:buClr>
                <a:schemeClr val="accent2"/>
              </a:buClr>
              <a:buSzPct val="76000"/>
              <a:buFont typeface="Wingdings 3" pitchFamily="18" charset="2"/>
            </a:pPr>
            <a:r>
              <a:rPr dirty="0">
                <a:cs typeface="Times New Roman" panose="02020603050405020304" pitchFamily="18" charset="0"/>
              </a:rPr>
              <a:t>Network storage: Accessible through a local network</a:t>
            </a:r>
          </a:p>
          <a:p>
            <a:pPr lvl="1">
              <a:buClr>
                <a:schemeClr val="accent2"/>
              </a:buClr>
              <a:buSzPct val="76000"/>
              <a:buFont typeface="Wingdings 3" pitchFamily="18" charset="2"/>
            </a:pPr>
            <a:r>
              <a:rPr dirty="0">
                <a:cs typeface="Times New Roman" panose="02020603050405020304" pitchFamily="18" charset="0"/>
              </a:rPr>
              <a:t>Online storage: A</a:t>
            </a:r>
            <a:r>
              <a:rPr dirty="0"/>
              <a:t>ccessed via the Internet </a:t>
            </a:r>
          </a:p>
          <a:p>
            <a:pPr lvl="2">
              <a:buClr>
                <a:srgbClr val="BCBCBC"/>
              </a:buClr>
              <a:buSzPct val="76000"/>
              <a:buFont typeface="Wingdings 3" pitchFamily="18" charset="2"/>
            </a:pPr>
            <a:r>
              <a:rPr dirty="0"/>
              <a:t>Back</a:t>
            </a:r>
            <a:r>
              <a:rPr dirty="0">
                <a:cs typeface="Times New Roman" panose="02020603050405020304" pitchFamily="18" charset="0"/>
              </a:rPr>
              <a:t>up</a:t>
            </a:r>
          </a:p>
          <a:p>
            <a:pPr lvl="2">
              <a:buClr>
                <a:srgbClr val="BCBCBC"/>
              </a:buClr>
              <a:buSzPct val="76000"/>
              <a:buFont typeface="Wingdings 3" pitchFamily="18" charset="2"/>
            </a:pPr>
            <a:r>
              <a:rPr dirty="0">
                <a:cs typeface="Times New Roman" panose="02020603050405020304" pitchFamily="18" charset="0"/>
              </a:rPr>
              <a:t>Transferring files to others or to another PC</a:t>
            </a:r>
          </a:p>
          <a:p>
            <a:pPr lvl="2">
              <a:buClr>
                <a:srgbClr val="BCBCBC"/>
              </a:buClr>
              <a:buSzPct val="76000"/>
              <a:buFont typeface="Wingdings 3" pitchFamily="18" charset="2"/>
            </a:pPr>
            <a:r>
              <a:rPr dirty="0"/>
              <a:t>Sharing files with others (online photo sites, etc.)</a:t>
            </a:r>
          </a:p>
          <a:p>
            <a:pPr>
              <a:spcBef>
                <a:spcPct val="10000"/>
              </a:spcBef>
              <a:spcAft>
                <a:spcPct val="10000"/>
              </a:spcAft>
              <a:buClr>
                <a:schemeClr val="accent1"/>
              </a:buClr>
              <a:buSzPct val="76000"/>
              <a:buFont typeface="Wingdings 3" pitchFamily="18" charset="2"/>
            </a:pPr>
            <a:r>
              <a:rPr dirty="0"/>
              <a:t>Network attached storage (NAS): High-performance storage server individually connected to a network to provide storage for computers on that network</a:t>
            </a:r>
          </a:p>
          <a:p>
            <a:pPr>
              <a:spcBef>
                <a:spcPct val="10000"/>
              </a:spcBef>
              <a:spcAft>
                <a:spcPct val="10000"/>
              </a:spcAft>
              <a:buClr>
                <a:schemeClr val="accent1"/>
              </a:buClr>
              <a:buSzPct val="76000"/>
              <a:buFont typeface="Wingdings 3" pitchFamily="18" charset="2"/>
            </a:pPr>
            <a:r>
              <a:rPr dirty="0"/>
              <a:t>Storage area network (SAN): Network of hard drives or other storage devices that provide storage for another network of computers</a:t>
            </a:r>
            <a:endParaRPr sz="2400" dirty="0"/>
          </a:p>
          <a:p>
            <a:pPr>
              <a:buClr>
                <a:schemeClr val="accent1"/>
              </a:buClr>
              <a:buSzPct val="76000"/>
              <a:buFont typeface="Wingdings 3" pitchFamily="18" charset="2"/>
            </a:pPr>
            <a:endParaRP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vert="horz" wrap="square" lIns="91440" tIns="45720" rIns="91440" bIns="45720" anchor="b" anchorCtr="0"/>
          <a:lstStyle/>
          <a:p>
            <a:r>
              <a:rPr dirty="0"/>
              <a:t>File System Basics</a:t>
            </a:r>
          </a:p>
        </p:txBody>
      </p:sp>
      <p:sp>
        <p:nvSpPr>
          <p:cNvPr id="70659"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dirty="0"/>
              <a:t>The data on storage devices is stored in 0’s and 1’s format.</a:t>
            </a:r>
          </a:p>
          <a:p>
            <a:pPr>
              <a:buClr>
                <a:schemeClr val="accent1"/>
              </a:buClr>
              <a:buSzPct val="76000"/>
              <a:buFont typeface="Wingdings 3" pitchFamily="18" charset="2"/>
            </a:pPr>
            <a:r>
              <a:rPr dirty="0"/>
              <a:t>Also the data on the storage devices is scattered, it means a single file is not stored continuously on the media.</a:t>
            </a:r>
          </a:p>
          <a:p>
            <a:pPr>
              <a:buClr>
                <a:schemeClr val="accent1"/>
              </a:buClr>
              <a:buSzPct val="76000"/>
              <a:buFont typeface="Wingdings 3" pitchFamily="18" charset="2"/>
            </a:pPr>
            <a:r>
              <a:rPr dirty="0"/>
              <a:t>Thus someone has to take care of this data i.e. keep track of data that goes on the media.</a:t>
            </a:r>
          </a:p>
          <a:p>
            <a:pPr>
              <a:buClr>
                <a:schemeClr val="accent1"/>
              </a:buClr>
              <a:buSzPct val="76000"/>
              <a:buFont typeface="Wingdings 3" pitchFamily="18" charset="2"/>
            </a:pPr>
            <a:r>
              <a:rPr dirty="0"/>
              <a:t>File system which is a part of the operating system, keeps records of the data goes on the media.</a:t>
            </a:r>
          </a:p>
          <a:p>
            <a:pPr>
              <a:buClr>
                <a:schemeClr val="accent1"/>
              </a:buClr>
              <a:buSzPct val="76000"/>
              <a:buFont typeface="Wingdings 3" pitchFamily="18" charset="2"/>
            </a:pPr>
            <a:r>
              <a:rPr dirty="0"/>
              <a:t>It stores other information about the file like filename, date and time file is created, attributes of files likes hidden, read only etc.</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vert="horz" wrap="square" lIns="91440" tIns="45720" rIns="91440" bIns="45720" anchor="b" anchorCtr="0"/>
          <a:lstStyle/>
          <a:p>
            <a:pPr eaLnBrk="1" hangingPunct="1"/>
            <a:r>
              <a:rPr dirty="0"/>
              <a:t>File System Basics</a:t>
            </a:r>
          </a:p>
        </p:txBody>
      </p:sp>
      <p:sp>
        <p:nvSpPr>
          <p:cNvPr id="71683"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buClr>
                <a:schemeClr val="accent1"/>
              </a:buClr>
              <a:buSzPct val="76000"/>
              <a:buFont typeface="Wingdings 3" pitchFamily="18" charset="2"/>
            </a:pPr>
            <a:r>
              <a:rPr b="1" dirty="0"/>
              <a:t>FAT- File Allocation Table</a:t>
            </a:r>
          </a:p>
          <a:p>
            <a:pPr eaLnBrk="1" hangingPunct="1">
              <a:buClr>
                <a:schemeClr val="accent1"/>
              </a:buClr>
              <a:buSzPct val="76000"/>
              <a:buFont typeface="Wingdings 3" pitchFamily="18" charset="2"/>
            </a:pPr>
            <a:endParaRPr dirty="0"/>
          </a:p>
          <a:p>
            <a:pPr eaLnBrk="1" hangingPunct="1">
              <a:buClr>
                <a:schemeClr val="accent1"/>
              </a:buClr>
              <a:buSzPct val="76000"/>
              <a:buFont typeface="Wingdings 3" pitchFamily="18" charset="2"/>
            </a:pPr>
            <a:r>
              <a:rPr dirty="0"/>
              <a:t>First introduced by Microsoft in 1976.</a:t>
            </a:r>
          </a:p>
          <a:p>
            <a:pPr eaLnBrk="1" hangingPunct="1">
              <a:buClr>
                <a:schemeClr val="accent1"/>
              </a:buClr>
              <a:buSzPct val="76000"/>
              <a:buFont typeface="Wingdings 3" pitchFamily="18" charset="2"/>
            </a:pPr>
            <a:r>
              <a:rPr dirty="0"/>
              <a:t>Various versions of FAT introduced later.</a:t>
            </a:r>
          </a:p>
          <a:p>
            <a:pPr eaLnBrk="1" hangingPunct="1">
              <a:buClr>
                <a:schemeClr val="accent1"/>
              </a:buClr>
              <a:buSzPct val="76000"/>
              <a:buFont typeface="Wingdings 3" pitchFamily="18" charset="2"/>
            </a:pPr>
            <a:r>
              <a:rPr dirty="0"/>
              <a:t>FAT16 and FAT32 being the most popularly used.</a:t>
            </a:r>
          </a:p>
          <a:p>
            <a:pPr eaLnBrk="1" hangingPunct="1">
              <a:buClr>
                <a:schemeClr val="accent1"/>
              </a:buClr>
              <a:buSzPct val="76000"/>
              <a:buFont typeface="Wingdings 3" pitchFamily="18" charset="2"/>
            </a:pPr>
            <a:r>
              <a:rPr dirty="0"/>
              <a:t>The FAT table stores filenames, Directory names, Access times, cluster numbers and attributes for the file like read only, hidden etc.</a:t>
            </a:r>
          </a:p>
          <a:p>
            <a:pPr eaLnBrk="1" hangingPunct="1">
              <a:buClr>
                <a:schemeClr val="accent1"/>
              </a:buClr>
              <a:buSzPct val="76000"/>
              <a:buFont typeface="Wingdings 3" pitchFamily="18" charset="2"/>
            </a:pPr>
            <a:r>
              <a:rPr dirty="0"/>
              <a:t>This table resides at the outermost area of the hard disk.</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vert="horz" wrap="square" lIns="91440" tIns="45720" rIns="91440" bIns="45720" anchor="b" anchorCtr="0"/>
          <a:lstStyle/>
          <a:p>
            <a:pPr eaLnBrk="1" hangingPunct="1"/>
            <a:r>
              <a:rPr dirty="0"/>
              <a:t>File System Basics</a:t>
            </a:r>
          </a:p>
        </p:txBody>
      </p:sp>
      <p:sp>
        <p:nvSpPr>
          <p:cNvPr id="72707"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buClr>
                <a:schemeClr val="accent1"/>
              </a:buClr>
              <a:buSzPct val="76000"/>
              <a:buFont typeface="Wingdings 3" pitchFamily="18" charset="2"/>
            </a:pPr>
            <a:r>
              <a:rPr b="1" dirty="0"/>
              <a:t>FAT- File Allocation Table</a:t>
            </a:r>
          </a:p>
          <a:p>
            <a:pPr eaLnBrk="1" hangingPunct="1">
              <a:buClr>
                <a:schemeClr val="accent1"/>
              </a:buClr>
              <a:buSzPct val="76000"/>
              <a:buFont typeface="Wingdings 3" pitchFamily="18" charset="2"/>
            </a:pPr>
            <a:r>
              <a:rPr dirty="0"/>
              <a:t>The FAT32 keeps a second copy of the table also to provide redundancy in case the first one fails.</a:t>
            </a:r>
          </a:p>
          <a:p>
            <a:pPr eaLnBrk="1" hangingPunct="1">
              <a:buClr>
                <a:schemeClr val="accent1"/>
              </a:buClr>
              <a:buSzPct val="76000"/>
              <a:buFont typeface="Wingdings 3" pitchFamily="18" charset="2"/>
            </a:pPr>
            <a:r>
              <a:rPr dirty="0"/>
              <a:t>This file system is supported by most of the today’s operating systems.</a:t>
            </a:r>
          </a:p>
          <a:p>
            <a:pPr eaLnBrk="1" hangingPunct="1">
              <a:buClr>
                <a:schemeClr val="accent1"/>
              </a:buClr>
              <a:buSzPct val="76000"/>
              <a:buFont typeface="Wingdings 3" pitchFamily="18" charset="2"/>
            </a:pPr>
            <a:r>
              <a:rPr dirty="0"/>
              <a:t>All most all digital storage media like pen drives, SD cards use FAT as the default file system.</a:t>
            </a:r>
          </a:p>
          <a:p>
            <a:pPr eaLnBrk="1" hangingPunct="1">
              <a:buClr>
                <a:schemeClr val="accent1"/>
              </a:buClr>
              <a:buSzPct val="76000"/>
              <a:buFont typeface="Wingdings 3" pitchFamily="18" charset="2"/>
            </a:pPr>
            <a:r>
              <a:rPr dirty="0"/>
              <a:t>The FAT32 supports a maximum volume size of 32GB.</a:t>
            </a:r>
          </a:p>
          <a:p>
            <a:pPr eaLnBrk="1" hangingPunct="1">
              <a:buClr>
                <a:schemeClr val="accent1"/>
              </a:buClr>
              <a:buSzPct val="76000"/>
              <a:buFont typeface="Wingdings 3" pitchFamily="18" charset="2"/>
            </a:pPr>
            <a:r>
              <a:rPr dirty="0"/>
              <a:t>The maximum file supported by FAT32 is 4GB.</a:t>
            </a:r>
          </a:p>
          <a:p>
            <a:pPr eaLnBrk="1" hangingPunct="1">
              <a:buClr>
                <a:schemeClr val="accent1"/>
              </a:buClr>
              <a:buSzPct val="76000"/>
              <a:buFont typeface="Wingdings 3" pitchFamily="18" charset="2"/>
            </a:pPr>
            <a:endParaRPr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vert="horz" wrap="square" lIns="91440" tIns="45720" rIns="91440" bIns="45720" anchor="b" anchorCtr="0"/>
          <a:lstStyle/>
          <a:p>
            <a:pPr eaLnBrk="1" hangingPunct="1"/>
            <a:r>
              <a:rPr dirty="0"/>
              <a:t>File System Basics</a:t>
            </a:r>
          </a:p>
        </p:txBody>
      </p:sp>
      <p:sp>
        <p:nvSpPr>
          <p:cNvPr id="73731"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buClr>
                <a:schemeClr val="accent1"/>
              </a:buClr>
              <a:buSzPct val="76000"/>
              <a:buFont typeface="Wingdings 3" pitchFamily="18" charset="2"/>
            </a:pPr>
            <a:r>
              <a:rPr b="1" dirty="0"/>
              <a:t>NTFS-  New Technology File System</a:t>
            </a:r>
          </a:p>
          <a:p>
            <a:pPr eaLnBrk="1" hangingPunct="1">
              <a:buClr>
                <a:schemeClr val="accent1"/>
              </a:buClr>
              <a:buSzPct val="76000"/>
              <a:buFont typeface="Wingdings 3" pitchFamily="18" charset="2"/>
            </a:pPr>
            <a:r>
              <a:rPr dirty="0"/>
              <a:t>It is a Microsoft designed File System.</a:t>
            </a:r>
          </a:p>
          <a:p>
            <a:pPr eaLnBrk="1" hangingPunct="1">
              <a:buClr>
                <a:schemeClr val="accent1"/>
              </a:buClr>
              <a:buSzPct val="76000"/>
              <a:buFont typeface="Wingdings 3" pitchFamily="18" charset="2"/>
            </a:pPr>
            <a:r>
              <a:rPr dirty="0"/>
              <a:t>It was introduced by Microsoft with Windows NT.</a:t>
            </a:r>
          </a:p>
          <a:p>
            <a:pPr eaLnBrk="1" hangingPunct="1">
              <a:buClr>
                <a:schemeClr val="accent1"/>
              </a:buClr>
              <a:buSzPct val="76000"/>
              <a:buFont typeface="Wingdings 3" pitchFamily="18" charset="2"/>
            </a:pPr>
            <a:r>
              <a:rPr dirty="0"/>
              <a:t>Today it is the default file system when you format a hard disk partition.</a:t>
            </a:r>
          </a:p>
          <a:p>
            <a:pPr eaLnBrk="1" hangingPunct="1">
              <a:buClr>
                <a:schemeClr val="accent1"/>
              </a:buClr>
              <a:buSzPct val="76000"/>
              <a:buFont typeface="Wingdings 3" pitchFamily="18" charset="2"/>
            </a:pPr>
            <a:r>
              <a:rPr dirty="0"/>
              <a:t>It uses </a:t>
            </a:r>
            <a:r>
              <a:rPr b="1" dirty="0"/>
              <a:t>Master File Table (MFT) </a:t>
            </a:r>
            <a:r>
              <a:rPr dirty="0"/>
              <a:t>instead of </a:t>
            </a:r>
            <a:r>
              <a:rPr b="1" dirty="0"/>
              <a:t>File Allocation Table(FAT).</a:t>
            </a:r>
          </a:p>
          <a:p>
            <a:pPr eaLnBrk="1" hangingPunct="1">
              <a:buClr>
                <a:schemeClr val="accent1"/>
              </a:buClr>
              <a:buSzPct val="76000"/>
              <a:buFont typeface="Wingdings 3" pitchFamily="18" charset="2"/>
            </a:pPr>
            <a:r>
              <a:rPr dirty="0"/>
              <a:t>It is the first file on the hard disk.</a:t>
            </a:r>
          </a:p>
          <a:p>
            <a:pPr eaLnBrk="1" hangingPunct="1">
              <a:buClr>
                <a:schemeClr val="accent1"/>
              </a:buClr>
              <a:buSzPct val="76000"/>
              <a:buFont typeface="Wingdings 3" pitchFamily="18" charset="2"/>
            </a:pPr>
            <a:r>
              <a:rPr dirty="0"/>
              <a:t>Records within the MFT are called Meta-Data.</a:t>
            </a:r>
          </a:p>
          <a:p>
            <a:pPr eaLnBrk="1" hangingPunct="1">
              <a:buClr>
                <a:schemeClr val="accent1"/>
              </a:buClr>
              <a:buSzPct val="76000"/>
              <a:buFont typeface="Wingdings 3" pitchFamily="18" charset="2"/>
            </a:pPr>
            <a:r>
              <a:rPr dirty="0"/>
              <a:t>It contains information about all files on the disk including the system files.</a:t>
            </a:r>
          </a:p>
          <a:p>
            <a:pPr eaLnBrk="1" hangingPunct="1">
              <a:buClr>
                <a:schemeClr val="accent1"/>
              </a:buClr>
              <a:buSzPct val="76000"/>
              <a:buFont typeface="Wingdings 3" pitchFamily="18" charset="2"/>
            </a:pPr>
            <a:endParaRPr b="1" dirty="0"/>
          </a:p>
          <a:p>
            <a:pPr eaLnBrk="1" hangingPunct="1">
              <a:buClr>
                <a:schemeClr val="accent1"/>
              </a:buClr>
              <a:buSzPct val="76000"/>
              <a:buFont typeface="Wingdings 3" pitchFamily="18" charset="2"/>
            </a:pPr>
            <a:endParaRPr dirty="0"/>
          </a:p>
          <a:p>
            <a:pPr eaLnBrk="1" hangingPunct="1">
              <a:buClr>
                <a:schemeClr val="accent1"/>
              </a:buClr>
              <a:buSzPct val="76000"/>
              <a:buFont typeface="Wingdings 3" pitchFamily="18" charset="2"/>
            </a:pPr>
            <a:endParaRPr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vert="horz" wrap="square" lIns="91440" tIns="45720" rIns="91440" bIns="45720" anchor="b" anchorCtr="0"/>
          <a:lstStyle/>
          <a:p>
            <a:pPr eaLnBrk="1" hangingPunct="1"/>
            <a:r>
              <a:rPr dirty="0"/>
              <a:t>File System Basics</a:t>
            </a:r>
          </a:p>
        </p:txBody>
      </p:sp>
      <p:sp>
        <p:nvSpPr>
          <p:cNvPr id="74755"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buClr>
                <a:schemeClr val="accent1"/>
              </a:buClr>
              <a:buSzPct val="76000"/>
              <a:buFont typeface="Wingdings 3" pitchFamily="18" charset="2"/>
            </a:pPr>
            <a:r>
              <a:rPr dirty="0"/>
              <a:t>NTFS allows security attributes (ACL, Encryption) for files stored on the disk.</a:t>
            </a:r>
          </a:p>
          <a:p>
            <a:pPr eaLnBrk="1" hangingPunct="1">
              <a:buClr>
                <a:schemeClr val="accent1"/>
              </a:buClr>
              <a:buSzPct val="76000"/>
              <a:buFont typeface="Wingdings 3" pitchFamily="18" charset="2"/>
            </a:pPr>
            <a:r>
              <a:rPr dirty="0"/>
              <a:t>At format the MFT assigns the Logical Cluster Numbers to the entire disk partition.</a:t>
            </a:r>
          </a:p>
          <a:p>
            <a:pPr eaLnBrk="1" hangingPunct="1">
              <a:buClr>
                <a:schemeClr val="accent1"/>
              </a:buClr>
              <a:buSzPct val="76000"/>
              <a:buFont typeface="Wingdings 3" pitchFamily="18" charset="2"/>
            </a:pPr>
            <a:r>
              <a:rPr dirty="0"/>
              <a:t>These LCN’s allow OS to read/write data on the disk.</a:t>
            </a:r>
          </a:p>
          <a:p>
            <a:pPr eaLnBrk="1" hangingPunct="1">
              <a:buClr>
                <a:schemeClr val="accent1"/>
              </a:buClr>
              <a:buSzPct val="76000"/>
              <a:buFont typeface="Wingdings 3" pitchFamily="18" charset="2"/>
            </a:pPr>
            <a:r>
              <a:rPr dirty="0"/>
              <a:t>Each LCN is linked to a Virtual Cluster Number (VCN), that allows a file to grow beyond across the free disk space area of the hard drive.</a:t>
            </a:r>
          </a:p>
          <a:p>
            <a:pPr eaLnBrk="1" hangingPunct="1">
              <a:buClr>
                <a:schemeClr val="accent1"/>
              </a:buClr>
              <a:buSzPct val="76000"/>
              <a:buFont typeface="Wingdings 3" pitchFamily="18" charset="2"/>
            </a:pPr>
            <a:r>
              <a:rPr dirty="0"/>
              <a:t> The maximum volume size supported by NTFS in XP is approx. 256 Terabytes.</a:t>
            </a:r>
          </a:p>
          <a:p>
            <a:pPr eaLnBrk="1" hangingPunct="1">
              <a:buClr>
                <a:schemeClr val="accent1"/>
              </a:buClr>
              <a:buSzPct val="76000"/>
              <a:buFont typeface="Wingdings 3" pitchFamily="18" charset="2"/>
            </a:pPr>
            <a:r>
              <a:rPr dirty="0"/>
              <a:t>The maximum file size supported is of 16 Terabytes.</a:t>
            </a:r>
          </a:p>
          <a:p>
            <a:pPr eaLnBrk="1" hangingPunct="1">
              <a:buClr>
                <a:schemeClr val="accent1"/>
              </a:buClr>
              <a:buSzPct val="76000"/>
              <a:buFont typeface="Wingdings 3" pitchFamily="18" charset="2"/>
            </a:pPr>
            <a:endParaRPr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vert="horz" wrap="square" lIns="91440" tIns="45720" rIns="91440" bIns="45720" anchor="b" anchorCtr="0"/>
          <a:lstStyle/>
          <a:p>
            <a:pPr eaLnBrk="1" hangingPunct="1"/>
            <a:r>
              <a:rPr dirty="0"/>
              <a:t>File System Basics</a:t>
            </a:r>
          </a:p>
        </p:txBody>
      </p:sp>
      <p:sp>
        <p:nvSpPr>
          <p:cNvPr id="75779"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eaLnBrk="1" hangingPunct="1">
              <a:buClr>
                <a:schemeClr val="accent1"/>
              </a:buClr>
              <a:buSzPct val="76000"/>
              <a:buFont typeface="Wingdings 3" pitchFamily="18" charset="2"/>
            </a:pPr>
            <a:r>
              <a:rPr b="1" dirty="0"/>
              <a:t>EXT2 File system</a:t>
            </a:r>
          </a:p>
          <a:p>
            <a:pPr eaLnBrk="1" hangingPunct="1">
              <a:buClr>
                <a:schemeClr val="accent1"/>
              </a:buClr>
              <a:buSzPct val="76000"/>
              <a:buFont typeface="Wingdings 3" pitchFamily="18" charset="2"/>
            </a:pPr>
            <a:r>
              <a:rPr dirty="0"/>
              <a:t>The Second Extended File system was devised (by Rémy Card) as an extensible and powerful file system for Linux. </a:t>
            </a:r>
          </a:p>
          <a:p>
            <a:pPr eaLnBrk="1" hangingPunct="1">
              <a:buClr>
                <a:schemeClr val="accent1"/>
              </a:buClr>
              <a:buSzPct val="76000"/>
              <a:buFont typeface="Wingdings 3" pitchFamily="18" charset="2"/>
            </a:pPr>
            <a:r>
              <a:rPr dirty="0"/>
              <a:t>It is also the most successful file system so far in the Linux community.</a:t>
            </a:r>
          </a:p>
          <a:p>
            <a:pPr eaLnBrk="1" hangingPunct="1">
              <a:buClr>
                <a:schemeClr val="accent1"/>
              </a:buClr>
              <a:buSzPct val="76000"/>
              <a:buFont typeface="Wingdings 3" pitchFamily="18" charset="2"/>
            </a:pPr>
            <a:r>
              <a:rPr dirty="0"/>
              <a:t>One problem that is commonly reported is that an ext2 file system must undergo a lengthy file system integrity check if the system was not cleanly shut down.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p:txBody>
          <a:bodyPr vert="horz" wrap="square" lIns="91440" tIns="45720" rIns="91440" bIns="45720" anchor="b" anchorCtr="0"/>
          <a:lstStyle/>
          <a:p>
            <a:pPr eaLnBrk="1" hangingPunct="1"/>
            <a:r>
              <a:rPr dirty="0"/>
              <a:t>File System Basics</a:t>
            </a:r>
          </a:p>
        </p:txBody>
      </p:sp>
      <p:sp>
        <p:nvSpPr>
          <p:cNvPr id="76803" name="Content Placeholder 2"/>
          <p:cNvSpPr>
            <a:spLocks noGrp="1"/>
          </p:cNvSpPr>
          <p:nvPr>
            <p:ph sz="quarter" idx="1"/>
          </p:nvPr>
        </p:nvSpPr>
        <p:spPr>
          <a:xfrm>
            <a:off x="457200" y="1143000"/>
            <a:ext cx="8229600" cy="5181600"/>
          </a:xfrm>
        </p:spPr>
        <p:txBody>
          <a:bodyPr vert="horz" wrap="square" lIns="91440" tIns="45720" rIns="91440" bIns="45720" anchor="t" anchorCtr="0"/>
          <a:lstStyle/>
          <a:p>
            <a:pPr eaLnBrk="1" hangingPunct="1">
              <a:buClr>
                <a:schemeClr val="accent1"/>
              </a:buClr>
              <a:buSzPct val="76000"/>
              <a:buFont typeface="Wingdings 3" pitchFamily="18" charset="2"/>
            </a:pPr>
            <a:r>
              <a:rPr b="1" dirty="0"/>
              <a:t>EXT3 File System</a:t>
            </a:r>
          </a:p>
          <a:p>
            <a:pPr eaLnBrk="1" hangingPunct="1">
              <a:buClr>
                <a:schemeClr val="accent1"/>
              </a:buClr>
              <a:buSzPct val="76000"/>
              <a:buFont typeface="Wingdings 3" pitchFamily="18" charset="2"/>
            </a:pPr>
            <a:r>
              <a:rPr dirty="0"/>
              <a:t>The ext3 file system builds upon ext2 by adding journaling capabilities.</a:t>
            </a:r>
          </a:p>
          <a:p>
            <a:pPr eaLnBrk="1" hangingPunct="1">
              <a:buClr>
                <a:schemeClr val="accent1"/>
              </a:buClr>
              <a:buSzPct val="76000"/>
              <a:buFont typeface="Wingdings 3" pitchFamily="18" charset="2"/>
            </a:pPr>
            <a:r>
              <a:rPr dirty="0"/>
              <a:t>As a journaling file system, ext3 always keeps the file system in a consistent state, eliminating the need for lengthy file system integrity checks. </a:t>
            </a:r>
          </a:p>
          <a:p>
            <a:pPr eaLnBrk="1" hangingPunct="1">
              <a:buClr>
                <a:schemeClr val="accent1"/>
              </a:buClr>
              <a:buSzPct val="76000"/>
              <a:buFont typeface="Wingdings 3" pitchFamily="18" charset="2"/>
            </a:pPr>
            <a:r>
              <a:rPr dirty="0"/>
              <a:t>This is accomplished by writing all file system changes to an on-disk journal, which is then flushed on a regular basis.</a:t>
            </a:r>
          </a:p>
          <a:p>
            <a:pPr eaLnBrk="1" hangingPunct="1">
              <a:buClr>
                <a:schemeClr val="accent1"/>
              </a:buClr>
              <a:buSzPct val="76000"/>
              <a:buFont typeface="Wingdings 3" pitchFamily="18" charset="2"/>
            </a:pPr>
            <a:r>
              <a:rPr dirty="0"/>
              <a:t>After an unexpected system event (such as a system crash or shutdown), the only operation that needs to take place is to process the contents of the journal and it takes very less time.</a:t>
            </a:r>
          </a:p>
          <a:p>
            <a:pPr eaLnBrk="1" hangingPunct="1">
              <a:buClr>
                <a:schemeClr val="accent1"/>
              </a:buClr>
              <a:buSzPct val="76000"/>
              <a:buFont typeface="Wingdings 3" pitchFamily="18" charset="2"/>
            </a:pPr>
            <a:endParaRPr b="1"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p:txBody>
          <a:bodyPr vert="horz" wrap="square" lIns="91440" tIns="45720" rIns="91440" bIns="45720" anchor="b" anchorCtr="0"/>
          <a:lstStyle/>
          <a:p>
            <a:pPr eaLnBrk="1" hangingPunct="1"/>
            <a:r>
              <a:rPr dirty="0"/>
              <a:t>File System Basics-Swap File</a:t>
            </a:r>
          </a:p>
        </p:txBody>
      </p:sp>
      <p:sp>
        <p:nvSpPr>
          <p:cNvPr id="77827" name="Content Placeholder 2"/>
          <p:cNvSpPr>
            <a:spLocks noGrp="1"/>
          </p:cNvSpPr>
          <p:nvPr>
            <p:ph sz="quarter" idx="1"/>
          </p:nvPr>
        </p:nvSpPr>
        <p:spPr>
          <a:xfrm>
            <a:off x="381000" y="1066800"/>
            <a:ext cx="8229600" cy="5181600"/>
          </a:xfrm>
        </p:spPr>
        <p:txBody>
          <a:bodyPr vert="horz" wrap="square" lIns="91440" tIns="45720" rIns="91440" bIns="45720" anchor="t" anchorCtr="0"/>
          <a:lstStyle/>
          <a:p>
            <a:pPr>
              <a:buClr>
                <a:schemeClr val="accent1"/>
              </a:buClr>
              <a:buSzPct val="76000"/>
              <a:buFont typeface="Wingdings 3" pitchFamily="18" charset="2"/>
            </a:pPr>
            <a:r>
              <a:rPr dirty="0"/>
              <a:t>The swap file is a hidden system file that is used for virtual memory when there is not enough RAM to run programs. </a:t>
            </a:r>
          </a:p>
          <a:p>
            <a:pPr>
              <a:buClr>
                <a:schemeClr val="accent1"/>
              </a:buClr>
              <a:buSzPct val="76000"/>
              <a:buFont typeface="Wingdings 3" pitchFamily="18" charset="2"/>
            </a:pPr>
            <a:r>
              <a:rPr dirty="0"/>
              <a:t>Space on the hard drive is temporarily used as RAM (Virtual Memory).</a:t>
            </a:r>
          </a:p>
          <a:p>
            <a:pPr>
              <a:buClr>
                <a:schemeClr val="accent1"/>
              </a:buClr>
              <a:buSzPct val="76000"/>
              <a:buFont typeface="Wingdings 3" pitchFamily="18" charset="2"/>
            </a:pPr>
            <a:r>
              <a:rPr dirty="0"/>
              <a:t>Program data is swapped between the RAM and the virtual memory as programs are running.</a:t>
            </a:r>
          </a:p>
          <a:p>
            <a:pPr>
              <a:buClr>
                <a:schemeClr val="accent1"/>
              </a:buClr>
              <a:buSzPct val="76000"/>
              <a:buFont typeface="Wingdings 3" pitchFamily="18" charset="2"/>
            </a:pPr>
            <a:r>
              <a:rPr dirty="0"/>
              <a:t> This swap file contains portions of all documents and other material a user produces while using the computer.</a:t>
            </a:r>
          </a:p>
          <a:p>
            <a:pPr>
              <a:buClr>
                <a:schemeClr val="accent1"/>
              </a:buClr>
              <a:buSzPct val="76000"/>
              <a:buFont typeface="Wingdings 3" pitchFamily="18" charset="2"/>
            </a:pPr>
            <a:r>
              <a:rPr dirty="0"/>
              <a:t> In Windows NT/XP systems, the swap file is named pagefile.sys; on older Windows 9X systems, it is named win386.swp.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vert="horz" wrap="square" lIns="91440" tIns="45720" rIns="91440" bIns="45720" anchor="b" anchorCtr="0"/>
          <a:lstStyle/>
          <a:p>
            <a:pPr eaLnBrk="1" hangingPunct="1"/>
            <a:r>
              <a:rPr dirty="0"/>
              <a:t>File System Basics-Slack Space</a:t>
            </a:r>
          </a:p>
        </p:txBody>
      </p:sp>
      <p:sp>
        <p:nvSpPr>
          <p:cNvPr id="78851" name="Content Placeholder 2"/>
          <p:cNvSpPr>
            <a:spLocks noGrp="1"/>
          </p:cNvSpPr>
          <p:nvPr>
            <p:ph sz="quarter" idx="1"/>
          </p:nvPr>
        </p:nvSpPr>
        <p:spPr>
          <a:xfrm>
            <a:off x="457200" y="1066800"/>
            <a:ext cx="8229600" cy="5257800"/>
          </a:xfrm>
        </p:spPr>
        <p:txBody>
          <a:bodyPr vert="horz" wrap="square" lIns="91440" tIns="45720" rIns="91440" bIns="45720" anchor="t" anchorCtr="0"/>
          <a:lstStyle/>
          <a:p>
            <a:pPr>
              <a:buClr>
                <a:schemeClr val="accent1"/>
              </a:buClr>
              <a:buSzPct val="76000"/>
              <a:buFont typeface="Wingdings 3" pitchFamily="18" charset="2"/>
            </a:pPr>
            <a:r>
              <a:rPr sz="2400" dirty="0"/>
              <a:t>Most OS today create a small amount of allocation unit normally 4K.</a:t>
            </a:r>
          </a:p>
          <a:p>
            <a:pPr>
              <a:buClr>
                <a:schemeClr val="accent1"/>
              </a:buClr>
              <a:buSzPct val="76000"/>
              <a:buFont typeface="Wingdings 3" pitchFamily="18" charset="2"/>
            </a:pPr>
            <a:r>
              <a:rPr sz="2400" dirty="0"/>
              <a:t>So for a file of 8K size two units are allocated, however for a file of 5K also two units are allocated.</a:t>
            </a:r>
          </a:p>
          <a:p>
            <a:pPr>
              <a:buClr>
                <a:schemeClr val="accent1"/>
              </a:buClr>
              <a:buSzPct val="76000"/>
              <a:buFont typeface="Wingdings 3" pitchFamily="18" charset="2"/>
            </a:pPr>
            <a:r>
              <a:rPr sz="2400" dirty="0"/>
              <a:t>Slack space results when file systems create a cluster (Windows) or block (Linux) but do not necessarily use the entire fixed length space that was allocated. </a:t>
            </a:r>
          </a:p>
          <a:p>
            <a:pPr>
              <a:buClr>
                <a:schemeClr val="accent1"/>
              </a:buClr>
              <a:buSzPct val="76000"/>
              <a:buFont typeface="Wingdings 3" pitchFamily="18" charset="2"/>
            </a:pPr>
            <a:r>
              <a:rPr sz="2400" dirty="0"/>
              <a:t>In this case, file information from previous use is still available, long after deletions and rewrites. </a:t>
            </a:r>
          </a:p>
          <a:p>
            <a:pPr>
              <a:buClr>
                <a:schemeClr val="accent1"/>
              </a:buClr>
              <a:buSzPct val="76000"/>
              <a:buFont typeface="Wingdings 3" pitchFamily="18" charset="2"/>
            </a:pPr>
            <a:r>
              <a:rPr sz="2400" dirty="0"/>
              <a:t>At the very least, viewing these clusters can prove to a forensic examiner that a certain type of file might have existed. </a:t>
            </a:r>
          </a:p>
          <a:p>
            <a:pPr>
              <a:buClr>
                <a:schemeClr val="accent1"/>
              </a:buClr>
              <a:buSzPct val="76000"/>
              <a:buFont typeface="Wingdings 3" pitchFamily="18" charset="2"/>
            </a:pPr>
            <a:r>
              <a:rPr sz="2400" dirty="0"/>
              <a:t>A significant advantage of NTFS is that it generates much less slack space.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p:txBody>
          <a:bodyPr vert="horz" wrap="square" lIns="91440" tIns="45720" rIns="91440" bIns="45720" anchor="b" anchorCtr="0"/>
          <a:lstStyle/>
          <a:p>
            <a:r>
              <a:rPr dirty="0"/>
              <a:t>File System Basics</a:t>
            </a:r>
          </a:p>
        </p:txBody>
      </p:sp>
      <p:sp>
        <p:nvSpPr>
          <p:cNvPr id="79875"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dirty="0"/>
              <a:t>When a user deletes a file the file system only updates the free block list.</a:t>
            </a:r>
          </a:p>
          <a:p>
            <a:pPr>
              <a:buClr>
                <a:schemeClr val="accent1"/>
              </a:buClr>
              <a:buSzPct val="76000"/>
              <a:buFont typeface="Wingdings 3" pitchFamily="18" charset="2"/>
            </a:pPr>
            <a:r>
              <a:rPr dirty="0"/>
              <a:t>The blocks used by the deleted file now appear in the free block list, however the data stored in the blocks is not deleted.</a:t>
            </a:r>
          </a:p>
          <a:p>
            <a:pPr>
              <a:buClr>
                <a:schemeClr val="accent1"/>
              </a:buClr>
              <a:buSzPct val="76000"/>
              <a:buFont typeface="Wingdings 3" pitchFamily="18" charset="2"/>
            </a:pPr>
            <a:r>
              <a:rPr dirty="0"/>
              <a:t>When you create a new file and save it on the hard disk, file system may allocate those blocks (earlier used by deleted file) to the new file and then the part of the earlier data is overwritten.</a:t>
            </a:r>
          </a:p>
          <a:p>
            <a:pPr>
              <a:buClr>
                <a:schemeClr val="accent1"/>
              </a:buClr>
              <a:buSzPct val="76000"/>
              <a:buFont typeface="Wingdings 3" pitchFamily="18" charset="2"/>
            </a:pPr>
            <a:r>
              <a:rPr dirty="0"/>
              <a:t>Thus the free blocks of a storage device may also contain the deleted data.</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vert="horz" wrap="square" lIns="91440" tIns="45720" rIns="91440" bIns="45720" anchor="b" anchorCtr="0"/>
          <a:lstStyle/>
          <a:p>
            <a:r>
              <a:rPr dirty="0"/>
              <a:t>Memory Basics</a:t>
            </a:r>
          </a:p>
        </p:txBody>
      </p:sp>
      <p:sp>
        <p:nvSpPr>
          <p:cNvPr id="80899"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Arial" panose="020B0604020202020204" pitchFamily="34" charset="0"/>
              <a:buChar char="•"/>
            </a:pPr>
            <a:r>
              <a:rPr dirty="0"/>
              <a:t>Memory Unit </a:t>
            </a:r>
          </a:p>
          <a:p>
            <a:pPr>
              <a:buClr>
                <a:schemeClr val="accent1"/>
              </a:buClr>
              <a:buSzPct val="76000"/>
              <a:buFont typeface="Arial" panose="020B0604020202020204" pitchFamily="34" charset="0"/>
              <a:buChar char="•"/>
            </a:pPr>
            <a:r>
              <a:rPr dirty="0"/>
              <a:t>Memory unit is used to store the data and program. CPU can work with the information stored in memory unit. This memory unit is termed as primary memory or main memory module. These are basically semi conductor memories.</a:t>
            </a:r>
          </a:p>
          <a:p>
            <a:pPr>
              <a:buClr>
                <a:schemeClr val="accent1"/>
              </a:buClr>
              <a:buSzPct val="76000"/>
              <a:buFont typeface="Arial" panose="020B0604020202020204" pitchFamily="34" charset="0"/>
              <a:buChar char="•"/>
            </a:pPr>
            <a:r>
              <a:rPr dirty="0"/>
              <a:t>There ate two types of semiconductor memories - </a:t>
            </a:r>
          </a:p>
          <a:p>
            <a:pPr>
              <a:buClr>
                <a:schemeClr val="accent1"/>
              </a:buClr>
              <a:buSzPct val="76000"/>
              <a:buFont typeface="Arial" panose="020B0604020202020204" pitchFamily="34" charset="0"/>
              <a:buChar char="•"/>
            </a:pPr>
            <a:r>
              <a:rPr sz="2400" dirty="0"/>
              <a:t>Volatile Memory          : RAM (Random Access Memory). </a:t>
            </a:r>
            <a:br>
              <a:rPr sz="2400" dirty="0"/>
            </a:br>
            <a:r>
              <a:rPr sz="2400" dirty="0"/>
              <a:t>Non-Volatile Memory : ROM (Read only Memory),  PROM (Programmable ROM) ,EPROM (Erasable PROM),  EEPROM (Electrically Erasable PROM).</a:t>
            </a:r>
          </a:p>
          <a:p>
            <a:pPr>
              <a:buClr>
                <a:schemeClr val="accent1"/>
              </a:buClr>
              <a:buSzPct val="76000"/>
              <a:buFont typeface="Wingdings 3" pitchFamily="18" charset="2"/>
              <a:buChar char=""/>
            </a:pPr>
            <a:endParaRPr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vert="horz" wrap="square" lIns="91440" tIns="45720" rIns="91440" bIns="45720" anchor="b" anchorCtr="0"/>
          <a:lstStyle/>
          <a:p>
            <a:r>
              <a:rPr dirty="0"/>
              <a:t>Memory Basics</a:t>
            </a:r>
          </a:p>
        </p:txBody>
      </p:sp>
      <p:sp>
        <p:nvSpPr>
          <p:cNvPr id="81923"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eaLnBrk="1" hangingPunct="1">
              <a:lnSpc>
                <a:spcPct val="90000"/>
              </a:lnSpc>
              <a:buClr>
                <a:schemeClr val="accent1"/>
              </a:buClr>
              <a:buSzPct val="76000"/>
              <a:buFont typeface="Wingdings 3" pitchFamily="18" charset="2"/>
            </a:pPr>
            <a:r>
              <a:rPr lang="en-US" altLang="ko-KR" sz="2400" dirty="0">
                <a:ea typeface="Gulim" pitchFamily="34" charset="-127"/>
              </a:rPr>
              <a:t>ROM – Read Only Memory -  a type of memory that cannot be written, can only be read. Contents determined at manufacture time.</a:t>
            </a:r>
          </a:p>
          <a:p>
            <a:pPr lvl="1" eaLnBrk="1" hangingPunct="1">
              <a:lnSpc>
                <a:spcPct val="90000"/>
              </a:lnSpc>
              <a:buClr>
                <a:schemeClr val="accent2"/>
              </a:buClr>
              <a:buSzPct val="76000"/>
              <a:buFont typeface="Wingdings 3" pitchFamily="18" charset="2"/>
            </a:pPr>
            <a:r>
              <a:rPr lang="en-US" altLang="ko-KR" sz="2400" dirty="0">
                <a:ea typeface="Gulim" pitchFamily="34" charset="-127"/>
              </a:rPr>
              <a:t>ROM is </a:t>
            </a:r>
            <a:r>
              <a:rPr lang="en-US" altLang="ko-KR" sz="2400" i="1" dirty="0">
                <a:ea typeface="Gulim" pitchFamily="34" charset="-127"/>
              </a:rPr>
              <a:t>non-volatile</a:t>
            </a:r>
            <a:r>
              <a:rPr lang="en-US" altLang="ko-KR" sz="2400" dirty="0">
                <a:ea typeface="Gulim" pitchFamily="34" charset="-127"/>
              </a:rPr>
              <a:t> – contents remain even when power is off.</a:t>
            </a:r>
          </a:p>
          <a:p>
            <a:pPr lvl="1" eaLnBrk="1" hangingPunct="1">
              <a:lnSpc>
                <a:spcPct val="90000"/>
              </a:lnSpc>
              <a:buClr>
                <a:schemeClr val="accent2"/>
              </a:buClr>
              <a:buSzPct val="76000"/>
              <a:buFont typeface="Wingdings 3" pitchFamily="18" charset="2"/>
            </a:pPr>
            <a:endParaRPr lang="en-US" altLang="ko-KR" sz="2400" dirty="0">
              <a:ea typeface="Gulim" pitchFamily="34" charset="-127"/>
            </a:endParaRPr>
          </a:p>
          <a:p>
            <a:pPr eaLnBrk="1" hangingPunct="1">
              <a:lnSpc>
                <a:spcPct val="90000"/>
              </a:lnSpc>
              <a:buClr>
                <a:schemeClr val="accent1"/>
              </a:buClr>
              <a:buSzPct val="76000"/>
              <a:buFont typeface="Wingdings 3" pitchFamily="18" charset="2"/>
            </a:pPr>
            <a:r>
              <a:rPr lang="en-US" altLang="ko-KR" sz="2400" dirty="0">
                <a:ea typeface="Gulim" pitchFamily="34" charset="-127"/>
              </a:rPr>
              <a:t>PROM – Programmable ROM – a type of memory whose contents can be programmed by the user</a:t>
            </a:r>
          </a:p>
          <a:p>
            <a:pPr lvl="1" eaLnBrk="1" hangingPunct="1">
              <a:lnSpc>
                <a:spcPct val="90000"/>
              </a:lnSpc>
              <a:buClr>
                <a:schemeClr val="accent2"/>
              </a:buClr>
              <a:buSzPct val="76000"/>
              <a:buFont typeface="Wingdings 3" pitchFamily="18" charset="2"/>
            </a:pPr>
            <a:r>
              <a:rPr lang="en-US" altLang="ko-KR" sz="2400" dirty="0">
                <a:ea typeface="Gulim" pitchFamily="34" charset="-127"/>
              </a:rPr>
              <a:t>OTP – One Time Programmable,  a PROM is OTP if contents can be programmed only once.   </a:t>
            </a:r>
          </a:p>
          <a:p>
            <a:pPr lvl="1" eaLnBrk="1" hangingPunct="1">
              <a:lnSpc>
                <a:spcPct val="90000"/>
              </a:lnSpc>
              <a:buClr>
                <a:schemeClr val="accent2"/>
              </a:buClr>
              <a:buSzPct val="76000"/>
              <a:buFont typeface="Wingdings 3" pitchFamily="18" charset="2"/>
            </a:pPr>
            <a:endParaRPr lang="en-US" altLang="ko-KR" sz="2400" dirty="0">
              <a:ea typeface="Gulim" pitchFamily="34" charset="-127"/>
            </a:endParaRPr>
          </a:p>
          <a:p>
            <a:pPr eaLnBrk="1" hangingPunct="1">
              <a:lnSpc>
                <a:spcPct val="90000"/>
              </a:lnSpc>
              <a:buClr>
                <a:schemeClr val="accent1"/>
              </a:buClr>
              <a:buSzPct val="76000"/>
              <a:buFont typeface="Wingdings 3" pitchFamily="18" charset="2"/>
            </a:pPr>
            <a:r>
              <a:rPr lang="en-US" altLang="ko-KR" sz="2400" dirty="0">
                <a:ea typeface="Gulim" pitchFamily="34" charset="-127"/>
              </a:rPr>
              <a:t>EEPROM – Electrically Erasable PROM – contents be erased electrically by the user.</a:t>
            </a:r>
          </a:p>
          <a:p>
            <a:pPr lvl="1" eaLnBrk="1" hangingPunct="1">
              <a:lnSpc>
                <a:spcPct val="90000"/>
              </a:lnSpc>
              <a:buClr>
                <a:schemeClr val="accent2"/>
              </a:buClr>
              <a:buSzPct val="76000"/>
              <a:buFont typeface="Wingdings 3" pitchFamily="18" charset="2"/>
            </a:pPr>
            <a:r>
              <a:rPr lang="en-US" altLang="ko-KR" sz="2400" dirty="0">
                <a:ea typeface="Gulim" pitchFamily="34" charset="-127"/>
              </a:rPr>
              <a:t>Memory is not alterable under ‘normal’ operation.</a:t>
            </a:r>
          </a:p>
          <a:p>
            <a:pPr>
              <a:buClr>
                <a:schemeClr val="accent1"/>
              </a:buClr>
              <a:buSzPct val="76000"/>
              <a:buFont typeface="Wingdings 3" pitchFamily="18" charset="2"/>
            </a:pPr>
            <a:endParaRPr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vert="horz" wrap="square" lIns="91440" tIns="45720" rIns="91440" bIns="45720" anchor="b" anchorCtr="0"/>
          <a:lstStyle/>
          <a:p>
            <a:r>
              <a:rPr dirty="0"/>
              <a:t>Memory Basics</a:t>
            </a:r>
          </a:p>
        </p:txBody>
      </p:sp>
      <p:sp>
        <p:nvSpPr>
          <p:cNvPr id="82947"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eaLnBrk="1" hangingPunct="1">
              <a:lnSpc>
                <a:spcPct val="90000"/>
              </a:lnSpc>
              <a:buClr>
                <a:schemeClr val="accent1"/>
              </a:buClr>
              <a:buSzPct val="76000"/>
              <a:buFont typeface="Wingdings 3" pitchFamily="18" charset="2"/>
            </a:pPr>
            <a:r>
              <a:rPr lang="en-US" altLang="ko-KR" sz="2400" dirty="0">
                <a:ea typeface="Gulim" pitchFamily="34" charset="-127"/>
              </a:rPr>
              <a:t>RAM – Random Access Memory – memory that can be both read and written during normal operation.</a:t>
            </a:r>
          </a:p>
          <a:p>
            <a:pPr lvl="1" eaLnBrk="1" hangingPunct="1">
              <a:lnSpc>
                <a:spcPct val="90000"/>
              </a:lnSpc>
              <a:buClr>
                <a:schemeClr val="accent2"/>
              </a:buClr>
              <a:buSzPct val="76000"/>
              <a:buFont typeface="Wingdings 3" pitchFamily="18" charset="2"/>
            </a:pPr>
            <a:r>
              <a:rPr lang="en-US" altLang="ko-KR" sz="2400" dirty="0">
                <a:ea typeface="Gulim" pitchFamily="34" charset="-127"/>
              </a:rPr>
              <a:t>Contents are volatile, will be lost on power off.</a:t>
            </a:r>
          </a:p>
          <a:p>
            <a:pPr eaLnBrk="1" hangingPunct="1">
              <a:lnSpc>
                <a:spcPct val="90000"/>
              </a:lnSpc>
              <a:buClr>
                <a:schemeClr val="accent1"/>
              </a:buClr>
              <a:buSzPct val="76000"/>
              <a:buFont typeface="Wingdings 3" pitchFamily="18" charset="2"/>
            </a:pPr>
            <a:r>
              <a:rPr lang="en-US" altLang="ko-KR" sz="2400" dirty="0">
                <a:ea typeface="Gulim" pitchFamily="34" charset="-127"/>
              </a:rPr>
              <a:t>SRAM – static RAM – has the following characteristics:</a:t>
            </a:r>
          </a:p>
          <a:p>
            <a:pPr lvl="1" eaLnBrk="1" hangingPunct="1">
              <a:lnSpc>
                <a:spcPct val="90000"/>
              </a:lnSpc>
              <a:buClr>
                <a:schemeClr val="accent2"/>
              </a:buClr>
              <a:buSzPct val="76000"/>
              <a:buFont typeface="Wingdings 3" pitchFamily="18" charset="2"/>
            </a:pPr>
            <a:r>
              <a:rPr lang="en-US" altLang="ko-KR" sz="2400" dirty="0">
                <a:ea typeface="Gulim" pitchFamily="34" charset="-127"/>
              </a:rPr>
              <a:t>Read, Write operations take equal amounts of time</a:t>
            </a:r>
          </a:p>
          <a:p>
            <a:pPr lvl="1" eaLnBrk="1" hangingPunct="1">
              <a:lnSpc>
                <a:spcPct val="90000"/>
              </a:lnSpc>
              <a:buClr>
                <a:schemeClr val="accent2"/>
              </a:buClr>
              <a:buSzPct val="76000"/>
              <a:buFont typeface="Wingdings 3" pitchFamily="18" charset="2"/>
            </a:pPr>
            <a:r>
              <a:rPr lang="en-US" altLang="ko-KR" sz="2400" dirty="0">
                <a:ea typeface="Gulim" pitchFamily="34" charset="-127"/>
              </a:rPr>
              <a:t>Access to any ‘random’ location  takes same amount of time.</a:t>
            </a:r>
          </a:p>
          <a:p>
            <a:pPr lvl="1" eaLnBrk="1" hangingPunct="1">
              <a:lnSpc>
                <a:spcPct val="90000"/>
              </a:lnSpc>
              <a:buClr>
                <a:schemeClr val="accent2"/>
              </a:buClr>
              <a:buSzPct val="76000"/>
              <a:buFont typeface="Wingdings 3" pitchFamily="18" charset="2"/>
            </a:pPr>
            <a:r>
              <a:rPr lang="en-US" altLang="ko-KR" sz="2400" dirty="0">
                <a:ea typeface="Gulim" pitchFamily="34" charset="-127"/>
              </a:rPr>
              <a:t>Fastest access time of memory types.</a:t>
            </a:r>
          </a:p>
          <a:p>
            <a:pPr lvl="1" eaLnBrk="1" hangingPunct="1">
              <a:lnSpc>
                <a:spcPct val="90000"/>
              </a:lnSpc>
              <a:buClr>
                <a:schemeClr val="accent2"/>
              </a:buClr>
              <a:buSzPct val="76000"/>
              <a:buFont typeface="Wingdings 3" pitchFamily="18" charset="2"/>
            </a:pPr>
            <a:r>
              <a:rPr lang="en-US" altLang="ko-KR" sz="2400" dirty="0">
                <a:ea typeface="Gulim" pitchFamily="34" charset="-127"/>
              </a:rPr>
              <a:t>Basic memory cell is a latch, takes 6 transistors per memory bit.</a:t>
            </a:r>
          </a:p>
          <a:p>
            <a:pPr>
              <a:buClr>
                <a:schemeClr val="accent1"/>
              </a:buClr>
              <a:buSzPct val="76000"/>
              <a:buFont typeface="Wingdings 3" pitchFamily="18" charset="2"/>
            </a:pPr>
            <a:r>
              <a:rPr lang="en-US" altLang="ko-KR" dirty="0">
                <a:ea typeface="Gulim" pitchFamily="34" charset="-127"/>
              </a:rPr>
              <a:t>Dynamic RAM (DRAM) -  one transistor + capacitor per bit!</a:t>
            </a:r>
          </a:p>
          <a:p>
            <a:pPr lvl="1">
              <a:buClr>
                <a:schemeClr val="accent2"/>
              </a:buClr>
              <a:buSzPct val="76000"/>
              <a:buFont typeface="Wingdings 3" pitchFamily="18" charset="2"/>
            </a:pPr>
            <a:r>
              <a:rPr dirty="0">
                <a:ea typeface="Gulim" pitchFamily="34" charset="-127"/>
              </a:rPr>
              <a:t>Requires frequent refresh of stored data</a:t>
            </a:r>
            <a:endParaRPr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vert="horz" wrap="square" lIns="91440" tIns="45720" rIns="91440" bIns="45720" anchor="b" anchorCtr="0"/>
          <a:lstStyle/>
          <a:p>
            <a:r>
              <a:rPr dirty="0"/>
              <a:t>Boot Process</a:t>
            </a:r>
          </a:p>
        </p:txBody>
      </p:sp>
      <p:sp>
        <p:nvSpPr>
          <p:cNvPr id="83971" name="Content Placeholder 2"/>
          <p:cNvSpPr>
            <a:spLocks noGrp="1"/>
          </p:cNvSpPr>
          <p:nvPr>
            <p:ph sz="quarter" idx="1"/>
          </p:nvPr>
        </p:nvSpPr>
        <p:spPr>
          <a:xfrm>
            <a:off x="457200" y="1143000"/>
            <a:ext cx="8229600" cy="5181600"/>
          </a:xfrm>
        </p:spPr>
        <p:txBody>
          <a:bodyPr vert="horz" wrap="square" lIns="91440" tIns="45720" rIns="91440" bIns="45720" anchor="t" anchorCtr="0"/>
          <a:lstStyle/>
          <a:p>
            <a:pPr>
              <a:buClr>
                <a:schemeClr val="accent1"/>
              </a:buClr>
              <a:buSzPct val="76000"/>
              <a:buFont typeface="Wingdings 3" pitchFamily="18" charset="2"/>
            </a:pPr>
            <a:r>
              <a:rPr sz="2200" dirty="0"/>
              <a:t>To ensure that forensic data is not contaminated or altered, it is necessary most of the time to boot computer using bootable CDROM operating system.</a:t>
            </a:r>
          </a:p>
          <a:p>
            <a:pPr>
              <a:buClr>
                <a:schemeClr val="accent1"/>
              </a:buClr>
              <a:buSzPct val="76000"/>
              <a:buFont typeface="Wingdings 3" pitchFamily="18" charset="2"/>
            </a:pPr>
            <a:r>
              <a:rPr sz="2200" dirty="0"/>
              <a:t> Thus forensics expert needs to know how to open and set the suspicious computer’s CMOS and BIOS to boot from a CDROM.</a:t>
            </a:r>
          </a:p>
          <a:p>
            <a:pPr>
              <a:buClr>
                <a:schemeClr val="accent1"/>
              </a:buClr>
              <a:buSzPct val="76000"/>
              <a:buFont typeface="Wingdings 3" pitchFamily="18" charset="2"/>
            </a:pPr>
            <a:r>
              <a:rPr sz="2200" dirty="0"/>
              <a:t>The BIOS is stored inside the CMOS Chip.</a:t>
            </a:r>
          </a:p>
          <a:p>
            <a:pPr>
              <a:buClr>
                <a:schemeClr val="accent1"/>
              </a:buClr>
              <a:buSzPct val="76000"/>
              <a:buFont typeface="Wingdings 3" pitchFamily="18" charset="2"/>
            </a:pPr>
            <a:r>
              <a:rPr sz="2200" dirty="0"/>
              <a:t>The CMOS uses a small battery to store system configuration information, including the date and time, when the power is off.</a:t>
            </a:r>
          </a:p>
          <a:p>
            <a:pPr>
              <a:buClr>
                <a:schemeClr val="accent1"/>
              </a:buClr>
              <a:buSzPct val="76000"/>
              <a:buFont typeface="Wingdings 3" pitchFamily="18" charset="2"/>
            </a:pPr>
            <a:r>
              <a:rPr sz="2200" dirty="0"/>
              <a:t>The BIOS contains programs that include the instructions for input and output at the hardware level. </a:t>
            </a:r>
          </a:p>
          <a:p>
            <a:pPr>
              <a:buClr>
                <a:schemeClr val="accent1"/>
              </a:buClr>
              <a:buSzPct val="76000"/>
              <a:buFont typeface="Wingdings 3" pitchFamily="18" charset="2"/>
            </a:pPr>
            <a:r>
              <a:rPr sz="2200" dirty="0"/>
              <a:t>Sometimes a system may have a BIOS password to protect settings and booting .</a:t>
            </a:r>
          </a:p>
          <a:p>
            <a:pPr>
              <a:buClr>
                <a:schemeClr val="accent1"/>
              </a:buClr>
              <a:buSzPct val="76000"/>
              <a:buFont typeface="Wingdings 3" pitchFamily="18" charset="2"/>
            </a:pPr>
            <a:r>
              <a:rPr sz="2200" dirty="0"/>
              <a:t>Usually this can be reset by removing the CMOS battery.</a:t>
            </a:r>
          </a:p>
          <a:p>
            <a:pPr>
              <a:buClr>
                <a:schemeClr val="accent1"/>
              </a:buClr>
              <a:buSzPct val="76000"/>
              <a:buFont typeface="Wingdings 3" pitchFamily="18" charset="2"/>
            </a:pPr>
            <a:endParaRPr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folHlink"/>
                </a:solidFill>
                <a:effectLst/>
                <a:uLnTx/>
                <a:uFillTx/>
                <a:latin typeface="+mj-lt"/>
                <a:ea typeface="+mj-ea"/>
                <a:cs typeface="+mj-cs"/>
              </a:rPr>
              <a:t/>
            </a:r>
            <a:br>
              <a:rPr kumimoji="0" lang="en-US" sz="3200" b="0" i="0" u="none" strike="noStrike" kern="1200" cap="none" spc="0" normalizeH="0" baseline="0" noProof="0" dirty="0" smtClean="0">
                <a:ln>
                  <a:noFill/>
                </a:ln>
                <a:solidFill>
                  <a:schemeClr val="folHlink"/>
                </a:solidFill>
                <a:effectLst/>
                <a:uLnTx/>
                <a:uFillTx/>
                <a:latin typeface="+mj-lt"/>
                <a:ea typeface="+mj-ea"/>
                <a:cs typeface="+mj-cs"/>
              </a:rPr>
            </a:br>
            <a:r>
              <a:rPr kumimoji="0" lang="en-US" sz="3200" b="0" i="0" u="none" strike="noStrike" kern="1200" cap="none" spc="0" normalizeH="0" baseline="0" noProof="0" dirty="0" smtClean="0">
                <a:ln>
                  <a:noFill/>
                </a:ln>
                <a:solidFill>
                  <a:schemeClr val="folHlink"/>
                </a:solidFill>
                <a:effectLst/>
                <a:uLnTx/>
                <a:uFillTx/>
                <a:latin typeface="+mj-lt"/>
                <a:ea typeface="+mj-ea"/>
                <a:cs typeface="+mj-cs"/>
              </a:rPr>
              <a:t>ROM </a:t>
            </a:r>
            <a:r>
              <a:rPr kumimoji="0" lang="en-US" sz="3200" b="0" i="0" u="none" strike="noStrike" kern="1200" cap="none" spc="0" normalizeH="0" baseline="0" noProof="0" dirty="0">
                <a:ln>
                  <a:noFill/>
                </a:ln>
                <a:solidFill>
                  <a:schemeClr val="folHlink"/>
                </a:solidFill>
                <a:effectLst/>
                <a:uLnTx/>
                <a:uFillTx/>
                <a:latin typeface="+mj-lt"/>
                <a:ea typeface="+mj-ea"/>
                <a:cs typeface="+mj-cs"/>
              </a:rPr>
              <a:t>on the Motherboard</a:t>
            </a:r>
            <a:r>
              <a:rPr kumimoji="0" lang="en-US" sz="3200" b="0" i="0" u="none" strike="noStrike" kern="1200" cap="none" spc="0" normalizeH="0" baseline="0" noProof="0" dirty="0">
                <a:ln>
                  <a:noFill/>
                </a:ln>
                <a:solidFill>
                  <a:schemeClr val="tx2"/>
                </a:solidFill>
                <a:effectLst/>
                <a:uLnTx/>
                <a:uFillTx/>
                <a:latin typeface="+mj-lt"/>
                <a:ea typeface="+mj-ea"/>
                <a:cs typeface="+mj-cs"/>
              </a:rPr>
              <a:t/>
            </a:r>
            <a:br>
              <a:rPr kumimoji="0" lang="en-US" sz="3200" b="0" i="0" u="none" strike="noStrike" kern="1200" cap="none" spc="0" normalizeH="0" baseline="0" noProof="0" dirty="0">
                <a:ln>
                  <a:noFill/>
                </a:ln>
                <a:solidFill>
                  <a:schemeClr val="tx2"/>
                </a:solidFill>
                <a:effectLst/>
                <a:uLnTx/>
                <a:uFillTx/>
                <a:latin typeface="+mj-lt"/>
                <a:ea typeface="+mj-ea"/>
                <a:cs typeface="+mj-cs"/>
              </a:rPr>
            </a:b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pic>
        <p:nvPicPr>
          <p:cNvPr id="84995" name="Picture 3" descr="Fig06-01"/>
          <p:cNvPicPr>
            <a:picLocks noChangeAspect="1"/>
          </p:cNvPicPr>
          <p:nvPr/>
        </p:nvPicPr>
        <p:blipFill>
          <a:blip r:embed="rId2"/>
          <a:srcRect t="7500" b="7500"/>
          <a:stretch>
            <a:fillRect/>
          </a:stretch>
        </p:blipFill>
        <p:spPr>
          <a:xfrm>
            <a:off x="762000" y="1219200"/>
            <a:ext cx="7696200" cy="5140325"/>
          </a:xfrm>
          <a:prstGeom prst="rect">
            <a:avLst/>
          </a:prstGeom>
          <a:noFill/>
          <a:ln w="9525">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p:txBody>
          <a:bodyPr vert="horz" wrap="square" lIns="91440" tIns="45720" rIns="91440" bIns="45720" anchor="b" anchorCtr="0"/>
          <a:lstStyle/>
          <a:p>
            <a:r>
              <a:rPr dirty="0"/>
              <a:t>Boot Process</a:t>
            </a:r>
          </a:p>
        </p:txBody>
      </p:sp>
      <p:sp>
        <p:nvSpPr>
          <p:cNvPr id="86019" name="Content Placeholder 2"/>
          <p:cNvSpPr>
            <a:spLocks noGrp="1"/>
          </p:cNvSpPr>
          <p:nvPr>
            <p:ph sz="quarter" idx="1"/>
          </p:nvPr>
        </p:nvSpPr>
        <p:spPr>
          <a:xfrm>
            <a:off x="457200" y="1143000"/>
            <a:ext cx="8229600" cy="5181600"/>
          </a:xfrm>
        </p:spPr>
        <p:txBody>
          <a:bodyPr vert="horz" wrap="square" lIns="91440" tIns="45720" rIns="91440" bIns="45720" anchor="t" anchorCtr="0"/>
          <a:lstStyle/>
          <a:p>
            <a:pPr eaLnBrk="1" hangingPunct="1">
              <a:lnSpc>
                <a:spcPct val="80000"/>
              </a:lnSpc>
              <a:buClr>
                <a:schemeClr val="accent1"/>
              </a:buClr>
              <a:buSzPct val="76000"/>
              <a:buFont typeface="Wingdings" panose="05000000000000000000" pitchFamily="2" charset="2"/>
              <a:buChar char="Ø"/>
            </a:pPr>
            <a:r>
              <a:rPr sz="2800" dirty="0">
                <a:latin typeface="Courier"/>
                <a:cs typeface="Times New Roman" panose="02020603050405020304" pitchFamily="18" charset="0"/>
              </a:rPr>
              <a:t>The BIOS – A collection of programs embedded in one or more chips.</a:t>
            </a:r>
          </a:p>
          <a:p>
            <a:pPr eaLnBrk="1" hangingPunct="1">
              <a:lnSpc>
                <a:spcPct val="80000"/>
              </a:lnSpc>
              <a:buClr>
                <a:schemeClr val="accent1"/>
              </a:buClr>
              <a:buSzPct val="76000"/>
              <a:buFont typeface="Wingdings" panose="05000000000000000000" pitchFamily="2" charset="2"/>
              <a:buChar char="Ø"/>
            </a:pPr>
            <a:r>
              <a:rPr sz="2800" dirty="0">
                <a:latin typeface="Courier"/>
                <a:cs typeface="Times New Roman" panose="02020603050405020304" pitchFamily="18" charset="0"/>
              </a:rPr>
              <a:t>It is the first thing loaded when you start your computer.</a:t>
            </a:r>
          </a:p>
          <a:p>
            <a:pPr eaLnBrk="1" hangingPunct="1">
              <a:lnSpc>
                <a:spcPct val="80000"/>
              </a:lnSpc>
              <a:buClr>
                <a:schemeClr val="accent1"/>
              </a:buClr>
              <a:buSzPct val="76000"/>
              <a:buFontTx/>
              <a:buNone/>
            </a:pPr>
            <a:r>
              <a:rPr sz="2800" dirty="0">
                <a:latin typeface="Courier"/>
                <a:cs typeface="Times New Roman" panose="02020603050405020304" pitchFamily="18" charset="0"/>
              </a:rPr>
              <a:t>The BIOS in most PCs performs four main functions:</a:t>
            </a:r>
          </a:p>
          <a:p>
            <a:pPr eaLnBrk="1" hangingPunct="1">
              <a:lnSpc>
                <a:spcPct val="80000"/>
              </a:lnSpc>
              <a:buClr>
                <a:schemeClr val="accent1"/>
              </a:buClr>
              <a:buSzPct val="76000"/>
              <a:buFontTx/>
              <a:buNone/>
            </a:pPr>
            <a:r>
              <a:rPr sz="2800" dirty="0">
                <a:latin typeface="Courier"/>
                <a:cs typeface="Times New Roman" panose="02020603050405020304" pitchFamily="18" charset="0"/>
              </a:rPr>
              <a:t>	-</a:t>
            </a:r>
            <a:r>
              <a:rPr sz="2000" b="1" i="1" dirty="0">
                <a:latin typeface="Courier"/>
                <a:cs typeface="Times New Roman" panose="02020603050405020304" pitchFamily="18" charset="0"/>
              </a:rPr>
              <a:t>POST (power on self test)</a:t>
            </a:r>
            <a:r>
              <a:rPr sz="2000" b="1" dirty="0">
                <a:latin typeface="Courier"/>
                <a:cs typeface="Times New Roman" panose="02020603050405020304" pitchFamily="18" charset="0"/>
              </a:rPr>
              <a:t>.</a:t>
            </a:r>
          </a:p>
          <a:p>
            <a:pPr eaLnBrk="1" hangingPunct="1">
              <a:lnSpc>
                <a:spcPct val="80000"/>
              </a:lnSpc>
              <a:buClr>
                <a:schemeClr val="accent1"/>
              </a:buClr>
              <a:buSzPct val="76000"/>
              <a:buFontTx/>
              <a:buNone/>
            </a:pPr>
            <a:r>
              <a:rPr sz="2000" dirty="0">
                <a:latin typeface="Courier"/>
                <a:cs typeface="Times New Roman" panose="02020603050405020304" pitchFamily="18" charset="0"/>
              </a:rPr>
              <a:t>		POST tests your computer's processor, memory, chipset, video 	adapter, disk controllers, disk drives, keyboard, and other crucial 	components.</a:t>
            </a:r>
          </a:p>
          <a:p>
            <a:pPr eaLnBrk="1" hangingPunct="1">
              <a:lnSpc>
                <a:spcPct val="80000"/>
              </a:lnSpc>
              <a:buClr>
                <a:schemeClr val="accent1"/>
              </a:buClr>
              <a:buSzPct val="76000"/>
              <a:buFontTx/>
              <a:buNone/>
            </a:pPr>
            <a:r>
              <a:rPr sz="2000" dirty="0">
                <a:solidFill>
                  <a:srgbClr val="0000FF"/>
                </a:solidFill>
                <a:latin typeface="Courier"/>
                <a:cs typeface="Times New Roman" panose="02020603050405020304" pitchFamily="18" charset="0"/>
              </a:rPr>
              <a:t>	</a:t>
            </a:r>
            <a:r>
              <a:rPr sz="2000" dirty="0">
                <a:latin typeface="Courier"/>
                <a:cs typeface="Times New Roman" panose="02020603050405020304" pitchFamily="18" charset="0"/>
              </a:rPr>
              <a:t>-</a:t>
            </a:r>
            <a:r>
              <a:rPr sz="2000" b="1" i="1" dirty="0">
                <a:latin typeface="Courier"/>
                <a:cs typeface="Times New Roman" panose="02020603050405020304" pitchFamily="18" charset="0"/>
              </a:rPr>
              <a:t>Setup</a:t>
            </a:r>
            <a:r>
              <a:rPr sz="2000" b="1" dirty="0">
                <a:latin typeface="Courier"/>
                <a:cs typeface="Times New Roman" panose="02020603050405020304" pitchFamily="18" charset="0"/>
              </a:rPr>
              <a:t>.</a:t>
            </a:r>
            <a:r>
              <a:rPr sz="2000" dirty="0">
                <a:latin typeface="Courier"/>
                <a:cs typeface="Times New Roman" panose="02020603050405020304" pitchFamily="18" charset="0"/>
              </a:rPr>
              <a:t> </a:t>
            </a:r>
          </a:p>
          <a:p>
            <a:pPr eaLnBrk="1" hangingPunct="1">
              <a:lnSpc>
                <a:spcPct val="80000"/>
              </a:lnSpc>
              <a:buClr>
                <a:schemeClr val="accent1"/>
              </a:buClr>
              <a:buSzPct val="76000"/>
              <a:buFontTx/>
              <a:buNone/>
            </a:pPr>
            <a:r>
              <a:rPr sz="2000" dirty="0">
                <a:latin typeface="Courier"/>
                <a:cs typeface="Times New Roman" panose="02020603050405020304" pitchFamily="18" charset="0"/>
              </a:rPr>
              <a:t>		System configuration and setup program. </a:t>
            </a:r>
          </a:p>
          <a:p>
            <a:pPr eaLnBrk="1" hangingPunct="1">
              <a:lnSpc>
                <a:spcPct val="80000"/>
              </a:lnSpc>
              <a:buClr>
                <a:schemeClr val="accent1"/>
              </a:buClr>
              <a:buSzPct val="76000"/>
              <a:buFontTx/>
              <a:buNone/>
            </a:pPr>
            <a:r>
              <a:rPr sz="2000" dirty="0">
                <a:latin typeface="Courier"/>
                <a:cs typeface="Times New Roman" panose="02020603050405020304" pitchFamily="18" charset="0"/>
              </a:rPr>
              <a:t>		Usually menu driven.</a:t>
            </a:r>
          </a:p>
          <a:p>
            <a:pPr eaLnBrk="1" hangingPunct="1">
              <a:lnSpc>
                <a:spcPct val="80000"/>
              </a:lnSpc>
              <a:buClr>
                <a:schemeClr val="accent1"/>
              </a:buClr>
              <a:buSzPct val="76000"/>
              <a:buFontTx/>
              <a:buNone/>
            </a:pPr>
            <a:r>
              <a:rPr sz="2000" dirty="0">
                <a:latin typeface="Courier"/>
                <a:cs typeface="Times New Roman" panose="02020603050405020304" pitchFamily="18" charset="0"/>
              </a:rPr>
              <a:t>		Activated by pressing a special key during the POST and enabling configuration of motherboard and chipset settings and date and time,passwords, disk drives, and other basic settings. </a:t>
            </a:r>
          </a:p>
          <a:p>
            <a:pPr>
              <a:buClr>
                <a:schemeClr val="accent1"/>
              </a:buClr>
              <a:buSzPct val="76000"/>
              <a:buFont typeface="Wingdings 3" pitchFamily="18" charset="2"/>
            </a:pPr>
            <a:endParaRPr sz="2800" dirty="0"/>
          </a:p>
          <a:p>
            <a:pPr eaLnBrk="1" hangingPunct="1">
              <a:lnSpc>
                <a:spcPct val="80000"/>
              </a:lnSpc>
              <a:buClr>
                <a:schemeClr val="accent1"/>
              </a:buClr>
              <a:buSzPct val="76000"/>
              <a:buFont typeface="Wingdings" panose="05000000000000000000" pitchFamily="2" charset="2"/>
              <a:buChar char="Ø"/>
            </a:pPr>
            <a:endParaRPr sz="2800" dirty="0">
              <a:latin typeface="Courier"/>
              <a:cs typeface="Times New Roman" panose="02020603050405020304" pitchFamily="18" charset="0"/>
            </a:endParaRPr>
          </a:p>
          <a:p>
            <a:pPr eaLnBrk="1" hangingPunct="1">
              <a:lnSpc>
                <a:spcPct val="80000"/>
              </a:lnSpc>
              <a:buClr>
                <a:schemeClr val="accent1"/>
              </a:buClr>
              <a:buSzPct val="76000"/>
              <a:buFont typeface="Wingdings" panose="05000000000000000000" pitchFamily="2" charset="2"/>
              <a:buChar char="Ø"/>
            </a:pPr>
            <a:endParaRPr sz="2800" dirty="0">
              <a:latin typeface="Courier"/>
              <a:cs typeface="Times New Roman" panose="02020603050405020304" pitchFamily="18" charset="0"/>
            </a:endParaRPr>
          </a:p>
          <a:p>
            <a:pPr eaLnBrk="1" hangingPunct="1">
              <a:lnSpc>
                <a:spcPct val="80000"/>
              </a:lnSpc>
              <a:buClr>
                <a:schemeClr val="accent1"/>
              </a:buClr>
              <a:buSzPct val="76000"/>
              <a:buFontTx/>
              <a:buNone/>
            </a:pPr>
            <a:endParaRPr sz="2800" dirty="0">
              <a:latin typeface="Courier"/>
              <a:cs typeface="Times New Roman" panose="02020603050405020304" pitchFamily="18" charset="0"/>
            </a:endParaRPr>
          </a:p>
          <a:p>
            <a:pPr>
              <a:buClr>
                <a:schemeClr val="accent1"/>
              </a:buClr>
              <a:buSzPct val="76000"/>
              <a:buFont typeface="Wingdings 3" pitchFamily="18" charset="2"/>
              <a:buChar char=""/>
            </a:pPr>
            <a:endParaRPr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vert="horz" wrap="square" lIns="91440" tIns="45720" rIns="91440" bIns="45720" anchor="b" anchorCtr="0"/>
          <a:lstStyle/>
          <a:p>
            <a:r>
              <a:rPr dirty="0"/>
              <a:t>Boot Process</a:t>
            </a:r>
          </a:p>
        </p:txBody>
      </p:sp>
      <p:sp>
        <p:nvSpPr>
          <p:cNvPr id="87043" name="Content Placeholder 2"/>
          <p:cNvSpPr>
            <a:spLocks noGrp="1"/>
          </p:cNvSpPr>
          <p:nvPr>
            <p:ph sz="quarter" idx="1"/>
          </p:nvPr>
        </p:nvSpPr>
        <p:spPr>
          <a:xfrm>
            <a:off x="457200" y="1143000"/>
            <a:ext cx="8229600" cy="5181600"/>
          </a:xfrm>
        </p:spPr>
        <p:txBody>
          <a:bodyPr vert="horz" wrap="square" lIns="91440" tIns="45720" rIns="91440" bIns="45720" anchor="t" anchorCtr="0"/>
          <a:lstStyle/>
          <a:p>
            <a:pPr eaLnBrk="1" hangingPunct="1">
              <a:lnSpc>
                <a:spcPct val="80000"/>
              </a:lnSpc>
              <a:buClr>
                <a:schemeClr val="accent1"/>
              </a:buClr>
              <a:buSzPct val="76000"/>
              <a:buFontTx/>
              <a:buNone/>
            </a:pPr>
            <a:r>
              <a:rPr sz="2000" dirty="0">
                <a:latin typeface="Courier"/>
                <a:cs typeface="Times New Roman" panose="02020603050405020304" pitchFamily="18" charset="0"/>
              </a:rPr>
              <a:t>-</a:t>
            </a:r>
            <a:r>
              <a:rPr sz="2000" i="1" dirty="0">
                <a:latin typeface="Courier"/>
                <a:cs typeface="Times New Roman" panose="02020603050405020304" pitchFamily="18" charset="0"/>
              </a:rPr>
              <a:t>Bootstrap loader. </a:t>
            </a:r>
            <a:r>
              <a:rPr sz="2000" dirty="0">
                <a:latin typeface="Courier"/>
                <a:cs typeface="Times New Roman" panose="02020603050405020304" pitchFamily="18" charset="0"/>
              </a:rPr>
              <a:t>Looks for a valid master boot record (MBR).</a:t>
            </a:r>
          </a:p>
          <a:p>
            <a:pPr eaLnBrk="1" hangingPunct="1">
              <a:lnSpc>
                <a:spcPct val="80000"/>
              </a:lnSpc>
              <a:buClr>
                <a:schemeClr val="accent1"/>
              </a:buClr>
              <a:buSzPct val="76000"/>
              <a:buFontTx/>
              <a:buNone/>
            </a:pPr>
            <a:r>
              <a:rPr sz="2000" dirty="0">
                <a:latin typeface="Courier"/>
                <a:cs typeface="Times New Roman" panose="02020603050405020304" pitchFamily="18" charset="0"/>
              </a:rPr>
              <a:t>		The master boot sector program continues the boot process loads an operating system boot sector, which loads the operating system core files.</a:t>
            </a:r>
          </a:p>
          <a:p>
            <a:pPr eaLnBrk="1" hangingPunct="1">
              <a:lnSpc>
                <a:spcPct val="80000"/>
              </a:lnSpc>
              <a:buClr>
                <a:schemeClr val="accent1"/>
              </a:buClr>
              <a:buSzPct val="76000"/>
              <a:buFontTx/>
              <a:buNone/>
            </a:pPr>
            <a:endParaRPr sz="2000" dirty="0">
              <a:latin typeface="Courier"/>
              <a:cs typeface="Times New Roman" panose="02020603050405020304" pitchFamily="18" charset="0"/>
            </a:endParaRPr>
          </a:p>
          <a:p>
            <a:pPr eaLnBrk="1" hangingPunct="1">
              <a:lnSpc>
                <a:spcPct val="80000"/>
              </a:lnSpc>
              <a:buClr>
                <a:schemeClr val="accent1"/>
              </a:buClr>
              <a:buSzPct val="76000"/>
              <a:buFontTx/>
              <a:buNone/>
            </a:pPr>
            <a:r>
              <a:rPr sz="2000" dirty="0">
                <a:latin typeface="Courier"/>
                <a:cs typeface="Times New Roman" panose="02020603050405020304" pitchFamily="18" charset="0"/>
              </a:rPr>
              <a:t>-</a:t>
            </a:r>
            <a:r>
              <a:rPr sz="2000" i="1" dirty="0">
                <a:latin typeface="Courier"/>
                <a:cs typeface="Times New Roman" panose="02020603050405020304" pitchFamily="18" charset="0"/>
              </a:rPr>
              <a:t>BIOS (basic input/output system)</a:t>
            </a:r>
            <a:r>
              <a:rPr sz="2000" dirty="0">
                <a:latin typeface="Courier"/>
                <a:cs typeface="Times New Roman" panose="02020603050405020304" pitchFamily="18" charset="0"/>
              </a:rPr>
              <a:t>. </a:t>
            </a:r>
          </a:p>
          <a:p>
            <a:pPr eaLnBrk="1" hangingPunct="1">
              <a:lnSpc>
                <a:spcPct val="80000"/>
              </a:lnSpc>
              <a:buClr>
                <a:schemeClr val="accent1"/>
              </a:buClr>
              <a:buSzPct val="76000"/>
              <a:buFontTx/>
              <a:buNone/>
            </a:pPr>
            <a:r>
              <a:rPr sz="2000" dirty="0">
                <a:latin typeface="Courier"/>
                <a:cs typeface="Times New Roman" panose="02020603050405020304" pitchFamily="18" charset="0"/>
              </a:rPr>
              <a:t>		A collection of actual drivers used to act as a basic interface between operating system and hardware when the system is booted and running. </a:t>
            </a:r>
          </a:p>
          <a:p>
            <a:pPr eaLnBrk="1" hangingPunct="1">
              <a:lnSpc>
                <a:spcPct val="80000"/>
              </a:lnSpc>
              <a:buClr>
                <a:schemeClr val="accent1"/>
              </a:buClr>
              <a:buSzPct val="76000"/>
              <a:buFontTx/>
              <a:buNone/>
            </a:pPr>
            <a:endParaRPr sz="2000" dirty="0">
              <a:latin typeface="Courier"/>
              <a:cs typeface="Times New Roman" panose="02020603050405020304" pitchFamily="18" charset="0"/>
            </a:endParaRPr>
          </a:p>
          <a:p>
            <a:pPr eaLnBrk="1" hangingPunct="1">
              <a:lnSpc>
                <a:spcPct val="80000"/>
              </a:lnSpc>
              <a:buClr>
                <a:schemeClr val="accent1"/>
              </a:buClr>
              <a:buSzPct val="76000"/>
              <a:buFont typeface="Wingdings 3" pitchFamily="18" charset="2"/>
              <a:buNone/>
            </a:pPr>
            <a:r>
              <a:rPr sz="2400" dirty="0">
                <a:latin typeface="Courier"/>
                <a:cs typeface="Times New Roman" panose="02020603050405020304" pitchFamily="18" charset="0"/>
              </a:rPr>
              <a:t>The BIOS contains the Setup program which is used to set and store the configuration settings and these are maintained on the motherboard in a chip called the RTC/NVRAM chip (real-time clock/nonvolatile memory). </a:t>
            </a:r>
          </a:p>
          <a:p>
            <a:pPr eaLnBrk="1" hangingPunct="1">
              <a:lnSpc>
                <a:spcPct val="80000"/>
              </a:lnSpc>
              <a:buClr>
                <a:schemeClr val="accent1"/>
              </a:buClr>
              <a:buSzPct val="76000"/>
              <a:buFontTx/>
              <a:buNone/>
            </a:pPr>
            <a:endParaRPr sz="2000" dirty="0">
              <a:latin typeface="Courier"/>
              <a:cs typeface="Times New Roman" panose="02020603050405020304" pitchFamily="18" charset="0"/>
            </a:endParaRPr>
          </a:p>
          <a:p>
            <a:pPr>
              <a:buClr>
                <a:schemeClr val="accent1"/>
              </a:buClr>
              <a:buSzPct val="76000"/>
              <a:buFont typeface="Wingdings 3" pitchFamily="18" charset="2"/>
              <a:buChar char=""/>
            </a:pPr>
            <a:endParaRPr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p:cNvSpPr>
          <p:nvPr>
            <p:ph type="title"/>
          </p:nvPr>
        </p:nvSpPr>
        <p:spPr/>
        <p:txBody>
          <a:bodyPr vert="horz" wrap="square" lIns="91440" tIns="45720" rIns="91440" bIns="45720" anchor="b" anchorCtr="0"/>
          <a:lstStyle/>
          <a:p>
            <a:pPr eaLnBrk="1" hangingPunct="1"/>
            <a:r>
              <a:rPr dirty="0">
                <a:solidFill>
                  <a:schemeClr val="folHlink"/>
                </a:solidFill>
              </a:rPr>
              <a:t>Booting up Your Computer</a:t>
            </a:r>
          </a:p>
        </p:txBody>
      </p:sp>
      <p:sp>
        <p:nvSpPr>
          <p:cNvPr id="143363" name="Rectangle 3"/>
          <p:cNvSpPr>
            <a:spLocks noGrp="1" noChangeArrowheads="1"/>
          </p:cNvSpPr>
          <p:nvPr>
            <p:ph sz="quarter" idx="1"/>
          </p:nvPr>
        </p:nvSpPr>
        <p:spPr>
          <a:xfrm>
            <a:off x="439738" y="1447800"/>
            <a:ext cx="8267700" cy="5029200"/>
          </a:xfrm>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80000"/>
              </a:lnSpc>
              <a:spcBef>
                <a:spcPts val="600"/>
              </a:spcBef>
              <a:spcAft>
                <a:spcPts val="0"/>
              </a:spcAft>
              <a:buClr>
                <a:schemeClr val="accent1"/>
              </a:buClr>
              <a:buSzPct val="76000"/>
              <a:buFont typeface="Wingdings 3"/>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Refers to the computer bringing itself up to an operable state without user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intervention</a:t>
            </a:r>
          </a:p>
          <a:p>
            <a:pPr marL="274320" marR="0" lvl="0" indent="-274320" algn="l" defTabSz="914400" rtl="0" eaLnBrk="1" fontAlgn="auto" latinLnBrk="0" hangingPunct="1">
              <a:lnSpc>
                <a:spcPct val="80000"/>
              </a:lnSpc>
              <a:spcBef>
                <a:spcPts val="600"/>
              </a:spcBef>
              <a:spcAft>
                <a:spcPts val="0"/>
              </a:spcAft>
              <a:buClr>
                <a:schemeClr val="accent1"/>
              </a:buClr>
              <a:buSzPct val="76000"/>
              <a:buFont typeface="Wingdings 3"/>
              <a:buChar char=""/>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80000"/>
              </a:lnSpc>
              <a:spcBef>
                <a:spcPts val="600"/>
              </a:spcBef>
              <a:spcAft>
                <a:spcPts val="0"/>
              </a:spcAft>
              <a:buClr>
                <a:schemeClr val="accent1"/>
              </a:buClr>
              <a:buSzPct val="76000"/>
              <a:buFont typeface="Wingdings 3"/>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Hard boot (cold boot)</a:t>
            </a:r>
          </a:p>
          <a:p>
            <a:pPr marL="548640" marR="0" lvl="1" indent="-274320" algn="l" defTabSz="914400" rtl="0" eaLnBrk="1" fontAlgn="auto" latinLnBrk="0" hangingPunct="1">
              <a:lnSpc>
                <a:spcPct val="80000"/>
              </a:lnSpc>
              <a:spcBef>
                <a:spcPts val="500"/>
              </a:spcBef>
              <a:spcAft>
                <a:spcPts val="0"/>
              </a:spcAft>
              <a:buClr>
                <a:schemeClr val="accent2"/>
              </a:buClr>
              <a:buSzPct val="76000"/>
              <a:buFont typeface="Wingdings 3"/>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if you have a machine that is off (and cold), and you press the power button, it is a cold boot</a:t>
            </a:r>
          </a:p>
          <a:p>
            <a:pPr marL="548640" marR="0" lvl="1" indent="-274320" algn="l" defTabSz="914400" rtl="0" eaLnBrk="1" fontAlgn="auto" latinLnBrk="0" hangingPunct="1">
              <a:lnSpc>
                <a:spcPct val="80000"/>
              </a:lnSpc>
              <a:spcBef>
                <a:spcPts val="500"/>
              </a:spcBef>
              <a:spcAft>
                <a:spcPts val="0"/>
              </a:spcAft>
              <a:buClr>
                <a:schemeClr val="accent2"/>
              </a:buClr>
              <a:buSzPct val="76000"/>
              <a:buFont typeface="Wingdings 3"/>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More stressful than soft boot because of initial power surge through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equipment</a:t>
            </a:r>
          </a:p>
          <a:p>
            <a:pPr marL="548640" marR="0" lvl="1" indent="-274320" algn="l" defTabSz="914400" rtl="0" eaLnBrk="1" fontAlgn="auto" latinLnBrk="0" hangingPunct="1">
              <a:lnSpc>
                <a:spcPct val="80000"/>
              </a:lnSpc>
              <a:spcBef>
                <a:spcPts val="500"/>
              </a:spcBef>
              <a:spcAft>
                <a:spcPts val="0"/>
              </a:spcAft>
              <a:buClr>
                <a:schemeClr val="accent2"/>
              </a:buClr>
              <a:buSzPct val="76000"/>
              <a:buFont typeface="Wingdings 3"/>
              <a:buChar char=""/>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80000"/>
              </a:lnSpc>
              <a:spcBef>
                <a:spcPts val="600"/>
              </a:spcBef>
              <a:spcAft>
                <a:spcPts val="0"/>
              </a:spcAft>
              <a:buClr>
                <a:schemeClr val="accent1"/>
              </a:buClr>
              <a:buSzPct val="76000"/>
              <a:buFont typeface="Wingdings 3"/>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Soft boot (warm boot)</a:t>
            </a:r>
          </a:p>
          <a:p>
            <a:pPr marL="548640" marR="0" lvl="1" indent="-274320" algn="l" defTabSz="914400" rtl="0" eaLnBrk="1" fontAlgn="auto" latinLnBrk="0" hangingPunct="1">
              <a:lnSpc>
                <a:spcPct val="80000"/>
              </a:lnSpc>
              <a:spcBef>
                <a:spcPts val="500"/>
              </a:spcBef>
              <a:spcAft>
                <a:spcPts val="0"/>
              </a:spcAft>
              <a:buClr>
                <a:schemeClr val="accent2"/>
              </a:buClr>
              <a:buSzPct val="76000"/>
              <a:buFont typeface="Wingdings 3"/>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If you have a machine that is already running (it is warm) and you press the CTRL/ALT/DEL combination or select “RESTART”, this is a warm boot. Uses OS to reboot</a:t>
            </a:r>
          </a:p>
          <a:p>
            <a:pPr marL="548640" marR="0" lvl="1" indent="-274320" algn="l" defTabSz="914400" rtl="0" eaLnBrk="1" fontAlgn="auto" latinLnBrk="0" hangingPunct="1">
              <a:lnSpc>
                <a:spcPct val="80000"/>
              </a:lnSpc>
              <a:spcBef>
                <a:spcPts val="500"/>
              </a:spcBef>
              <a:spcAft>
                <a:spcPts val="0"/>
              </a:spcAft>
              <a:buClr>
                <a:schemeClr val="accent2"/>
              </a:buClr>
              <a:buSzPct val="76000"/>
              <a:buFont typeface="Wingdings 3"/>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Faster than hard boot. Watch to see the difference in the POST, because there are changes here too!</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Grp="1"/>
          </p:cNvSpPr>
          <p:nvPr>
            <p:ph sz="quarter" idx="1"/>
          </p:nvPr>
        </p:nvSpPr>
        <p:spPr>
          <a:xfrm>
            <a:off x="533400" y="1219200"/>
            <a:ext cx="8229600" cy="5181600"/>
          </a:xfrm>
        </p:spPr>
        <p:txBody>
          <a:bodyPr vert="horz" wrap="square" lIns="91440" tIns="45720" rIns="91440" bIns="45720" anchor="t" anchorCtr="0"/>
          <a:lstStyle/>
          <a:p>
            <a:pPr eaLnBrk="1" hangingPunct="1">
              <a:lnSpc>
                <a:spcPct val="90000"/>
              </a:lnSpc>
              <a:buClr>
                <a:schemeClr val="accent1"/>
              </a:buClr>
              <a:buSzPct val="76000"/>
              <a:buFont typeface="Wingdings 3" pitchFamily="18" charset="2"/>
            </a:pPr>
            <a:endParaRPr sz="2400" dirty="0">
              <a:solidFill>
                <a:srgbClr val="0000FF"/>
              </a:solidFill>
            </a:endParaRPr>
          </a:p>
          <a:p>
            <a:pPr eaLnBrk="1" hangingPunct="1">
              <a:lnSpc>
                <a:spcPct val="90000"/>
              </a:lnSpc>
              <a:buClr>
                <a:schemeClr val="accent1"/>
              </a:buClr>
              <a:buSzPct val="76000"/>
              <a:buFont typeface="Wingdings 3" pitchFamily="18" charset="2"/>
            </a:pPr>
            <a:r>
              <a:rPr sz="2400" dirty="0"/>
              <a:t>The startup process initiates a chain of events that eventually finds its way to you, the user.</a:t>
            </a:r>
          </a:p>
          <a:p>
            <a:pPr eaLnBrk="1" hangingPunct="1">
              <a:lnSpc>
                <a:spcPct val="90000"/>
              </a:lnSpc>
              <a:buClr>
                <a:schemeClr val="accent1"/>
              </a:buClr>
              <a:buSzPct val="76000"/>
              <a:buFontTx/>
              <a:buNone/>
            </a:pPr>
            <a:endParaRPr sz="2400" dirty="0"/>
          </a:p>
          <a:p>
            <a:pPr eaLnBrk="1" hangingPunct="1">
              <a:lnSpc>
                <a:spcPct val="90000"/>
              </a:lnSpc>
              <a:buClr>
                <a:schemeClr val="accent1"/>
              </a:buClr>
              <a:buSzPct val="76000"/>
              <a:buFont typeface="Wingdings 3" pitchFamily="18" charset="2"/>
            </a:pPr>
            <a:r>
              <a:rPr sz="2400" dirty="0"/>
              <a:t>Before you gain control, however, the computer’s CPU, peripheral hardware, low-level firmware (software stored in ROM that remains even if a PCs power is off) and ultimately its OS must work together to achieve a normal setup.</a:t>
            </a:r>
          </a:p>
          <a:p>
            <a:pPr eaLnBrk="1" hangingPunct="1">
              <a:lnSpc>
                <a:spcPct val="90000"/>
              </a:lnSpc>
              <a:buClr>
                <a:schemeClr val="accent1"/>
              </a:buClr>
              <a:buSzPct val="76000"/>
              <a:buFontTx/>
              <a:buNone/>
            </a:pPr>
            <a:endParaRPr sz="2400" dirty="0"/>
          </a:p>
          <a:p>
            <a:pPr eaLnBrk="1" hangingPunct="1">
              <a:lnSpc>
                <a:spcPct val="90000"/>
              </a:lnSpc>
              <a:buClr>
                <a:schemeClr val="accent1"/>
              </a:buClr>
              <a:buSzPct val="76000"/>
              <a:buFont typeface="Wingdings 3" pitchFamily="18" charset="2"/>
            </a:pPr>
            <a:r>
              <a:rPr sz="2400" dirty="0"/>
              <a:t>The BIOS is the conductor that ensures this combination of devices and code works together to generate a normal startup routine</a:t>
            </a:r>
            <a:r>
              <a:rPr sz="2800" dirty="0"/>
              <a:t>.</a:t>
            </a:r>
          </a:p>
        </p:txBody>
      </p:sp>
      <p:sp>
        <p:nvSpPr>
          <p:cNvPr id="4" name="TextBox 3"/>
          <p:cNvSpPr txBox="1"/>
          <p:nvPr/>
        </p:nvSpPr>
        <p:spPr>
          <a:xfrm>
            <a:off x="533400" y="685800"/>
            <a:ext cx="5599113" cy="584200"/>
          </a:xfrm>
          <a:prstGeom prst="rect">
            <a:avLst/>
          </a:prstGeom>
          <a:noFill/>
        </p:spPr>
        <p:txBody>
          <a:bodyPr wrap="none">
            <a:spAutoFit/>
          </a:bodyPr>
          <a:lstStyle/>
          <a:p>
            <a:pPr marR="0" defTabSz="914400">
              <a:buClrTx/>
              <a:buSzTx/>
              <a:buFontTx/>
              <a:buNone/>
              <a:defRPr/>
            </a:pPr>
            <a:r>
              <a:rPr kumimoji="0" lang="en-US" sz="3200" kern="1200" cap="none" spc="0" normalizeH="0" baseline="0" noProof="0" dirty="0">
                <a:solidFill>
                  <a:schemeClr val="folHlink"/>
                </a:solidFill>
                <a:latin typeface="+mj-lt"/>
                <a:ea typeface="+mn-ea"/>
                <a:cs typeface="Arial" panose="020B0604020202020204" pitchFamily="34" charset="0"/>
              </a:rPr>
              <a:t>Booting up Your Computer</a:t>
            </a:r>
            <a:endParaRPr kumimoji="0" lang="en-US" sz="3200" kern="1200" cap="none" spc="0" normalizeH="0" baseline="0" noProof="0" dirty="0">
              <a:latin typeface="+mj-lt"/>
              <a:ea typeface="+mn-ea"/>
              <a:cs typeface="Arial" panose="020B060402020202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p:cNvSpPr>
          <p:nvPr>
            <p:ph type="title"/>
          </p:nvPr>
        </p:nvSpPr>
        <p:spPr>
          <a:xfrm>
            <a:off x="457200" y="381000"/>
            <a:ext cx="8229600" cy="608013"/>
          </a:xfrm>
        </p:spPr>
        <p:txBody>
          <a:bodyPr vert="horz" wrap="square" lIns="91440" tIns="45720" rIns="91440" bIns="45720" anchor="b" anchorCtr="0"/>
          <a:lstStyle/>
          <a:p>
            <a:pPr eaLnBrk="1" hangingPunct="1"/>
            <a:r>
              <a:rPr dirty="0">
                <a:solidFill>
                  <a:schemeClr val="folHlink"/>
                </a:solidFill>
              </a:rPr>
              <a:t>The Master Boot Record</a:t>
            </a:r>
          </a:p>
        </p:txBody>
      </p:sp>
      <p:sp>
        <p:nvSpPr>
          <p:cNvPr id="48131" name="Rectangle 3"/>
          <p:cNvSpPr>
            <a:spLocks noGrp="1" noChangeArrowheads="1"/>
          </p:cNvSpPr>
          <p:nvPr>
            <p:ph sz="quarter" idx="1"/>
          </p:nvPr>
        </p:nvSpPr>
        <p:spPr>
          <a:xfrm>
            <a:off x="457200" y="1219200"/>
            <a:ext cx="8229600" cy="5257800"/>
          </a:xfrm>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90000"/>
              </a:lnSpc>
              <a:spcBef>
                <a:spcPts val="600"/>
              </a:spcBef>
              <a:spcAft>
                <a:spcPts val="0"/>
              </a:spcAft>
              <a:buClr>
                <a:schemeClr val="accent1"/>
              </a:buClr>
              <a:buSzPct val="76000"/>
              <a:buFont typeface="Wingdings 3"/>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In the final step of the boot process, we talked about the MBR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90000"/>
              </a:lnSpc>
              <a:spcBef>
                <a:spcPts val="600"/>
              </a:spcBef>
              <a:spcAft>
                <a:spcPts val="0"/>
              </a:spcAft>
              <a:buClr>
                <a:schemeClr val="accent1"/>
              </a:buClr>
              <a:buSzPct val="76000"/>
              <a:buFont typeface="Wingdings 3"/>
              <a:buChar char=""/>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90000"/>
              </a:lnSpc>
              <a:spcBef>
                <a:spcPts val="600"/>
              </a:spcBef>
              <a:spcAft>
                <a:spcPts val="0"/>
              </a:spcAft>
              <a:buClr>
                <a:schemeClr val="accent1"/>
              </a:buClr>
              <a:buSzPct val="76000"/>
              <a:buFont typeface="Wingdings 3"/>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It is located on cylinder 0, head 0, sector 1 the very first sector on disk and it is used to store the location of the root directory and the OS loader routine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90000"/>
              </a:lnSpc>
              <a:spcBef>
                <a:spcPts val="600"/>
              </a:spcBef>
              <a:spcAft>
                <a:spcPts val="0"/>
              </a:spcAft>
              <a:buClr>
                <a:schemeClr val="accent1"/>
              </a:buClr>
              <a:buSzPct val="76000"/>
              <a:buFont typeface="Wingdings 3"/>
              <a:buChar char=""/>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90000"/>
              </a:lnSpc>
              <a:spcBef>
                <a:spcPts val="600"/>
              </a:spcBef>
              <a:spcAft>
                <a:spcPts val="0"/>
              </a:spcAft>
              <a:buClr>
                <a:schemeClr val="accent1"/>
              </a:buClr>
              <a:buSzPct val="76000"/>
              <a:buFont typeface="Wingdings 3"/>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Now you can see why a MBR virus can be so deadly!</a:t>
            </a:r>
          </a:p>
          <a:p>
            <a:pPr marL="548640" marR="0" lvl="1" indent="-274320" algn="l" defTabSz="914400" rtl="0" eaLnBrk="1" fontAlgn="auto" latinLnBrk="0" hangingPunct="1">
              <a:lnSpc>
                <a:spcPct val="90000"/>
              </a:lnSpc>
              <a:spcBef>
                <a:spcPts val="500"/>
              </a:spcBef>
              <a:spcAft>
                <a:spcPts val="0"/>
              </a:spcAft>
              <a:buClr>
                <a:schemeClr val="accent2"/>
              </a:buClr>
              <a:buSzPct val="76000"/>
              <a:buFont typeface="Wingdings 3"/>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Nimda</a:t>
            </a:r>
            <a:r>
              <a:rPr kumimoji="0" lang="en-US" sz="2400" b="0" i="0" u="none" strike="noStrike" kern="1200" cap="none" spc="0" normalizeH="0" baseline="0" noProof="0" dirty="0">
                <a:ln>
                  <a:noFill/>
                </a:ln>
                <a:solidFill>
                  <a:schemeClr val="tx1"/>
                </a:solidFill>
                <a:effectLst/>
                <a:uLnTx/>
                <a:uFillTx/>
                <a:latin typeface="+mn-lt"/>
                <a:ea typeface="+mn-ea"/>
                <a:cs typeface="+mn-cs"/>
              </a:rPr>
              <a:t> acted like this, it would infect the MBR so if you formatted the hard drive, you might not get rid of the virus unless you did format /</a:t>
            </a:r>
            <a:r>
              <a:rPr kumimoji="0" lang="en-US" sz="2400" b="0" i="0" u="none" strike="noStrike" kern="1200" cap="none" spc="0" normalizeH="0" baseline="0" noProof="0" dirty="0" err="1">
                <a:ln>
                  <a:noFill/>
                </a:ln>
                <a:solidFill>
                  <a:schemeClr val="tx1"/>
                </a:solidFill>
                <a:effectLst/>
                <a:uLnTx/>
                <a:uFillTx/>
                <a:latin typeface="+mn-lt"/>
                <a:ea typeface="+mn-ea"/>
                <a:cs typeface="+mn-cs"/>
              </a:rPr>
              <a:t>mbr</a:t>
            </a:r>
            <a:r>
              <a:rPr kumimoji="0" lang="en-US" sz="2400" b="0" i="0" u="none" strike="noStrike" kern="1200" cap="none" spc="0" normalizeH="0" baseline="0" noProof="0" dirty="0">
                <a:ln>
                  <a:noFill/>
                </a:ln>
                <a:solidFill>
                  <a:schemeClr val="tx1"/>
                </a:solidFill>
                <a:effectLst/>
                <a:uLnTx/>
                <a:uFillTx/>
                <a:latin typeface="+mn-lt"/>
                <a:ea typeface="+mn-ea"/>
                <a:cs typeface="+mn-cs"/>
              </a:rPr>
              <a:t> as well.</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a:ln>
                  <a:noFill/>
                </a:ln>
                <a:solidFill>
                  <a:schemeClr val="folHlink"/>
                </a:solidFill>
                <a:effectLst/>
                <a:uLnTx/>
                <a:uFillTx/>
                <a:latin typeface="+mj-lt"/>
                <a:ea typeface="+mj-ea"/>
                <a:cs typeface="+mj-cs"/>
              </a:rPr>
              <a:t>How BIOS Finds/Loads the OS</a:t>
            </a:r>
            <a:br>
              <a:rPr kumimoji="0" lang="en-US" sz="3200" b="0" i="0" u="none" strike="noStrike" kern="1200" cap="none" spc="0" normalizeH="0" baseline="0" noProof="0">
                <a:ln>
                  <a:noFill/>
                </a:ln>
                <a:solidFill>
                  <a:schemeClr val="folHlink"/>
                </a:solidFill>
                <a:effectLst/>
                <a:uLnTx/>
                <a:uFillTx/>
                <a:latin typeface="+mj-lt"/>
                <a:ea typeface="+mj-ea"/>
                <a:cs typeface="+mj-cs"/>
              </a:rPr>
            </a:br>
            <a:endParaRPr kumimoji="0" lang="en-US" sz="3200" b="0" i="0" u="none" strike="noStrike" kern="1200" cap="none" spc="0" normalizeH="0" baseline="0" noProof="0">
              <a:ln>
                <a:noFill/>
              </a:ln>
              <a:solidFill>
                <a:schemeClr val="folHlink"/>
              </a:solidFill>
              <a:effectLst/>
              <a:uLnTx/>
              <a:uFillTx/>
              <a:latin typeface="+mj-lt"/>
              <a:ea typeface="+mj-ea"/>
              <a:cs typeface="+mj-cs"/>
            </a:endParaRPr>
          </a:p>
        </p:txBody>
      </p:sp>
      <p:pic>
        <p:nvPicPr>
          <p:cNvPr id="91139" name="Picture 3" descr="Fig02-11"/>
          <p:cNvPicPr>
            <a:picLocks noChangeAspect="1"/>
          </p:cNvPicPr>
          <p:nvPr/>
        </p:nvPicPr>
        <p:blipFill>
          <a:blip r:embed="rId2"/>
          <a:srcRect t="3751" b="3751"/>
          <a:stretch>
            <a:fillRect/>
          </a:stretch>
        </p:blipFill>
        <p:spPr>
          <a:xfrm>
            <a:off x="685800" y="1371600"/>
            <a:ext cx="7772400" cy="4800600"/>
          </a:xfrm>
          <a:prstGeom prst="rect">
            <a:avLst/>
          </a:prstGeom>
          <a:noFill/>
          <a:ln w="9525">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p:cNvSpPr>
          <p:nvPr>
            <p:ph type="title"/>
          </p:nvPr>
        </p:nvSpPr>
        <p:spPr/>
        <p:txBody>
          <a:bodyPr vert="horz" wrap="square" lIns="91440" tIns="45720" rIns="91440" bIns="45720" anchor="b" anchorCtr="0"/>
          <a:lstStyle/>
          <a:p>
            <a:pPr eaLnBrk="1" hangingPunct="1"/>
            <a:r>
              <a:rPr dirty="0">
                <a:solidFill>
                  <a:schemeClr val="folHlink"/>
                </a:solidFill>
              </a:rPr>
              <a:t>Parts of the Boot Process</a:t>
            </a:r>
          </a:p>
        </p:txBody>
      </p:sp>
      <p:sp>
        <p:nvSpPr>
          <p:cNvPr id="92163" name="Rectangle 3"/>
          <p:cNvSpPr>
            <a:spLocks noGrp="1"/>
          </p:cNvSpPr>
          <p:nvPr>
            <p:ph sz="quarter" idx="1"/>
          </p:nvPr>
        </p:nvSpPr>
        <p:spPr>
          <a:xfrm>
            <a:off x="457200" y="1219200"/>
            <a:ext cx="8229600" cy="5257800"/>
          </a:xfrm>
        </p:spPr>
        <p:txBody>
          <a:bodyPr vert="horz" wrap="square" lIns="91440" tIns="45720" rIns="91440" bIns="45720" anchor="t" anchorCtr="0"/>
          <a:lstStyle/>
          <a:p>
            <a:pPr eaLnBrk="1" hangingPunct="1">
              <a:buClr>
                <a:schemeClr val="accent1"/>
              </a:buClr>
              <a:buSzPct val="76000"/>
              <a:buFont typeface="Wingdings 3" pitchFamily="18" charset="2"/>
            </a:pPr>
            <a:endParaRPr dirty="0">
              <a:solidFill>
                <a:srgbClr val="0000FF"/>
              </a:solidFill>
            </a:endParaRPr>
          </a:p>
          <a:p>
            <a:pPr eaLnBrk="1" hangingPunct="1">
              <a:buClr>
                <a:schemeClr val="accent1"/>
              </a:buClr>
              <a:buSzPct val="76000"/>
              <a:buFont typeface="Wingdings 3" pitchFamily="18" charset="2"/>
            </a:pPr>
            <a:r>
              <a:rPr dirty="0"/>
              <a:t>Step 1: POST</a:t>
            </a:r>
          </a:p>
          <a:p>
            <a:pPr eaLnBrk="1" hangingPunct="1">
              <a:buClr>
                <a:schemeClr val="accent1"/>
              </a:buClr>
              <a:buSzPct val="76000"/>
              <a:buFont typeface="Wingdings 3" pitchFamily="18" charset="2"/>
            </a:pPr>
            <a:endParaRPr dirty="0"/>
          </a:p>
          <a:p>
            <a:pPr eaLnBrk="1" hangingPunct="1">
              <a:buClr>
                <a:schemeClr val="accent1"/>
              </a:buClr>
              <a:buSzPct val="76000"/>
              <a:buFont typeface="Wingdings 3" pitchFamily="18" charset="2"/>
            </a:pPr>
            <a:r>
              <a:rPr dirty="0"/>
              <a:t>Step 2: ROM BIOS startup program searches for and loads an OS</a:t>
            </a:r>
          </a:p>
          <a:p>
            <a:pPr eaLnBrk="1" hangingPunct="1">
              <a:buClr>
                <a:schemeClr val="accent1"/>
              </a:buClr>
              <a:buSzPct val="76000"/>
              <a:buFont typeface="Wingdings 3" pitchFamily="18" charset="2"/>
            </a:pPr>
            <a:endParaRPr dirty="0"/>
          </a:p>
          <a:p>
            <a:pPr eaLnBrk="1" hangingPunct="1">
              <a:buClr>
                <a:schemeClr val="accent1"/>
              </a:buClr>
              <a:buSzPct val="76000"/>
              <a:buFont typeface="Wingdings 3" pitchFamily="18" charset="2"/>
            </a:pPr>
            <a:r>
              <a:rPr dirty="0"/>
              <a:t>Step 3: OS configures the system and completes its own loading</a:t>
            </a:r>
          </a:p>
          <a:p>
            <a:pPr eaLnBrk="1" hangingPunct="1">
              <a:buClr>
                <a:schemeClr val="accent1"/>
              </a:buClr>
              <a:buSzPct val="76000"/>
              <a:buFont typeface="Wingdings 3" pitchFamily="18" charset="2"/>
            </a:pPr>
            <a:endParaRPr dirty="0"/>
          </a:p>
          <a:p>
            <a:pPr eaLnBrk="1" hangingPunct="1">
              <a:buClr>
                <a:schemeClr val="accent1"/>
              </a:buClr>
              <a:buSzPct val="76000"/>
              <a:buFont typeface="Wingdings 3" pitchFamily="18" charset="2"/>
            </a:pPr>
            <a:r>
              <a:rPr dirty="0"/>
              <a:t>Step 4: User executes application software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a:ln>
                  <a:noFill/>
                </a:ln>
                <a:solidFill>
                  <a:schemeClr val="folHlink"/>
                </a:solidFill>
                <a:effectLst/>
                <a:uLnTx/>
                <a:uFillTx/>
                <a:latin typeface="+mj-lt"/>
                <a:ea typeface="+mj-ea"/>
                <a:cs typeface="+mj-cs"/>
              </a:rPr>
              <a:t>Boot Step 1</a:t>
            </a:r>
            <a:br>
              <a:rPr kumimoji="0" lang="en-US" sz="3200" b="0" i="0" u="none" strike="noStrike" kern="1200" cap="none" spc="0" normalizeH="0" baseline="0" noProof="0">
                <a:ln>
                  <a:noFill/>
                </a:ln>
                <a:solidFill>
                  <a:schemeClr val="folHlink"/>
                </a:solidFill>
                <a:effectLst/>
                <a:uLnTx/>
                <a:uFillTx/>
                <a:latin typeface="+mj-lt"/>
                <a:ea typeface="+mj-ea"/>
                <a:cs typeface="+mj-cs"/>
              </a:rPr>
            </a:br>
            <a:endParaRPr kumimoji="0" lang="en-US" sz="3200" b="0" i="0" u="none" strike="noStrike" kern="1200" cap="none" spc="0" normalizeH="0" baseline="0" noProof="0">
              <a:ln>
                <a:noFill/>
              </a:ln>
              <a:solidFill>
                <a:schemeClr val="folHlink"/>
              </a:solidFill>
              <a:effectLst/>
              <a:uLnTx/>
              <a:uFillTx/>
              <a:latin typeface="+mj-lt"/>
              <a:ea typeface="+mj-ea"/>
              <a:cs typeface="+mj-cs"/>
            </a:endParaRPr>
          </a:p>
        </p:txBody>
      </p:sp>
      <p:pic>
        <p:nvPicPr>
          <p:cNvPr id="93187" name="Picture 3" descr="Fig02-10"/>
          <p:cNvPicPr>
            <a:picLocks noChangeAspect="1"/>
          </p:cNvPicPr>
          <p:nvPr/>
        </p:nvPicPr>
        <p:blipFill>
          <a:blip r:embed="rId2"/>
          <a:srcRect t="3751" b="3751"/>
          <a:stretch>
            <a:fillRect/>
          </a:stretch>
        </p:blipFill>
        <p:spPr>
          <a:xfrm>
            <a:off x="533400" y="1219200"/>
            <a:ext cx="7924800" cy="4953000"/>
          </a:xfrm>
          <a:prstGeom prst="rect">
            <a:avLst/>
          </a:prstGeom>
          <a:noFill/>
          <a:ln w="9525">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descr="Fig02-12"/>
          <p:cNvPicPr>
            <a:picLocks noChangeAspect="1"/>
          </p:cNvPicPr>
          <p:nvPr/>
        </p:nvPicPr>
        <p:blipFill>
          <a:blip r:embed="rId2"/>
          <a:srcRect l="19066" r="19086"/>
          <a:stretch>
            <a:fillRect/>
          </a:stretch>
        </p:blipFill>
        <p:spPr>
          <a:xfrm>
            <a:off x="381000" y="1295400"/>
            <a:ext cx="8534400" cy="4953000"/>
          </a:xfrm>
          <a:prstGeom prst="rect">
            <a:avLst/>
          </a:prstGeom>
          <a:noFill/>
          <a:ln w="9525">
            <a:noFill/>
          </a:ln>
        </p:spPr>
      </p:pic>
      <p:sp>
        <p:nvSpPr>
          <p:cNvPr id="94211" name="Text Box 3"/>
          <p:cNvSpPr txBox="1"/>
          <p:nvPr/>
        </p:nvSpPr>
        <p:spPr>
          <a:xfrm>
            <a:off x="304800" y="228600"/>
            <a:ext cx="8204200" cy="584200"/>
          </a:xfrm>
          <a:prstGeom prst="rect">
            <a:avLst/>
          </a:prstGeom>
          <a:noFill/>
          <a:ln w="9525">
            <a:noFill/>
          </a:ln>
        </p:spPr>
        <p:txBody>
          <a:bodyPr>
            <a:spAutoFit/>
          </a:bodyPr>
          <a:lstStyle/>
          <a:p>
            <a:r>
              <a:rPr sz="3200" dirty="0">
                <a:solidFill>
                  <a:schemeClr val="folHlink"/>
                </a:solidFill>
                <a:latin typeface="Arial" panose="020B0604020202020204" pitchFamily="34" charset="0"/>
              </a:rPr>
              <a:t>Boot Step 2</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2" descr="Fig02-13"/>
          <p:cNvPicPr>
            <a:picLocks noChangeAspect="1"/>
          </p:cNvPicPr>
          <p:nvPr/>
        </p:nvPicPr>
        <p:blipFill>
          <a:blip r:embed="rId2"/>
          <a:srcRect l="5939" r="5959"/>
          <a:stretch>
            <a:fillRect/>
          </a:stretch>
        </p:blipFill>
        <p:spPr>
          <a:xfrm>
            <a:off x="457200" y="1371600"/>
            <a:ext cx="7924800" cy="4953000"/>
          </a:xfrm>
          <a:prstGeom prst="rect">
            <a:avLst/>
          </a:prstGeom>
          <a:noFill/>
          <a:ln w="9525">
            <a:noFill/>
          </a:ln>
        </p:spPr>
      </p:pic>
      <p:sp>
        <p:nvSpPr>
          <p:cNvPr id="152579" name="Rectangle 3"/>
          <p:cNvSpPr>
            <a:spLocks noGrp="1" noChangeArrowheads="1"/>
          </p:cNvSpPr>
          <p:nvPr>
            <p:ph type="title"/>
          </p:nvPr>
        </p:nvSpPr>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a:ln>
                  <a:noFill/>
                </a:ln>
                <a:solidFill>
                  <a:schemeClr val="folHlink"/>
                </a:solidFill>
                <a:effectLst/>
                <a:uLnTx/>
                <a:uFillTx/>
                <a:latin typeface="+mj-lt"/>
                <a:ea typeface="+mj-ea"/>
                <a:cs typeface="+mj-cs"/>
              </a:rPr>
              <a:t>Boot Step 3</a:t>
            </a:r>
            <a:r>
              <a:rPr kumimoji="0" lang="en-US" sz="3200" b="0" i="0" u="none" strike="noStrike" kern="1200" cap="none" spc="0" normalizeH="0" baseline="0" noProof="0">
                <a:ln>
                  <a:noFill/>
                </a:ln>
                <a:solidFill>
                  <a:schemeClr val="tx2"/>
                </a:solidFill>
                <a:effectLst/>
                <a:uLnTx/>
                <a:uFillTx/>
                <a:latin typeface="+mj-lt"/>
                <a:ea typeface="+mj-ea"/>
                <a:cs typeface="+mj-cs"/>
              </a:rPr>
              <a:t/>
            </a:r>
            <a:br>
              <a:rPr kumimoji="0" lang="en-US" sz="3200" b="0" i="0" u="none" strike="noStrike" kern="1200" cap="none" spc="0" normalizeH="0" baseline="0" noProof="0">
                <a:ln>
                  <a:noFill/>
                </a:ln>
                <a:solidFill>
                  <a:schemeClr val="tx2"/>
                </a:solidFill>
                <a:effectLst/>
                <a:uLnTx/>
                <a:uFillTx/>
                <a:latin typeface="+mj-lt"/>
                <a:ea typeface="+mj-ea"/>
                <a:cs typeface="+mj-cs"/>
              </a:rPr>
            </a:br>
            <a:endParaRPr kumimoji="0" lang="en-US" sz="3200" b="0" i="0" u="none" strike="noStrike" kern="1200" cap="none" spc="0" normalizeH="0" baseline="0" noProof="0">
              <a:ln>
                <a:noFill/>
              </a:ln>
              <a:solidFill>
                <a:schemeClr val="tx2"/>
              </a:solidFill>
              <a:effectLst/>
              <a:uLnTx/>
              <a:uFillTx/>
              <a:latin typeface="+mj-lt"/>
              <a:ea typeface="+mj-ea"/>
              <a:cs typeface="+mj-c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p:cNvSpPr>
          <p:nvPr>
            <p:ph type="title"/>
          </p:nvPr>
        </p:nvSpPr>
        <p:spPr/>
        <p:txBody>
          <a:bodyPr vert="horz" wrap="square" lIns="91440" tIns="45720" rIns="91440" bIns="45720" anchor="b" anchorCtr="0"/>
          <a:lstStyle/>
          <a:p>
            <a:pPr eaLnBrk="1" hangingPunct="1"/>
            <a:r>
              <a:rPr dirty="0"/>
              <a:t>Booting and ROM</a:t>
            </a:r>
          </a:p>
        </p:txBody>
      </p:sp>
      <p:sp>
        <p:nvSpPr>
          <p:cNvPr id="96259" name="Rectangle 3"/>
          <p:cNvSpPr>
            <a:spLocks noGrp="1" noRot="1"/>
          </p:cNvSpPr>
          <p:nvPr>
            <p:ph sz="quarter" idx="1"/>
          </p:nvPr>
        </p:nvSpPr>
        <p:spPr>
          <a:xfrm>
            <a:off x="457200" y="1219200"/>
            <a:ext cx="8229600" cy="4937125"/>
          </a:xfrm>
        </p:spPr>
        <p:txBody>
          <a:bodyPr vert="horz" wrap="square" lIns="91440" tIns="45720" rIns="91440" bIns="45720" anchor="t" anchorCtr="0"/>
          <a:lstStyle/>
          <a:p>
            <a:pPr eaLnBrk="1" hangingPunct="1">
              <a:lnSpc>
                <a:spcPct val="90000"/>
              </a:lnSpc>
              <a:buClr>
                <a:schemeClr val="accent1"/>
              </a:buClr>
              <a:buSzPct val="76000"/>
              <a:buFont typeface="Wingdings 3" pitchFamily="18" charset="2"/>
            </a:pPr>
            <a:endParaRPr dirty="0"/>
          </a:p>
          <a:p>
            <a:pPr eaLnBrk="1" hangingPunct="1">
              <a:lnSpc>
                <a:spcPct val="90000"/>
              </a:lnSpc>
              <a:buClr>
                <a:schemeClr val="accent1"/>
              </a:buClr>
              <a:buSzPct val="76000"/>
              <a:buFont typeface="Wingdings 3" pitchFamily="18" charset="2"/>
            </a:pPr>
            <a:r>
              <a:rPr dirty="0"/>
              <a:t>System such as cellular phones, PDAs and game consoles  stores entire OS on ROM. Done only for small OS, simple supporting hardware, and rugged operation.</a:t>
            </a:r>
          </a:p>
          <a:p>
            <a:pPr eaLnBrk="1" hangingPunct="1">
              <a:lnSpc>
                <a:spcPct val="90000"/>
              </a:lnSpc>
              <a:buClr>
                <a:schemeClr val="accent1"/>
              </a:buClr>
              <a:buSzPct val="76000"/>
              <a:buFont typeface="Wingdings 3" pitchFamily="18" charset="2"/>
            </a:pPr>
            <a:endParaRPr dirty="0"/>
          </a:p>
          <a:p>
            <a:pPr eaLnBrk="1" hangingPunct="1">
              <a:lnSpc>
                <a:spcPct val="90000"/>
              </a:lnSpc>
              <a:buClr>
                <a:schemeClr val="accent1"/>
              </a:buClr>
              <a:buSzPct val="76000"/>
              <a:buFont typeface="Wingdings 3" pitchFamily="18" charset="2"/>
            </a:pPr>
            <a:r>
              <a:rPr dirty="0"/>
              <a:t>Changing bootstrap code would require changing ROM chips. </a:t>
            </a:r>
          </a:p>
          <a:p>
            <a:pPr lvl="1" eaLnBrk="1" hangingPunct="1">
              <a:lnSpc>
                <a:spcPct val="90000"/>
              </a:lnSpc>
              <a:buClr>
                <a:schemeClr val="accent2"/>
              </a:buClr>
              <a:buSzPct val="76000"/>
              <a:buFont typeface="Wingdings 3" pitchFamily="18" charset="2"/>
            </a:pPr>
            <a:r>
              <a:rPr dirty="0"/>
              <a:t>EPROM – Erasable Programmable ROM. </a:t>
            </a:r>
          </a:p>
          <a:p>
            <a:pPr eaLnBrk="1" hangingPunct="1">
              <a:lnSpc>
                <a:spcPct val="90000"/>
              </a:lnSpc>
              <a:buClr>
                <a:schemeClr val="accent1"/>
              </a:buClr>
              <a:buSzPct val="76000"/>
              <a:buFont typeface="Wingdings 3" pitchFamily="18" charset="2"/>
            </a:pPr>
            <a:endParaRPr dirty="0"/>
          </a:p>
          <a:p>
            <a:pPr eaLnBrk="1" hangingPunct="1">
              <a:lnSpc>
                <a:spcPct val="90000"/>
              </a:lnSpc>
              <a:buClr>
                <a:schemeClr val="accent1"/>
              </a:buClr>
              <a:buSzPct val="76000"/>
              <a:buFont typeface="Wingdings 3" pitchFamily="18" charset="2"/>
            </a:pPr>
            <a:r>
              <a:rPr dirty="0"/>
              <a:t>Code execution in ROM is slower. Copied to RAM for faster execution.</a:t>
            </a:r>
          </a:p>
          <a:p>
            <a:pPr eaLnBrk="1" hangingPunct="1">
              <a:lnSpc>
                <a:spcPct val="90000"/>
              </a:lnSpc>
              <a:buClr>
                <a:schemeClr val="accent1"/>
              </a:buClr>
              <a:buSzPct val="76000"/>
              <a:buFont typeface="Wingdings 3" pitchFamily="18" charset="2"/>
            </a:pPr>
            <a:endParaRPr dirty="0"/>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a:xfrm>
            <a:off x="457200" y="381000"/>
            <a:ext cx="8229600" cy="685800"/>
          </a:xfrm>
        </p:spPr>
        <p:txBody>
          <a:bodyPr vert="horz" wrap="square" lIns="91440" tIns="45720" rIns="91440" bIns="45720" anchor="b" anchorCtr="0"/>
          <a:lstStyle/>
          <a:p>
            <a:r>
              <a:rPr dirty="0"/>
              <a:t>Networking Basics-OSI Layers</a:t>
            </a:r>
          </a:p>
        </p:txBody>
      </p:sp>
      <p:sp>
        <p:nvSpPr>
          <p:cNvPr id="97283" name="Content Placeholder 2"/>
          <p:cNvSpPr>
            <a:spLocks noGrp="1"/>
          </p:cNvSpPr>
          <p:nvPr>
            <p:ph sz="quarter" idx="1"/>
          </p:nvPr>
        </p:nvSpPr>
        <p:spPr>
          <a:xfrm>
            <a:off x="457200" y="1447800"/>
            <a:ext cx="8229600" cy="5029200"/>
          </a:xfrm>
        </p:spPr>
        <p:txBody>
          <a:bodyPr vert="horz" wrap="square" lIns="91440" tIns="45720" rIns="91440" bIns="45720" anchor="t" anchorCtr="0"/>
          <a:lstStyle/>
          <a:p>
            <a:pPr defTabSz="914400" eaLnBrk="1" hangingPunct="1">
              <a:lnSpc>
                <a:spcPct val="80000"/>
              </a:lnSpc>
              <a:spcBef>
                <a:spcPts val="875"/>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3200" u="sng" dirty="0"/>
              <a:t>Seven Layer Model</a:t>
            </a:r>
          </a:p>
          <a:p>
            <a:pPr defTabSz="914400" eaLnBrk="1" hangingPunct="1">
              <a:lnSpc>
                <a:spcPct val="80000"/>
              </a:lnSpc>
              <a:spcBef>
                <a:spcPts val="875"/>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3200" u="sng" dirty="0"/>
          </a:p>
          <a:p>
            <a:pPr defTabSz="914400" eaLnBrk="1" hangingPunct="1">
              <a:lnSpc>
                <a:spcPct val="80000"/>
              </a:lnSpc>
              <a:spcBef>
                <a:spcPts val="875"/>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3200" dirty="0"/>
              <a:t>1. Physical</a:t>
            </a:r>
          </a:p>
          <a:p>
            <a:pPr defTabSz="914400" eaLnBrk="1" hangingPunct="1">
              <a:lnSpc>
                <a:spcPct val="80000"/>
              </a:lnSpc>
              <a:spcBef>
                <a:spcPts val="875"/>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3200" dirty="0"/>
              <a:t>2. Data Link </a:t>
            </a:r>
          </a:p>
          <a:p>
            <a:pPr defTabSz="914400" eaLnBrk="1" hangingPunct="1">
              <a:lnSpc>
                <a:spcPct val="80000"/>
              </a:lnSpc>
              <a:spcBef>
                <a:spcPts val="875"/>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3200" dirty="0"/>
              <a:t>3. Network</a:t>
            </a:r>
          </a:p>
          <a:p>
            <a:pPr defTabSz="914400" eaLnBrk="1" hangingPunct="1">
              <a:lnSpc>
                <a:spcPct val="80000"/>
              </a:lnSpc>
              <a:spcBef>
                <a:spcPts val="875"/>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3200" dirty="0"/>
              <a:t>4. Transport</a:t>
            </a:r>
          </a:p>
          <a:p>
            <a:pPr defTabSz="914400" eaLnBrk="1" hangingPunct="1">
              <a:lnSpc>
                <a:spcPct val="80000"/>
              </a:lnSpc>
              <a:spcBef>
                <a:spcPts val="875"/>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3200" dirty="0"/>
              <a:t>5. Session</a:t>
            </a:r>
          </a:p>
          <a:p>
            <a:pPr defTabSz="914400" eaLnBrk="1" hangingPunct="1">
              <a:lnSpc>
                <a:spcPct val="80000"/>
              </a:lnSpc>
              <a:spcBef>
                <a:spcPts val="875"/>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3200" dirty="0"/>
              <a:t>6. Presentation</a:t>
            </a:r>
          </a:p>
          <a:p>
            <a:pPr defTabSz="914400" eaLnBrk="1" hangingPunct="1">
              <a:lnSpc>
                <a:spcPct val="80000"/>
              </a:lnSpc>
              <a:spcBef>
                <a:spcPts val="875"/>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3200" dirty="0"/>
              <a:t>7. Application</a:t>
            </a:r>
          </a:p>
          <a:p>
            <a:pPr defTabSz="914400">
              <a:tabLst>
                <a:tab pos="911225" algn="l"/>
                <a:tab pos="1825625" algn="l"/>
                <a:tab pos="2740025" algn="l"/>
                <a:tab pos="3654425" algn="l"/>
                <a:tab pos="4568825" algn="l"/>
                <a:tab pos="5483225" algn="l"/>
                <a:tab pos="6397625" algn="l"/>
                <a:tab pos="7312025" algn="l"/>
                <a:tab pos="8226425" algn="l"/>
                <a:tab pos="9140825" algn="l"/>
                <a:tab pos="10055225" algn="l"/>
              </a:tabLst>
            </a:pPr>
            <a:endParaRPr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p:nvPr>
        </p:nvSpPr>
        <p:spPr>
          <a:xfrm>
            <a:off x="457200" y="381000"/>
            <a:ext cx="8229600" cy="609600"/>
          </a:xfrm>
        </p:spPr>
        <p:txBody>
          <a:bodyPr vert="horz" wrap="square" lIns="91440" tIns="45720" rIns="91440" bIns="45720" anchor="b" anchorCtr="0"/>
          <a:lstStyle/>
          <a:p>
            <a:r>
              <a:rPr dirty="0"/>
              <a:t>OSI Layers</a:t>
            </a:r>
          </a:p>
        </p:txBody>
      </p:sp>
      <p:sp>
        <p:nvSpPr>
          <p:cNvPr id="98307" name="Content Placeholder 2"/>
          <p:cNvSpPr>
            <a:spLocks noGrp="1"/>
          </p:cNvSpPr>
          <p:nvPr>
            <p:ph sz="quarter" idx="1"/>
          </p:nvPr>
        </p:nvSpPr>
        <p:spPr>
          <a:xfrm>
            <a:off x="457200" y="1219200"/>
            <a:ext cx="8229600" cy="5257800"/>
          </a:xfrm>
        </p:spPr>
        <p:txBody>
          <a:bodyPr vert="horz" wrap="square" lIns="91440" tIns="45720" rIns="91440" bIns="45720" anchor="t" anchorCtr="0"/>
          <a:lstStyle/>
          <a:p>
            <a:r>
              <a:rPr b="1" dirty="0"/>
              <a:t>Physical Layer</a:t>
            </a:r>
          </a:p>
          <a:p>
            <a:pPr eaLnBrk="1" hangingPunct="1"/>
            <a:r>
              <a:rPr lang="en-GB" altLang="x-none" dirty="0"/>
              <a:t>Deals With the Physical Connection Between the computers.</a:t>
            </a:r>
          </a:p>
          <a:p>
            <a:pPr eaLnBrk="1" hangingPunct="1"/>
            <a:r>
              <a:rPr lang="en-GB" altLang="x-none" dirty="0"/>
              <a:t> Provides specifications for building a physical infrastructure of a network …… TOPOLOGY</a:t>
            </a:r>
          </a:p>
          <a:p>
            <a:pPr eaLnBrk="1" hangingPunct="1">
              <a:lnSpc>
                <a:spcPct val="90000"/>
              </a:lnSpc>
              <a:spcBef>
                <a:spcPts val="675"/>
              </a:spcBef>
            </a:pPr>
            <a:r>
              <a:rPr lang="en-GB" altLang="x-none" sz="2700" dirty="0"/>
              <a:t>Physical Topologies</a:t>
            </a:r>
          </a:p>
          <a:p>
            <a:pPr lvl="1" eaLnBrk="1" hangingPunct="1">
              <a:lnSpc>
                <a:spcPct val="90000"/>
              </a:lnSpc>
              <a:spcBef>
                <a:spcPts val="550"/>
              </a:spcBef>
              <a:buFont typeface="Comic Sans MS" panose="030F0702030302020204" pitchFamily="66" charset="0"/>
              <a:buChar char="•"/>
            </a:pPr>
            <a:r>
              <a:rPr lang="en-GB" altLang="x-none" sz="2200" dirty="0"/>
              <a:t>Bus    </a:t>
            </a:r>
          </a:p>
          <a:p>
            <a:pPr lvl="1" eaLnBrk="1" hangingPunct="1">
              <a:lnSpc>
                <a:spcPct val="90000"/>
              </a:lnSpc>
              <a:spcBef>
                <a:spcPts val="550"/>
              </a:spcBef>
              <a:buFont typeface="Comic Sans MS" panose="030F0702030302020204" pitchFamily="66" charset="0"/>
              <a:buChar char="•"/>
            </a:pPr>
            <a:r>
              <a:rPr lang="en-GB" altLang="x-none" sz="2200" dirty="0"/>
              <a:t> Ring</a:t>
            </a:r>
          </a:p>
          <a:p>
            <a:pPr lvl="1" eaLnBrk="1" hangingPunct="1">
              <a:lnSpc>
                <a:spcPct val="90000"/>
              </a:lnSpc>
              <a:spcBef>
                <a:spcPts val="550"/>
              </a:spcBef>
              <a:buFont typeface="Comic Sans MS" panose="030F0702030302020204" pitchFamily="66" charset="0"/>
              <a:buChar char="•"/>
            </a:pPr>
            <a:r>
              <a:rPr lang="en-GB" altLang="x-none" sz="2200" dirty="0"/>
              <a:t>Star</a:t>
            </a:r>
          </a:p>
          <a:p>
            <a:pPr lvl="1" eaLnBrk="1" hangingPunct="1">
              <a:lnSpc>
                <a:spcPct val="90000"/>
              </a:lnSpc>
              <a:spcBef>
                <a:spcPts val="550"/>
              </a:spcBef>
              <a:buFont typeface="Comic Sans MS" panose="030F0702030302020204" pitchFamily="66" charset="0"/>
              <a:buChar char="•"/>
            </a:pPr>
            <a:r>
              <a:rPr lang="en-GB" altLang="x-none" sz="2200" dirty="0"/>
              <a:t>Extended Star</a:t>
            </a:r>
          </a:p>
          <a:p>
            <a:pPr lvl="1" eaLnBrk="1" hangingPunct="1">
              <a:lnSpc>
                <a:spcPct val="90000"/>
              </a:lnSpc>
              <a:spcBef>
                <a:spcPts val="550"/>
              </a:spcBef>
              <a:buFont typeface="Comic Sans MS" panose="030F0702030302020204" pitchFamily="66" charset="0"/>
              <a:buChar char="•"/>
            </a:pPr>
            <a:r>
              <a:rPr lang="en-GB" altLang="x-none" sz="2200" dirty="0"/>
              <a:t>Mesh</a:t>
            </a:r>
          </a:p>
          <a:p>
            <a:pPr lvl="1" eaLnBrk="1" hangingPunct="1">
              <a:lnSpc>
                <a:spcPct val="90000"/>
              </a:lnSpc>
              <a:spcBef>
                <a:spcPts val="550"/>
              </a:spcBef>
              <a:buFont typeface="Comic Sans MS" panose="030F0702030302020204" pitchFamily="66" charset="0"/>
              <a:buChar char="•"/>
            </a:pPr>
            <a:r>
              <a:rPr lang="en-GB" altLang="x-none" sz="2200" dirty="0"/>
              <a:t>Hybrid</a:t>
            </a:r>
            <a:endParaRPr lang="en-GB" altLang="x-none" dirty="0"/>
          </a:p>
          <a:p>
            <a:endParaRPr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txBox="1">
            <a:spLocks noGrp="1"/>
          </p:cNvSpPr>
          <p:nvPr>
            <p:ph type="sldNum" sz="quarter" idx="12"/>
          </p:nvPr>
        </p:nvSpPr>
        <p:spPr>
          <a:noFill/>
        </p:spPr>
        <p:txBody>
          <a:bodyPr vert="horz"/>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buNone/>
            </a:pPr>
            <a:fld id="{9A0DB2DC-4C9A-4742-B13C-FB6460FD3503}" type="slidenum">
              <a:rPr lang="en-GB" altLang="x-none" sz="1400" dirty="0">
                <a:solidFill>
                  <a:schemeClr val="tx2"/>
                </a:solidFill>
                <a:latin typeface="Gill Sans MT"/>
              </a:rPr>
              <a:t>89</a:t>
            </a:fld>
            <a:endParaRPr lang="en-GB" altLang="x-none" sz="1400" dirty="0">
              <a:solidFill>
                <a:schemeClr val="tx2"/>
              </a:solidFill>
              <a:latin typeface="Gill Sans MT"/>
            </a:endParaRPr>
          </a:p>
        </p:txBody>
      </p:sp>
      <p:sp>
        <p:nvSpPr>
          <p:cNvPr id="3076" name="Rectangle 1"/>
          <p:cNvSpPr>
            <a:spLocks noGrp="1" noChangeArrowheads="1"/>
          </p:cNvSpPr>
          <p:nvPr>
            <p:ph type="title"/>
          </p:nvPr>
        </p:nvSpPr>
        <p:spPr>
          <a:xfrm>
            <a:off x="457200" y="381000"/>
            <a:ext cx="7696200" cy="685800"/>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 typeface="Comic Sans MS" panose="030F0702030302020204"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3200" b="0" i="0" u="none" strike="noStrike" kern="1200" cap="none" spc="0" normalizeH="0" baseline="0" noProof="0" dirty="0" smtClean="0">
                <a:ln>
                  <a:noFill/>
                </a:ln>
                <a:solidFill>
                  <a:schemeClr val="tx2"/>
                </a:solidFill>
                <a:effectLst/>
                <a:uLnTx/>
                <a:uFillTx/>
                <a:latin typeface="+mn-lt"/>
                <a:ea typeface="+mj-ea"/>
                <a:cs typeface="Times New Roman" panose="02020603050405020304" pitchFamily="18" charset="0"/>
              </a:rPr>
              <a:t>Star Topology</a:t>
            </a:r>
          </a:p>
        </p:txBody>
      </p:sp>
      <p:graphicFrame>
        <p:nvGraphicFramePr>
          <p:cNvPr id="1026" name="Object 2"/>
          <p:cNvGraphicFramePr/>
          <p:nvPr/>
        </p:nvGraphicFramePr>
        <p:xfrm>
          <a:off x="1066800" y="1447800"/>
          <a:ext cx="6629400" cy="4170363"/>
        </p:xfrm>
        <a:graphic>
          <a:graphicData uri="http://schemas.openxmlformats.org/presentationml/2006/ole">
            <mc:AlternateContent xmlns:mc="http://schemas.openxmlformats.org/markup-compatibility/2006">
              <mc:Choice xmlns:v="urn:schemas-microsoft-com:vml" Requires="v">
                <p:oleObj spid="_x0000_s1027" r:id="rId4" imgW="5198110" imgH="5363845" progId="">
                  <p:embed/>
                </p:oleObj>
              </mc:Choice>
              <mc:Fallback>
                <p:oleObj r:id="rId4" imgW="5198110" imgH="5363845" progId="">
                  <p:embed/>
                  <p:pic>
                    <p:nvPicPr>
                      <p:cNvPr id="0" name="Picture 1"/>
                      <p:cNvPicPr/>
                      <p:nvPr/>
                    </p:nvPicPr>
                    <p:blipFill>
                      <a:blip r:embed="rId5"/>
                      <a:stretch>
                        <a:fillRect/>
                      </a:stretch>
                    </p:blipFill>
                    <p:spPr>
                      <a:xfrm>
                        <a:off x="1066800" y="1447800"/>
                        <a:ext cx="6629400" cy="4170363"/>
                      </a:xfrm>
                      <a:prstGeom prst="rect">
                        <a:avLst/>
                      </a:prstGeom>
                      <a:noFill/>
                      <a:ln w="38100">
                        <a:noFill/>
                        <a:miter/>
                      </a:ln>
                    </p:spPr>
                  </p:pic>
                </p:oleObj>
              </mc:Fallback>
            </mc:AlternateContent>
          </a:graphicData>
        </a:graphic>
      </p:graphicFrame>
    </p:spTree>
  </p:cSld>
  <p:clrMapOvr>
    <a:masterClrMapping/>
  </p:clrMapOvr>
  <p:transition spd="med"/>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txBox="1">
            <a:spLocks noGrp="1"/>
          </p:cNvSpPr>
          <p:nvPr>
            <p:ph type="sldNum" sz="quarter" idx="12"/>
          </p:nvPr>
        </p:nvSpPr>
        <p:spPr>
          <a:noFill/>
        </p:spPr>
        <p:txBody>
          <a:bodyPr vert="horz"/>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buNone/>
            </a:pPr>
            <a:fld id="{9A0DB2DC-4C9A-4742-B13C-FB6460FD3503}" type="slidenum">
              <a:rPr lang="en-GB" altLang="x-none" sz="1400" dirty="0">
                <a:solidFill>
                  <a:schemeClr val="tx2"/>
                </a:solidFill>
                <a:latin typeface="Gill Sans MT"/>
              </a:rPr>
              <a:t>90</a:t>
            </a:fld>
            <a:endParaRPr lang="en-GB" altLang="x-none" sz="1400" dirty="0">
              <a:solidFill>
                <a:schemeClr val="tx2"/>
              </a:solidFill>
              <a:latin typeface="Gill Sans MT"/>
            </a:endParaRPr>
          </a:p>
        </p:txBody>
      </p:sp>
      <p:sp>
        <p:nvSpPr>
          <p:cNvPr id="32771" name="Rectangle 1"/>
          <p:cNvSpPr>
            <a:spLocks noGrp="1" noChangeArrowheads="1"/>
          </p:cNvSpPr>
          <p:nvPr>
            <p:ph type="title"/>
          </p:nvPr>
        </p:nvSpPr>
        <p:spPr>
          <a:xfrm>
            <a:off x="457200" y="533400"/>
            <a:ext cx="7696200" cy="457200"/>
          </a:xfrm>
        </p:spPr>
        <p:txBody>
          <a:bodyPr vert="horz" wrap="square" lIns="91440" tIns="45720" rIns="91440" bIns="45720" numCol="1" anchor="b" anchorCtr="0" compatLnSpc="1"/>
          <a:lstStyle/>
          <a:p>
            <a:pPr defTabSz="914400" eaLnBrk="1" hangingPunct="1">
              <a:buFont typeface="Comic Sans MS" panose="030F0702030302020204"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dirty="0">
                <a:latin typeface="Gill Sans MT"/>
                <a:cs typeface="Times New Roman" panose="02020603050405020304" pitchFamily="18" charset="0"/>
              </a:rPr>
              <a:t>Star Topology‏</a:t>
            </a:r>
            <a:endParaRPr lang="en-GB" altLang="x-none" dirty="0">
              <a:latin typeface="Gill Sans MT"/>
              <a:ea typeface="Times New Roman" panose="02020603050405020304" pitchFamily="18" charset="0"/>
            </a:endParaRPr>
          </a:p>
        </p:txBody>
      </p:sp>
      <p:sp>
        <p:nvSpPr>
          <p:cNvPr id="28674" name="Rectangle 2"/>
          <p:cNvSpPr>
            <a:spLocks noGrp="1"/>
          </p:cNvSpPr>
          <p:nvPr>
            <p:ph type="body" idx="4294967295"/>
          </p:nvPr>
        </p:nvSpPr>
        <p:spPr>
          <a:xfrm>
            <a:off x="533400" y="1295400"/>
            <a:ext cx="8077200" cy="5029200"/>
          </a:xfrm>
        </p:spPr>
        <p:txBody>
          <a:bodyPr vert="horz" wrap="square" lIns="91440" tIns="45720" rIns="91440" bIns="45720" anchor="t" anchorCtr="0"/>
          <a:lstStyle/>
          <a:p>
            <a:pPr defTabSz="914400" eaLnBrk="1" hangingPunct="1">
              <a:lnSpc>
                <a:spcPct val="90000"/>
              </a:lnSpc>
              <a:spcBef>
                <a:spcPts val="675"/>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700" dirty="0">
                <a:cs typeface="Times New Roman" panose="02020603050405020304" pitchFamily="18" charset="0"/>
              </a:rPr>
              <a:t>Like the spokes of a wheel</a:t>
            </a:r>
          </a:p>
          <a:p>
            <a:pPr defTabSz="914400" eaLnBrk="1" hangingPunct="1">
              <a:lnSpc>
                <a:spcPct val="90000"/>
              </a:lnSpc>
              <a:spcBef>
                <a:spcPts val="675"/>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2700" dirty="0">
              <a:cs typeface="Times New Roman" panose="02020603050405020304" pitchFamily="18" charset="0"/>
            </a:endParaRPr>
          </a:p>
          <a:p>
            <a:pPr defTabSz="914400" eaLnBrk="1" hangingPunct="1">
              <a:lnSpc>
                <a:spcPct val="90000"/>
              </a:lnSpc>
              <a:spcBef>
                <a:spcPts val="675"/>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700" dirty="0">
                <a:cs typeface="Times New Roman" panose="02020603050405020304" pitchFamily="18" charset="0"/>
              </a:rPr>
              <a:t>Centre point is a Hub</a:t>
            </a:r>
          </a:p>
          <a:p>
            <a:pPr defTabSz="914400" eaLnBrk="1" hangingPunct="1">
              <a:lnSpc>
                <a:spcPct val="90000"/>
              </a:lnSpc>
              <a:spcBef>
                <a:spcPts val="675"/>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2700" dirty="0">
              <a:cs typeface="Times New Roman" panose="02020603050405020304" pitchFamily="18" charset="0"/>
            </a:endParaRPr>
          </a:p>
          <a:p>
            <a:pPr defTabSz="914400" eaLnBrk="1" hangingPunct="1">
              <a:lnSpc>
                <a:spcPct val="90000"/>
              </a:lnSpc>
              <a:spcBef>
                <a:spcPts val="675"/>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700" dirty="0">
                <a:cs typeface="Times New Roman" panose="02020603050405020304" pitchFamily="18" charset="0"/>
              </a:rPr>
              <a:t>Segments meet at the Hub</a:t>
            </a:r>
          </a:p>
          <a:p>
            <a:pPr defTabSz="914400" eaLnBrk="1" hangingPunct="1">
              <a:lnSpc>
                <a:spcPct val="90000"/>
              </a:lnSpc>
              <a:spcBef>
                <a:spcPts val="675"/>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2700" dirty="0">
              <a:cs typeface="Times New Roman" panose="02020603050405020304" pitchFamily="18" charset="0"/>
            </a:endParaRPr>
          </a:p>
          <a:p>
            <a:pPr defTabSz="914400" eaLnBrk="1" hangingPunct="1">
              <a:lnSpc>
                <a:spcPct val="90000"/>
              </a:lnSpc>
              <a:spcBef>
                <a:spcPts val="675"/>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700" dirty="0">
                <a:cs typeface="Times New Roman" panose="02020603050405020304" pitchFamily="18" charset="0"/>
              </a:rPr>
              <a:t>Each device needs its own cable to the Hub</a:t>
            </a:r>
          </a:p>
          <a:p>
            <a:pPr defTabSz="914400" eaLnBrk="1" hangingPunct="1">
              <a:lnSpc>
                <a:spcPct val="90000"/>
              </a:lnSpc>
              <a:spcBef>
                <a:spcPts val="675"/>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2700" dirty="0">
              <a:cs typeface="Times New Roman" panose="02020603050405020304" pitchFamily="18" charset="0"/>
            </a:endParaRPr>
          </a:p>
          <a:p>
            <a:pPr defTabSz="914400" eaLnBrk="1" hangingPunct="1">
              <a:lnSpc>
                <a:spcPct val="90000"/>
              </a:lnSpc>
              <a:spcBef>
                <a:spcPts val="675"/>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700" dirty="0">
                <a:cs typeface="Times New Roman" panose="02020603050405020304" pitchFamily="18" charset="0"/>
              </a:rPr>
              <a:t>Predominant type of topology</a:t>
            </a:r>
          </a:p>
          <a:p>
            <a:pPr defTabSz="914400" eaLnBrk="1" hangingPunct="1">
              <a:lnSpc>
                <a:spcPct val="90000"/>
              </a:lnSpc>
              <a:spcBef>
                <a:spcPts val="675"/>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x-none" sz="2700" dirty="0">
              <a:cs typeface="Times New Roman" panose="02020603050405020304" pitchFamily="18" charset="0"/>
            </a:endParaRPr>
          </a:p>
          <a:p>
            <a:pPr defTabSz="914400" eaLnBrk="1" hangingPunct="1">
              <a:lnSpc>
                <a:spcPct val="90000"/>
              </a:lnSpc>
              <a:spcBef>
                <a:spcPts val="675"/>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700" dirty="0">
                <a:cs typeface="Times New Roman" panose="02020603050405020304" pitchFamily="18" charset="0"/>
              </a:rPr>
              <a:t>Easy to maintain and expand</a:t>
            </a:r>
            <a:endParaRPr lang="en-GB" altLang="x-none" sz="2700" dirty="0">
              <a:ea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additive="repl">
                                        <p:cTn id="6" dur="1" fill="hold">
                                          <p:stCondLst>
                                            <p:cond delay="0"/>
                                          </p:stCondLst>
                                        </p:cTn>
                                        <p:tgtEl>
                                          <p:spTgt spid="28674">
                                            <p:txEl>
                                              <p:charRg st="0" end="50"/>
                                            </p:txEl>
                                          </p:spTgt>
                                        </p:tgtEl>
                                        <p:attrNameLst>
                                          <p:attrName>style.visibility</p:attrName>
                                        </p:attrNameLst>
                                      </p:cBhvr>
                                      <p:to>
                                        <p:strVal val="visible"/>
                                      </p:to>
                                    </p:set>
                                    <p:anim calcmode="lin" valueType="num">
                                      <p:cBhvr>
                                        <p:cTn id="7" dur="500" fill="hold"/>
                                        <p:tgtEl>
                                          <p:spTgt spid="28674">
                                            <p:txEl>
                                              <p:charRg st="0" end="50"/>
                                            </p:txEl>
                                          </p:spTgt>
                                        </p:tgtEl>
                                        <p:attrNameLst>
                                          <p:attrName>ppt_x</p:attrName>
                                        </p:attrNameLst>
                                      </p:cBhvr>
                                      <p:tavLst>
                                        <p:tav tm="100000">
                                          <p:val>
                                            <p:strVal val="#ppt_x"/>
                                          </p:val>
                                        </p:tav>
                                        <p:tav>
                                          <p:val>
                                            <p:strVal val="#ppt_x"/>
                                          </p:val>
                                        </p:tav>
                                      </p:tavLst>
                                    </p:anim>
                                    <p:anim calcmode="lin" valueType="num">
                                      <p:cBhvr>
                                        <p:cTn id="8" dur="500" fill="hold"/>
                                        <p:tgtEl>
                                          <p:spTgt spid="28674">
                                            <p:txEl>
                                              <p:charRg st="0" end="50"/>
                                            </p:txEl>
                                          </p:spTgt>
                                        </p:tgtEl>
                                        <p:attrNameLst>
                                          <p:attrName>ppt_y</p:attrName>
                                        </p:attrNameLst>
                                      </p:cBhvr>
                                      <p:tavLst>
                                        <p:tav tm="100000">
                                          <p:val>
                                            <p:strVal val="1+#ppt_h/2"/>
                                          </p:val>
                                        </p:tav>
                                        <p:tav>
                                          <p:val>
                                            <p:strVal val="#ppt_y"/>
                                          </p:val>
                                        </p:tav>
                                      </p:tavLst>
                                    </p:anim>
                                  </p:childTnLst>
                                  <p:subTnLst>
                                    <p:animClr clrSpc="rgb" dir="cw">
                                      <p:cBhvr override="childStyle">
                                        <p:cTn dur="1" fill="hold" display="0" masterRel="nextClick" afterEffect="1"/>
                                        <p:tgtEl>
                                          <p:spTgt spid="28674">
                                            <p:txEl>
                                              <p:charRg st="0" end="50"/>
                                            </p:txEl>
                                          </p:spTgt>
                                        </p:tgtEl>
                                        <p:attrNameLst>
                                          <p:attrName>ppt_c</p:attrName>
                                        </p:attrNameLst>
                                      </p:cBhvr>
                                      <p:to>
                                        <a:srgbClr val="00CDCC"/>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additive="repl">
                                        <p:cTn id="12" dur="1" fill="hold">
                                          <p:stCondLst>
                                            <p:cond delay="0"/>
                                          </p:stCondLst>
                                        </p:cTn>
                                        <p:tgtEl>
                                          <p:spTgt spid="28674">
                                            <p:txEl>
                                              <p:charRg st="72" end="97"/>
                                            </p:txEl>
                                          </p:spTgt>
                                        </p:tgtEl>
                                        <p:attrNameLst>
                                          <p:attrName>style.visibility</p:attrName>
                                        </p:attrNameLst>
                                      </p:cBhvr>
                                      <p:to>
                                        <p:strVal val="visible"/>
                                      </p:to>
                                    </p:set>
                                    <p:anim calcmode="lin" valueType="num">
                                      <p:cBhvr>
                                        <p:cTn id="13" dur="500" fill="hold"/>
                                        <p:tgtEl>
                                          <p:spTgt spid="28674">
                                            <p:txEl>
                                              <p:charRg st="72" end="97"/>
                                            </p:txEl>
                                          </p:spTgt>
                                        </p:tgtEl>
                                        <p:attrNameLst>
                                          <p:attrName>ppt_x</p:attrName>
                                        </p:attrNameLst>
                                      </p:cBhvr>
                                      <p:tavLst>
                                        <p:tav tm="100000">
                                          <p:val>
                                            <p:strVal val="#ppt_x"/>
                                          </p:val>
                                        </p:tav>
                                        <p:tav>
                                          <p:val>
                                            <p:strVal val="#ppt_x"/>
                                          </p:val>
                                        </p:tav>
                                      </p:tavLst>
                                    </p:anim>
                                    <p:anim calcmode="lin" valueType="num">
                                      <p:cBhvr>
                                        <p:cTn id="14" dur="500" fill="hold"/>
                                        <p:tgtEl>
                                          <p:spTgt spid="28674">
                                            <p:txEl>
                                              <p:charRg st="72" end="97"/>
                                            </p:txEl>
                                          </p:spTgt>
                                        </p:tgtEl>
                                        <p:attrNameLst>
                                          <p:attrName>ppt_y</p:attrName>
                                        </p:attrNameLst>
                                      </p:cBhvr>
                                      <p:tavLst>
                                        <p:tav tm="100000">
                                          <p:val>
                                            <p:strVal val="1+#ppt_h/2"/>
                                          </p:val>
                                        </p:tav>
                                        <p:tav>
                                          <p:val>
                                            <p:strVal val="#ppt_y"/>
                                          </p:val>
                                        </p:tav>
                                      </p:tavLst>
                                    </p:anim>
                                  </p:childTnLst>
                                  <p:subTnLst>
                                    <p:animClr clrSpc="rgb" dir="cw">
                                      <p:cBhvr override="childStyle">
                                        <p:cTn dur="1" fill="hold" display="0" masterRel="nextClick" afterEffect="1"/>
                                        <p:tgtEl>
                                          <p:spTgt spid="28674">
                                            <p:txEl>
                                              <p:charRg st="72" end="97"/>
                                            </p:txEl>
                                          </p:spTgt>
                                        </p:tgtEl>
                                        <p:attrNameLst>
                                          <p:attrName>ppt_c</p:attrName>
                                        </p:attrNameLst>
                                      </p:cBhvr>
                                      <p:to>
                                        <a:srgbClr val="00CDCC"/>
                                      </p:to>
                                    </p:animClr>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additive="repl">
                                        <p:cTn id="18" dur="1" fill="hold">
                                          <p:stCondLst>
                                            <p:cond delay="0"/>
                                          </p:stCondLst>
                                        </p:cTn>
                                        <p:tgtEl>
                                          <p:spTgt spid="28674">
                                            <p:txEl>
                                              <p:charRg st="140" end="169"/>
                                            </p:txEl>
                                          </p:spTgt>
                                        </p:tgtEl>
                                        <p:attrNameLst>
                                          <p:attrName>style.visibility</p:attrName>
                                        </p:attrNameLst>
                                      </p:cBhvr>
                                      <p:to>
                                        <p:strVal val="visible"/>
                                      </p:to>
                                    </p:set>
                                    <p:anim calcmode="lin" valueType="num">
                                      <p:cBhvr>
                                        <p:cTn id="19" dur="500" fill="hold"/>
                                        <p:tgtEl>
                                          <p:spTgt spid="28674">
                                            <p:txEl>
                                              <p:charRg st="140" end="169"/>
                                            </p:txEl>
                                          </p:spTgt>
                                        </p:tgtEl>
                                        <p:attrNameLst>
                                          <p:attrName>ppt_x</p:attrName>
                                        </p:attrNameLst>
                                      </p:cBhvr>
                                      <p:tavLst>
                                        <p:tav tm="100000">
                                          <p:val>
                                            <p:strVal val="#ppt_x"/>
                                          </p:val>
                                        </p:tav>
                                        <p:tav>
                                          <p:val>
                                            <p:strVal val="#ppt_x"/>
                                          </p:val>
                                        </p:tav>
                                      </p:tavLst>
                                    </p:anim>
                                    <p:anim calcmode="lin" valueType="num">
                                      <p:cBhvr>
                                        <p:cTn id="20" dur="500" fill="hold"/>
                                        <p:tgtEl>
                                          <p:spTgt spid="28674">
                                            <p:txEl>
                                              <p:charRg st="140" end="169"/>
                                            </p:txEl>
                                          </p:spTgt>
                                        </p:tgtEl>
                                        <p:attrNameLst>
                                          <p:attrName>ppt_y</p:attrName>
                                        </p:attrNameLst>
                                      </p:cBhvr>
                                      <p:tavLst>
                                        <p:tav tm="100000">
                                          <p:val>
                                            <p:strVal val="1+#ppt_h/2"/>
                                          </p:val>
                                        </p:tav>
                                        <p:tav>
                                          <p:val>
                                            <p:strVal val="#ppt_y"/>
                                          </p:val>
                                        </p:tav>
                                      </p:tavLst>
                                    </p:anim>
                                  </p:childTnLst>
                                  <p:subTnLst>
                                    <p:animClr clrSpc="rgb" dir="cw">
                                      <p:cBhvr override="childStyle">
                                        <p:cTn dur="1" fill="hold" display="0" masterRel="nextClick" afterEffect="1"/>
                                        <p:tgtEl>
                                          <p:spTgt spid="28674">
                                            <p:txEl>
                                              <p:charRg st="140" end="169"/>
                                            </p:txEl>
                                          </p:spTgt>
                                        </p:tgtEl>
                                        <p:attrNameLst>
                                          <p:attrName>ppt_c</p:attrName>
                                        </p:attrNameLst>
                                      </p:cBhvr>
                                      <p:to>
                                        <a:srgbClr val="00CDCC"/>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txBox="1">
            <a:spLocks noGrp="1"/>
          </p:cNvSpPr>
          <p:nvPr>
            <p:ph type="sldNum" sz="quarter" idx="12"/>
          </p:nvPr>
        </p:nvSpPr>
        <p:spPr>
          <a:noFill/>
        </p:spPr>
        <p:txBody>
          <a:bodyPr vert="horz"/>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buNone/>
            </a:pPr>
            <a:fld id="{9A0DB2DC-4C9A-4742-B13C-FB6460FD3503}" type="slidenum">
              <a:rPr lang="en-GB" altLang="x-none" sz="1400" dirty="0">
                <a:solidFill>
                  <a:schemeClr val="tx2"/>
                </a:solidFill>
                <a:latin typeface="Gill Sans MT"/>
              </a:rPr>
              <a:t>91</a:t>
            </a:fld>
            <a:endParaRPr lang="en-GB" altLang="x-none" sz="1400" dirty="0">
              <a:solidFill>
                <a:schemeClr val="tx2"/>
              </a:solidFill>
              <a:latin typeface="Gill Sans MT"/>
            </a:endParaRPr>
          </a:p>
        </p:txBody>
      </p:sp>
      <p:sp>
        <p:nvSpPr>
          <p:cNvPr id="33795" name="Rectangle 1"/>
          <p:cNvSpPr>
            <a:spLocks noGrp="1" noChangeArrowheads="1"/>
          </p:cNvSpPr>
          <p:nvPr>
            <p:ph type="title"/>
          </p:nvPr>
        </p:nvSpPr>
        <p:spPr>
          <a:xfrm>
            <a:off x="457200" y="457200"/>
            <a:ext cx="7696200" cy="609600"/>
          </a:xfrm>
        </p:spPr>
        <p:txBody>
          <a:bodyPr vert="horz" wrap="square" lIns="91440" tIns="45720" rIns="91440" bIns="45720" numCol="1" anchor="b" anchorCtr="0" compatLnSpc="1"/>
          <a:lstStyle/>
          <a:p>
            <a:pPr defTabSz="914400" eaLnBrk="1" hangingPunct="1">
              <a:buFont typeface="Comic Sans MS" panose="030F0702030302020204" pitchFamily="6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3700" dirty="0">
                <a:latin typeface="Gill Sans MT"/>
                <a:cs typeface="Times New Roman" panose="02020603050405020304" pitchFamily="18" charset="0"/>
              </a:rPr>
              <a:t>Star Topology ‏</a:t>
            </a:r>
            <a:endParaRPr lang="en-GB" altLang="x-none" sz="3700" dirty="0">
              <a:latin typeface="Gill Sans MT"/>
              <a:ea typeface="Times New Roman" panose="02020603050405020304" pitchFamily="18" charset="0"/>
            </a:endParaRPr>
          </a:p>
        </p:txBody>
      </p:sp>
      <p:sp>
        <p:nvSpPr>
          <p:cNvPr id="100356" name="Rectangle 2"/>
          <p:cNvSpPr>
            <a:spLocks noGrp="1"/>
          </p:cNvSpPr>
          <p:nvPr>
            <p:ph type="body" idx="4294967295"/>
          </p:nvPr>
        </p:nvSpPr>
        <p:spPr>
          <a:xfrm>
            <a:off x="609600" y="1371600"/>
            <a:ext cx="4043363" cy="4572000"/>
          </a:xfrm>
        </p:spPr>
        <p:txBody>
          <a:bodyPr vert="horz" wrap="square" lIns="91440" tIns="45720" rIns="91440" bIns="45720" anchor="t" anchorCtr="0"/>
          <a:lstStyle/>
          <a:p>
            <a:pPr defTabSz="914400" eaLnBrk="1" hangingPunct="1">
              <a:lnSpc>
                <a:spcPct val="8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000" b="1" dirty="0">
                <a:cs typeface="Times New Roman" panose="02020603050405020304" pitchFamily="18" charset="0"/>
              </a:rPr>
              <a:t>Advantages</a:t>
            </a:r>
          </a:p>
          <a:p>
            <a:pPr defTabSz="914400" eaLnBrk="1" hangingPunct="1">
              <a:lnSpc>
                <a:spcPct val="8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000" dirty="0">
                <a:cs typeface="Times New Roman" panose="02020603050405020304" pitchFamily="18" charset="0"/>
              </a:rPr>
              <a:t>Easy to add devices as the network expands</a:t>
            </a:r>
          </a:p>
          <a:p>
            <a:pPr defTabSz="914400" eaLnBrk="1" hangingPunct="1">
              <a:lnSpc>
                <a:spcPct val="8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000" dirty="0">
                <a:cs typeface="Times New Roman" panose="02020603050405020304" pitchFamily="18" charset="0"/>
              </a:rPr>
              <a:t>One cable failure does not bring down the entire network (resilience)</a:t>
            </a:r>
            <a:r>
              <a:rPr lang="ar-SA" altLang="x-none" sz="2000" dirty="0">
                <a:cs typeface="Times New Roman" panose="02020603050405020304" pitchFamily="18" charset="0"/>
              </a:rPr>
              <a:t>‏</a:t>
            </a:r>
            <a:endParaRPr lang="en-GB" altLang="x-none" sz="2000" dirty="0">
              <a:cs typeface="Times New Roman" panose="02020603050405020304" pitchFamily="18" charset="0"/>
            </a:endParaRPr>
          </a:p>
          <a:p>
            <a:pPr defTabSz="914400" eaLnBrk="1" hangingPunct="1">
              <a:lnSpc>
                <a:spcPct val="8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000" dirty="0">
                <a:cs typeface="Times New Roman" panose="02020603050405020304" pitchFamily="18" charset="0"/>
              </a:rPr>
              <a:t>Hub provides centralised management</a:t>
            </a:r>
          </a:p>
          <a:p>
            <a:pPr defTabSz="914400" eaLnBrk="1" hangingPunct="1">
              <a:lnSpc>
                <a:spcPct val="8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000" dirty="0">
                <a:cs typeface="Times New Roman" panose="02020603050405020304" pitchFamily="18" charset="0"/>
              </a:rPr>
              <a:t>Easy to find device and cable problems</a:t>
            </a:r>
          </a:p>
          <a:p>
            <a:pPr defTabSz="914400" eaLnBrk="1" hangingPunct="1">
              <a:lnSpc>
                <a:spcPct val="8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000" dirty="0">
                <a:cs typeface="Times New Roman" panose="02020603050405020304" pitchFamily="18" charset="0"/>
              </a:rPr>
              <a:t>Can be upgraded to faster speeds</a:t>
            </a:r>
          </a:p>
          <a:p>
            <a:pPr defTabSz="914400" eaLnBrk="1" hangingPunct="1">
              <a:lnSpc>
                <a:spcPct val="8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000" dirty="0">
                <a:cs typeface="Times New Roman" panose="02020603050405020304" pitchFamily="18" charset="0"/>
              </a:rPr>
              <a:t>Lots of support as it is the most used</a:t>
            </a:r>
            <a:endParaRPr lang="en-GB" altLang="x-none" sz="2000" dirty="0">
              <a:ea typeface="Times New Roman" panose="02020603050405020304" pitchFamily="18" charset="0"/>
            </a:endParaRPr>
          </a:p>
        </p:txBody>
      </p:sp>
      <p:sp>
        <p:nvSpPr>
          <p:cNvPr id="33797" name="Rectangle 3"/>
          <p:cNvSpPr>
            <a:spLocks noChangeArrowheads="1"/>
          </p:cNvSpPr>
          <p:nvPr/>
        </p:nvSpPr>
        <p:spPr bwMode="auto">
          <a:xfrm>
            <a:off x="4800600" y="1371600"/>
            <a:ext cx="4076700" cy="4111625"/>
          </a:xfrm>
          <a:prstGeom prst="rect">
            <a:avLst/>
          </a:prstGeom>
          <a:noFill/>
          <a:ln w="9525">
            <a:noFill/>
            <a:round/>
          </a:ln>
        </p:spPr>
        <p:txBody>
          <a:bodyPr lIns="92160" tIns="46080" rIns="92160" bIns="46080"/>
          <a:lstStyle/>
          <a:p>
            <a:pPr marL="341630" marR="0" lvl="0" indent="-341630" algn="l" defTabSz="914400" rtl="0" eaLnBrk="1" fontAlgn="base" latinLnBrk="0" hangingPunct="1">
              <a:lnSpc>
                <a:spcPct val="80000"/>
              </a:lnSpc>
              <a:spcBef>
                <a:spcPts val="500"/>
              </a:spcBef>
              <a:spcAft>
                <a:spcPct val="0"/>
              </a:spcAft>
              <a:buClr>
                <a:srgbClr val="CCCC99"/>
              </a:buClr>
              <a:buSzPct val="70000"/>
              <a:buFont typeface="Wingdings" panose="05000000000000000000" pitchFamily="2" charset="2"/>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GB" sz="2000" b="1" i="0" u="none" strike="noStrike" kern="1200" cap="none" spc="0" normalizeH="0" baseline="0" noProof="0" dirty="0">
                <a:ln>
                  <a:noFill/>
                </a:ln>
                <a:solidFill>
                  <a:srgbClr val="000000"/>
                </a:solidFill>
                <a:effectLst/>
                <a:uLnTx/>
                <a:uFillTx/>
                <a:latin typeface="+mn-lt"/>
                <a:ea typeface="+mn-ea"/>
                <a:cs typeface="Times New Roman" panose="02020603050405020304" pitchFamily="18" charset="0"/>
              </a:rPr>
              <a:t>Disadvantages</a:t>
            </a:r>
          </a:p>
          <a:p>
            <a:pPr marL="341630" marR="0" lvl="0" indent="-341630" algn="l" defTabSz="914400" rtl="0" eaLnBrk="1" fontAlgn="base" latinLnBrk="0" hangingPunct="1">
              <a:lnSpc>
                <a:spcPct val="80000"/>
              </a:lnSpc>
              <a:spcBef>
                <a:spcPts val="500"/>
              </a:spcBef>
              <a:spcAft>
                <a:spcPct val="0"/>
              </a:spcAft>
              <a:buClr>
                <a:srgbClr val="CCCC99"/>
              </a:buClr>
              <a:buSzPct val="70000"/>
              <a:buFont typeface="Wingdings" panose="05000000000000000000" pitchFamily="2" charset="2"/>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GB" sz="2000" b="0" i="0" u="none" strike="noStrike" kern="1200" cap="none" spc="0" normalizeH="0" baseline="0" noProof="0" dirty="0">
                <a:ln>
                  <a:noFill/>
                </a:ln>
                <a:solidFill>
                  <a:srgbClr val="000000"/>
                </a:solidFill>
                <a:effectLst/>
                <a:uLnTx/>
                <a:uFillTx/>
                <a:latin typeface="+mn-lt"/>
                <a:ea typeface="+mn-ea"/>
                <a:cs typeface="Times New Roman" panose="02020603050405020304" pitchFamily="18" charset="0"/>
              </a:rPr>
              <a:t>A star network requires more cable than a ring or bus network</a:t>
            </a:r>
          </a:p>
          <a:p>
            <a:pPr marL="341630" marR="0" lvl="0" indent="-341630" algn="l" defTabSz="914400" rtl="0" eaLnBrk="1" fontAlgn="base" latinLnBrk="0" hangingPunct="1">
              <a:lnSpc>
                <a:spcPct val="80000"/>
              </a:lnSpc>
              <a:spcBef>
                <a:spcPts val="500"/>
              </a:spcBef>
              <a:spcAft>
                <a:spcPct val="0"/>
              </a:spcAft>
              <a:buClr>
                <a:srgbClr val="CCCC99"/>
              </a:buClr>
              <a:buSzPct val="70000"/>
              <a:buFont typeface="Wingdings" panose="05000000000000000000" pitchFamily="2" charset="2"/>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endParaRPr kumimoji="0" lang="en-GB" sz="2000" b="0" i="0" u="none" strike="noStrike" kern="1200" cap="none" spc="0" normalizeH="0" baseline="0" noProof="0" dirty="0">
              <a:ln>
                <a:noFill/>
              </a:ln>
              <a:solidFill>
                <a:srgbClr val="000000"/>
              </a:solidFill>
              <a:effectLst/>
              <a:uLnTx/>
              <a:uFillTx/>
              <a:latin typeface="+mn-lt"/>
              <a:ea typeface="+mn-ea"/>
              <a:cs typeface="Times New Roman" panose="02020603050405020304" pitchFamily="18" charset="0"/>
            </a:endParaRPr>
          </a:p>
          <a:p>
            <a:pPr marL="341630" marR="0" lvl="0" indent="-341630" algn="l" defTabSz="914400" rtl="0" eaLnBrk="1" fontAlgn="base" latinLnBrk="0" hangingPunct="1">
              <a:lnSpc>
                <a:spcPct val="80000"/>
              </a:lnSpc>
              <a:spcBef>
                <a:spcPts val="500"/>
              </a:spcBef>
              <a:spcAft>
                <a:spcPct val="0"/>
              </a:spcAft>
              <a:buClr>
                <a:srgbClr val="CCCC99"/>
              </a:buClr>
              <a:buSzPct val="70000"/>
              <a:buFont typeface="Wingdings" panose="05000000000000000000" pitchFamily="2" charset="2"/>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GB" sz="2000" b="0" i="0" u="none" strike="noStrike" kern="1200" cap="none" spc="0" normalizeH="0" baseline="0" noProof="0" dirty="0">
                <a:ln>
                  <a:noFill/>
                </a:ln>
                <a:solidFill>
                  <a:srgbClr val="000000"/>
                </a:solidFill>
                <a:effectLst/>
                <a:uLnTx/>
                <a:uFillTx/>
                <a:latin typeface="+mn-lt"/>
                <a:ea typeface="+mn-ea"/>
                <a:cs typeface="Times New Roman" panose="02020603050405020304" pitchFamily="18" charset="0"/>
              </a:rPr>
              <a:t>Failure of the central hub can bring down the entire network</a:t>
            </a:r>
          </a:p>
          <a:p>
            <a:pPr marL="341630" marR="0" lvl="0" indent="-341630" algn="l" defTabSz="914400" rtl="0" eaLnBrk="1" fontAlgn="base" latinLnBrk="0" hangingPunct="1">
              <a:lnSpc>
                <a:spcPct val="80000"/>
              </a:lnSpc>
              <a:spcBef>
                <a:spcPts val="500"/>
              </a:spcBef>
              <a:spcAft>
                <a:spcPct val="0"/>
              </a:spcAft>
              <a:buClr>
                <a:srgbClr val="CCCC99"/>
              </a:buClr>
              <a:buSzPct val="70000"/>
              <a:buFont typeface="Wingdings" panose="05000000000000000000" pitchFamily="2" charset="2"/>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endParaRPr kumimoji="0" lang="en-GB" sz="2000" b="0" i="0" u="none" strike="noStrike" kern="1200" cap="none" spc="0" normalizeH="0" baseline="0" noProof="0" dirty="0">
              <a:ln>
                <a:noFill/>
              </a:ln>
              <a:solidFill>
                <a:srgbClr val="000000"/>
              </a:solidFill>
              <a:effectLst/>
              <a:uLnTx/>
              <a:uFillTx/>
              <a:latin typeface="+mn-lt"/>
              <a:ea typeface="+mn-ea"/>
              <a:cs typeface="Times New Roman" panose="02020603050405020304" pitchFamily="18" charset="0"/>
            </a:endParaRPr>
          </a:p>
          <a:p>
            <a:pPr marL="341630" marR="0" lvl="0" indent="-341630" algn="l" defTabSz="914400" rtl="0" eaLnBrk="1" fontAlgn="base" latinLnBrk="0" hangingPunct="1">
              <a:lnSpc>
                <a:spcPct val="80000"/>
              </a:lnSpc>
              <a:spcBef>
                <a:spcPts val="500"/>
              </a:spcBef>
              <a:spcAft>
                <a:spcPct val="0"/>
              </a:spcAft>
              <a:buClr>
                <a:srgbClr val="CCCC99"/>
              </a:buClr>
              <a:buSzPct val="70000"/>
              <a:buFont typeface="Wingdings" panose="05000000000000000000" pitchFamily="2" charset="2"/>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GB" sz="2000" b="0" i="0" u="none" strike="noStrike" kern="1200" cap="none" spc="0" normalizeH="0" baseline="0" noProof="0" dirty="0">
                <a:ln>
                  <a:noFill/>
                </a:ln>
                <a:solidFill>
                  <a:srgbClr val="000000"/>
                </a:solidFill>
                <a:effectLst/>
                <a:uLnTx/>
                <a:uFillTx/>
                <a:latin typeface="+mn-lt"/>
                <a:ea typeface="+mn-ea"/>
                <a:cs typeface="Times New Roman" panose="02020603050405020304" pitchFamily="18" charset="0"/>
              </a:rPr>
              <a:t>Costs are higher (installation and equipment) than for most bus networks</a:t>
            </a:r>
          </a:p>
        </p:txBody>
      </p:sp>
    </p:spTree>
  </p:cSld>
  <p:clrMapOvr>
    <a:masterClrMapping/>
  </p:clrMapOvr>
  <p:transition spd="med"/>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p:cNvSpPr>
            <a:spLocks noGrp="1"/>
          </p:cNvSpPr>
          <p:nvPr>
            <p:ph type="title"/>
          </p:nvPr>
        </p:nvSpPr>
        <p:spPr>
          <a:xfrm>
            <a:off x="457200" y="533400"/>
            <a:ext cx="8229600" cy="533400"/>
          </a:xfrm>
        </p:spPr>
        <p:txBody>
          <a:bodyPr vert="horz" wrap="square" lIns="91440" tIns="45720" rIns="91440" bIns="45720" anchor="b" anchorCtr="0"/>
          <a:lstStyle/>
          <a:p>
            <a:r>
              <a:rPr dirty="0"/>
              <a:t>OSI Layers</a:t>
            </a:r>
          </a:p>
        </p:txBody>
      </p:sp>
      <p:sp>
        <p:nvSpPr>
          <p:cNvPr id="101379" name="Content Placeholder 2"/>
          <p:cNvSpPr>
            <a:spLocks noGrp="1"/>
          </p:cNvSpPr>
          <p:nvPr>
            <p:ph sz="quarter" idx="1"/>
          </p:nvPr>
        </p:nvSpPr>
        <p:spPr>
          <a:xfrm>
            <a:off x="304800" y="1143000"/>
            <a:ext cx="8610600" cy="5334000"/>
          </a:xfrm>
        </p:spPr>
        <p:txBody>
          <a:bodyPr vert="horz" wrap="square" lIns="91440" tIns="45720" rIns="91440" bIns="45720" anchor="t" anchorCtr="0"/>
          <a:lstStyle/>
          <a:p>
            <a:r>
              <a:rPr sz="2000" b="1" dirty="0"/>
              <a:t>Data Link Layer</a:t>
            </a:r>
          </a:p>
          <a:p>
            <a:r>
              <a:rPr sz="2200" dirty="0"/>
              <a:t>The Data link layer ensures the data delivery between the two nodes.</a:t>
            </a:r>
          </a:p>
          <a:p>
            <a:r>
              <a:rPr sz="2200" dirty="0"/>
              <a:t>In LAN these are two endpoints of a communication process.</a:t>
            </a:r>
          </a:p>
          <a:p>
            <a:r>
              <a:rPr sz="2200" dirty="0"/>
              <a:t>In WAN these are two neighbor devices which are part of a communication process.</a:t>
            </a:r>
          </a:p>
          <a:p>
            <a:r>
              <a:rPr sz="2200" dirty="0"/>
              <a:t>The format of the data at this layer is known as </a:t>
            </a:r>
            <a:r>
              <a:rPr sz="2200" b="1" i="1" dirty="0"/>
              <a:t>frames.</a:t>
            </a:r>
          </a:p>
          <a:p>
            <a:r>
              <a:rPr sz="2200" dirty="0"/>
              <a:t>The Data Link Layer also handles the data transmission on network media.</a:t>
            </a:r>
          </a:p>
          <a:p>
            <a:r>
              <a:rPr sz="2200" dirty="0"/>
              <a:t>This is very much important when the network media is shared between the network nodes.</a:t>
            </a:r>
          </a:p>
          <a:p>
            <a:r>
              <a:rPr sz="2200" dirty="0"/>
              <a:t> The sub layer of data link called Media Access Control (MAC) uses a method to achieve this task.</a:t>
            </a:r>
          </a:p>
          <a:p>
            <a:r>
              <a:rPr sz="2200" dirty="0"/>
              <a:t>This method is known as Carrier Sense Multiple Access (CSMA).</a:t>
            </a:r>
          </a:p>
          <a:p>
            <a:endParaRPr b="1" i="1" dirty="0"/>
          </a:p>
          <a:p>
            <a:endParaRPr b="1" i="1" dirty="0"/>
          </a:p>
          <a:p>
            <a:endParaRPr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p:cNvSpPr>
            <a:spLocks noGrp="1"/>
          </p:cNvSpPr>
          <p:nvPr>
            <p:ph type="title"/>
          </p:nvPr>
        </p:nvSpPr>
        <p:spPr>
          <a:xfrm>
            <a:off x="457200" y="533400"/>
            <a:ext cx="8229600" cy="457200"/>
          </a:xfrm>
        </p:spPr>
        <p:txBody>
          <a:bodyPr vert="horz" wrap="square" lIns="91440" tIns="45720" rIns="91440" bIns="45720" anchor="b" anchorCtr="0"/>
          <a:lstStyle/>
          <a:p>
            <a:r>
              <a:rPr dirty="0"/>
              <a:t>OSI Layers</a:t>
            </a:r>
          </a:p>
        </p:txBody>
      </p:sp>
      <p:sp>
        <p:nvSpPr>
          <p:cNvPr id="102403" name="Content Placeholder 2"/>
          <p:cNvSpPr>
            <a:spLocks noGrp="1"/>
          </p:cNvSpPr>
          <p:nvPr>
            <p:ph sz="quarter" idx="1"/>
          </p:nvPr>
        </p:nvSpPr>
        <p:spPr>
          <a:xfrm>
            <a:off x="457200" y="1066800"/>
            <a:ext cx="8229600" cy="5257800"/>
          </a:xfrm>
        </p:spPr>
        <p:txBody>
          <a:bodyPr vert="horz" wrap="square" lIns="91440" tIns="45720" rIns="91440" bIns="45720" anchor="t" anchorCtr="0"/>
          <a:lstStyle/>
          <a:p>
            <a:r>
              <a:rPr sz="2000" dirty="0"/>
              <a:t>With CSMA, each node before transmitting a frame on the network senses the carrier, if it is unused then the frame is transmitted over the network, else the device waits for some time and the above process is repeated.</a:t>
            </a:r>
          </a:p>
          <a:p>
            <a:r>
              <a:rPr sz="2000" dirty="0"/>
              <a:t>The Data Link layer also performs error detection and correction methods. </a:t>
            </a:r>
          </a:p>
          <a:p>
            <a:r>
              <a:rPr sz="2000" dirty="0"/>
              <a:t>However most of the technologies only use error detection method. </a:t>
            </a:r>
          </a:p>
          <a:p>
            <a:r>
              <a:rPr sz="2000" dirty="0"/>
              <a:t>To help detect errors, a source device that creates a frame, calculates a Frame Check Sequence value by using an algorithm and appends it to the frame and sends it on the network.</a:t>
            </a:r>
          </a:p>
          <a:p>
            <a:r>
              <a:rPr sz="2000" dirty="0"/>
              <a:t>The device that receives it also performs the same procedure to calculate the Frame Check Sequence value and matches it with value sent by the sender device.</a:t>
            </a:r>
          </a:p>
          <a:p>
            <a:r>
              <a:rPr sz="2000" dirty="0"/>
              <a:t>If the value matches means the frame has no errors, however if the value does not match means the frame is damaged and will be dropped.</a:t>
            </a:r>
          </a:p>
          <a:p>
            <a:endParaRPr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p:cNvSpPr>
            <a:spLocks noGrp="1"/>
          </p:cNvSpPr>
          <p:nvPr>
            <p:ph type="title"/>
          </p:nvPr>
        </p:nvSpPr>
        <p:spPr>
          <a:xfrm>
            <a:off x="457200" y="704850"/>
            <a:ext cx="8229600" cy="361950"/>
          </a:xfrm>
        </p:spPr>
        <p:txBody>
          <a:bodyPr vert="horz" wrap="square" lIns="91440" tIns="45720" rIns="91440" bIns="45720" anchor="b" anchorCtr="0"/>
          <a:lstStyle/>
          <a:p>
            <a:r>
              <a:rPr dirty="0"/>
              <a:t>OSI Layers</a:t>
            </a:r>
          </a:p>
        </p:txBody>
      </p:sp>
      <p:sp>
        <p:nvSpPr>
          <p:cNvPr id="103427" name="Content Placeholder 2"/>
          <p:cNvSpPr>
            <a:spLocks noGrp="1"/>
          </p:cNvSpPr>
          <p:nvPr>
            <p:ph sz="quarter" idx="1"/>
          </p:nvPr>
        </p:nvSpPr>
        <p:spPr>
          <a:xfrm>
            <a:off x="457200" y="1219200"/>
            <a:ext cx="8382000" cy="5257800"/>
          </a:xfrm>
        </p:spPr>
        <p:txBody>
          <a:bodyPr vert="horz" wrap="square" lIns="91440" tIns="45720" rIns="91440" bIns="45720" anchor="t" anchorCtr="0"/>
          <a:lstStyle/>
          <a:p>
            <a:r>
              <a:rPr sz="2400" b="1" dirty="0"/>
              <a:t>Network Layer</a:t>
            </a:r>
          </a:p>
          <a:p>
            <a:r>
              <a:rPr sz="2400" dirty="0"/>
              <a:t> The Network Layer introduces a Logical Address scheme.</a:t>
            </a:r>
          </a:p>
          <a:p>
            <a:r>
              <a:rPr sz="2400" dirty="0"/>
              <a:t>This Address scheme allows you to divide your single large physical segment into smaller logical groups called networks.</a:t>
            </a:r>
          </a:p>
          <a:p>
            <a:r>
              <a:rPr sz="2400" dirty="0"/>
              <a:t>This helps improve the performance of the network.</a:t>
            </a:r>
          </a:p>
          <a:p>
            <a:r>
              <a:rPr sz="2400" dirty="0"/>
              <a:t>As these networks can not directly communicate with each other, this layer also provides mechanism to achieve this.</a:t>
            </a:r>
          </a:p>
          <a:p>
            <a:r>
              <a:rPr sz="2400" dirty="0"/>
              <a:t>A device called router is used for the internetwork communication.</a:t>
            </a:r>
          </a:p>
          <a:p>
            <a:r>
              <a:rPr sz="2400" dirty="0"/>
              <a:t>Thus a device will have two addresses – A network layer address and data link layer address.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p:cNvSpPr>
          <p:nvPr>
            <p:ph type="title"/>
          </p:nvPr>
        </p:nvSpPr>
        <p:spPr>
          <a:xfrm>
            <a:off x="457200" y="704850"/>
            <a:ext cx="8229600" cy="361950"/>
          </a:xfrm>
        </p:spPr>
        <p:txBody>
          <a:bodyPr vert="horz" wrap="square" lIns="91440" tIns="45720" rIns="91440" bIns="45720" anchor="b" anchorCtr="0"/>
          <a:lstStyle/>
          <a:p>
            <a:r>
              <a:rPr dirty="0"/>
              <a:t>OSI Layers</a:t>
            </a:r>
          </a:p>
        </p:txBody>
      </p:sp>
      <p:sp>
        <p:nvSpPr>
          <p:cNvPr id="104451" name="Content Placeholder 2"/>
          <p:cNvSpPr>
            <a:spLocks noGrp="1"/>
          </p:cNvSpPr>
          <p:nvPr>
            <p:ph sz="quarter" idx="1"/>
          </p:nvPr>
        </p:nvSpPr>
        <p:spPr>
          <a:xfrm>
            <a:off x="457200" y="1219200"/>
            <a:ext cx="8229600" cy="5257800"/>
          </a:xfrm>
        </p:spPr>
        <p:txBody>
          <a:bodyPr vert="horz" wrap="square" lIns="91440" tIns="45720" rIns="91440" bIns="45720" anchor="t" anchorCtr="0"/>
          <a:lstStyle/>
          <a:p>
            <a:r>
              <a:rPr b="1" dirty="0"/>
              <a:t>Transport Layer</a:t>
            </a:r>
          </a:p>
          <a:p>
            <a:r>
              <a:rPr b="1" dirty="0"/>
              <a:t> </a:t>
            </a:r>
            <a:r>
              <a:rPr dirty="0"/>
              <a:t>As the packets may get lost during their travel from source device to destination device, something has to take care of this to make the data transfer reliable.</a:t>
            </a:r>
          </a:p>
          <a:p>
            <a:r>
              <a:rPr dirty="0"/>
              <a:t>The transport layer provides this service to all the upper layer protocols of the OSI model.</a:t>
            </a:r>
          </a:p>
          <a:p>
            <a:r>
              <a:rPr b="1" dirty="0"/>
              <a:t>Session Layer</a:t>
            </a:r>
          </a:p>
          <a:p>
            <a:r>
              <a:rPr dirty="0"/>
              <a:t>The session layer controls the communication between the two devices.</a:t>
            </a:r>
          </a:p>
          <a:p>
            <a:r>
              <a:rPr dirty="0"/>
              <a:t>It provides tools and mechanisms by which the two communicating devices can synchronize the session.</a:t>
            </a:r>
          </a:p>
          <a:p>
            <a:endParaRPr dirty="0"/>
          </a:p>
          <a:p>
            <a:pPr>
              <a:buFont typeface="Wingdings 2" pitchFamily="18" charset="2"/>
              <a:buNone/>
            </a:pPr>
            <a:r>
              <a:rPr dirty="0"/>
              <a:t> </a:t>
            </a:r>
          </a:p>
          <a:p>
            <a:endParaRPr dirty="0"/>
          </a:p>
          <a:p>
            <a:endParaRPr sz="2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p:nvPr>
        </p:nvSpPr>
        <p:spPr>
          <a:xfrm>
            <a:off x="457200" y="704850"/>
            <a:ext cx="8229600" cy="361950"/>
          </a:xfrm>
        </p:spPr>
        <p:txBody>
          <a:bodyPr vert="horz" wrap="square" lIns="91440" tIns="45720" rIns="91440" bIns="45720" anchor="b" anchorCtr="0"/>
          <a:lstStyle/>
          <a:p>
            <a:r>
              <a:rPr dirty="0"/>
              <a:t>OSI Layers</a:t>
            </a:r>
          </a:p>
        </p:txBody>
      </p:sp>
      <p:sp>
        <p:nvSpPr>
          <p:cNvPr id="105475" name="Content Placeholder 2"/>
          <p:cNvSpPr>
            <a:spLocks noGrp="1"/>
          </p:cNvSpPr>
          <p:nvPr>
            <p:ph sz="quarter" idx="1"/>
          </p:nvPr>
        </p:nvSpPr>
        <p:spPr>
          <a:xfrm>
            <a:off x="457200" y="1219200"/>
            <a:ext cx="8229600" cy="5257800"/>
          </a:xfrm>
        </p:spPr>
        <p:txBody>
          <a:bodyPr vert="horz" wrap="square" lIns="91440" tIns="45720" rIns="91440" bIns="45720" anchor="t" anchorCtr="0"/>
          <a:lstStyle/>
          <a:p>
            <a:r>
              <a:rPr sz="2200" b="1" dirty="0"/>
              <a:t>Presentation Layer</a:t>
            </a:r>
          </a:p>
          <a:p>
            <a:r>
              <a:rPr sz="2200" dirty="0"/>
              <a:t>The presentation layer deals with the form in which information transmitted through the network is represented, without changing its contents. </a:t>
            </a:r>
          </a:p>
          <a:p>
            <a:r>
              <a:rPr sz="2200" dirty="0"/>
              <a:t>Because of this layer, information transmitted by the application layer of one system is always understandable to the application layer of another system.</a:t>
            </a:r>
          </a:p>
          <a:p>
            <a:r>
              <a:rPr sz="2200" dirty="0"/>
              <a:t>This layer also introduces data security mechanisms like encryption to make sure data transmissions on any type of network are secure.</a:t>
            </a:r>
          </a:p>
          <a:p>
            <a:r>
              <a:rPr sz="2200" b="1" dirty="0"/>
              <a:t>Application Layer</a:t>
            </a:r>
          </a:p>
          <a:p>
            <a:r>
              <a:rPr sz="2200" dirty="0"/>
              <a:t>The application layer is really a set of several protocols that network users can use to access shared network resources, such as files, emails and Web pages.</a:t>
            </a:r>
          </a:p>
          <a:p>
            <a:endParaRPr sz="2400" dirty="0"/>
          </a:p>
          <a:p>
            <a:endParaRPr sz="2400" dirty="0"/>
          </a:p>
          <a:p>
            <a:endParaRPr sz="2400" dirty="0"/>
          </a:p>
          <a:p>
            <a:endParaRPr dirty="0"/>
          </a:p>
          <a:p>
            <a:pPr>
              <a:buFont typeface="Wingdings 2" pitchFamily="18" charset="2"/>
              <a:buNone/>
            </a:pPr>
            <a:r>
              <a:rPr dirty="0"/>
              <a:t> </a:t>
            </a:r>
          </a:p>
          <a:p>
            <a:endParaRPr dirty="0"/>
          </a:p>
          <a:p>
            <a:endParaRPr sz="2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p:cNvSpPr>
          <p:nvPr>
            <p:ph type="title"/>
          </p:nvPr>
        </p:nvSpPr>
        <p:spPr>
          <a:xfrm>
            <a:off x="457200" y="704850"/>
            <a:ext cx="8229600" cy="361950"/>
          </a:xfrm>
        </p:spPr>
        <p:txBody>
          <a:bodyPr vert="horz" wrap="square" lIns="91440" tIns="45720" rIns="91440" bIns="45720" anchor="b" anchorCtr="0"/>
          <a:lstStyle/>
          <a:p>
            <a:r>
              <a:rPr dirty="0"/>
              <a:t>TCP / IP Model</a:t>
            </a:r>
          </a:p>
        </p:txBody>
      </p:sp>
      <p:sp>
        <p:nvSpPr>
          <p:cNvPr id="106499"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r>
              <a:rPr sz="2400" dirty="0"/>
              <a:t>The TCP/IP model was developed at the initiative of the U.S. Department of Defense more than 20 years ago to ensure connectivity between the experimental ARPANET network and other networks. </a:t>
            </a:r>
          </a:p>
          <a:p>
            <a:r>
              <a:rPr sz="2400" dirty="0"/>
              <a:t>TCP/IP was implemented as a protocol suite for a heterogeneous network environment.</a:t>
            </a:r>
          </a:p>
          <a:p>
            <a:r>
              <a:rPr sz="2400" dirty="0"/>
              <a:t> The University of California at Berkeley has brought the greatest contribution to development of the TCP/IP stack.</a:t>
            </a:r>
          </a:p>
          <a:p>
            <a:r>
              <a:rPr sz="2400" dirty="0"/>
              <a:t>The TCP / IP model has four Layers.</a:t>
            </a:r>
          </a:p>
          <a:p>
            <a:r>
              <a:rPr sz="2400" dirty="0"/>
              <a:t>The Physical layer of the TCP/IP is responsible only for organizing an interaction to network technologies,</a:t>
            </a:r>
          </a:p>
          <a:p>
            <a:endParaRPr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p:nvPr>
        </p:nvSpPr>
        <p:spPr>
          <a:xfrm>
            <a:off x="457200" y="704850"/>
            <a:ext cx="8229600" cy="361950"/>
          </a:xfrm>
        </p:spPr>
        <p:txBody>
          <a:bodyPr vert="horz" wrap="square" lIns="91440" tIns="45720" rIns="91440" bIns="45720" anchor="b" anchorCtr="0"/>
          <a:lstStyle/>
          <a:p>
            <a:r>
              <a:rPr dirty="0"/>
              <a:t>TCP / IP Model</a:t>
            </a:r>
          </a:p>
        </p:txBody>
      </p:sp>
      <p:sp>
        <p:nvSpPr>
          <p:cNvPr id="107523"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r>
              <a:rPr sz="2200" dirty="0"/>
              <a:t>The task of providing interface between TCP/IP technology and any other technology of the intermediate network is reduced to the following tasks: </a:t>
            </a:r>
          </a:p>
          <a:p>
            <a:pPr lvl="1"/>
            <a:r>
              <a:rPr dirty="0"/>
              <a:t>Defining the method of encapsulating an IP packet in the PDU of the intermediate network </a:t>
            </a:r>
          </a:p>
          <a:p>
            <a:pPr lvl="1"/>
            <a:r>
              <a:rPr dirty="0"/>
              <a:t> Determining the method of translating network addresses into addresses adopted by the technology used by this intermediate network</a:t>
            </a:r>
          </a:p>
          <a:p>
            <a:r>
              <a:rPr sz="2000" dirty="0"/>
              <a:t>The </a:t>
            </a:r>
            <a:r>
              <a:rPr sz="2000" b="1" dirty="0"/>
              <a:t>Network Layer </a:t>
            </a:r>
            <a:r>
              <a:rPr sz="2000" dirty="0"/>
              <a:t>introduces Addressing using IP protocol.</a:t>
            </a:r>
          </a:p>
          <a:p>
            <a:r>
              <a:rPr sz="2000" dirty="0"/>
              <a:t>It allows you to create different IP subnets.</a:t>
            </a:r>
          </a:p>
          <a:p>
            <a:r>
              <a:rPr sz="2000" dirty="0"/>
              <a:t>It also introduces mechanisms that allows packet forwarding between these subnets.</a:t>
            </a:r>
          </a:p>
          <a:p>
            <a:r>
              <a:rPr sz="2000" dirty="0"/>
              <a:t>There are various protocols that work at network layer along with IP like RIP, OSPF, ICMP, IGMP etc.</a:t>
            </a:r>
          </a:p>
          <a:p>
            <a:pPr lvl="1">
              <a:buNone/>
            </a:pPr>
            <a:endParaRPr dirty="0"/>
          </a:p>
          <a:p>
            <a:pPr lvl="1"/>
            <a:endParaRPr dirty="0"/>
          </a:p>
          <a:p>
            <a:endParaRPr dirty="0"/>
          </a:p>
          <a:p>
            <a:endParaRPr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p:cNvSpPr>
          <p:nvPr>
            <p:ph type="title"/>
          </p:nvPr>
        </p:nvSpPr>
        <p:spPr>
          <a:xfrm>
            <a:off x="457200" y="704850"/>
            <a:ext cx="8229600" cy="438150"/>
          </a:xfrm>
        </p:spPr>
        <p:txBody>
          <a:bodyPr vert="horz" wrap="square" lIns="91440" tIns="45720" rIns="91440" bIns="45720" anchor="b" anchorCtr="0"/>
          <a:lstStyle/>
          <a:p>
            <a:r>
              <a:rPr dirty="0"/>
              <a:t>TCP / IP Model</a:t>
            </a:r>
          </a:p>
        </p:txBody>
      </p:sp>
      <p:sp>
        <p:nvSpPr>
          <p:cNvPr id="108547" name="Content Placeholder 2"/>
          <p:cNvSpPr>
            <a:spLocks noGrp="1"/>
          </p:cNvSpPr>
          <p:nvPr>
            <p:ph sz="quarter" idx="1"/>
          </p:nvPr>
        </p:nvSpPr>
        <p:spPr>
          <a:xfrm>
            <a:off x="457200" y="1219200"/>
            <a:ext cx="8382000" cy="5105400"/>
          </a:xfrm>
        </p:spPr>
        <p:txBody>
          <a:bodyPr vert="horz" wrap="square" lIns="91440" tIns="45720" rIns="91440" bIns="45720" anchor="t" anchorCtr="0"/>
          <a:lstStyle/>
          <a:p>
            <a:r>
              <a:rPr dirty="0"/>
              <a:t>The Transport Layer</a:t>
            </a:r>
          </a:p>
          <a:p>
            <a:r>
              <a:rPr sz="2400" dirty="0"/>
              <a:t>The transport layer of the TCP/IP stack provides the following two types of services to the upper layer</a:t>
            </a:r>
          </a:p>
          <a:p>
            <a:r>
              <a:rPr sz="2400" dirty="0"/>
              <a:t> Guaranteed delivery by means of the Transmission Control Protocol (TCP) </a:t>
            </a:r>
          </a:p>
          <a:p>
            <a:r>
              <a:rPr sz="2400" dirty="0"/>
              <a:t>And  Best effort delivery using User Datagram Protocol (UDP)</a:t>
            </a:r>
          </a:p>
          <a:p>
            <a:r>
              <a:rPr sz="2400" dirty="0"/>
              <a:t>The functions of Transport Layer include the role of a link between the application layer and the underlying internet layer. </a:t>
            </a:r>
          </a:p>
          <a:p>
            <a:r>
              <a:rPr sz="2400" dirty="0"/>
              <a:t>The transport layer takes the job of data transmission with the specified quality from the application layer and informs it after accomplishing this task.</a:t>
            </a:r>
          </a:p>
          <a:p>
            <a:endParaRPr dirty="0"/>
          </a:p>
          <a:p>
            <a:pPr>
              <a:buFont typeface="Wingdings 2" pitchFamily="18" charset="2"/>
              <a:buNone/>
            </a:pPr>
            <a:endParaRPr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p:cNvSpPr>
            <a:spLocks noGrp="1"/>
          </p:cNvSpPr>
          <p:nvPr>
            <p:ph type="title"/>
          </p:nvPr>
        </p:nvSpPr>
        <p:spPr>
          <a:xfrm>
            <a:off x="457200" y="704850"/>
            <a:ext cx="8229600" cy="361950"/>
          </a:xfrm>
        </p:spPr>
        <p:txBody>
          <a:bodyPr vert="horz" wrap="square" lIns="91440" tIns="45720" rIns="91440" bIns="45720" anchor="b" anchorCtr="0"/>
          <a:lstStyle/>
          <a:p>
            <a:r>
              <a:rPr dirty="0"/>
              <a:t>TCP / IP Model</a:t>
            </a:r>
          </a:p>
        </p:txBody>
      </p:sp>
      <p:sp>
        <p:nvSpPr>
          <p:cNvPr id="109571"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r>
              <a:rPr dirty="0"/>
              <a:t>The Application Layer</a:t>
            </a:r>
          </a:p>
          <a:p>
            <a:endParaRPr dirty="0"/>
          </a:p>
          <a:p>
            <a:r>
              <a:rPr dirty="0"/>
              <a:t>It combines the services provided by the system to user applications.</a:t>
            </a:r>
          </a:p>
          <a:p>
            <a:endParaRPr dirty="0"/>
          </a:p>
          <a:p>
            <a:r>
              <a:rPr dirty="0"/>
              <a:t>It performs the functions of the upper three layers of the OSI Model- Session, Presentation and Application.</a:t>
            </a:r>
          </a:p>
          <a:p>
            <a:endParaRPr dirty="0"/>
          </a:p>
          <a:p>
            <a:r>
              <a:rPr dirty="0"/>
              <a:t>It contains protocols like http, ftp, smtp, telnet etc.</a:t>
            </a:r>
          </a:p>
          <a:p>
            <a:endParaRPr dirty="0"/>
          </a:p>
          <a:p>
            <a:pPr>
              <a:buFont typeface="Wingdings 2" pitchFamily="18" charset="2"/>
              <a:buNone/>
            </a:pPr>
            <a:endParaRPr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p:cNvSpPr>
          <p:nvPr>
            <p:ph type="title"/>
          </p:nvPr>
        </p:nvSpPr>
        <p:spPr>
          <a:xfrm>
            <a:off x="1524000" y="3200400"/>
            <a:ext cx="6096000" cy="1600200"/>
          </a:xfrm>
        </p:spPr>
        <p:txBody>
          <a:bodyPr vert="horz" wrap="square" lIns="91440" tIns="45720" rIns="91440" bIns="45720" anchor="b" anchorCtr="0"/>
          <a:lstStyle/>
          <a:p>
            <a:pPr algn="r" eaLnBrk="1" hangingPunct="1"/>
            <a:r>
              <a:rPr dirty="0"/>
              <a:t/>
            </a:r>
            <a:br>
              <a:rPr dirty="0"/>
            </a:br>
            <a:r>
              <a:rPr dirty="0"/>
              <a:t/>
            </a:r>
            <a:br>
              <a:rPr dirty="0"/>
            </a:br>
            <a:r>
              <a:rPr dirty="0"/>
              <a:t>Overview</a:t>
            </a:r>
            <a:br>
              <a:rPr dirty="0"/>
            </a:br>
            <a:r>
              <a:rPr dirty="0"/>
              <a:t> of </a:t>
            </a:r>
            <a:br>
              <a:rPr dirty="0"/>
            </a:br>
            <a:r>
              <a:rPr dirty="0"/>
              <a:t>Transmission Media</a:t>
            </a: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p:cNvSpPr>
            <a:spLocks noGrp="1"/>
          </p:cNvSpPr>
          <p:nvPr>
            <p:ph type="title"/>
          </p:nvPr>
        </p:nvSpPr>
        <p:spPr/>
        <p:txBody>
          <a:bodyPr vert="horz" wrap="square" lIns="91440" tIns="45720" rIns="91440" bIns="45720" anchor="b" anchorCtr="0"/>
          <a:lstStyle/>
          <a:p>
            <a:pPr eaLnBrk="1" hangingPunct="1"/>
            <a:r>
              <a:rPr dirty="0"/>
              <a:t>Overview of Transmission Media</a:t>
            </a:r>
          </a:p>
        </p:txBody>
      </p:sp>
      <p:sp>
        <p:nvSpPr>
          <p:cNvPr id="111619" name="Content Placeholder 2"/>
          <p:cNvSpPr>
            <a:spLocks noGrp="1"/>
          </p:cNvSpPr>
          <p:nvPr>
            <p:ph sz="quarter" idx="1"/>
          </p:nvPr>
        </p:nvSpPr>
        <p:spPr>
          <a:xfrm>
            <a:off x="457200" y="1219200"/>
            <a:ext cx="8458200" cy="4937125"/>
          </a:xfrm>
        </p:spPr>
        <p:txBody>
          <a:bodyPr vert="horz" wrap="square" lIns="91440" tIns="45720" rIns="91440" bIns="45720" anchor="t" anchorCtr="0"/>
          <a:lstStyle/>
          <a:p>
            <a:pPr eaLnBrk="1" hangingPunct="1"/>
            <a:r>
              <a:rPr dirty="0"/>
              <a:t>In a data transmission system, the transmission medium is the physical path between transmitter device and receiver device.</a:t>
            </a:r>
          </a:p>
          <a:p>
            <a:pPr eaLnBrk="1" hangingPunct="1"/>
            <a:r>
              <a:rPr dirty="0"/>
              <a:t>Two categories of transmission media used in computer networks.</a:t>
            </a:r>
          </a:p>
          <a:p>
            <a:pPr lvl="1" eaLnBrk="1" hangingPunct="1"/>
            <a:r>
              <a:rPr dirty="0"/>
              <a:t>Guided / Bounded</a:t>
            </a:r>
          </a:p>
          <a:p>
            <a:pPr lvl="1" eaLnBrk="1" hangingPunct="1"/>
            <a:r>
              <a:rPr dirty="0"/>
              <a:t>Unguided / Unbounded </a:t>
            </a:r>
          </a:p>
          <a:p>
            <a:pPr eaLnBrk="1" hangingPunct="1"/>
            <a:r>
              <a:rPr sz="2200" b="1" dirty="0"/>
              <a:t>Guided</a:t>
            </a:r>
            <a:r>
              <a:rPr sz="2200" dirty="0"/>
              <a:t> or </a:t>
            </a:r>
            <a:r>
              <a:rPr sz="2200" b="1" dirty="0"/>
              <a:t>Bounded</a:t>
            </a:r>
            <a:r>
              <a:rPr sz="2200" dirty="0"/>
              <a:t> media are the physical links through which the signals are guided along a solid medium.</a:t>
            </a:r>
          </a:p>
          <a:p>
            <a:pPr eaLnBrk="1" hangingPunct="1"/>
            <a:r>
              <a:rPr sz="2200" dirty="0"/>
              <a:t>Guided or Bounded media are great because they offer high speed, good security and low cast.</a:t>
            </a:r>
          </a:p>
          <a:p>
            <a:pPr eaLnBrk="1" hangingPunct="1"/>
            <a:r>
              <a:rPr sz="2200" dirty="0"/>
              <a:t>However, some time they cannot be used due to distance constrains.</a:t>
            </a:r>
          </a:p>
          <a:p>
            <a:pPr eaLnBrk="1" hangingPunct="1"/>
            <a:endParaRPr dirty="0"/>
          </a:p>
          <a:p>
            <a:pPr eaLnBrk="1" hangingPunct="1"/>
            <a:endParaRPr dirty="0"/>
          </a:p>
          <a:p>
            <a:pPr eaLnBrk="1" hangingPunct="1"/>
            <a:endParaRPr dirty="0"/>
          </a:p>
          <a:p>
            <a:pPr eaLnBrk="1" hangingPunct="1"/>
            <a:endParaRPr dirty="0"/>
          </a:p>
          <a:p>
            <a:pPr eaLnBrk="1" hangingPunct="1"/>
            <a:endParaRPr dirty="0"/>
          </a:p>
          <a:p>
            <a:pPr eaLnBrk="1" hangingPunct="1"/>
            <a:endParaRPr dirty="0"/>
          </a:p>
          <a:p>
            <a:pPr eaLnBrk="1" hangingPunct="1"/>
            <a:endParaRPr dirty="0"/>
          </a:p>
          <a:p>
            <a:pPr eaLnBrk="1" hangingPunct="1"/>
            <a:endParaRPr dirty="0"/>
          </a:p>
          <a:p>
            <a:pPr eaLnBrk="1" hangingPunct="1"/>
            <a:endParaRPr dirty="0"/>
          </a:p>
          <a:p>
            <a:pPr eaLnBrk="1" hangingPunct="1"/>
            <a:endParaRPr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3619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12643" name="Content Placeholder 2"/>
          <p:cNvSpPr>
            <a:spLocks noGrp="1"/>
          </p:cNvSpPr>
          <p:nvPr>
            <p:ph sz="quarter" idx="1"/>
          </p:nvPr>
        </p:nvSpPr>
        <p:spPr>
          <a:xfrm>
            <a:off x="457200" y="1143000"/>
            <a:ext cx="8229600" cy="5181600"/>
          </a:xfrm>
        </p:spPr>
        <p:txBody>
          <a:bodyPr vert="horz" wrap="square" lIns="91440" tIns="45720" rIns="91440" bIns="45720" anchor="t" anchorCtr="0"/>
          <a:lstStyle/>
          <a:p>
            <a:pPr eaLnBrk="1" hangingPunct="1"/>
            <a:r>
              <a:rPr dirty="0"/>
              <a:t>Three common types of bounded media are used for the data transmission. These are </a:t>
            </a:r>
          </a:p>
          <a:p>
            <a:pPr lvl="1" eaLnBrk="1" hangingPunct="1"/>
            <a:r>
              <a:rPr dirty="0"/>
              <a:t>Coaxial Cable</a:t>
            </a:r>
          </a:p>
          <a:p>
            <a:pPr lvl="1" eaLnBrk="1" hangingPunct="1"/>
            <a:r>
              <a:rPr dirty="0"/>
              <a:t>Twisted Pairs Cable</a:t>
            </a:r>
          </a:p>
          <a:p>
            <a:pPr lvl="1" eaLnBrk="1" hangingPunct="1"/>
            <a:r>
              <a:rPr dirty="0"/>
              <a:t>Fiber Optics Cable</a:t>
            </a:r>
          </a:p>
          <a:p>
            <a:pPr eaLnBrk="1" hangingPunct="1"/>
            <a:r>
              <a:rPr dirty="0"/>
              <a:t>The </a:t>
            </a:r>
            <a:r>
              <a:rPr b="1" dirty="0"/>
              <a:t>unguided</a:t>
            </a:r>
            <a:r>
              <a:rPr dirty="0"/>
              <a:t> or </a:t>
            </a:r>
            <a:r>
              <a:rPr b="1" dirty="0"/>
              <a:t>unbounded</a:t>
            </a:r>
            <a:r>
              <a:rPr dirty="0"/>
              <a:t> media is used by the wireless communication.</a:t>
            </a:r>
          </a:p>
          <a:p>
            <a:pPr eaLnBrk="1" hangingPunct="1"/>
            <a:endParaRPr dirty="0"/>
          </a:p>
          <a:p>
            <a:pPr eaLnBrk="1" hangingPunct="1">
              <a:buFont typeface="Wingdings 2" pitchFamily="18" charset="2"/>
              <a:buNone/>
            </a:pPr>
            <a:endParaRPr dirty="0"/>
          </a:p>
          <a:p>
            <a:pPr eaLnBrk="1" hangingPunct="1"/>
            <a:endParaRPr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3619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13667" name="Content Placeholder 2"/>
          <p:cNvSpPr>
            <a:spLocks noGrp="1"/>
          </p:cNvSpPr>
          <p:nvPr>
            <p:ph sz="quarter" idx="1"/>
          </p:nvPr>
        </p:nvSpPr>
        <p:spPr>
          <a:xfrm>
            <a:off x="304800" y="1143000"/>
            <a:ext cx="6248400" cy="5181600"/>
          </a:xfrm>
        </p:spPr>
        <p:txBody>
          <a:bodyPr vert="horz" wrap="square" lIns="91440" tIns="45720" rIns="91440" bIns="45720" anchor="t" anchorCtr="0"/>
          <a:lstStyle/>
          <a:p>
            <a:pPr eaLnBrk="1" hangingPunct="1"/>
            <a:r>
              <a:rPr sz="2200" b="1" dirty="0"/>
              <a:t>Co-Axial Cable-</a:t>
            </a:r>
          </a:p>
          <a:p>
            <a:pPr eaLnBrk="1" hangingPunct="1"/>
            <a:r>
              <a:rPr b="1" dirty="0"/>
              <a:t> </a:t>
            </a:r>
            <a:r>
              <a:rPr sz="2000" dirty="0"/>
              <a:t>The coaxial cable consists of a </a:t>
            </a:r>
            <a:r>
              <a:rPr sz="2000" b="1" dirty="0"/>
              <a:t>solid</a:t>
            </a:r>
            <a:r>
              <a:rPr sz="2000" dirty="0"/>
              <a:t> </a:t>
            </a:r>
            <a:r>
              <a:rPr sz="2000" b="1" dirty="0"/>
              <a:t>copper core.</a:t>
            </a:r>
          </a:p>
          <a:p>
            <a:pPr eaLnBrk="1" hangingPunct="1"/>
            <a:r>
              <a:rPr sz="2000" dirty="0"/>
              <a:t>The copper core is surrounded by a special insulator.</a:t>
            </a:r>
          </a:p>
          <a:p>
            <a:pPr eaLnBrk="1" hangingPunct="1"/>
            <a:r>
              <a:rPr sz="2000" dirty="0"/>
              <a:t>A woven copper mesh shielding layer surrounds the insulator.</a:t>
            </a:r>
          </a:p>
          <a:p>
            <a:pPr eaLnBrk="1" hangingPunct="1"/>
            <a:r>
              <a:rPr sz="2000" dirty="0"/>
              <a:t> Final outside insulation layer shields all inner layers. </a:t>
            </a:r>
          </a:p>
          <a:p>
            <a:pPr eaLnBrk="1" hangingPunct="1"/>
            <a:r>
              <a:rPr sz="2000" dirty="0"/>
              <a:t>The copper wire mesh is connected to the device ground.</a:t>
            </a:r>
          </a:p>
          <a:p>
            <a:pPr eaLnBrk="1" hangingPunct="1"/>
            <a:r>
              <a:rPr sz="2000" dirty="0"/>
              <a:t>This mesh taps any electrical noise due to EMI and protects the inner conductor.</a:t>
            </a:r>
          </a:p>
          <a:p>
            <a:r>
              <a:rPr sz="2000" dirty="0"/>
              <a:t>The coaxial cable provides better resistant to interference and attenuation than twisted pair cabling.It transmits voice, video, and data.</a:t>
            </a:r>
          </a:p>
          <a:p>
            <a:pPr eaLnBrk="1" hangingPunct="1"/>
            <a:endParaRPr dirty="0"/>
          </a:p>
          <a:p>
            <a:pPr eaLnBrk="1" hangingPunct="1"/>
            <a:endParaRPr dirty="0"/>
          </a:p>
        </p:txBody>
      </p:sp>
      <p:pic>
        <p:nvPicPr>
          <p:cNvPr id="113668" name="Picture 3" descr="coaxial cable.jpg"/>
          <p:cNvPicPr>
            <a:picLocks noChangeAspect="1"/>
          </p:cNvPicPr>
          <p:nvPr/>
        </p:nvPicPr>
        <p:blipFill>
          <a:blip r:embed="rId2"/>
          <a:stretch>
            <a:fillRect/>
          </a:stretch>
        </p:blipFill>
        <p:spPr>
          <a:xfrm>
            <a:off x="6629400" y="1219200"/>
            <a:ext cx="2133600" cy="2743200"/>
          </a:xfrm>
          <a:prstGeom prst="rect">
            <a:avLst/>
          </a:prstGeom>
          <a:noFill/>
          <a:ln w="9525">
            <a:noFill/>
          </a:ln>
        </p:spPr>
      </p:pic>
      <p:pic>
        <p:nvPicPr>
          <p:cNvPr id="113669" name="Picture 4" descr="BNC conn.jpg"/>
          <p:cNvPicPr>
            <a:picLocks noChangeAspect="1"/>
          </p:cNvPicPr>
          <p:nvPr/>
        </p:nvPicPr>
        <p:blipFill>
          <a:blip r:embed="rId3"/>
          <a:stretch>
            <a:fillRect/>
          </a:stretch>
        </p:blipFill>
        <p:spPr>
          <a:xfrm>
            <a:off x="6705600" y="4114800"/>
            <a:ext cx="2057400" cy="2057400"/>
          </a:xfrm>
          <a:prstGeom prst="rect">
            <a:avLst/>
          </a:prstGeom>
          <a:noFill/>
          <a:ln w="9525">
            <a:noFill/>
          </a:ln>
        </p:spPr>
      </p:pic>
      <p:sp>
        <p:nvSpPr>
          <p:cNvPr id="113670" name="TextBox 5"/>
          <p:cNvSpPr txBox="1"/>
          <p:nvPr/>
        </p:nvSpPr>
        <p:spPr>
          <a:xfrm>
            <a:off x="6934200" y="5791200"/>
            <a:ext cx="1800225" cy="369888"/>
          </a:xfrm>
          <a:prstGeom prst="rect">
            <a:avLst/>
          </a:prstGeom>
          <a:noFill/>
          <a:ln w="9525">
            <a:noFill/>
          </a:ln>
        </p:spPr>
        <p:txBody>
          <a:bodyPr wrap="none">
            <a:spAutoFit/>
          </a:bodyPr>
          <a:lstStyle/>
          <a:p>
            <a:r>
              <a:rPr dirty="0">
                <a:latin typeface="Arial" panose="020B0604020202020204" pitchFamily="34" charset="0"/>
              </a:rPr>
              <a:t>BNC Connector</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4381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14691" name="Content Placeholder 2"/>
          <p:cNvSpPr>
            <a:spLocks noGrp="1"/>
          </p:cNvSpPr>
          <p:nvPr>
            <p:ph sz="quarter" idx="1"/>
          </p:nvPr>
        </p:nvSpPr>
        <p:spPr>
          <a:xfrm>
            <a:off x="457200" y="1219200"/>
            <a:ext cx="5638800" cy="5334000"/>
          </a:xfrm>
        </p:spPr>
        <p:txBody>
          <a:bodyPr vert="horz" wrap="square" lIns="91440" tIns="45720" rIns="91440" bIns="45720" anchor="t" anchorCtr="0"/>
          <a:lstStyle/>
          <a:p>
            <a:pPr eaLnBrk="1" hangingPunct="1"/>
            <a:r>
              <a:rPr b="1" dirty="0"/>
              <a:t>Co-Axial Cable</a:t>
            </a:r>
          </a:p>
          <a:p>
            <a:r>
              <a:rPr dirty="0"/>
              <a:t>Coaxial cable is widely used as a means of distributing TV signals to individual homes—cable TV</a:t>
            </a:r>
            <a:endParaRPr b="1" dirty="0"/>
          </a:p>
          <a:p>
            <a:pPr eaLnBrk="1" hangingPunct="1"/>
            <a:r>
              <a:rPr dirty="0"/>
              <a:t>Two types of coaxial cables- </a:t>
            </a:r>
            <a:r>
              <a:rPr b="1" dirty="0"/>
              <a:t>Thin </a:t>
            </a:r>
            <a:r>
              <a:rPr dirty="0"/>
              <a:t>and</a:t>
            </a:r>
            <a:r>
              <a:rPr b="1" dirty="0"/>
              <a:t> Thick.</a:t>
            </a:r>
          </a:p>
          <a:p>
            <a:pPr eaLnBrk="1" hangingPunct="1"/>
            <a:endParaRPr b="1" dirty="0"/>
          </a:p>
          <a:p>
            <a:pPr eaLnBrk="1" hangingPunct="1"/>
            <a:r>
              <a:rPr dirty="0"/>
              <a:t>The</a:t>
            </a:r>
            <a:r>
              <a:rPr b="1" dirty="0"/>
              <a:t> Thin coaxial </a:t>
            </a:r>
            <a:r>
              <a:rPr dirty="0"/>
              <a:t>network also referred to as </a:t>
            </a:r>
            <a:r>
              <a:rPr b="1" dirty="0"/>
              <a:t>10Base2.</a:t>
            </a:r>
          </a:p>
          <a:p>
            <a:pPr eaLnBrk="1" hangingPunct="1"/>
            <a:r>
              <a:rPr dirty="0"/>
              <a:t>The</a:t>
            </a:r>
            <a:r>
              <a:rPr b="1" dirty="0"/>
              <a:t> Thick coaxial </a:t>
            </a:r>
            <a:r>
              <a:rPr dirty="0"/>
              <a:t>network is referred to as </a:t>
            </a:r>
            <a:r>
              <a:rPr b="1" dirty="0"/>
              <a:t>10Base5.</a:t>
            </a:r>
          </a:p>
          <a:p>
            <a:pPr eaLnBrk="1" hangingPunct="1"/>
            <a:endParaRPr b="1" dirty="0"/>
          </a:p>
          <a:p>
            <a:pPr eaLnBrk="1" hangingPunct="1"/>
            <a:endParaRPr b="1" dirty="0"/>
          </a:p>
          <a:p>
            <a:pPr eaLnBrk="1" hangingPunct="1"/>
            <a:endParaRPr b="1" dirty="0"/>
          </a:p>
          <a:p>
            <a:pPr eaLnBrk="1" hangingPunct="1"/>
            <a:endParaRPr b="1" dirty="0"/>
          </a:p>
          <a:p>
            <a:pPr eaLnBrk="1" hangingPunct="1"/>
            <a:endParaRPr dirty="0"/>
          </a:p>
        </p:txBody>
      </p:sp>
      <p:pic>
        <p:nvPicPr>
          <p:cNvPr id="114692" name="Picture 6" descr="thichnet.jpg"/>
          <p:cNvPicPr>
            <a:picLocks noChangeAspect="1"/>
          </p:cNvPicPr>
          <p:nvPr/>
        </p:nvPicPr>
        <p:blipFill>
          <a:blip r:embed="rId2"/>
          <a:stretch>
            <a:fillRect/>
          </a:stretch>
        </p:blipFill>
        <p:spPr>
          <a:xfrm>
            <a:off x="6096000" y="1143000"/>
            <a:ext cx="2819400" cy="4953000"/>
          </a:xfrm>
          <a:prstGeom prst="rect">
            <a:avLst/>
          </a:prstGeom>
          <a:noFill/>
          <a:ln w="9525">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3619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15715" name="Content Placeholder 2"/>
          <p:cNvSpPr>
            <a:spLocks noGrp="1"/>
          </p:cNvSpPr>
          <p:nvPr>
            <p:ph sz="quarter" idx="1"/>
          </p:nvPr>
        </p:nvSpPr>
        <p:spPr>
          <a:xfrm>
            <a:off x="457200" y="1219200"/>
            <a:ext cx="5562600" cy="5334000"/>
          </a:xfrm>
        </p:spPr>
        <p:txBody>
          <a:bodyPr vert="horz" wrap="square" lIns="91440" tIns="45720" rIns="91440" bIns="45720" anchor="t" anchorCtr="0"/>
          <a:lstStyle/>
          <a:p>
            <a:pPr eaLnBrk="1" hangingPunct="1"/>
            <a:r>
              <a:rPr b="1" dirty="0"/>
              <a:t>Twisted Pair</a:t>
            </a:r>
          </a:p>
          <a:p>
            <a:pPr eaLnBrk="1" hangingPunct="1"/>
            <a:r>
              <a:rPr dirty="0"/>
              <a:t>This network cable type consists of a number of copper wire twisted around each other. </a:t>
            </a:r>
          </a:p>
          <a:p>
            <a:pPr eaLnBrk="1" hangingPunct="1"/>
            <a:endParaRPr dirty="0"/>
          </a:p>
          <a:p>
            <a:pPr eaLnBrk="1" hangingPunct="1"/>
            <a:r>
              <a:rPr dirty="0"/>
              <a:t>The Copper strands are insulated using insulating material.</a:t>
            </a:r>
          </a:p>
          <a:p>
            <a:pPr eaLnBrk="1" hangingPunct="1"/>
            <a:endParaRPr dirty="0"/>
          </a:p>
          <a:p>
            <a:pPr eaLnBrk="1" hangingPunct="1"/>
            <a:r>
              <a:rPr dirty="0"/>
              <a:t>The twisting cancels out electrical noise from adjacent pairs and from other electrical sources.</a:t>
            </a:r>
            <a:endParaRPr b="1" dirty="0"/>
          </a:p>
          <a:p>
            <a:pPr eaLnBrk="1" hangingPunct="1"/>
            <a:endParaRPr b="1" dirty="0"/>
          </a:p>
          <a:p>
            <a:pPr eaLnBrk="1" hangingPunct="1"/>
            <a:endParaRPr b="1" dirty="0"/>
          </a:p>
          <a:p>
            <a:pPr eaLnBrk="1" hangingPunct="1"/>
            <a:endParaRPr b="1" dirty="0"/>
          </a:p>
          <a:p>
            <a:pPr eaLnBrk="1" hangingPunct="1"/>
            <a:endParaRPr b="1" dirty="0"/>
          </a:p>
          <a:p>
            <a:pPr eaLnBrk="1" hangingPunct="1"/>
            <a:endParaRPr dirty="0"/>
          </a:p>
        </p:txBody>
      </p:sp>
      <p:pic>
        <p:nvPicPr>
          <p:cNvPr id="115716" name="Picture 4" descr="UTP_Stp.jpg"/>
          <p:cNvPicPr>
            <a:picLocks noChangeAspect="1"/>
          </p:cNvPicPr>
          <p:nvPr/>
        </p:nvPicPr>
        <p:blipFill>
          <a:blip r:embed="rId2"/>
          <a:stretch>
            <a:fillRect/>
          </a:stretch>
        </p:blipFill>
        <p:spPr>
          <a:xfrm>
            <a:off x="6172200" y="1524000"/>
            <a:ext cx="2743200" cy="4648200"/>
          </a:xfrm>
          <a:prstGeom prst="rect">
            <a:avLst/>
          </a:prstGeom>
          <a:noFill/>
          <a:ln w="9525">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3619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16739" name="Content Placeholder 2"/>
          <p:cNvSpPr>
            <a:spLocks noGrp="1"/>
          </p:cNvSpPr>
          <p:nvPr>
            <p:ph sz="quarter" idx="1"/>
          </p:nvPr>
        </p:nvSpPr>
        <p:spPr>
          <a:xfrm>
            <a:off x="457200" y="1219200"/>
            <a:ext cx="5486400" cy="5334000"/>
          </a:xfrm>
        </p:spPr>
        <p:txBody>
          <a:bodyPr vert="horz" wrap="square" lIns="91440" tIns="45720" rIns="91440" bIns="45720" anchor="t" anchorCtr="0"/>
          <a:lstStyle/>
          <a:p>
            <a:pPr eaLnBrk="1" hangingPunct="1"/>
            <a:r>
              <a:rPr b="1" dirty="0"/>
              <a:t>Twisted Pair</a:t>
            </a:r>
          </a:p>
          <a:p>
            <a:pPr eaLnBrk="1" hangingPunct="1"/>
            <a:r>
              <a:rPr sz="2400" dirty="0"/>
              <a:t>These cables are used in telephone and computer networks.</a:t>
            </a:r>
          </a:p>
          <a:p>
            <a:pPr eaLnBrk="1" hangingPunct="1"/>
            <a:endParaRPr sz="2400" dirty="0"/>
          </a:p>
          <a:p>
            <a:pPr eaLnBrk="1" hangingPunct="1"/>
            <a:r>
              <a:rPr sz="2400" b="1" dirty="0"/>
              <a:t> </a:t>
            </a:r>
            <a:r>
              <a:rPr sz="2400" dirty="0"/>
              <a:t>The total number of pairs in a cable varies according to its use.</a:t>
            </a:r>
          </a:p>
          <a:p>
            <a:pPr eaLnBrk="1" hangingPunct="1"/>
            <a:endParaRPr sz="2400" dirty="0"/>
          </a:p>
          <a:p>
            <a:pPr eaLnBrk="1" hangingPunct="1"/>
            <a:r>
              <a:rPr sz="2400" dirty="0"/>
              <a:t>The cables used in telephone networks have more pairs.</a:t>
            </a:r>
          </a:p>
          <a:p>
            <a:pPr eaLnBrk="1" hangingPunct="1"/>
            <a:endParaRPr sz="2400" dirty="0"/>
          </a:p>
          <a:p>
            <a:pPr eaLnBrk="1" hangingPunct="1"/>
            <a:r>
              <a:rPr sz="2400" dirty="0"/>
              <a:t>The cable used in computer network usually has 4 pairs.</a:t>
            </a:r>
          </a:p>
          <a:p>
            <a:pPr eaLnBrk="1" hangingPunct="1"/>
            <a:endParaRPr b="1" dirty="0"/>
          </a:p>
          <a:p>
            <a:pPr eaLnBrk="1" hangingPunct="1"/>
            <a:endParaRPr b="1" dirty="0"/>
          </a:p>
          <a:p>
            <a:pPr eaLnBrk="1" hangingPunct="1"/>
            <a:endParaRPr b="1" dirty="0"/>
          </a:p>
          <a:p>
            <a:pPr eaLnBrk="1" hangingPunct="1"/>
            <a:endParaRPr b="1" dirty="0"/>
          </a:p>
          <a:p>
            <a:pPr eaLnBrk="1" hangingPunct="1"/>
            <a:endParaRPr dirty="0"/>
          </a:p>
        </p:txBody>
      </p:sp>
      <p:pic>
        <p:nvPicPr>
          <p:cNvPr id="116740" name="Picture 4" descr="UTP_Stp.jpg"/>
          <p:cNvPicPr>
            <a:picLocks noChangeAspect="1"/>
          </p:cNvPicPr>
          <p:nvPr/>
        </p:nvPicPr>
        <p:blipFill>
          <a:blip r:embed="rId2"/>
          <a:stretch>
            <a:fillRect/>
          </a:stretch>
        </p:blipFill>
        <p:spPr>
          <a:xfrm>
            <a:off x="6019800" y="1524000"/>
            <a:ext cx="2895600" cy="4648200"/>
          </a:xfrm>
          <a:prstGeom prst="rect">
            <a:avLst/>
          </a:prstGeom>
          <a:noFill/>
          <a:ln w="9525">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3340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17763" name="Content Placeholder 2"/>
          <p:cNvSpPr>
            <a:spLocks noGrp="1"/>
          </p:cNvSpPr>
          <p:nvPr>
            <p:ph sz="quarter" idx="1"/>
          </p:nvPr>
        </p:nvSpPr>
        <p:spPr>
          <a:xfrm>
            <a:off x="457200" y="1219200"/>
            <a:ext cx="5410200" cy="5334000"/>
          </a:xfrm>
        </p:spPr>
        <p:txBody>
          <a:bodyPr vert="horz" wrap="square" lIns="91440" tIns="45720" rIns="91440" bIns="45720" anchor="t" anchorCtr="0"/>
          <a:lstStyle/>
          <a:p>
            <a:pPr eaLnBrk="1" hangingPunct="1"/>
            <a:r>
              <a:rPr b="1" dirty="0"/>
              <a:t>Twisted Pair</a:t>
            </a:r>
          </a:p>
          <a:p>
            <a:pPr eaLnBrk="1" hangingPunct="1"/>
            <a:r>
              <a:rPr sz="2200" dirty="0"/>
              <a:t>Two types of twisted pair cables.</a:t>
            </a:r>
          </a:p>
          <a:p>
            <a:pPr eaLnBrk="1" hangingPunct="1"/>
            <a:r>
              <a:rPr sz="2200" b="1" dirty="0"/>
              <a:t>Unshielded Twisted Pair (UTP)</a:t>
            </a:r>
          </a:p>
          <a:p>
            <a:pPr eaLnBrk="1" hangingPunct="1"/>
            <a:r>
              <a:rPr sz="2200" b="1" dirty="0"/>
              <a:t>Shielded Twisted Pair (STP)</a:t>
            </a:r>
          </a:p>
          <a:p>
            <a:pPr eaLnBrk="1" hangingPunct="1"/>
            <a:r>
              <a:rPr sz="2200" dirty="0"/>
              <a:t>These pairs of wires are typically color-coded to distinguish them.</a:t>
            </a:r>
          </a:p>
          <a:p>
            <a:pPr eaLnBrk="1" hangingPunct="1"/>
            <a:r>
              <a:rPr sz="2200" dirty="0"/>
              <a:t>The maximum cable length segment is </a:t>
            </a:r>
            <a:r>
              <a:rPr sz="2200" b="1" dirty="0"/>
              <a:t>100 meter</a:t>
            </a:r>
            <a:r>
              <a:rPr sz="2200" dirty="0"/>
              <a:t>(nearly 328 feet).</a:t>
            </a:r>
          </a:p>
          <a:p>
            <a:pPr eaLnBrk="1" hangingPunct="1"/>
            <a:r>
              <a:rPr sz="2200" dirty="0"/>
              <a:t>If you exceed this segment length limitation, attenuation occurs. </a:t>
            </a:r>
          </a:p>
          <a:p>
            <a:pPr eaLnBrk="1" hangingPunct="1"/>
            <a:r>
              <a:rPr sz="2200" dirty="0"/>
              <a:t>Attenuation is the gradual loss of signal strength as it moves farther from the point of origin.</a:t>
            </a:r>
          </a:p>
          <a:p>
            <a:pPr eaLnBrk="1" hangingPunct="1"/>
            <a:endParaRPr dirty="0"/>
          </a:p>
          <a:p>
            <a:pPr eaLnBrk="1" hangingPunct="1"/>
            <a:endParaRPr dirty="0"/>
          </a:p>
          <a:p>
            <a:pPr eaLnBrk="1" hangingPunct="1"/>
            <a:endParaRPr dirty="0"/>
          </a:p>
          <a:p>
            <a:pPr eaLnBrk="1" hangingPunct="1"/>
            <a:endParaRPr b="1" dirty="0"/>
          </a:p>
          <a:p>
            <a:pPr eaLnBrk="1" hangingPunct="1"/>
            <a:endParaRPr b="1" dirty="0"/>
          </a:p>
          <a:p>
            <a:pPr eaLnBrk="1" hangingPunct="1"/>
            <a:endParaRPr b="1" dirty="0"/>
          </a:p>
          <a:p>
            <a:pPr eaLnBrk="1" hangingPunct="1"/>
            <a:endParaRPr dirty="0"/>
          </a:p>
        </p:txBody>
      </p:sp>
      <p:pic>
        <p:nvPicPr>
          <p:cNvPr id="117764" name="Picture 4" descr="UTP_Stp.jpg"/>
          <p:cNvPicPr>
            <a:picLocks noChangeAspect="1"/>
          </p:cNvPicPr>
          <p:nvPr/>
        </p:nvPicPr>
        <p:blipFill>
          <a:blip r:embed="rId2"/>
          <a:stretch>
            <a:fillRect/>
          </a:stretch>
        </p:blipFill>
        <p:spPr>
          <a:xfrm>
            <a:off x="6019800" y="1447800"/>
            <a:ext cx="2895600" cy="4724400"/>
          </a:xfrm>
          <a:prstGeom prst="rect">
            <a:avLst/>
          </a:prstGeom>
          <a:noFill/>
          <a:ln w="9525">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3340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18787" name="Content Placeholder 2"/>
          <p:cNvSpPr>
            <a:spLocks noGrp="1"/>
          </p:cNvSpPr>
          <p:nvPr>
            <p:ph sz="quarter" idx="1"/>
          </p:nvPr>
        </p:nvSpPr>
        <p:spPr>
          <a:xfrm>
            <a:off x="457200" y="1295400"/>
            <a:ext cx="5715000" cy="5257800"/>
          </a:xfrm>
        </p:spPr>
        <p:txBody>
          <a:bodyPr vert="horz" wrap="square" lIns="91440" tIns="45720" rIns="91440" bIns="45720" anchor="t" anchorCtr="0"/>
          <a:lstStyle/>
          <a:p>
            <a:pPr eaLnBrk="1" hangingPunct="1"/>
            <a:r>
              <a:rPr b="1" dirty="0"/>
              <a:t>Twisted Pair</a:t>
            </a:r>
          </a:p>
          <a:p>
            <a:pPr eaLnBrk="1" hangingPunct="1"/>
            <a:r>
              <a:rPr sz="2400" dirty="0"/>
              <a:t>Two types of twisted pair cables.</a:t>
            </a:r>
          </a:p>
          <a:p>
            <a:pPr eaLnBrk="1" hangingPunct="1"/>
            <a:r>
              <a:rPr sz="2400" b="1" dirty="0"/>
              <a:t>Unshielded Twisted Pair (UTP)</a:t>
            </a:r>
          </a:p>
          <a:p>
            <a:pPr eaLnBrk="1" hangingPunct="1"/>
            <a:r>
              <a:rPr sz="2400" b="1" dirty="0"/>
              <a:t>Shielded Twisted Pair (STP)</a:t>
            </a:r>
          </a:p>
          <a:p>
            <a:pPr eaLnBrk="1" hangingPunct="1"/>
            <a:r>
              <a:rPr sz="2400" dirty="0"/>
              <a:t>UTP is susceptible to Electro Magnetic Interference (EMI or crosstalk).</a:t>
            </a:r>
          </a:p>
          <a:p>
            <a:pPr eaLnBrk="1" hangingPunct="1"/>
            <a:r>
              <a:rPr sz="2400" dirty="0"/>
              <a:t>STP uses a higher quality protective jacket and also uses foil wrap between and around the wire pairs.</a:t>
            </a:r>
          </a:p>
          <a:p>
            <a:pPr eaLnBrk="1" hangingPunct="1"/>
            <a:r>
              <a:rPr sz="2400" dirty="0"/>
              <a:t>Thus STP is less susceptible to interference and supports higher transmission rates than UTP.</a:t>
            </a:r>
          </a:p>
          <a:p>
            <a:pPr eaLnBrk="1" hangingPunct="1"/>
            <a:endParaRPr dirty="0"/>
          </a:p>
          <a:p>
            <a:pPr eaLnBrk="1" hangingPunct="1"/>
            <a:endParaRPr b="1" dirty="0"/>
          </a:p>
          <a:p>
            <a:pPr eaLnBrk="1" hangingPunct="1"/>
            <a:endParaRPr b="1" dirty="0"/>
          </a:p>
          <a:p>
            <a:pPr eaLnBrk="1" hangingPunct="1"/>
            <a:endParaRPr b="1" dirty="0"/>
          </a:p>
          <a:p>
            <a:pPr eaLnBrk="1" hangingPunct="1"/>
            <a:endParaRPr dirty="0"/>
          </a:p>
        </p:txBody>
      </p:sp>
      <p:pic>
        <p:nvPicPr>
          <p:cNvPr id="118788" name="Picture 4" descr="UTP_Stp.jpg"/>
          <p:cNvPicPr>
            <a:picLocks noChangeAspect="1"/>
          </p:cNvPicPr>
          <p:nvPr/>
        </p:nvPicPr>
        <p:blipFill>
          <a:blip r:embed="rId2"/>
          <a:stretch>
            <a:fillRect/>
          </a:stretch>
        </p:blipFill>
        <p:spPr>
          <a:xfrm>
            <a:off x="6248400" y="1447800"/>
            <a:ext cx="2667000" cy="4724400"/>
          </a:xfrm>
          <a:prstGeom prst="rect">
            <a:avLst/>
          </a:prstGeom>
          <a:noFill/>
          <a:ln w="9525">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itle 1"/>
          <p:cNvSpPr>
            <a:spLocks noGrp="1"/>
          </p:cNvSpPr>
          <p:nvPr>
            <p:ph type="title"/>
          </p:nvPr>
        </p:nvSpPr>
        <p:spPr>
          <a:xfrm>
            <a:off x="381000" y="304800"/>
            <a:ext cx="8229600" cy="742950"/>
          </a:xfrm>
        </p:spPr>
        <p:txBody>
          <a:bodyPr vert="horz" wrap="square" lIns="91440" tIns="45720" rIns="91440" bIns="45720" anchor="b" anchorCtr="0"/>
          <a:lstStyle/>
          <a:p>
            <a:pPr eaLnBrk="1" hangingPunct="1"/>
            <a:r>
              <a:rPr dirty="0"/>
              <a:t>Overview of Transmission Media</a:t>
            </a:r>
          </a:p>
        </p:txBody>
      </p:sp>
      <p:sp>
        <p:nvSpPr>
          <p:cNvPr id="119811" name="Content Placeholder 2"/>
          <p:cNvSpPr>
            <a:spLocks noGrp="1"/>
          </p:cNvSpPr>
          <p:nvPr>
            <p:ph sz="quarter" idx="1"/>
          </p:nvPr>
        </p:nvSpPr>
        <p:spPr>
          <a:xfrm>
            <a:off x="457200" y="1295400"/>
            <a:ext cx="5638800" cy="5257800"/>
          </a:xfrm>
        </p:spPr>
        <p:txBody>
          <a:bodyPr vert="horz" wrap="square" lIns="91440" tIns="45720" rIns="91440" bIns="45720" anchor="t" anchorCtr="0"/>
          <a:lstStyle/>
          <a:p>
            <a:pPr eaLnBrk="1" hangingPunct="1"/>
            <a:r>
              <a:rPr b="1" dirty="0"/>
              <a:t>Twisted Pair</a:t>
            </a:r>
          </a:p>
          <a:p>
            <a:pPr eaLnBrk="1" hangingPunct="1"/>
            <a:r>
              <a:rPr sz="2400" dirty="0"/>
              <a:t>These pairs of wires are typically color-coded to distinguish them.</a:t>
            </a:r>
          </a:p>
          <a:p>
            <a:pPr eaLnBrk="1" hangingPunct="1"/>
            <a:endParaRPr sz="2400" dirty="0"/>
          </a:p>
          <a:p>
            <a:pPr eaLnBrk="1" hangingPunct="1"/>
            <a:r>
              <a:rPr sz="2400" dirty="0"/>
              <a:t>The maximum cable length segment is </a:t>
            </a:r>
            <a:r>
              <a:rPr sz="2400" b="1" dirty="0"/>
              <a:t>100 meter</a:t>
            </a:r>
            <a:r>
              <a:rPr sz="2400" dirty="0"/>
              <a:t>(nearly 328 feet).</a:t>
            </a:r>
          </a:p>
          <a:p>
            <a:pPr eaLnBrk="1" hangingPunct="1"/>
            <a:r>
              <a:rPr sz="2400" dirty="0"/>
              <a:t>If you exceed this segment length limitation, attenuation occurs. </a:t>
            </a:r>
          </a:p>
          <a:p>
            <a:pPr eaLnBrk="1" hangingPunct="1"/>
            <a:r>
              <a:rPr sz="2400" dirty="0"/>
              <a:t>Attenuation is the gradual loss of signal strength as it moves farther from the point of origin</a:t>
            </a:r>
            <a:r>
              <a:rPr dirty="0"/>
              <a:t>.</a:t>
            </a:r>
          </a:p>
          <a:p>
            <a:pPr eaLnBrk="1" hangingPunct="1"/>
            <a:endParaRPr dirty="0"/>
          </a:p>
          <a:p>
            <a:pPr eaLnBrk="1" hangingPunct="1"/>
            <a:endParaRPr dirty="0"/>
          </a:p>
          <a:p>
            <a:pPr eaLnBrk="1" hangingPunct="1"/>
            <a:endParaRPr dirty="0"/>
          </a:p>
          <a:p>
            <a:pPr eaLnBrk="1" hangingPunct="1"/>
            <a:endParaRPr b="1" dirty="0"/>
          </a:p>
          <a:p>
            <a:pPr eaLnBrk="1" hangingPunct="1"/>
            <a:endParaRPr b="1" dirty="0"/>
          </a:p>
          <a:p>
            <a:pPr eaLnBrk="1" hangingPunct="1"/>
            <a:endParaRPr b="1" dirty="0"/>
          </a:p>
          <a:p>
            <a:pPr eaLnBrk="1" hangingPunct="1"/>
            <a:endParaRPr dirty="0"/>
          </a:p>
        </p:txBody>
      </p:sp>
      <p:pic>
        <p:nvPicPr>
          <p:cNvPr id="119812" name="Picture 4" descr="UTP_Stp.jpg"/>
          <p:cNvPicPr>
            <a:picLocks noChangeAspect="1"/>
          </p:cNvPicPr>
          <p:nvPr/>
        </p:nvPicPr>
        <p:blipFill>
          <a:blip r:embed="rId2"/>
          <a:stretch>
            <a:fillRect/>
          </a:stretch>
        </p:blipFill>
        <p:spPr>
          <a:xfrm>
            <a:off x="6248400" y="1524000"/>
            <a:ext cx="2667000" cy="4648200"/>
          </a:xfrm>
          <a:prstGeom prst="rect">
            <a:avLst/>
          </a:prstGeom>
          <a:noFill/>
          <a:ln w="9525">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3619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20835" name="Content Placeholder 2"/>
          <p:cNvSpPr>
            <a:spLocks noGrp="1"/>
          </p:cNvSpPr>
          <p:nvPr>
            <p:ph sz="quarter" idx="1"/>
          </p:nvPr>
        </p:nvSpPr>
        <p:spPr>
          <a:xfrm>
            <a:off x="457200" y="1219200"/>
            <a:ext cx="5638800" cy="5334000"/>
          </a:xfrm>
        </p:spPr>
        <p:txBody>
          <a:bodyPr vert="horz" wrap="square" lIns="91440" tIns="45720" rIns="91440" bIns="45720" anchor="t" anchorCtr="0"/>
          <a:lstStyle/>
          <a:p>
            <a:pPr eaLnBrk="1" hangingPunct="1"/>
            <a:r>
              <a:rPr b="1" dirty="0"/>
              <a:t>Twisted Pair</a:t>
            </a:r>
          </a:p>
          <a:p>
            <a:pPr eaLnBrk="1" hangingPunct="1"/>
            <a:r>
              <a:rPr sz="2400" dirty="0"/>
              <a:t>In telephone networks UTP/STP cables are terminated using a 4 to 6 pin </a:t>
            </a:r>
            <a:r>
              <a:rPr sz="2400" b="1" dirty="0"/>
              <a:t>RJ-11 </a:t>
            </a:r>
            <a:r>
              <a:rPr sz="2400" dirty="0"/>
              <a:t>connector</a:t>
            </a:r>
          </a:p>
          <a:p>
            <a:pPr eaLnBrk="1" hangingPunct="1"/>
            <a:r>
              <a:rPr sz="2400" dirty="0"/>
              <a:t>In computer networks UTP/STP cables are terminated using a 8-pin </a:t>
            </a:r>
            <a:r>
              <a:rPr sz="2400" b="1" dirty="0"/>
              <a:t>RJ-45 </a:t>
            </a:r>
            <a:r>
              <a:rPr sz="2400" dirty="0"/>
              <a:t>connector</a:t>
            </a:r>
            <a:r>
              <a:rPr sz="2400" b="1" dirty="0"/>
              <a:t>.</a:t>
            </a:r>
          </a:p>
          <a:p>
            <a:pPr eaLnBrk="1" hangingPunct="1"/>
            <a:r>
              <a:rPr sz="2400" b="1" dirty="0"/>
              <a:t>RJ </a:t>
            </a:r>
            <a:r>
              <a:rPr sz="2400" dirty="0"/>
              <a:t>stands for </a:t>
            </a:r>
            <a:r>
              <a:rPr sz="2400" b="1" dirty="0"/>
              <a:t>Registered Jack.</a:t>
            </a:r>
          </a:p>
          <a:p>
            <a:pPr eaLnBrk="1" hangingPunct="1"/>
            <a:r>
              <a:rPr sz="2400" dirty="0"/>
              <a:t>Registered jacks were created by industry and regulated by the </a:t>
            </a:r>
            <a:r>
              <a:rPr sz="2400" b="1" dirty="0"/>
              <a:t>FCC</a:t>
            </a:r>
            <a:r>
              <a:rPr sz="2400" dirty="0"/>
              <a:t> to be the standard interface between a telephone company and a customer.</a:t>
            </a:r>
            <a:endParaRPr sz="2400" b="1" dirty="0"/>
          </a:p>
          <a:p>
            <a:pPr eaLnBrk="1" hangingPunct="1"/>
            <a:endParaRPr b="1" dirty="0"/>
          </a:p>
          <a:p>
            <a:pPr eaLnBrk="1" hangingPunct="1"/>
            <a:endParaRPr dirty="0"/>
          </a:p>
          <a:p>
            <a:pPr eaLnBrk="1" hangingPunct="1"/>
            <a:endParaRPr dirty="0"/>
          </a:p>
          <a:p>
            <a:pPr eaLnBrk="1" hangingPunct="1"/>
            <a:endParaRPr dirty="0"/>
          </a:p>
          <a:p>
            <a:pPr eaLnBrk="1" hangingPunct="1"/>
            <a:endParaRPr b="1" dirty="0"/>
          </a:p>
          <a:p>
            <a:pPr eaLnBrk="1" hangingPunct="1"/>
            <a:endParaRPr b="1" dirty="0"/>
          </a:p>
          <a:p>
            <a:pPr eaLnBrk="1" hangingPunct="1"/>
            <a:endParaRPr b="1" dirty="0"/>
          </a:p>
          <a:p>
            <a:pPr eaLnBrk="1" hangingPunct="1"/>
            <a:endParaRPr dirty="0"/>
          </a:p>
        </p:txBody>
      </p:sp>
      <p:pic>
        <p:nvPicPr>
          <p:cNvPr id="120836" name="Picture 5" descr="utp_stp rj45.jpg"/>
          <p:cNvPicPr>
            <a:picLocks noChangeAspect="1"/>
          </p:cNvPicPr>
          <p:nvPr/>
        </p:nvPicPr>
        <p:blipFill>
          <a:blip r:embed="rId2"/>
          <a:stretch>
            <a:fillRect/>
          </a:stretch>
        </p:blipFill>
        <p:spPr>
          <a:xfrm>
            <a:off x="6248400" y="3429000"/>
            <a:ext cx="2667000" cy="2743200"/>
          </a:xfrm>
          <a:prstGeom prst="rect">
            <a:avLst/>
          </a:prstGeom>
          <a:noFill/>
          <a:ln w="9525">
            <a:noFill/>
          </a:ln>
        </p:spPr>
      </p:pic>
      <p:sp>
        <p:nvSpPr>
          <p:cNvPr id="120837" name="TextBox 6"/>
          <p:cNvSpPr txBox="1"/>
          <p:nvPr/>
        </p:nvSpPr>
        <p:spPr>
          <a:xfrm>
            <a:off x="6400800" y="5867400"/>
            <a:ext cx="1338263" cy="369888"/>
          </a:xfrm>
          <a:prstGeom prst="rect">
            <a:avLst/>
          </a:prstGeom>
          <a:noFill/>
          <a:ln w="9525">
            <a:noFill/>
          </a:ln>
        </p:spPr>
        <p:txBody>
          <a:bodyPr wrap="none">
            <a:spAutoFit/>
          </a:bodyPr>
          <a:lstStyle/>
          <a:p>
            <a:r>
              <a:rPr dirty="0">
                <a:latin typeface="Arial" panose="020B0604020202020204" pitchFamily="34" charset="0"/>
              </a:rPr>
              <a:t>RJ-45 Jack</a:t>
            </a:r>
          </a:p>
        </p:txBody>
      </p:sp>
      <p:pic>
        <p:nvPicPr>
          <p:cNvPr id="120838" name="Picture 7" descr="rj11nrj45.jpg"/>
          <p:cNvPicPr>
            <a:picLocks noChangeAspect="1"/>
          </p:cNvPicPr>
          <p:nvPr/>
        </p:nvPicPr>
        <p:blipFill>
          <a:blip r:embed="rId3"/>
          <a:stretch>
            <a:fillRect/>
          </a:stretch>
        </p:blipFill>
        <p:spPr>
          <a:xfrm>
            <a:off x="6248400" y="1295400"/>
            <a:ext cx="2667000" cy="1981200"/>
          </a:xfrm>
          <a:prstGeom prst="rect">
            <a:avLst/>
          </a:prstGeom>
          <a:noFill/>
          <a:ln w="9525">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1"/>
          <p:cNvSpPr>
            <a:spLocks noGrp="1"/>
          </p:cNvSpPr>
          <p:nvPr>
            <p:ph type="title"/>
          </p:nvPr>
        </p:nvSpPr>
        <p:spPr>
          <a:xfrm>
            <a:off x="381000" y="457200"/>
            <a:ext cx="8229600" cy="742950"/>
          </a:xfrm>
        </p:spPr>
        <p:txBody>
          <a:bodyPr vert="horz" wrap="square" lIns="91440" tIns="45720" rIns="91440" bIns="45720" anchor="b" anchorCtr="0"/>
          <a:lstStyle/>
          <a:p>
            <a:pPr eaLnBrk="1" hangingPunct="1"/>
            <a:r>
              <a:rPr dirty="0"/>
              <a:t>Overview of Transmission Media</a:t>
            </a:r>
          </a:p>
        </p:txBody>
      </p:sp>
      <p:sp>
        <p:nvSpPr>
          <p:cNvPr id="121859" name="Content Placeholder 2"/>
          <p:cNvSpPr>
            <a:spLocks noGrp="1"/>
          </p:cNvSpPr>
          <p:nvPr>
            <p:ph sz="quarter" idx="1"/>
          </p:nvPr>
        </p:nvSpPr>
        <p:spPr>
          <a:xfrm>
            <a:off x="457200" y="1447800"/>
            <a:ext cx="8229600" cy="4876800"/>
          </a:xfrm>
        </p:spPr>
        <p:txBody>
          <a:bodyPr vert="horz" wrap="square" lIns="91440" tIns="45720" rIns="91440" bIns="45720" anchor="t" anchorCtr="0"/>
          <a:lstStyle/>
          <a:p>
            <a:pPr eaLnBrk="1" hangingPunct="1"/>
            <a:r>
              <a:rPr b="1" dirty="0"/>
              <a:t>Twisted Pair – Categories</a:t>
            </a:r>
          </a:p>
          <a:p>
            <a:pPr eaLnBrk="1" hangingPunct="1"/>
            <a:r>
              <a:rPr dirty="0"/>
              <a:t>ANSI/EIA (American National Standards Institute/Electronic Industries Association) Standard 568 is one of several standards that specify "categories" of twisted pair cabling systems.</a:t>
            </a:r>
          </a:p>
          <a:p>
            <a:pPr eaLnBrk="1" hangingPunct="1"/>
            <a:r>
              <a:rPr b="1" dirty="0"/>
              <a:t>CAT 1 </a:t>
            </a:r>
          </a:p>
          <a:p>
            <a:pPr lvl="1" eaLnBrk="1" hangingPunct="1"/>
            <a:r>
              <a:rPr dirty="0"/>
              <a:t>Used in Voice networks and ISDN networks</a:t>
            </a:r>
          </a:p>
          <a:p>
            <a:pPr lvl="1" eaLnBrk="1" hangingPunct="1"/>
            <a:r>
              <a:rPr dirty="0"/>
              <a:t>Supports up to 1 Mbps data rates</a:t>
            </a:r>
            <a:endParaRPr b="1" dirty="0"/>
          </a:p>
          <a:p>
            <a:pPr eaLnBrk="1" hangingPunct="1"/>
            <a:r>
              <a:rPr b="1" dirty="0"/>
              <a:t>CAT 2 </a:t>
            </a:r>
          </a:p>
          <a:p>
            <a:pPr lvl="1" eaLnBrk="1" hangingPunct="1"/>
            <a:r>
              <a:rPr dirty="0"/>
              <a:t>Mostly used in IBM token ring networks</a:t>
            </a:r>
          </a:p>
          <a:p>
            <a:pPr lvl="1" eaLnBrk="1" hangingPunct="1"/>
            <a:r>
              <a:rPr dirty="0"/>
              <a:t> Supports up to 4 Mbps data rates</a:t>
            </a:r>
          </a:p>
          <a:p>
            <a:pPr eaLnBrk="1" hangingPunct="1"/>
            <a:endParaRPr b="1" dirty="0"/>
          </a:p>
          <a:p>
            <a:pPr eaLnBrk="1" hangingPunct="1"/>
            <a:endParaRPr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tle 1"/>
          <p:cNvSpPr>
            <a:spLocks noGrp="1"/>
          </p:cNvSpPr>
          <p:nvPr>
            <p:ph type="title"/>
          </p:nvPr>
        </p:nvSpPr>
        <p:spPr>
          <a:xfrm>
            <a:off x="304800" y="304800"/>
            <a:ext cx="8229600" cy="742950"/>
          </a:xfrm>
        </p:spPr>
        <p:txBody>
          <a:bodyPr vert="horz" wrap="square" lIns="91440" tIns="45720" rIns="91440" bIns="45720" anchor="b" anchorCtr="0"/>
          <a:lstStyle/>
          <a:p>
            <a:pPr eaLnBrk="1" hangingPunct="1"/>
            <a:r>
              <a:rPr dirty="0"/>
              <a:t>Overview of Transmission Media</a:t>
            </a:r>
          </a:p>
        </p:txBody>
      </p:sp>
      <p:sp>
        <p:nvSpPr>
          <p:cNvPr id="122883" name="Content Placeholder 2"/>
          <p:cNvSpPr>
            <a:spLocks noGrp="1"/>
          </p:cNvSpPr>
          <p:nvPr>
            <p:ph sz="quarter" idx="1"/>
          </p:nvPr>
        </p:nvSpPr>
        <p:spPr>
          <a:xfrm>
            <a:off x="457200" y="1219200"/>
            <a:ext cx="8229600" cy="5029200"/>
          </a:xfrm>
        </p:spPr>
        <p:txBody>
          <a:bodyPr vert="horz" wrap="square" lIns="91440" tIns="45720" rIns="91440" bIns="45720" anchor="t" anchorCtr="0"/>
          <a:lstStyle/>
          <a:p>
            <a:pPr eaLnBrk="1" hangingPunct="1"/>
            <a:r>
              <a:rPr b="1" dirty="0"/>
              <a:t>Twisted Pair – Categories</a:t>
            </a:r>
          </a:p>
          <a:p>
            <a:pPr eaLnBrk="1" hangingPunct="1"/>
            <a:r>
              <a:rPr b="1" dirty="0"/>
              <a:t>CAT 3 </a:t>
            </a:r>
          </a:p>
          <a:p>
            <a:pPr lvl="1" eaLnBrk="1" hangingPunct="1"/>
            <a:r>
              <a:rPr dirty="0"/>
              <a:t>Used mostly in voice networks.</a:t>
            </a:r>
          </a:p>
          <a:p>
            <a:pPr lvl="1" eaLnBrk="1" hangingPunct="1"/>
            <a:r>
              <a:rPr dirty="0"/>
              <a:t>Later used in 10Base-T Ethernet networks </a:t>
            </a:r>
          </a:p>
          <a:p>
            <a:pPr lvl="1" eaLnBrk="1" hangingPunct="1"/>
            <a:r>
              <a:rPr dirty="0"/>
              <a:t>Supports up to 16 Mbps data rates</a:t>
            </a:r>
          </a:p>
          <a:p>
            <a:pPr eaLnBrk="1" hangingPunct="1"/>
            <a:r>
              <a:rPr b="1" dirty="0"/>
              <a:t>CAT 4 </a:t>
            </a:r>
          </a:p>
          <a:p>
            <a:pPr lvl="1" eaLnBrk="1" hangingPunct="1"/>
            <a:r>
              <a:rPr dirty="0"/>
              <a:t>Was used in token ring networks</a:t>
            </a:r>
          </a:p>
          <a:p>
            <a:pPr lvl="1" eaLnBrk="1" hangingPunct="1"/>
            <a:r>
              <a:rPr dirty="0"/>
              <a:t> Supports up to 16 Mbps data rates</a:t>
            </a:r>
          </a:p>
          <a:p>
            <a:pPr eaLnBrk="1" hangingPunct="1"/>
            <a:r>
              <a:rPr b="1" dirty="0"/>
              <a:t>CAT 5</a:t>
            </a:r>
          </a:p>
          <a:p>
            <a:pPr lvl="1" eaLnBrk="1" hangingPunct="1"/>
            <a:r>
              <a:rPr dirty="0"/>
              <a:t>Was used in various networks like 10/100Base-T, 4/16 Mbps token ring, 155 Mbps ATM etc.</a:t>
            </a:r>
          </a:p>
          <a:p>
            <a:pPr lvl="1" eaLnBrk="1" hangingPunct="1"/>
            <a:r>
              <a:rPr dirty="0"/>
              <a:t>Works at 100 MHz</a:t>
            </a:r>
          </a:p>
          <a:p>
            <a:pPr eaLnBrk="1" hangingPunct="1"/>
            <a:endParaRPr b="1" dirty="0"/>
          </a:p>
          <a:p>
            <a:pPr eaLnBrk="1" hangingPunct="1"/>
            <a:endParaRPr dirty="0"/>
          </a:p>
        </p:txBody>
      </p:sp>
      <p:pic>
        <p:nvPicPr>
          <p:cNvPr id="122884" name="Picture 4" descr="cat3 n cat5.jpg"/>
          <p:cNvPicPr>
            <a:picLocks noChangeAspect="1"/>
          </p:cNvPicPr>
          <p:nvPr/>
        </p:nvPicPr>
        <p:blipFill>
          <a:blip r:embed="rId2"/>
          <a:stretch>
            <a:fillRect/>
          </a:stretch>
        </p:blipFill>
        <p:spPr>
          <a:xfrm>
            <a:off x="6629400" y="1295400"/>
            <a:ext cx="2095500" cy="3581400"/>
          </a:xfrm>
          <a:prstGeom prst="rect">
            <a:avLst/>
          </a:prstGeom>
          <a:noFill/>
          <a:ln w="9525">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5143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23907" name="Content Placeholder 2"/>
          <p:cNvSpPr>
            <a:spLocks noGrp="1"/>
          </p:cNvSpPr>
          <p:nvPr>
            <p:ph sz="quarter" idx="1"/>
          </p:nvPr>
        </p:nvSpPr>
        <p:spPr>
          <a:xfrm>
            <a:off x="457200" y="1219200"/>
            <a:ext cx="6324600" cy="5334000"/>
          </a:xfrm>
        </p:spPr>
        <p:txBody>
          <a:bodyPr vert="horz" wrap="square" lIns="91440" tIns="45720" rIns="91440" bIns="45720" anchor="t" anchorCtr="0"/>
          <a:lstStyle/>
          <a:p>
            <a:pPr eaLnBrk="1" hangingPunct="1"/>
            <a:r>
              <a:rPr b="1" dirty="0"/>
              <a:t>Twisted Pair – Categories</a:t>
            </a:r>
          </a:p>
          <a:p>
            <a:pPr eaLnBrk="1" hangingPunct="1"/>
            <a:r>
              <a:rPr sz="2000" b="1" dirty="0"/>
              <a:t>CAT 5 E</a:t>
            </a:r>
          </a:p>
          <a:p>
            <a:pPr lvl="1" eaLnBrk="1" hangingPunct="1"/>
            <a:r>
              <a:rPr sz="2000" dirty="0"/>
              <a:t>used in various networks like, Gigabit Ethernet, 155 Mbps ATM etc.</a:t>
            </a:r>
          </a:p>
          <a:p>
            <a:pPr lvl="1" eaLnBrk="1" hangingPunct="1"/>
            <a:r>
              <a:rPr sz="2000" dirty="0"/>
              <a:t>Works at 100 MHz</a:t>
            </a:r>
          </a:p>
          <a:p>
            <a:pPr lvl="1" eaLnBrk="1" hangingPunct="1"/>
            <a:r>
              <a:rPr sz="2000" dirty="0"/>
              <a:t>Better prone to EMI or crosstalk that CAT 5</a:t>
            </a:r>
          </a:p>
          <a:p>
            <a:pPr eaLnBrk="1" hangingPunct="1"/>
            <a:r>
              <a:rPr sz="2000" b="1" dirty="0"/>
              <a:t>CAT 6</a:t>
            </a:r>
          </a:p>
          <a:p>
            <a:pPr lvl="1" eaLnBrk="1" hangingPunct="1"/>
            <a:r>
              <a:rPr sz="2000" dirty="0"/>
              <a:t>According to TIA-942, minimum requirement for data centers.</a:t>
            </a:r>
          </a:p>
          <a:p>
            <a:pPr lvl="1" eaLnBrk="1" hangingPunct="1"/>
            <a:r>
              <a:rPr sz="2000" dirty="0"/>
              <a:t>Works  up to 250 MHz</a:t>
            </a:r>
          </a:p>
          <a:p>
            <a:pPr eaLnBrk="1" hangingPunct="1"/>
            <a:r>
              <a:rPr sz="2000" b="1" dirty="0"/>
              <a:t>CAT 6E</a:t>
            </a:r>
          </a:p>
          <a:p>
            <a:pPr lvl="1" eaLnBrk="1" hangingPunct="1"/>
            <a:r>
              <a:rPr sz="2000" dirty="0"/>
              <a:t> According to ISO data center standard, minimum requirement for data centers.</a:t>
            </a:r>
          </a:p>
          <a:p>
            <a:pPr lvl="1" eaLnBrk="1" hangingPunct="1"/>
            <a:r>
              <a:rPr sz="2000" dirty="0"/>
              <a:t>Works  up to 500 MHz</a:t>
            </a:r>
          </a:p>
          <a:p>
            <a:pPr lvl="1" eaLnBrk="1" hangingPunct="1"/>
            <a:r>
              <a:rPr sz="2000" dirty="0"/>
              <a:t>Supports for 10 Gigabit Ethernet</a:t>
            </a:r>
          </a:p>
          <a:p>
            <a:pPr eaLnBrk="1" hangingPunct="1"/>
            <a:endParaRPr b="1" dirty="0"/>
          </a:p>
          <a:p>
            <a:pPr eaLnBrk="1" hangingPunct="1"/>
            <a:endParaRPr dirty="0"/>
          </a:p>
        </p:txBody>
      </p:sp>
      <p:pic>
        <p:nvPicPr>
          <p:cNvPr id="123908" name="Picture 6" descr="cat5 and cat 5 e.jpg"/>
          <p:cNvPicPr>
            <a:picLocks noChangeAspect="1"/>
          </p:cNvPicPr>
          <p:nvPr/>
        </p:nvPicPr>
        <p:blipFill>
          <a:blip r:embed="rId2"/>
          <a:stretch>
            <a:fillRect/>
          </a:stretch>
        </p:blipFill>
        <p:spPr>
          <a:xfrm>
            <a:off x="6705600" y="1219200"/>
            <a:ext cx="2143125" cy="2590800"/>
          </a:xfrm>
          <a:prstGeom prst="rect">
            <a:avLst/>
          </a:prstGeom>
          <a:noFill/>
          <a:ln w="9525">
            <a:noFill/>
          </a:ln>
        </p:spPr>
      </p:pic>
      <p:pic>
        <p:nvPicPr>
          <p:cNvPr id="123909" name="Picture 7" descr="cat6.jpg"/>
          <p:cNvPicPr>
            <a:picLocks noChangeAspect="1"/>
          </p:cNvPicPr>
          <p:nvPr/>
        </p:nvPicPr>
        <p:blipFill>
          <a:blip r:embed="rId3"/>
          <a:stretch>
            <a:fillRect/>
          </a:stretch>
        </p:blipFill>
        <p:spPr>
          <a:xfrm>
            <a:off x="7010400" y="4038600"/>
            <a:ext cx="1857375" cy="2133600"/>
          </a:xfrm>
          <a:prstGeom prst="rect">
            <a:avLst/>
          </a:prstGeom>
          <a:noFill/>
          <a:ln w="9525">
            <a:noFill/>
          </a:ln>
        </p:spPr>
      </p:pic>
      <p:sp>
        <p:nvSpPr>
          <p:cNvPr id="123910" name="TextBox 8"/>
          <p:cNvSpPr txBox="1"/>
          <p:nvPr/>
        </p:nvSpPr>
        <p:spPr>
          <a:xfrm>
            <a:off x="6629400" y="4648200"/>
            <a:ext cx="898525" cy="369888"/>
          </a:xfrm>
          <a:prstGeom prst="rect">
            <a:avLst/>
          </a:prstGeom>
          <a:noFill/>
          <a:ln w="9525">
            <a:noFill/>
          </a:ln>
        </p:spPr>
        <p:txBody>
          <a:bodyPr wrap="none">
            <a:spAutoFit/>
          </a:bodyPr>
          <a:lstStyle/>
          <a:p>
            <a:r>
              <a:rPr b="1" dirty="0">
                <a:solidFill>
                  <a:srgbClr val="0000FF"/>
                </a:solidFill>
                <a:latin typeface="Arial" panose="020B0604020202020204" pitchFamily="34" charset="0"/>
              </a:rPr>
              <a:t>CAT 6</a:t>
            </a:r>
            <a:r>
              <a:rPr dirty="0">
                <a:latin typeface="Arial" panose="020B0604020202020204" pitchFamily="34" charset="0"/>
              </a:rPr>
              <a:t> </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5143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24931" name="Content Placeholder 2"/>
          <p:cNvSpPr>
            <a:spLocks noGrp="1"/>
          </p:cNvSpPr>
          <p:nvPr>
            <p:ph sz="quarter" idx="1"/>
          </p:nvPr>
        </p:nvSpPr>
        <p:spPr>
          <a:xfrm>
            <a:off x="457200" y="1219200"/>
            <a:ext cx="8229600" cy="5334000"/>
          </a:xfrm>
        </p:spPr>
        <p:txBody>
          <a:bodyPr vert="horz" wrap="square" lIns="91440" tIns="45720" rIns="91440" bIns="45720" anchor="t" anchorCtr="0"/>
          <a:lstStyle/>
          <a:p>
            <a:pPr eaLnBrk="1" hangingPunct="1"/>
            <a:r>
              <a:rPr b="1" dirty="0"/>
              <a:t>Twisted Pair – Categories</a:t>
            </a:r>
          </a:p>
          <a:p>
            <a:pPr eaLnBrk="1" hangingPunct="1"/>
            <a:r>
              <a:rPr sz="2400" b="1" dirty="0"/>
              <a:t>Class F or CAT 7</a:t>
            </a:r>
          </a:p>
          <a:p>
            <a:pPr lvl="1" eaLnBrk="1" hangingPunct="1">
              <a:buFont typeface="Wingdings 2" pitchFamily="18" charset="2"/>
              <a:buNone/>
            </a:pPr>
            <a:endParaRPr sz="2200" dirty="0"/>
          </a:p>
          <a:p>
            <a:pPr eaLnBrk="1" hangingPunct="1"/>
            <a:endParaRPr dirty="0"/>
          </a:p>
        </p:txBody>
      </p:sp>
      <p:pic>
        <p:nvPicPr>
          <p:cNvPr id="124932" name="Picture 3" descr="cat 7.jpg"/>
          <p:cNvPicPr>
            <a:picLocks noChangeAspect="1"/>
          </p:cNvPicPr>
          <p:nvPr/>
        </p:nvPicPr>
        <p:blipFill>
          <a:blip r:embed="rId2"/>
          <a:stretch>
            <a:fillRect/>
          </a:stretch>
        </p:blipFill>
        <p:spPr>
          <a:xfrm>
            <a:off x="990600" y="2514600"/>
            <a:ext cx="4038600" cy="3581400"/>
          </a:xfrm>
          <a:prstGeom prst="rect">
            <a:avLst/>
          </a:prstGeom>
          <a:noFill/>
          <a:ln w="9525">
            <a:noFill/>
          </a:ln>
        </p:spPr>
      </p:pic>
      <p:pic>
        <p:nvPicPr>
          <p:cNvPr id="124933" name="Picture 4" descr="gg45.jpg"/>
          <p:cNvPicPr>
            <a:picLocks noChangeAspect="1"/>
          </p:cNvPicPr>
          <p:nvPr/>
        </p:nvPicPr>
        <p:blipFill>
          <a:blip r:embed="rId3"/>
          <a:stretch>
            <a:fillRect/>
          </a:stretch>
        </p:blipFill>
        <p:spPr>
          <a:xfrm>
            <a:off x="5105400" y="2133600"/>
            <a:ext cx="3429000" cy="4191000"/>
          </a:xfrm>
          <a:prstGeom prst="rect">
            <a:avLst/>
          </a:prstGeom>
          <a:noFill/>
          <a:ln w="9525">
            <a:noFill/>
          </a:ln>
        </p:spPr>
      </p:pic>
      <p:sp>
        <p:nvSpPr>
          <p:cNvPr id="124934" name="TextBox 5"/>
          <p:cNvSpPr txBox="1"/>
          <p:nvPr/>
        </p:nvSpPr>
        <p:spPr>
          <a:xfrm>
            <a:off x="1752600" y="3352800"/>
            <a:ext cx="1527175" cy="369888"/>
          </a:xfrm>
          <a:prstGeom prst="rect">
            <a:avLst/>
          </a:prstGeom>
          <a:noFill/>
          <a:ln w="9525">
            <a:noFill/>
          </a:ln>
        </p:spPr>
        <p:txBody>
          <a:bodyPr wrap="none">
            <a:spAutoFit/>
          </a:bodyPr>
          <a:lstStyle/>
          <a:p>
            <a:r>
              <a:rPr b="1" dirty="0">
                <a:latin typeface="Arial" panose="020B0604020202020204" pitchFamily="34" charset="0"/>
              </a:rPr>
              <a:t>CAT 7 Cable</a:t>
            </a:r>
          </a:p>
        </p:txBody>
      </p:sp>
      <p:sp>
        <p:nvSpPr>
          <p:cNvPr id="124935" name="TextBox 6"/>
          <p:cNvSpPr txBox="1"/>
          <p:nvPr/>
        </p:nvSpPr>
        <p:spPr>
          <a:xfrm>
            <a:off x="5486400" y="6019800"/>
            <a:ext cx="2082800" cy="369888"/>
          </a:xfrm>
          <a:prstGeom prst="rect">
            <a:avLst/>
          </a:prstGeom>
          <a:noFill/>
          <a:ln w="9525">
            <a:noFill/>
          </a:ln>
        </p:spPr>
        <p:txBody>
          <a:bodyPr wrap="none">
            <a:spAutoFit/>
          </a:bodyPr>
          <a:lstStyle/>
          <a:p>
            <a:r>
              <a:rPr b="1" dirty="0">
                <a:latin typeface="Arial" panose="020B0604020202020204" pitchFamily="34" charset="0"/>
              </a:rPr>
              <a:t>GG 45 Connector</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5143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25955" name="Content Placeholder 2"/>
          <p:cNvSpPr>
            <a:spLocks noGrp="1"/>
          </p:cNvSpPr>
          <p:nvPr>
            <p:ph sz="quarter" idx="1"/>
          </p:nvPr>
        </p:nvSpPr>
        <p:spPr>
          <a:xfrm>
            <a:off x="457200" y="1219200"/>
            <a:ext cx="5410200" cy="5334000"/>
          </a:xfrm>
        </p:spPr>
        <p:txBody>
          <a:bodyPr vert="horz" wrap="square" lIns="91440" tIns="45720" rIns="91440" bIns="45720" anchor="t" anchorCtr="0"/>
          <a:lstStyle/>
          <a:p>
            <a:pPr eaLnBrk="1" hangingPunct="1"/>
            <a:r>
              <a:rPr b="1" dirty="0"/>
              <a:t>Twisted Pair – Connections</a:t>
            </a:r>
          </a:p>
          <a:p>
            <a:pPr eaLnBrk="1" hangingPunct="1"/>
            <a:r>
              <a:rPr dirty="0"/>
              <a:t>UTP/STP cable contains 4 Pairs i.e. 8 cores.</a:t>
            </a:r>
          </a:p>
          <a:p>
            <a:pPr eaLnBrk="1" hangingPunct="1"/>
            <a:r>
              <a:rPr dirty="0"/>
              <a:t>The 4 pairs are identified by using 4 colors.</a:t>
            </a:r>
          </a:p>
          <a:p>
            <a:pPr eaLnBrk="1" hangingPunct="1"/>
            <a:r>
              <a:rPr dirty="0"/>
              <a:t>Each pair contains a color wire and a white wire with dots of the same color.</a:t>
            </a:r>
          </a:p>
          <a:p>
            <a:pPr eaLnBrk="1" hangingPunct="1"/>
            <a:r>
              <a:rPr dirty="0"/>
              <a:t>These cables are terminated using RJ-45 connector.</a:t>
            </a:r>
          </a:p>
          <a:p>
            <a:pPr eaLnBrk="1" hangingPunct="1"/>
            <a:r>
              <a:rPr dirty="0"/>
              <a:t>A crimping tool is used to terminate UTP/STP cables.</a:t>
            </a:r>
          </a:p>
          <a:p>
            <a:pPr eaLnBrk="1" hangingPunct="1">
              <a:buFont typeface="Wingdings 2" pitchFamily="18" charset="2"/>
              <a:buNone/>
            </a:pPr>
            <a:r>
              <a:rPr b="1" dirty="0"/>
              <a:t> </a:t>
            </a:r>
          </a:p>
          <a:p>
            <a:pPr eaLnBrk="1" hangingPunct="1"/>
            <a:endParaRPr b="1" dirty="0"/>
          </a:p>
          <a:p>
            <a:pPr eaLnBrk="1" hangingPunct="1"/>
            <a:endParaRPr sz="2100" dirty="0"/>
          </a:p>
          <a:p>
            <a:pPr eaLnBrk="1" hangingPunct="1"/>
            <a:endParaRPr b="1" dirty="0"/>
          </a:p>
          <a:p>
            <a:pPr eaLnBrk="1" hangingPunct="1"/>
            <a:endParaRPr dirty="0"/>
          </a:p>
        </p:txBody>
      </p:sp>
      <p:pic>
        <p:nvPicPr>
          <p:cNvPr id="125956" name="Picture 9" descr="utp cable.jpg"/>
          <p:cNvPicPr>
            <a:picLocks noChangeAspect="1"/>
          </p:cNvPicPr>
          <p:nvPr/>
        </p:nvPicPr>
        <p:blipFill>
          <a:blip r:embed="rId2"/>
          <a:stretch>
            <a:fillRect/>
          </a:stretch>
        </p:blipFill>
        <p:spPr>
          <a:xfrm>
            <a:off x="5943600" y="1447800"/>
            <a:ext cx="2895600" cy="2590800"/>
          </a:xfrm>
          <a:prstGeom prst="rect">
            <a:avLst/>
          </a:prstGeom>
          <a:noFill/>
          <a:ln w="9525">
            <a:noFill/>
          </a:ln>
        </p:spPr>
      </p:pic>
      <p:pic>
        <p:nvPicPr>
          <p:cNvPr id="125957" name="Picture 10" descr="crimpping tool.jpg"/>
          <p:cNvPicPr>
            <a:picLocks noChangeAspect="1"/>
          </p:cNvPicPr>
          <p:nvPr/>
        </p:nvPicPr>
        <p:blipFill>
          <a:blip r:embed="rId3"/>
          <a:stretch>
            <a:fillRect/>
          </a:stretch>
        </p:blipFill>
        <p:spPr>
          <a:xfrm>
            <a:off x="5943600" y="4114800"/>
            <a:ext cx="2895600" cy="2438400"/>
          </a:xfrm>
          <a:prstGeom prst="rect">
            <a:avLst/>
          </a:prstGeom>
          <a:noFill/>
          <a:ln w="9525">
            <a:noFill/>
          </a:ln>
        </p:spPr>
      </p:pic>
      <p:sp>
        <p:nvSpPr>
          <p:cNvPr id="125958" name="TextBox 11"/>
          <p:cNvSpPr txBox="1"/>
          <p:nvPr/>
        </p:nvSpPr>
        <p:spPr>
          <a:xfrm>
            <a:off x="6019800" y="4267200"/>
            <a:ext cx="1196975" cy="646113"/>
          </a:xfrm>
          <a:prstGeom prst="rect">
            <a:avLst/>
          </a:prstGeom>
          <a:noFill/>
          <a:ln w="9525">
            <a:noFill/>
          </a:ln>
        </p:spPr>
        <p:txBody>
          <a:bodyPr wrap="none">
            <a:spAutoFit/>
          </a:bodyPr>
          <a:lstStyle/>
          <a:p>
            <a:r>
              <a:rPr b="1" dirty="0">
                <a:latin typeface="Arial" panose="020B0604020202020204" pitchFamily="34" charset="0"/>
              </a:rPr>
              <a:t>Crimping</a:t>
            </a:r>
          </a:p>
          <a:p>
            <a:r>
              <a:rPr b="1" dirty="0">
                <a:latin typeface="Arial" panose="020B0604020202020204" pitchFamily="34" charset="0"/>
              </a:rPr>
              <a:t>Tool</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5143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26979" name="Content Placeholder 2"/>
          <p:cNvSpPr>
            <a:spLocks noGrp="1"/>
          </p:cNvSpPr>
          <p:nvPr>
            <p:ph sz="quarter" idx="1"/>
          </p:nvPr>
        </p:nvSpPr>
        <p:spPr>
          <a:xfrm>
            <a:off x="457200" y="1219200"/>
            <a:ext cx="5410200" cy="5334000"/>
          </a:xfrm>
        </p:spPr>
        <p:txBody>
          <a:bodyPr vert="horz" wrap="square" lIns="91440" tIns="45720" rIns="91440" bIns="45720" anchor="t" anchorCtr="0"/>
          <a:lstStyle/>
          <a:p>
            <a:pPr eaLnBrk="1" hangingPunct="1"/>
            <a:r>
              <a:rPr b="1" dirty="0"/>
              <a:t>Twisted Pair – Connections</a:t>
            </a:r>
          </a:p>
          <a:p>
            <a:pPr eaLnBrk="1" hangingPunct="1"/>
            <a:r>
              <a:rPr b="1" dirty="0"/>
              <a:t>Straight Cable</a:t>
            </a:r>
          </a:p>
          <a:p>
            <a:pPr eaLnBrk="1" hangingPunct="1"/>
            <a:r>
              <a:rPr dirty="0"/>
              <a:t>Straight-through cable is used to connect computers and other end-user devices (e.g., printers, NAS) to networking devices such as hubs and switches.</a:t>
            </a:r>
          </a:p>
          <a:p>
            <a:pPr eaLnBrk="1" hangingPunct="1"/>
            <a:r>
              <a:rPr dirty="0"/>
              <a:t> It can also be used to directly connect like devices (e.g., two hubs or two switches) if the cable is plugged into an uplink port on one (but not both) of the devices. </a:t>
            </a:r>
            <a:endParaRPr b="1" dirty="0"/>
          </a:p>
          <a:p>
            <a:pPr eaLnBrk="1" hangingPunct="1">
              <a:buFont typeface="Wingdings 2" pitchFamily="18" charset="2"/>
              <a:buNone/>
            </a:pPr>
            <a:r>
              <a:rPr b="1" dirty="0"/>
              <a:t> </a:t>
            </a:r>
          </a:p>
          <a:p>
            <a:pPr eaLnBrk="1" hangingPunct="1"/>
            <a:endParaRPr b="1" dirty="0"/>
          </a:p>
          <a:p>
            <a:pPr eaLnBrk="1" hangingPunct="1"/>
            <a:endParaRPr sz="2100" dirty="0"/>
          </a:p>
          <a:p>
            <a:pPr eaLnBrk="1" hangingPunct="1"/>
            <a:endParaRPr b="1" dirty="0"/>
          </a:p>
          <a:p>
            <a:pPr eaLnBrk="1" hangingPunct="1"/>
            <a:endParaRPr dirty="0"/>
          </a:p>
        </p:txBody>
      </p:sp>
      <p:pic>
        <p:nvPicPr>
          <p:cNvPr id="126980" name="Picture 6" descr="straight cable.jpg"/>
          <p:cNvPicPr>
            <a:picLocks noChangeAspect="1"/>
          </p:cNvPicPr>
          <p:nvPr/>
        </p:nvPicPr>
        <p:blipFill>
          <a:blip r:embed="rId2"/>
          <a:stretch>
            <a:fillRect/>
          </a:stretch>
        </p:blipFill>
        <p:spPr>
          <a:xfrm>
            <a:off x="5791200" y="1524000"/>
            <a:ext cx="3124200" cy="4953000"/>
          </a:xfrm>
          <a:prstGeom prst="rect">
            <a:avLst/>
          </a:prstGeom>
          <a:noFill/>
          <a:ln w="9525">
            <a:noFill/>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5143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28003" name="Content Placeholder 2"/>
          <p:cNvSpPr>
            <a:spLocks noGrp="1"/>
          </p:cNvSpPr>
          <p:nvPr>
            <p:ph sz="quarter" idx="1"/>
          </p:nvPr>
        </p:nvSpPr>
        <p:spPr>
          <a:xfrm>
            <a:off x="457200" y="1219200"/>
            <a:ext cx="5410200" cy="5334000"/>
          </a:xfrm>
        </p:spPr>
        <p:txBody>
          <a:bodyPr vert="horz" wrap="square" lIns="91440" tIns="45720" rIns="91440" bIns="45720" anchor="t" anchorCtr="0"/>
          <a:lstStyle/>
          <a:p>
            <a:pPr eaLnBrk="1" hangingPunct="1"/>
            <a:r>
              <a:rPr b="1" dirty="0"/>
              <a:t>Twisted Pair – Connections</a:t>
            </a:r>
          </a:p>
          <a:p>
            <a:pPr eaLnBrk="1" hangingPunct="1"/>
            <a:r>
              <a:rPr b="1" dirty="0"/>
              <a:t>Crossover Cable</a:t>
            </a:r>
          </a:p>
          <a:p>
            <a:pPr eaLnBrk="1" hangingPunct="1"/>
            <a:r>
              <a:rPr dirty="0"/>
              <a:t>Crossover cable is similar to the straight cable except in the cross cable  the wires on the cable are </a:t>
            </a:r>
            <a:r>
              <a:rPr i="1" dirty="0"/>
              <a:t>crossed over</a:t>
            </a:r>
            <a:r>
              <a:rPr dirty="0"/>
              <a:t> so that the receive signal pins on the connector on one end are connected to the transmit signal pins on the connector on the other end. </a:t>
            </a:r>
          </a:p>
          <a:p>
            <a:pPr eaLnBrk="1" hangingPunct="1"/>
            <a:r>
              <a:rPr dirty="0"/>
              <a:t>Crossover cable is used to connect two like devices without the use of an uplink port. </a:t>
            </a:r>
          </a:p>
          <a:p>
            <a:pPr eaLnBrk="1" hangingPunct="1"/>
            <a:endParaRPr b="1" dirty="0"/>
          </a:p>
          <a:p>
            <a:pPr eaLnBrk="1" hangingPunct="1">
              <a:buFont typeface="Wingdings 2" pitchFamily="18" charset="2"/>
              <a:buNone/>
            </a:pPr>
            <a:r>
              <a:rPr b="1" dirty="0"/>
              <a:t> </a:t>
            </a:r>
          </a:p>
          <a:p>
            <a:pPr eaLnBrk="1" hangingPunct="1"/>
            <a:endParaRPr b="1" dirty="0"/>
          </a:p>
          <a:p>
            <a:pPr eaLnBrk="1" hangingPunct="1"/>
            <a:endParaRPr sz="2100" dirty="0"/>
          </a:p>
          <a:p>
            <a:pPr eaLnBrk="1" hangingPunct="1"/>
            <a:endParaRPr b="1" dirty="0"/>
          </a:p>
          <a:p>
            <a:pPr eaLnBrk="1" hangingPunct="1"/>
            <a:endParaRPr dirty="0"/>
          </a:p>
        </p:txBody>
      </p:sp>
      <p:pic>
        <p:nvPicPr>
          <p:cNvPr id="128004" name="Picture 3" descr="cross cable-2.jpg"/>
          <p:cNvPicPr>
            <a:picLocks noChangeAspect="1"/>
          </p:cNvPicPr>
          <p:nvPr/>
        </p:nvPicPr>
        <p:blipFill>
          <a:blip r:embed="rId2"/>
          <a:stretch>
            <a:fillRect/>
          </a:stretch>
        </p:blipFill>
        <p:spPr>
          <a:xfrm>
            <a:off x="5638800" y="1752600"/>
            <a:ext cx="3276600" cy="2286000"/>
          </a:xfrm>
          <a:prstGeom prst="rect">
            <a:avLst/>
          </a:prstGeom>
          <a:noFill/>
          <a:ln w="9525">
            <a:noFill/>
          </a:ln>
        </p:spPr>
      </p:pic>
      <p:pic>
        <p:nvPicPr>
          <p:cNvPr id="128005" name="Picture 4" descr="cross cable-1.jpg"/>
          <p:cNvPicPr>
            <a:picLocks noChangeAspect="1"/>
          </p:cNvPicPr>
          <p:nvPr/>
        </p:nvPicPr>
        <p:blipFill>
          <a:blip r:embed="rId3"/>
          <a:stretch>
            <a:fillRect/>
          </a:stretch>
        </p:blipFill>
        <p:spPr>
          <a:xfrm>
            <a:off x="5715000" y="4191000"/>
            <a:ext cx="3124200" cy="2438400"/>
          </a:xfrm>
          <a:prstGeom prst="rect">
            <a:avLst/>
          </a:prstGeom>
          <a:noFill/>
          <a:ln w="9525">
            <a:noFill/>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5143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29027" name="Content Placeholder 2"/>
          <p:cNvSpPr>
            <a:spLocks noGrp="1"/>
          </p:cNvSpPr>
          <p:nvPr>
            <p:ph sz="quarter" idx="1"/>
          </p:nvPr>
        </p:nvSpPr>
        <p:spPr>
          <a:xfrm>
            <a:off x="457200" y="1219200"/>
            <a:ext cx="8305800" cy="5334000"/>
          </a:xfrm>
        </p:spPr>
        <p:txBody>
          <a:bodyPr vert="horz" wrap="square" lIns="91440" tIns="45720" rIns="91440" bIns="45720" anchor="t" anchorCtr="0"/>
          <a:lstStyle/>
          <a:p>
            <a:pPr eaLnBrk="1" hangingPunct="1"/>
            <a:r>
              <a:rPr b="1" dirty="0"/>
              <a:t>Twisted Pair Cable – Other Components</a:t>
            </a:r>
          </a:p>
          <a:p>
            <a:pPr eaLnBrk="1" hangingPunct="1"/>
            <a:endParaRPr dirty="0"/>
          </a:p>
          <a:p>
            <a:pPr eaLnBrk="1" hangingPunct="1"/>
            <a:endParaRPr b="1" dirty="0"/>
          </a:p>
          <a:p>
            <a:pPr eaLnBrk="1" hangingPunct="1"/>
            <a:endParaRPr b="1" dirty="0"/>
          </a:p>
          <a:p>
            <a:pPr eaLnBrk="1" hangingPunct="1">
              <a:buFont typeface="Wingdings 2" pitchFamily="18" charset="2"/>
              <a:buNone/>
            </a:pPr>
            <a:r>
              <a:rPr b="1" dirty="0"/>
              <a:t> </a:t>
            </a:r>
          </a:p>
          <a:p>
            <a:pPr eaLnBrk="1" hangingPunct="1"/>
            <a:endParaRPr b="1" dirty="0"/>
          </a:p>
          <a:p>
            <a:pPr eaLnBrk="1" hangingPunct="1"/>
            <a:endParaRPr sz="2100" dirty="0"/>
          </a:p>
          <a:p>
            <a:pPr eaLnBrk="1" hangingPunct="1"/>
            <a:endParaRPr b="1" dirty="0"/>
          </a:p>
          <a:p>
            <a:pPr eaLnBrk="1" hangingPunct="1"/>
            <a:endParaRPr dirty="0"/>
          </a:p>
        </p:txBody>
      </p:sp>
      <p:pic>
        <p:nvPicPr>
          <p:cNvPr id="129028" name="Picture 10" descr="face plate.jpg"/>
          <p:cNvPicPr>
            <a:picLocks noChangeAspect="1"/>
          </p:cNvPicPr>
          <p:nvPr/>
        </p:nvPicPr>
        <p:blipFill>
          <a:blip r:embed="rId2"/>
          <a:stretch>
            <a:fillRect/>
          </a:stretch>
        </p:blipFill>
        <p:spPr>
          <a:xfrm>
            <a:off x="533400" y="4343400"/>
            <a:ext cx="3657600" cy="2276475"/>
          </a:xfrm>
          <a:prstGeom prst="rect">
            <a:avLst/>
          </a:prstGeom>
          <a:noFill/>
          <a:ln w="9525">
            <a:noFill/>
          </a:ln>
        </p:spPr>
      </p:pic>
      <p:pic>
        <p:nvPicPr>
          <p:cNvPr id="129029" name="Picture 12" descr="io module.jpg"/>
          <p:cNvPicPr>
            <a:picLocks noChangeAspect="1"/>
          </p:cNvPicPr>
          <p:nvPr/>
        </p:nvPicPr>
        <p:blipFill>
          <a:blip r:embed="rId3"/>
          <a:stretch>
            <a:fillRect/>
          </a:stretch>
        </p:blipFill>
        <p:spPr>
          <a:xfrm>
            <a:off x="381000" y="1828800"/>
            <a:ext cx="3733800" cy="2276475"/>
          </a:xfrm>
          <a:prstGeom prst="rect">
            <a:avLst/>
          </a:prstGeom>
          <a:noFill/>
          <a:ln w="9525">
            <a:noFill/>
          </a:ln>
        </p:spPr>
      </p:pic>
      <p:pic>
        <p:nvPicPr>
          <p:cNvPr id="129030" name="Picture 13" descr="patch-panel.jpg"/>
          <p:cNvPicPr>
            <a:picLocks noChangeAspect="1"/>
          </p:cNvPicPr>
          <p:nvPr/>
        </p:nvPicPr>
        <p:blipFill>
          <a:blip r:embed="rId4"/>
          <a:stretch>
            <a:fillRect/>
          </a:stretch>
        </p:blipFill>
        <p:spPr>
          <a:xfrm>
            <a:off x="4876800" y="1828800"/>
            <a:ext cx="3781425" cy="2057400"/>
          </a:xfrm>
          <a:prstGeom prst="rect">
            <a:avLst/>
          </a:prstGeom>
          <a:noFill/>
          <a:ln w="9525">
            <a:noFill/>
          </a:ln>
        </p:spPr>
      </p:pic>
      <p:pic>
        <p:nvPicPr>
          <p:cNvPr id="129031" name="Picture 14" descr="net rack.jpg"/>
          <p:cNvPicPr>
            <a:picLocks noChangeAspect="1"/>
          </p:cNvPicPr>
          <p:nvPr/>
        </p:nvPicPr>
        <p:blipFill>
          <a:blip r:embed="rId5"/>
          <a:stretch>
            <a:fillRect/>
          </a:stretch>
        </p:blipFill>
        <p:spPr>
          <a:xfrm>
            <a:off x="4876800" y="3962400"/>
            <a:ext cx="3733800" cy="2476500"/>
          </a:xfrm>
          <a:prstGeom prst="rect">
            <a:avLst/>
          </a:prstGeom>
          <a:noFill/>
          <a:ln w="9525">
            <a:noFill/>
          </a:ln>
        </p:spPr>
      </p:pic>
      <p:sp>
        <p:nvSpPr>
          <p:cNvPr id="129032" name="TextBox 15"/>
          <p:cNvSpPr txBox="1"/>
          <p:nvPr/>
        </p:nvSpPr>
        <p:spPr>
          <a:xfrm>
            <a:off x="457200" y="3581400"/>
            <a:ext cx="2185988" cy="369888"/>
          </a:xfrm>
          <a:prstGeom prst="rect">
            <a:avLst/>
          </a:prstGeom>
          <a:noFill/>
          <a:ln w="9525">
            <a:noFill/>
          </a:ln>
        </p:spPr>
        <p:txBody>
          <a:bodyPr wrap="none">
            <a:spAutoFit/>
          </a:bodyPr>
          <a:lstStyle/>
          <a:p>
            <a:r>
              <a:rPr b="1" dirty="0">
                <a:latin typeface="Arial" panose="020B0604020202020204" pitchFamily="34" charset="0"/>
              </a:rPr>
              <a:t>Information Outlet</a:t>
            </a:r>
          </a:p>
        </p:txBody>
      </p:sp>
      <p:sp>
        <p:nvSpPr>
          <p:cNvPr id="129033" name="TextBox 16"/>
          <p:cNvSpPr txBox="1"/>
          <p:nvPr/>
        </p:nvSpPr>
        <p:spPr>
          <a:xfrm>
            <a:off x="914400" y="6477000"/>
            <a:ext cx="1325563" cy="369888"/>
          </a:xfrm>
          <a:prstGeom prst="rect">
            <a:avLst/>
          </a:prstGeom>
          <a:noFill/>
          <a:ln w="9525">
            <a:noFill/>
          </a:ln>
        </p:spPr>
        <p:txBody>
          <a:bodyPr wrap="none">
            <a:spAutoFit/>
          </a:bodyPr>
          <a:lstStyle/>
          <a:p>
            <a:r>
              <a:rPr b="1" dirty="0">
                <a:latin typeface="Arial" panose="020B0604020202020204" pitchFamily="34" charset="0"/>
              </a:rPr>
              <a:t>Face Plate</a:t>
            </a:r>
          </a:p>
        </p:txBody>
      </p:sp>
      <p:sp>
        <p:nvSpPr>
          <p:cNvPr id="129034" name="TextBox 17"/>
          <p:cNvSpPr txBox="1"/>
          <p:nvPr/>
        </p:nvSpPr>
        <p:spPr>
          <a:xfrm>
            <a:off x="5334000" y="6488113"/>
            <a:ext cx="1711325" cy="369887"/>
          </a:xfrm>
          <a:prstGeom prst="rect">
            <a:avLst/>
          </a:prstGeom>
          <a:noFill/>
          <a:ln w="9525">
            <a:noFill/>
          </a:ln>
        </p:spPr>
        <p:txBody>
          <a:bodyPr wrap="none">
            <a:spAutoFit/>
          </a:bodyPr>
          <a:lstStyle/>
          <a:p>
            <a:r>
              <a:rPr b="1" dirty="0">
                <a:latin typeface="Arial" panose="020B0604020202020204" pitchFamily="34" charset="0"/>
              </a:rPr>
              <a:t>Network Rack</a:t>
            </a:r>
          </a:p>
        </p:txBody>
      </p:sp>
      <p:sp>
        <p:nvSpPr>
          <p:cNvPr id="129035" name="TextBox 18"/>
          <p:cNvSpPr txBox="1"/>
          <p:nvPr/>
        </p:nvSpPr>
        <p:spPr>
          <a:xfrm>
            <a:off x="6781800" y="3429000"/>
            <a:ext cx="1492250" cy="369888"/>
          </a:xfrm>
          <a:prstGeom prst="rect">
            <a:avLst/>
          </a:prstGeom>
          <a:noFill/>
          <a:ln w="9525">
            <a:noFill/>
          </a:ln>
        </p:spPr>
        <p:txBody>
          <a:bodyPr wrap="none">
            <a:spAutoFit/>
          </a:bodyPr>
          <a:lstStyle/>
          <a:p>
            <a:r>
              <a:rPr b="1" dirty="0">
                <a:latin typeface="Arial" panose="020B0604020202020204" pitchFamily="34" charset="0"/>
              </a:rPr>
              <a:t>Patch Panel</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5143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30051" name="Content Placeholder 2"/>
          <p:cNvSpPr>
            <a:spLocks noGrp="1"/>
          </p:cNvSpPr>
          <p:nvPr>
            <p:ph sz="quarter" idx="1"/>
          </p:nvPr>
        </p:nvSpPr>
        <p:spPr>
          <a:xfrm>
            <a:off x="457200" y="1219200"/>
            <a:ext cx="5410200" cy="5334000"/>
          </a:xfrm>
        </p:spPr>
        <p:txBody>
          <a:bodyPr vert="horz" wrap="square" lIns="91440" tIns="45720" rIns="91440" bIns="45720" anchor="t" anchorCtr="0"/>
          <a:lstStyle/>
          <a:p>
            <a:pPr eaLnBrk="1" hangingPunct="1"/>
            <a:r>
              <a:rPr b="1" dirty="0"/>
              <a:t>Fiber Optic Cable</a:t>
            </a:r>
          </a:p>
          <a:p>
            <a:pPr eaLnBrk="1" hangingPunct="1"/>
            <a:r>
              <a:rPr dirty="0"/>
              <a:t>An optic fiber cable consists of an </a:t>
            </a:r>
            <a:r>
              <a:rPr b="1" dirty="0"/>
              <a:t>extremely thin cylinder of glass or plastic</a:t>
            </a:r>
            <a:r>
              <a:rPr dirty="0"/>
              <a:t> called the core</a:t>
            </a:r>
          </a:p>
          <a:p>
            <a:pPr eaLnBrk="1" hangingPunct="1"/>
            <a:r>
              <a:rPr dirty="0"/>
              <a:t>The core is  surrounded by a concentric layer of glass called a </a:t>
            </a:r>
            <a:r>
              <a:rPr b="1" dirty="0"/>
              <a:t>cladding. </a:t>
            </a:r>
          </a:p>
          <a:p>
            <a:pPr eaLnBrk="1" hangingPunct="1"/>
            <a:r>
              <a:rPr dirty="0"/>
              <a:t>Optical fiber carries digital signals in the form of </a:t>
            </a:r>
            <a:r>
              <a:rPr b="1" dirty="0"/>
              <a:t>Light</a:t>
            </a:r>
            <a:r>
              <a:rPr dirty="0"/>
              <a:t>. </a:t>
            </a:r>
          </a:p>
          <a:p>
            <a:pPr eaLnBrk="1" hangingPunct="1"/>
            <a:r>
              <a:rPr dirty="0"/>
              <a:t>It does not use electricity, except to power the transmitting and receiving devices.</a:t>
            </a:r>
            <a:endParaRPr b="1" dirty="0"/>
          </a:p>
          <a:p>
            <a:pPr eaLnBrk="1" hangingPunct="1"/>
            <a:endParaRPr b="1" dirty="0"/>
          </a:p>
          <a:p>
            <a:pPr eaLnBrk="1" hangingPunct="1">
              <a:buFont typeface="Wingdings 2" pitchFamily="18" charset="2"/>
              <a:buNone/>
            </a:pPr>
            <a:r>
              <a:rPr b="1" dirty="0"/>
              <a:t> </a:t>
            </a:r>
          </a:p>
          <a:p>
            <a:pPr eaLnBrk="1" hangingPunct="1"/>
            <a:endParaRPr b="1" dirty="0"/>
          </a:p>
          <a:p>
            <a:pPr eaLnBrk="1" hangingPunct="1"/>
            <a:endParaRPr sz="2100" dirty="0"/>
          </a:p>
          <a:p>
            <a:pPr eaLnBrk="1" hangingPunct="1"/>
            <a:endParaRPr b="1" dirty="0"/>
          </a:p>
          <a:p>
            <a:pPr eaLnBrk="1" hangingPunct="1"/>
            <a:endParaRPr dirty="0"/>
          </a:p>
        </p:txBody>
      </p:sp>
      <p:pic>
        <p:nvPicPr>
          <p:cNvPr id="130052" name="Picture 5" descr="fo cable.jpg"/>
          <p:cNvPicPr>
            <a:picLocks noChangeAspect="1"/>
          </p:cNvPicPr>
          <p:nvPr/>
        </p:nvPicPr>
        <p:blipFill>
          <a:blip r:embed="rId2"/>
          <a:stretch>
            <a:fillRect/>
          </a:stretch>
        </p:blipFill>
        <p:spPr>
          <a:xfrm>
            <a:off x="6172200" y="1752600"/>
            <a:ext cx="2590800" cy="2286000"/>
          </a:xfrm>
          <a:prstGeom prst="rect">
            <a:avLst/>
          </a:prstGeom>
          <a:noFill/>
          <a:ln w="9525">
            <a:noFill/>
          </a:ln>
        </p:spPr>
      </p:pic>
      <p:pic>
        <p:nvPicPr>
          <p:cNvPr id="130053" name="Picture 6" descr="fo cable 2.jpg"/>
          <p:cNvPicPr>
            <a:picLocks noChangeAspect="1"/>
          </p:cNvPicPr>
          <p:nvPr/>
        </p:nvPicPr>
        <p:blipFill>
          <a:blip r:embed="rId3"/>
          <a:stretch>
            <a:fillRect/>
          </a:stretch>
        </p:blipFill>
        <p:spPr>
          <a:xfrm>
            <a:off x="6172200" y="4114800"/>
            <a:ext cx="2590800" cy="1828800"/>
          </a:xfrm>
          <a:prstGeom prst="rect">
            <a:avLst/>
          </a:prstGeom>
          <a:noFill/>
          <a:ln w="9525">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5143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31075" name="Content Placeholder 2"/>
          <p:cNvSpPr>
            <a:spLocks noGrp="1"/>
          </p:cNvSpPr>
          <p:nvPr>
            <p:ph sz="quarter" idx="1"/>
          </p:nvPr>
        </p:nvSpPr>
        <p:spPr>
          <a:xfrm>
            <a:off x="457200" y="1219200"/>
            <a:ext cx="5410200" cy="5334000"/>
          </a:xfrm>
        </p:spPr>
        <p:txBody>
          <a:bodyPr vert="horz" wrap="square" lIns="91440" tIns="45720" rIns="91440" bIns="45720" anchor="t" anchorCtr="0"/>
          <a:lstStyle/>
          <a:p>
            <a:pPr eaLnBrk="1" hangingPunct="1"/>
            <a:r>
              <a:rPr b="1" dirty="0"/>
              <a:t>Fiber Optic Cable – Types</a:t>
            </a:r>
          </a:p>
          <a:p>
            <a:pPr eaLnBrk="1" hangingPunct="1"/>
            <a:r>
              <a:rPr b="1" dirty="0"/>
              <a:t>Multi-mode and Single-Mode</a:t>
            </a:r>
          </a:p>
          <a:p>
            <a:pPr eaLnBrk="1" hangingPunct="1"/>
            <a:r>
              <a:rPr dirty="0"/>
              <a:t>Multimode fiber optic cable core has a large diameter, that allows multiple modes of light to propagate.</a:t>
            </a:r>
          </a:p>
          <a:p>
            <a:pPr eaLnBrk="1" hangingPunct="1"/>
            <a:endParaRPr dirty="0"/>
          </a:p>
          <a:p>
            <a:pPr eaLnBrk="1" hangingPunct="1"/>
            <a:r>
              <a:rPr dirty="0"/>
              <a:t>Single mode fiber optic cable core has a small diameter, that allows only one mode of light to propagate. </a:t>
            </a:r>
          </a:p>
          <a:p>
            <a:pPr eaLnBrk="1" hangingPunct="1"/>
            <a:endParaRPr b="1" dirty="0"/>
          </a:p>
          <a:p>
            <a:pPr eaLnBrk="1" hangingPunct="1"/>
            <a:endParaRPr b="1" dirty="0"/>
          </a:p>
          <a:p>
            <a:pPr eaLnBrk="1" hangingPunct="1">
              <a:buFont typeface="Wingdings 2" pitchFamily="18" charset="2"/>
              <a:buNone/>
            </a:pPr>
            <a:r>
              <a:rPr b="1" dirty="0"/>
              <a:t> </a:t>
            </a:r>
          </a:p>
          <a:p>
            <a:pPr eaLnBrk="1" hangingPunct="1"/>
            <a:endParaRPr b="1" dirty="0"/>
          </a:p>
          <a:p>
            <a:pPr eaLnBrk="1" hangingPunct="1"/>
            <a:endParaRPr sz="2100" dirty="0"/>
          </a:p>
          <a:p>
            <a:pPr eaLnBrk="1" hangingPunct="1"/>
            <a:endParaRPr b="1" dirty="0"/>
          </a:p>
          <a:p>
            <a:pPr eaLnBrk="1" hangingPunct="1"/>
            <a:endParaRPr dirty="0"/>
          </a:p>
        </p:txBody>
      </p:sp>
      <p:pic>
        <p:nvPicPr>
          <p:cNvPr id="131076" name="Picture 7" descr="single_multimode 1.jpg"/>
          <p:cNvPicPr>
            <a:picLocks noChangeAspect="1"/>
          </p:cNvPicPr>
          <p:nvPr/>
        </p:nvPicPr>
        <p:blipFill>
          <a:blip r:embed="rId2"/>
          <a:stretch>
            <a:fillRect/>
          </a:stretch>
        </p:blipFill>
        <p:spPr>
          <a:xfrm>
            <a:off x="5638800" y="1828800"/>
            <a:ext cx="3124200" cy="4648200"/>
          </a:xfrm>
          <a:prstGeom prst="rect">
            <a:avLst/>
          </a:prstGeom>
          <a:noFill/>
          <a:ln w="9525">
            <a:noFill/>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5143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32099" name="Content Placeholder 2"/>
          <p:cNvSpPr>
            <a:spLocks noGrp="1"/>
          </p:cNvSpPr>
          <p:nvPr>
            <p:ph sz="quarter" idx="1"/>
          </p:nvPr>
        </p:nvSpPr>
        <p:spPr>
          <a:xfrm>
            <a:off x="457200" y="1219200"/>
            <a:ext cx="5410200" cy="5334000"/>
          </a:xfrm>
        </p:spPr>
        <p:txBody>
          <a:bodyPr vert="horz" wrap="square" lIns="91440" tIns="45720" rIns="91440" bIns="45720" anchor="t" anchorCtr="0"/>
          <a:lstStyle/>
          <a:p>
            <a:pPr eaLnBrk="1" hangingPunct="1"/>
            <a:r>
              <a:rPr b="1" dirty="0"/>
              <a:t>Fiber Optic Cable – Types</a:t>
            </a:r>
          </a:p>
          <a:p>
            <a:pPr eaLnBrk="1" hangingPunct="1"/>
            <a:r>
              <a:rPr b="1" dirty="0"/>
              <a:t>Multi-mode and Single-Mode</a:t>
            </a:r>
          </a:p>
          <a:p>
            <a:pPr eaLnBrk="1" hangingPunct="1"/>
            <a:r>
              <a:rPr dirty="0"/>
              <a:t>In multi-mode as the light passes through the core creates more number of light reflections, thus increases the ability for more data to pass through at a given time.</a:t>
            </a:r>
          </a:p>
          <a:p>
            <a:pPr eaLnBrk="1" hangingPunct="1"/>
            <a:r>
              <a:rPr dirty="0"/>
              <a:t>In single mode the number of light reflections created as the light passes through the core decreases.</a:t>
            </a:r>
          </a:p>
          <a:p>
            <a:pPr eaLnBrk="1" hangingPunct="1"/>
            <a:endParaRPr dirty="0"/>
          </a:p>
          <a:p>
            <a:pPr eaLnBrk="1" hangingPunct="1"/>
            <a:endParaRPr dirty="0"/>
          </a:p>
          <a:p>
            <a:pPr eaLnBrk="1" hangingPunct="1"/>
            <a:endParaRPr b="1" dirty="0"/>
          </a:p>
          <a:p>
            <a:pPr eaLnBrk="1" hangingPunct="1"/>
            <a:endParaRPr b="1" dirty="0"/>
          </a:p>
          <a:p>
            <a:pPr eaLnBrk="1" hangingPunct="1">
              <a:buFont typeface="Wingdings 2" pitchFamily="18" charset="2"/>
              <a:buNone/>
            </a:pPr>
            <a:r>
              <a:rPr b="1" dirty="0"/>
              <a:t> </a:t>
            </a:r>
          </a:p>
          <a:p>
            <a:pPr eaLnBrk="1" hangingPunct="1"/>
            <a:endParaRPr b="1" dirty="0"/>
          </a:p>
          <a:p>
            <a:pPr eaLnBrk="1" hangingPunct="1"/>
            <a:endParaRPr sz="2100" dirty="0"/>
          </a:p>
          <a:p>
            <a:pPr eaLnBrk="1" hangingPunct="1"/>
            <a:endParaRPr b="1" dirty="0"/>
          </a:p>
          <a:p>
            <a:pPr eaLnBrk="1" hangingPunct="1"/>
            <a:endParaRPr dirty="0"/>
          </a:p>
        </p:txBody>
      </p:sp>
      <p:pic>
        <p:nvPicPr>
          <p:cNvPr id="132100" name="Picture 5" descr="single_multimode 2.jpg"/>
          <p:cNvPicPr>
            <a:picLocks noChangeAspect="1"/>
          </p:cNvPicPr>
          <p:nvPr/>
        </p:nvPicPr>
        <p:blipFill>
          <a:blip r:embed="rId2"/>
          <a:stretch>
            <a:fillRect/>
          </a:stretch>
        </p:blipFill>
        <p:spPr>
          <a:xfrm>
            <a:off x="6096000" y="1676400"/>
            <a:ext cx="2667000" cy="4419600"/>
          </a:xfrm>
          <a:prstGeom prst="rect">
            <a:avLst/>
          </a:prstGeom>
          <a:noFill/>
          <a:ln w="9525">
            <a:noFill/>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5143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33123" name="Content Placeholder 2"/>
          <p:cNvSpPr>
            <a:spLocks noGrp="1"/>
          </p:cNvSpPr>
          <p:nvPr>
            <p:ph sz="quarter" idx="1"/>
          </p:nvPr>
        </p:nvSpPr>
        <p:spPr>
          <a:xfrm>
            <a:off x="457200" y="1219200"/>
            <a:ext cx="8305800" cy="5334000"/>
          </a:xfrm>
        </p:spPr>
        <p:txBody>
          <a:bodyPr vert="horz" wrap="square" lIns="91440" tIns="45720" rIns="91440" bIns="45720" anchor="t" anchorCtr="0"/>
          <a:lstStyle/>
          <a:p>
            <a:pPr eaLnBrk="1" hangingPunct="1"/>
            <a:r>
              <a:rPr sz="2400" b="1" dirty="0"/>
              <a:t>Fiber Optic Cable – Types</a:t>
            </a:r>
          </a:p>
          <a:p>
            <a:pPr eaLnBrk="1" hangingPunct="1"/>
            <a:r>
              <a:rPr sz="2400" b="1" dirty="0"/>
              <a:t>Multi-mode and Single-Mode</a:t>
            </a:r>
          </a:p>
          <a:p>
            <a:pPr eaLnBrk="1" hangingPunct="1"/>
            <a:r>
              <a:rPr sz="2200" dirty="0"/>
              <a:t>As the </a:t>
            </a:r>
            <a:r>
              <a:rPr sz="2200" b="1" dirty="0"/>
              <a:t>Multi-mode</a:t>
            </a:r>
            <a:r>
              <a:rPr sz="2200" dirty="0"/>
              <a:t> suffers from high dispersion and attenuation rate , the quality of the signal is reduced over long distances.</a:t>
            </a:r>
          </a:p>
          <a:p>
            <a:pPr eaLnBrk="1" hangingPunct="1"/>
            <a:r>
              <a:rPr sz="2200" dirty="0"/>
              <a:t> Thus </a:t>
            </a:r>
            <a:r>
              <a:rPr sz="2200" b="1" dirty="0"/>
              <a:t>Multi-mode</a:t>
            </a:r>
            <a:r>
              <a:rPr sz="2200" dirty="0"/>
              <a:t> fiber is used in  application like  short distance communications, data and audio/video applications in LANs. </a:t>
            </a:r>
          </a:p>
          <a:p>
            <a:pPr eaLnBrk="1" hangingPunct="1"/>
            <a:r>
              <a:rPr sz="2200" dirty="0"/>
              <a:t>In Single mode as the light reflections are very less it lowers attenuation and creates the ability for the signal to travel faster, further. </a:t>
            </a:r>
          </a:p>
          <a:p>
            <a:pPr eaLnBrk="1" hangingPunct="1"/>
            <a:r>
              <a:rPr sz="2200" dirty="0"/>
              <a:t>Thus Single-Mode cable is typically used in long distance, higher bandwidth communications by Telcos, CATV companies, and Colleges and Universities.</a:t>
            </a:r>
          </a:p>
          <a:p>
            <a:pPr eaLnBrk="1" hangingPunct="1"/>
            <a:endParaRPr dirty="0"/>
          </a:p>
          <a:p>
            <a:pPr eaLnBrk="1" hangingPunct="1"/>
            <a:endParaRPr b="1" dirty="0"/>
          </a:p>
          <a:p>
            <a:pPr eaLnBrk="1" hangingPunct="1"/>
            <a:endParaRPr b="1" dirty="0"/>
          </a:p>
          <a:p>
            <a:pPr eaLnBrk="1" hangingPunct="1">
              <a:buFont typeface="Wingdings 2" pitchFamily="18" charset="2"/>
              <a:buNone/>
            </a:pPr>
            <a:r>
              <a:rPr b="1" dirty="0"/>
              <a:t> </a:t>
            </a:r>
          </a:p>
          <a:p>
            <a:pPr eaLnBrk="1" hangingPunct="1"/>
            <a:endParaRPr b="1" dirty="0"/>
          </a:p>
          <a:p>
            <a:pPr eaLnBrk="1" hangingPunct="1"/>
            <a:endParaRPr sz="2100" dirty="0"/>
          </a:p>
          <a:p>
            <a:pPr eaLnBrk="1" hangingPunct="1"/>
            <a:endParaRPr b="1" dirty="0"/>
          </a:p>
          <a:p>
            <a:pPr eaLnBrk="1" hangingPunct="1"/>
            <a:endParaRPr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5143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34147" name="Content Placeholder 2"/>
          <p:cNvSpPr>
            <a:spLocks noGrp="1"/>
          </p:cNvSpPr>
          <p:nvPr>
            <p:ph sz="quarter" idx="1"/>
          </p:nvPr>
        </p:nvSpPr>
        <p:spPr>
          <a:xfrm>
            <a:off x="457200" y="1219200"/>
            <a:ext cx="8305800" cy="5334000"/>
          </a:xfrm>
        </p:spPr>
        <p:txBody>
          <a:bodyPr vert="horz" wrap="square" lIns="91440" tIns="45720" rIns="91440" bIns="45720" anchor="t" anchorCtr="0"/>
          <a:lstStyle/>
          <a:p>
            <a:pPr eaLnBrk="1" hangingPunct="1"/>
            <a:r>
              <a:rPr b="1" dirty="0"/>
              <a:t>Fiber Optic Cable – Other Components</a:t>
            </a:r>
          </a:p>
          <a:p>
            <a:pPr eaLnBrk="1" hangingPunct="1"/>
            <a:endParaRPr dirty="0"/>
          </a:p>
          <a:p>
            <a:pPr eaLnBrk="1" hangingPunct="1"/>
            <a:endParaRPr b="1" dirty="0"/>
          </a:p>
          <a:p>
            <a:pPr eaLnBrk="1" hangingPunct="1"/>
            <a:endParaRPr b="1" dirty="0"/>
          </a:p>
          <a:p>
            <a:pPr eaLnBrk="1" hangingPunct="1">
              <a:buFont typeface="Wingdings 2" pitchFamily="18" charset="2"/>
              <a:buNone/>
            </a:pPr>
            <a:r>
              <a:rPr b="1" dirty="0"/>
              <a:t> </a:t>
            </a:r>
          </a:p>
          <a:p>
            <a:pPr eaLnBrk="1" hangingPunct="1"/>
            <a:endParaRPr b="1" dirty="0"/>
          </a:p>
          <a:p>
            <a:pPr eaLnBrk="1" hangingPunct="1"/>
            <a:endParaRPr sz="2100" dirty="0"/>
          </a:p>
          <a:p>
            <a:pPr eaLnBrk="1" hangingPunct="1"/>
            <a:endParaRPr b="1" dirty="0"/>
          </a:p>
          <a:p>
            <a:pPr eaLnBrk="1" hangingPunct="1"/>
            <a:endParaRPr dirty="0"/>
          </a:p>
        </p:txBody>
      </p:sp>
      <p:pic>
        <p:nvPicPr>
          <p:cNvPr id="134148" name="Picture 3" descr="sc-conn.jpg"/>
          <p:cNvPicPr>
            <a:picLocks noChangeAspect="1"/>
          </p:cNvPicPr>
          <p:nvPr/>
        </p:nvPicPr>
        <p:blipFill>
          <a:blip r:embed="rId2"/>
          <a:stretch>
            <a:fillRect/>
          </a:stretch>
        </p:blipFill>
        <p:spPr>
          <a:xfrm>
            <a:off x="685800" y="1905000"/>
            <a:ext cx="3962400" cy="2171700"/>
          </a:xfrm>
          <a:prstGeom prst="rect">
            <a:avLst/>
          </a:prstGeom>
          <a:noFill/>
          <a:ln w="9525">
            <a:noFill/>
          </a:ln>
        </p:spPr>
      </p:pic>
      <p:sp>
        <p:nvSpPr>
          <p:cNvPr id="134149" name="TextBox 5"/>
          <p:cNvSpPr txBox="1"/>
          <p:nvPr/>
        </p:nvSpPr>
        <p:spPr>
          <a:xfrm>
            <a:off x="914400" y="3733800"/>
            <a:ext cx="1736725" cy="369888"/>
          </a:xfrm>
          <a:prstGeom prst="rect">
            <a:avLst/>
          </a:prstGeom>
          <a:noFill/>
          <a:ln w="9525">
            <a:noFill/>
          </a:ln>
        </p:spPr>
        <p:txBody>
          <a:bodyPr wrap="none">
            <a:spAutoFit/>
          </a:bodyPr>
          <a:lstStyle/>
          <a:p>
            <a:r>
              <a:rPr b="1" dirty="0">
                <a:latin typeface="Arial" panose="020B0604020202020204" pitchFamily="34" charset="0"/>
              </a:rPr>
              <a:t>SC-Connector</a:t>
            </a:r>
          </a:p>
        </p:txBody>
      </p:sp>
      <p:pic>
        <p:nvPicPr>
          <p:cNvPr id="134150" name="Picture 6" descr="sc-conn1.jpg"/>
          <p:cNvPicPr>
            <a:picLocks noChangeAspect="1"/>
          </p:cNvPicPr>
          <p:nvPr/>
        </p:nvPicPr>
        <p:blipFill>
          <a:blip r:embed="rId3"/>
          <a:stretch>
            <a:fillRect/>
          </a:stretch>
        </p:blipFill>
        <p:spPr>
          <a:xfrm>
            <a:off x="685800" y="4343400"/>
            <a:ext cx="3962400" cy="2286000"/>
          </a:xfrm>
          <a:prstGeom prst="rect">
            <a:avLst/>
          </a:prstGeom>
          <a:noFill/>
          <a:ln w="9525">
            <a:noFill/>
          </a:ln>
        </p:spPr>
      </p:pic>
      <p:pic>
        <p:nvPicPr>
          <p:cNvPr id="134151" name="Picture 7" descr="st-conn.jpg"/>
          <p:cNvPicPr>
            <a:picLocks noChangeAspect="1"/>
          </p:cNvPicPr>
          <p:nvPr/>
        </p:nvPicPr>
        <p:blipFill>
          <a:blip r:embed="rId4"/>
          <a:stretch>
            <a:fillRect/>
          </a:stretch>
        </p:blipFill>
        <p:spPr>
          <a:xfrm>
            <a:off x="4724400" y="1905000"/>
            <a:ext cx="4038600" cy="2362200"/>
          </a:xfrm>
          <a:prstGeom prst="rect">
            <a:avLst/>
          </a:prstGeom>
          <a:noFill/>
          <a:ln w="9525">
            <a:noFill/>
          </a:ln>
        </p:spPr>
      </p:pic>
      <p:sp>
        <p:nvSpPr>
          <p:cNvPr id="134152" name="TextBox 9"/>
          <p:cNvSpPr txBox="1"/>
          <p:nvPr/>
        </p:nvSpPr>
        <p:spPr>
          <a:xfrm>
            <a:off x="4724400" y="1981200"/>
            <a:ext cx="1825625" cy="369888"/>
          </a:xfrm>
          <a:prstGeom prst="rect">
            <a:avLst/>
          </a:prstGeom>
          <a:noFill/>
          <a:ln w="9525">
            <a:noFill/>
          </a:ln>
        </p:spPr>
        <p:txBody>
          <a:bodyPr wrap="none">
            <a:spAutoFit/>
          </a:bodyPr>
          <a:lstStyle/>
          <a:p>
            <a:r>
              <a:rPr b="1" dirty="0">
                <a:solidFill>
                  <a:srgbClr val="FF0000"/>
                </a:solidFill>
                <a:latin typeface="Arial" panose="020B0604020202020204" pitchFamily="34" charset="0"/>
              </a:rPr>
              <a:t>ST Connectors</a:t>
            </a:r>
          </a:p>
        </p:txBody>
      </p:sp>
      <p:pic>
        <p:nvPicPr>
          <p:cNvPr id="134153" name="Picture 11" descr="fo-conn.jpg"/>
          <p:cNvPicPr>
            <a:picLocks noChangeAspect="1"/>
          </p:cNvPicPr>
          <p:nvPr/>
        </p:nvPicPr>
        <p:blipFill>
          <a:blip r:embed="rId5"/>
          <a:stretch>
            <a:fillRect/>
          </a:stretch>
        </p:blipFill>
        <p:spPr>
          <a:xfrm>
            <a:off x="4800600" y="4343400"/>
            <a:ext cx="3962400" cy="2124075"/>
          </a:xfrm>
          <a:prstGeom prst="rect">
            <a:avLst/>
          </a:prstGeom>
          <a:noFill/>
          <a:ln w="9525">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514350"/>
          </a:xfrm>
        </p:spPr>
        <p:txBody>
          <a:bodyPr vert="horz" wrap="square" lIns="91440" tIns="45720" rIns="91440" bIns="4572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Overview of Transmission Media</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135171" name="Content Placeholder 2"/>
          <p:cNvSpPr>
            <a:spLocks noGrp="1"/>
          </p:cNvSpPr>
          <p:nvPr>
            <p:ph sz="quarter" idx="1"/>
          </p:nvPr>
        </p:nvSpPr>
        <p:spPr>
          <a:xfrm>
            <a:off x="457200" y="1219200"/>
            <a:ext cx="8305800" cy="5334000"/>
          </a:xfrm>
        </p:spPr>
        <p:txBody>
          <a:bodyPr vert="horz" wrap="square" lIns="91440" tIns="45720" rIns="91440" bIns="45720" anchor="t" anchorCtr="0"/>
          <a:lstStyle/>
          <a:p>
            <a:pPr eaLnBrk="1" hangingPunct="1"/>
            <a:r>
              <a:rPr b="1" dirty="0"/>
              <a:t>Fiber Optic Cable – Other Components</a:t>
            </a:r>
          </a:p>
          <a:p>
            <a:pPr eaLnBrk="1" hangingPunct="1"/>
            <a:endParaRPr dirty="0"/>
          </a:p>
          <a:p>
            <a:pPr eaLnBrk="1" hangingPunct="1"/>
            <a:endParaRPr b="1" dirty="0"/>
          </a:p>
          <a:p>
            <a:pPr eaLnBrk="1" hangingPunct="1"/>
            <a:endParaRPr b="1" dirty="0"/>
          </a:p>
          <a:p>
            <a:pPr eaLnBrk="1" hangingPunct="1">
              <a:buFont typeface="Wingdings 2" pitchFamily="18" charset="2"/>
              <a:buNone/>
            </a:pPr>
            <a:r>
              <a:rPr b="1" dirty="0"/>
              <a:t> </a:t>
            </a:r>
          </a:p>
          <a:p>
            <a:pPr eaLnBrk="1" hangingPunct="1"/>
            <a:endParaRPr b="1" dirty="0"/>
          </a:p>
          <a:p>
            <a:pPr eaLnBrk="1" hangingPunct="1"/>
            <a:endParaRPr sz="2100" dirty="0"/>
          </a:p>
          <a:p>
            <a:pPr eaLnBrk="1" hangingPunct="1"/>
            <a:endParaRPr b="1" dirty="0"/>
          </a:p>
          <a:p>
            <a:pPr eaLnBrk="1" hangingPunct="1"/>
            <a:endParaRPr dirty="0"/>
          </a:p>
        </p:txBody>
      </p:sp>
      <p:pic>
        <p:nvPicPr>
          <p:cNvPr id="135172" name="Picture 11" descr="fo-switch.jpg"/>
          <p:cNvPicPr>
            <a:picLocks noChangeAspect="1"/>
          </p:cNvPicPr>
          <p:nvPr/>
        </p:nvPicPr>
        <p:blipFill>
          <a:blip r:embed="rId2"/>
          <a:stretch>
            <a:fillRect/>
          </a:stretch>
        </p:blipFill>
        <p:spPr>
          <a:xfrm>
            <a:off x="457200" y="1828800"/>
            <a:ext cx="4648200" cy="2590800"/>
          </a:xfrm>
          <a:prstGeom prst="rect">
            <a:avLst/>
          </a:prstGeom>
          <a:noFill/>
          <a:ln w="9525">
            <a:noFill/>
          </a:ln>
        </p:spPr>
      </p:pic>
      <p:pic>
        <p:nvPicPr>
          <p:cNvPr id="135173" name="Picture 12" descr="LIU.jpg"/>
          <p:cNvPicPr>
            <a:picLocks noChangeAspect="1"/>
          </p:cNvPicPr>
          <p:nvPr/>
        </p:nvPicPr>
        <p:blipFill>
          <a:blip r:embed="rId3"/>
          <a:stretch>
            <a:fillRect/>
          </a:stretch>
        </p:blipFill>
        <p:spPr>
          <a:xfrm>
            <a:off x="457200" y="4419600"/>
            <a:ext cx="4648200" cy="2286000"/>
          </a:xfrm>
          <a:prstGeom prst="rect">
            <a:avLst/>
          </a:prstGeom>
          <a:noFill/>
          <a:ln w="9525">
            <a:noFill/>
          </a:ln>
        </p:spPr>
      </p:pic>
      <p:pic>
        <p:nvPicPr>
          <p:cNvPr id="135174" name="Picture 14" descr="utp-fiber trans.jpg"/>
          <p:cNvPicPr>
            <a:picLocks noChangeAspect="1"/>
          </p:cNvPicPr>
          <p:nvPr/>
        </p:nvPicPr>
        <p:blipFill>
          <a:blip r:embed="rId4"/>
          <a:stretch>
            <a:fillRect/>
          </a:stretch>
        </p:blipFill>
        <p:spPr>
          <a:xfrm>
            <a:off x="5257800" y="2590800"/>
            <a:ext cx="3505200" cy="2971800"/>
          </a:xfrm>
          <a:prstGeom prst="rect">
            <a:avLst/>
          </a:prstGeom>
          <a:noFill/>
          <a:ln w="9525">
            <a:noFill/>
          </a:ln>
        </p:spPr>
      </p:pic>
      <p:sp>
        <p:nvSpPr>
          <p:cNvPr id="135175" name="TextBox 15"/>
          <p:cNvSpPr txBox="1"/>
          <p:nvPr/>
        </p:nvSpPr>
        <p:spPr>
          <a:xfrm>
            <a:off x="5638800" y="2971800"/>
            <a:ext cx="2898775" cy="369888"/>
          </a:xfrm>
          <a:prstGeom prst="rect">
            <a:avLst/>
          </a:prstGeom>
          <a:noFill/>
          <a:ln w="9525">
            <a:noFill/>
          </a:ln>
        </p:spPr>
        <p:txBody>
          <a:bodyPr wrap="none">
            <a:spAutoFit/>
          </a:bodyPr>
          <a:lstStyle/>
          <a:p>
            <a:r>
              <a:rPr b="1" dirty="0">
                <a:solidFill>
                  <a:srgbClr val="FF0000"/>
                </a:solidFill>
                <a:latin typeface="Arial" panose="020B0604020202020204" pitchFamily="34" charset="0"/>
              </a:rPr>
              <a:t>UTP to Fiber Transceiver</a:t>
            </a:r>
          </a:p>
        </p:txBody>
      </p:sp>
      <p:sp>
        <p:nvSpPr>
          <p:cNvPr id="135176" name="TextBox 16"/>
          <p:cNvSpPr txBox="1"/>
          <p:nvPr/>
        </p:nvSpPr>
        <p:spPr>
          <a:xfrm>
            <a:off x="533400" y="6324600"/>
            <a:ext cx="2878138" cy="369888"/>
          </a:xfrm>
          <a:prstGeom prst="rect">
            <a:avLst/>
          </a:prstGeom>
          <a:noFill/>
          <a:ln w="9525">
            <a:noFill/>
          </a:ln>
        </p:spPr>
        <p:txBody>
          <a:bodyPr wrap="none">
            <a:spAutoFit/>
          </a:bodyPr>
          <a:lstStyle/>
          <a:p>
            <a:r>
              <a:rPr b="1" dirty="0">
                <a:latin typeface="Arial" panose="020B0604020202020204" pitchFamily="34" charset="0"/>
              </a:rPr>
              <a:t>Light Interface Unit (LIU)</a:t>
            </a:r>
          </a:p>
        </p:txBody>
      </p:sp>
      <p:sp>
        <p:nvSpPr>
          <p:cNvPr id="135177" name="TextBox 17"/>
          <p:cNvSpPr txBox="1"/>
          <p:nvPr/>
        </p:nvSpPr>
        <p:spPr>
          <a:xfrm>
            <a:off x="457200" y="2743200"/>
            <a:ext cx="1992313" cy="646113"/>
          </a:xfrm>
          <a:prstGeom prst="rect">
            <a:avLst/>
          </a:prstGeom>
          <a:noFill/>
          <a:ln w="9525">
            <a:noFill/>
          </a:ln>
        </p:spPr>
        <p:txBody>
          <a:bodyPr wrap="none">
            <a:spAutoFit/>
          </a:bodyPr>
          <a:lstStyle/>
          <a:p>
            <a:r>
              <a:rPr b="1" dirty="0">
                <a:latin typeface="Arial" panose="020B0604020202020204" pitchFamily="34" charset="0"/>
              </a:rPr>
              <a:t>Ethernet Switch </a:t>
            </a:r>
          </a:p>
          <a:p>
            <a:r>
              <a:rPr b="1" dirty="0">
                <a:latin typeface="Arial" panose="020B0604020202020204" pitchFamily="34" charset="0"/>
              </a:rPr>
              <a:t>With Fiber ports</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itle 1"/>
          <p:cNvSpPr>
            <a:spLocks noGrp="1"/>
          </p:cNvSpPr>
          <p:nvPr>
            <p:ph type="ctrTitle"/>
          </p:nvPr>
        </p:nvSpPr>
        <p:spPr>
          <a:xfrm>
            <a:off x="228600" y="3581400"/>
            <a:ext cx="8001000" cy="1295400"/>
          </a:xfrm>
        </p:spPr>
        <p:txBody>
          <a:bodyPr vert="horz" wrap="square" lIns="91440" tIns="45720" rIns="91440" bIns="45720" anchor="t" anchorCtr="0"/>
          <a:lstStyle/>
          <a:p>
            <a:pPr eaLnBrk="1" hangingPunct="1">
              <a:buClrTx/>
              <a:buSzTx/>
              <a:buFontTx/>
            </a:pPr>
            <a:r>
              <a:rPr kern="1200" dirty="0">
                <a:latin typeface="+mj-lt"/>
                <a:ea typeface="+mj-ea"/>
                <a:cs typeface="+mj-cs"/>
              </a:rPr>
              <a:t>Module 4</a:t>
            </a:r>
            <a:br>
              <a:rPr kern="1200" dirty="0">
                <a:latin typeface="+mj-lt"/>
                <a:ea typeface="+mj-ea"/>
                <a:cs typeface="+mj-cs"/>
              </a:rPr>
            </a:br>
            <a:r>
              <a:rPr lang="en-IN" altLang="x-none" kern="1200" dirty="0">
                <a:latin typeface="+mj-lt"/>
                <a:ea typeface="+mj-ea"/>
                <a:cs typeface="+mj-cs"/>
              </a:rPr>
              <a:t>Search and Seizure of Computers</a:t>
            </a:r>
            <a:r>
              <a:rPr kern="1200" dirty="0">
                <a:latin typeface="+mj-lt"/>
                <a:ea typeface="+mj-ea"/>
                <a:cs typeface="+mj-cs"/>
              </a:rPr>
              <a:t/>
            </a:r>
            <a:br>
              <a:rPr kern="1200" dirty="0">
                <a:latin typeface="+mj-lt"/>
                <a:ea typeface="+mj-ea"/>
                <a:cs typeface="+mj-cs"/>
              </a:rPr>
            </a:br>
            <a:endParaRPr kern="1200" dirty="0">
              <a:latin typeface="+mj-lt"/>
              <a:ea typeface="+mj-ea"/>
              <a:cs typeface="+mj-cs"/>
            </a:endParaRPr>
          </a:p>
        </p:txBody>
      </p:sp>
      <p:sp>
        <p:nvSpPr>
          <p:cNvPr id="4" name="Subtitle 3"/>
          <p:cNvSpPr>
            <a:spLocks noGrp="1"/>
          </p:cNvSpPr>
          <p:nvPr>
            <p:ph type="subTitle" idx="1"/>
          </p:nvPr>
        </p:nvSpPr>
        <p:spPr/>
        <p:txBody>
          <a:bodyPr vert="horz" wrap="square" lIns="91440" tIns="45720" rIns="91440" bIns="45720" numCol="1" anchor="t" anchorCtr="0" compatLnSpc="1">
            <a:normAutofit/>
          </a:bodyPr>
          <a:lstStyle/>
          <a:p>
            <a:pPr marL="0" marR="0" lvl="0" indent="0" algn="r" defTabSz="914400" rtl="0" eaLnBrk="1" fontAlgn="auto" latinLnBrk="0" hangingPunct="1">
              <a:lnSpc>
                <a:spcPct val="100000"/>
              </a:lnSpc>
              <a:spcBef>
                <a:spcPts val="600"/>
              </a:spcBef>
              <a:spcAft>
                <a:spcPts val="0"/>
              </a:spcAft>
              <a:buClr>
                <a:schemeClr val="accent1"/>
              </a:buClr>
              <a:buSzPct val="76000"/>
              <a:buFont typeface="Wingdings 3"/>
              <a:buNone/>
              <a:defRPr/>
            </a:pPr>
            <a:endParaRPr kumimoji="0" lang="en-US" sz="2000" b="0" i="0" u="none" strike="noStrike" kern="1200" cap="none" spc="0" normalizeH="0" baseline="0" noProof="0">
              <a:ln>
                <a:noFill/>
              </a:ln>
              <a:solidFill>
                <a:schemeClr val="tx2"/>
              </a:solidFill>
              <a:effectLst/>
              <a:uLnTx/>
              <a:uFillTx/>
              <a:latin typeface="+mj-lt"/>
              <a:ea typeface="+mj-ea"/>
              <a:cs typeface="+mj-cs"/>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le 1"/>
          <p:cNvSpPr>
            <a:spLocks noGrp="1"/>
          </p:cNvSpPr>
          <p:nvPr>
            <p:ph type="title"/>
          </p:nvPr>
        </p:nvSpPr>
        <p:spPr/>
        <p:txBody>
          <a:bodyPr vert="horz" wrap="square" lIns="91440" tIns="45720" rIns="91440" bIns="45720" anchor="b" anchorCtr="0"/>
          <a:lstStyle/>
          <a:p>
            <a:r>
              <a:rPr dirty="0"/>
              <a:t>First Responder Procedures</a:t>
            </a:r>
          </a:p>
        </p:txBody>
      </p:sp>
      <p:sp>
        <p:nvSpPr>
          <p:cNvPr id="137219"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400" dirty="0"/>
              <a:t>First responder will be the first person to visit the crime scene.</a:t>
            </a:r>
          </a:p>
          <a:p>
            <a:pPr>
              <a:buClr>
                <a:schemeClr val="accent1"/>
              </a:buClr>
              <a:buSzPct val="76000"/>
              <a:buFont typeface="Wingdings 3" pitchFamily="18" charset="2"/>
            </a:pPr>
            <a:r>
              <a:rPr sz="2400" dirty="0"/>
              <a:t>As the first responder he has an important role to be played.</a:t>
            </a:r>
          </a:p>
          <a:p>
            <a:pPr>
              <a:buClr>
                <a:schemeClr val="accent1"/>
              </a:buClr>
              <a:buSzPct val="76000"/>
              <a:buFont typeface="Wingdings 3" pitchFamily="18" charset="2"/>
            </a:pPr>
            <a:r>
              <a:rPr sz="2400" dirty="0"/>
              <a:t>He should be prepared to handle the situation and his actions should be planned.</a:t>
            </a:r>
          </a:p>
          <a:p>
            <a:pPr>
              <a:buClr>
                <a:schemeClr val="accent1"/>
              </a:buClr>
              <a:buSzPct val="76000"/>
              <a:buFont typeface="Wingdings 3" pitchFamily="18" charset="2"/>
            </a:pPr>
            <a:r>
              <a:rPr sz="2400" dirty="0"/>
              <a:t>Any action performed hurriedly or without thinking may lead to a destruction of important digital evidence.</a:t>
            </a:r>
          </a:p>
          <a:p>
            <a:pPr>
              <a:buClr>
                <a:schemeClr val="accent1"/>
              </a:buClr>
              <a:buSzPct val="76000"/>
              <a:buFont typeface="Wingdings 3" pitchFamily="18" charset="2"/>
            </a:pPr>
            <a:r>
              <a:rPr sz="2400" dirty="0"/>
              <a:t>Thus it is necessary that he has a toolkit ready and the plan to tackle the incident.   </a:t>
            </a:r>
          </a:p>
          <a:p>
            <a:pPr>
              <a:buClr>
                <a:schemeClr val="accent1"/>
              </a:buClr>
              <a:buSzPct val="76000"/>
              <a:buFont typeface="Wingdings 3" pitchFamily="18" charset="2"/>
            </a:pPr>
            <a:r>
              <a:rPr sz="2400" dirty="0"/>
              <a:t>Please look the premise for all the items that may contain digital evidence like external hard disks, CD-DVD’s, Pen drives, Mobiles and Tabs, Flash cards etc.</a:t>
            </a:r>
          </a:p>
          <a:p>
            <a:pPr>
              <a:buClr>
                <a:schemeClr val="accent1"/>
              </a:buClr>
              <a:buSzPct val="76000"/>
              <a:buFont typeface="Wingdings 3" pitchFamily="18" charset="2"/>
            </a:pPr>
            <a:endParaRPr sz="24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itle 1"/>
          <p:cNvSpPr>
            <a:spLocks noGrp="1"/>
          </p:cNvSpPr>
          <p:nvPr>
            <p:ph type="title"/>
          </p:nvPr>
        </p:nvSpPr>
        <p:spPr/>
        <p:txBody>
          <a:bodyPr vert="horz" wrap="square" lIns="91440" tIns="45720" rIns="91440" bIns="45720" anchor="b" anchorCtr="0"/>
          <a:lstStyle/>
          <a:p>
            <a:r>
              <a:rPr dirty="0"/>
              <a:t>First Responder Procedures</a:t>
            </a:r>
          </a:p>
        </p:txBody>
      </p:sp>
      <p:sp>
        <p:nvSpPr>
          <p:cNvPr id="138243"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300" dirty="0"/>
              <a:t>First secure the crime scene.</a:t>
            </a:r>
          </a:p>
          <a:p>
            <a:pPr>
              <a:buClr>
                <a:schemeClr val="accent1"/>
              </a:buClr>
              <a:buSzPct val="76000"/>
              <a:buFont typeface="Wingdings 3" pitchFamily="18" charset="2"/>
            </a:pPr>
            <a:r>
              <a:rPr sz="2300" dirty="0"/>
              <a:t>If physical evidences like fingerprint etc. are also important for the crime then wait for the forensics team also.</a:t>
            </a:r>
          </a:p>
          <a:p>
            <a:pPr>
              <a:buClr>
                <a:schemeClr val="accent1"/>
              </a:buClr>
              <a:buSzPct val="76000"/>
              <a:buFont typeface="Wingdings 3" pitchFamily="18" charset="2"/>
            </a:pPr>
            <a:r>
              <a:rPr sz="2300" dirty="0"/>
              <a:t>By the time secure the access to computers, peripherals and to any other electronic or electrical equipment.</a:t>
            </a:r>
          </a:p>
          <a:p>
            <a:pPr>
              <a:buClr>
                <a:schemeClr val="accent1"/>
              </a:buClr>
              <a:buSzPct val="76000"/>
              <a:buFont typeface="Wingdings 3" pitchFamily="18" charset="2"/>
            </a:pPr>
            <a:r>
              <a:rPr sz="2300" dirty="0"/>
              <a:t>This will make sure that any unauthorized person will not cause any deliberate or accidental damage to these equipments.</a:t>
            </a:r>
          </a:p>
          <a:p>
            <a:pPr>
              <a:buClr>
                <a:schemeClr val="accent1"/>
              </a:buClr>
              <a:buSzPct val="76000"/>
              <a:buFont typeface="Wingdings 3" pitchFamily="18" charset="2"/>
            </a:pPr>
            <a:r>
              <a:rPr sz="2300" dirty="0"/>
              <a:t>Photograph the entire premise and also the other equipments before you touch them or move them.</a:t>
            </a:r>
          </a:p>
          <a:p>
            <a:pPr>
              <a:buClr>
                <a:schemeClr val="accent1"/>
              </a:buClr>
              <a:buSzPct val="76000"/>
              <a:buFont typeface="Wingdings 3" pitchFamily="18" charset="2"/>
            </a:pPr>
            <a:r>
              <a:rPr sz="2300" dirty="0"/>
              <a:t>Also take the photographs of screens of equipments that are ON like computers and tabs.</a:t>
            </a:r>
          </a:p>
          <a:p>
            <a:pPr>
              <a:buClr>
                <a:schemeClr val="accent1"/>
              </a:buClr>
              <a:buSzPct val="76000"/>
              <a:buFont typeface="Wingdings 3" pitchFamily="18" charset="2"/>
            </a:pPr>
            <a:r>
              <a:rPr sz="2300" dirty="0"/>
              <a:t>Take photographs from various angles</a:t>
            </a:r>
            <a:r>
              <a:rPr dirty="0"/>
              <a:t> </a:t>
            </a:r>
            <a:r>
              <a:rPr sz="2300" dirty="0"/>
              <a:t>to show connections.</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itle 1"/>
          <p:cNvSpPr>
            <a:spLocks noGrp="1"/>
          </p:cNvSpPr>
          <p:nvPr>
            <p:ph type="title"/>
          </p:nvPr>
        </p:nvSpPr>
        <p:spPr/>
        <p:txBody>
          <a:bodyPr vert="horz" wrap="square" lIns="91440" tIns="45720" rIns="91440" bIns="45720" anchor="b" anchorCtr="0"/>
          <a:lstStyle/>
          <a:p>
            <a:r>
              <a:rPr dirty="0"/>
              <a:t>First Responder Procedures</a:t>
            </a:r>
          </a:p>
        </p:txBody>
      </p:sp>
      <p:sp>
        <p:nvSpPr>
          <p:cNvPr id="139267"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sz="2300" dirty="0"/>
              <a:t>Check the current system date and time of all gadgets including computers.</a:t>
            </a:r>
          </a:p>
          <a:p>
            <a:pPr>
              <a:buClr>
                <a:schemeClr val="accent1"/>
              </a:buClr>
              <a:buSzPct val="76000"/>
              <a:buFont typeface="Wingdings 3" pitchFamily="18" charset="2"/>
            </a:pPr>
            <a:r>
              <a:rPr sz="2300" dirty="0"/>
              <a:t>Compare the timing with a valid source.</a:t>
            </a:r>
          </a:p>
          <a:p>
            <a:pPr>
              <a:buClr>
                <a:schemeClr val="accent1"/>
              </a:buClr>
              <a:buSzPct val="76000"/>
              <a:buFont typeface="Wingdings 3" pitchFamily="18" charset="2"/>
            </a:pPr>
            <a:r>
              <a:rPr sz="2300" dirty="0"/>
              <a:t>If any discrepancies found note them down.</a:t>
            </a:r>
          </a:p>
          <a:p>
            <a:pPr>
              <a:buClr>
                <a:schemeClr val="accent1"/>
              </a:buClr>
              <a:buSzPct val="76000"/>
              <a:buFont typeface="Wingdings 3" pitchFamily="18" charset="2"/>
            </a:pPr>
            <a:r>
              <a:rPr sz="2300" dirty="0"/>
              <a:t>It is very important for the first responder to document everything properly.</a:t>
            </a:r>
          </a:p>
          <a:p>
            <a:pPr>
              <a:buClr>
                <a:schemeClr val="accent1"/>
              </a:buClr>
              <a:buSzPct val="76000"/>
              <a:buFont typeface="Wingdings 3" pitchFamily="18" charset="2"/>
            </a:pPr>
            <a:r>
              <a:rPr sz="2300" dirty="0"/>
              <a:t>If required video shooting of the premise and computers and peripherals will prove a good idea.</a:t>
            </a:r>
          </a:p>
          <a:p>
            <a:pPr>
              <a:buClr>
                <a:schemeClr val="accent1"/>
              </a:buClr>
              <a:buSzPct val="76000"/>
              <a:buFont typeface="Wingdings 3" pitchFamily="18" charset="2"/>
            </a:pPr>
            <a:r>
              <a:rPr sz="2300" dirty="0"/>
              <a:t>While documenting make sure you write the make, model , batch no., serial no. etc. details of the every device that you will search for evidence.</a:t>
            </a:r>
          </a:p>
          <a:p>
            <a:pPr>
              <a:buClr>
                <a:schemeClr val="accent1"/>
              </a:buClr>
              <a:buSzPct val="76000"/>
              <a:buFont typeface="Wingdings 3" pitchFamily="18" charset="2"/>
            </a:pPr>
            <a:r>
              <a:rPr sz="2300" dirty="0"/>
              <a:t>Take the photograph of inside of a computer to show the number of devices attached and other details. </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itle 1"/>
          <p:cNvSpPr>
            <a:spLocks noGrp="1"/>
          </p:cNvSpPr>
          <p:nvPr>
            <p:ph type="title"/>
          </p:nvPr>
        </p:nvSpPr>
        <p:spPr/>
        <p:txBody>
          <a:bodyPr vert="horz" wrap="square" lIns="91440" tIns="45720" rIns="91440" bIns="45720" anchor="b" anchorCtr="0"/>
          <a:lstStyle/>
          <a:p>
            <a:r>
              <a:rPr dirty="0"/>
              <a:t>First Responder Procedures</a:t>
            </a:r>
          </a:p>
        </p:txBody>
      </p:sp>
      <p:sp>
        <p:nvSpPr>
          <p:cNvPr id="140291" name="Content Placeholder 2"/>
          <p:cNvSpPr>
            <a:spLocks noGrp="1"/>
          </p:cNvSpPr>
          <p:nvPr>
            <p:ph sz="quarter" idx="1"/>
          </p:nvPr>
        </p:nvSpPr>
        <p:spPr>
          <a:xfrm>
            <a:off x="457200" y="1143000"/>
            <a:ext cx="8229600" cy="5181600"/>
          </a:xfrm>
        </p:spPr>
        <p:txBody>
          <a:bodyPr vert="horz" wrap="square" lIns="91440" tIns="45720" rIns="91440" bIns="45720" anchor="t" anchorCtr="0"/>
          <a:lstStyle/>
          <a:p>
            <a:pPr>
              <a:buClr>
                <a:schemeClr val="accent1"/>
              </a:buClr>
              <a:buSzPct val="76000"/>
              <a:buFont typeface="Wingdings 3" pitchFamily="18" charset="2"/>
            </a:pPr>
            <a:r>
              <a:rPr sz="2300" dirty="0"/>
              <a:t>If a computer or a device is off then do not turn it on.</a:t>
            </a:r>
          </a:p>
          <a:p>
            <a:pPr>
              <a:buClr>
                <a:schemeClr val="accent1"/>
              </a:buClr>
              <a:buSzPct val="76000"/>
              <a:buFont typeface="Wingdings 3" pitchFamily="18" charset="2"/>
            </a:pPr>
            <a:r>
              <a:rPr sz="2300" dirty="0"/>
              <a:t>It may damage the digital evidence.</a:t>
            </a:r>
          </a:p>
          <a:p>
            <a:pPr>
              <a:buClr>
                <a:schemeClr val="accent1"/>
              </a:buClr>
              <a:buSzPct val="76000"/>
              <a:buFont typeface="Wingdings 3" pitchFamily="18" charset="2"/>
            </a:pPr>
            <a:r>
              <a:rPr sz="2300" dirty="0"/>
              <a:t>Also if the computer is ON do not immediately turn it OFF.</a:t>
            </a:r>
          </a:p>
          <a:p>
            <a:pPr>
              <a:buClr>
                <a:schemeClr val="accent1"/>
              </a:buClr>
              <a:buSzPct val="76000"/>
              <a:buFont typeface="Wingdings 3" pitchFamily="18" charset="2"/>
            </a:pPr>
            <a:r>
              <a:rPr sz="2300" dirty="0"/>
              <a:t>This is important as some program may be scheduled to destroy all data when the computer is turned off.</a:t>
            </a:r>
          </a:p>
          <a:p>
            <a:pPr>
              <a:buClr>
                <a:schemeClr val="accent1"/>
              </a:buClr>
              <a:buSzPct val="76000"/>
              <a:buFont typeface="Wingdings 3" pitchFamily="18" charset="2"/>
            </a:pPr>
            <a:r>
              <a:rPr sz="2300" dirty="0"/>
              <a:t>Also some times it is necessary to capture live data as digital evidence and if turn the computer off it will loose all the live data.</a:t>
            </a:r>
          </a:p>
          <a:p>
            <a:pPr>
              <a:buClr>
                <a:schemeClr val="accent1"/>
              </a:buClr>
              <a:buSzPct val="76000"/>
              <a:buFont typeface="Wingdings 3" pitchFamily="18" charset="2"/>
            </a:pPr>
            <a:r>
              <a:rPr sz="2300" dirty="0"/>
              <a:t>If you are not sure about the destructive program on a live computer try to get help of a computer expert.</a:t>
            </a:r>
          </a:p>
          <a:p>
            <a:pPr>
              <a:buClr>
                <a:schemeClr val="accent1"/>
              </a:buClr>
              <a:buSzPct val="76000"/>
              <a:buFont typeface="Wingdings 3" pitchFamily="18" charset="2"/>
            </a:pPr>
            <a:r>
              <a:rPr sz="2300" dirty="0"/>
              <a:t>If not possible make sure you do not issue shutdown command or press the power button rather just pull the power cord from the back of the computer.</a:t>
            </a:r>
          </a:p>
          <a:p>
            <a:pPr>
              <a:buClr>
                <a:schemeClr val="accent1"/>
              </a:buClr>
              <a:buSzPct val="76000"/>
              <a:buFont typeface="Wingdings 3" pitchFamily="18" charset="2"/>
            </a:pPr>
            <a:endParaRPr dirty="0"/>
          </a:p>
          <a:p>
            <a:pPr>
              <a:buClr>
                <a:schemeClr val="accent1"/>
              </a:buClr>
              <a:buSzPct val="76000"/>
              <a:buFont typeface="Wingdings 3" pitchFamily="18" charset="2"/>
            </a:pPr>
            <a:endParaRPr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itle 1"/>
          <p:cNvSpPr>
            <a:spLocks noGrp="1"/>
          </p:cNvSpPr>
          <p:nvPr>
            <p:ph type="title"/>
          </p:nvPr>
        </p:nvSpPr>
        <p:spPr/>
        <p:txBody>
          <a:bodyPr vert="horz" wrap="square" lIns="91440" tIns="45720" rIns="91440" bIns="45720" anchor="b" anchorCtr="0"/>
          <a:lstStyle/>
          <a:p>
            <a:r>
              <a:rPr dirty="0"/>
              <a:t>First Responder Procedures</a:t>
            </a:r>
          </a:p>
        </p:txBody>
      </p:sp>
      <p:sp>
        <p:nvSpPr>
          <p:cNvPr id="141315"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sz="2400" dirty="0"/>
              <a:t>Stick evidence tape to secure any openings and drive bays of a computer.</a:t>
            </a:r>
          </a:p>
          <a:p>
            <a:pPr>
              <a:buClr>
                <a:schemeClr val="accent1"/>
              </a:buClr>
              <a:buSzPct val="76000"/>
              <a:buFont typeface="Wingdings 3" pitchFamily="18" charset="2"/>
            </a:pPr>
            <a:r>
              <a:rPr sz="2400" dirty="0"/>
              <a:t>Tag all the cables so that when required computer can be assembled fully as it was at the crime scene.</a:t>
            </a:r>
          </a:p>
          <a:p>
            <a:pPr>
              <a:buClr>
                <a:schemeClr val="accent1"/>
              </a:buClr>
              <a:buSzPct val="76000"/>
              <a:buFont typeface="Wingdings 3" pitchFamily="18" charset="2"/>
            </a:pPr>
            <a:r>
              <a:rPr sz="2400" dirty="0"/>
              <a:t>If you require to carry and transport the equipments out of the crime scene area make sure you do it properly.</a:t>
            </a:r>
          </a:p>
          <a:p>
            <a:pPr>
              <a:buClr>
                <a:schemeClr val="accent1"/>
              </a:buClr>
              <a:buSzPct val="76000"/>
              <a:buFont typeface="Wingdings 3" pitchFamily="18" charset="2"/>
            </a:pPr>
            <a:r>
              <a:rPr sz="2400" dirty="0"/>
              <a:t>Use anti-static bags to seal hard disks and similar devices.</a:t>
            </a:r>
          </a:p>
          <a:p>
            <a:pPr>
              <a:buClr>
                <a:schemeClr val="accent1"/>
              </a:buClr>
              <a:buSzPct val="76000"/>
              <a:buFont typeface="Wingdings 3" pitchFamily="18" charset="2"/>
            </a:pPr>
            <a:r>
              <a:rPr sz="2400" dirty="0"/>
              <a:t>Also use strong enclosures to ship these equipments.</a:t>
            </a:r>
          </a:p>
          <a:p>
            <a:pPr>
              <a:buClr>
                <a:schemeClr val="accent1"/>
              </a:buClr>
              <a:buSzPct val="76000"/>
              <a:buFont typeface="Wingdings 3" pitchFamily="18" charset="2"/>
            </a:pPr>
            <a:r>
              <a:rPr sz="2400" dirty="0"/>
              <a:t>Take care of CD and DVD’s as they are fragile.</a:t>
            </a:r>
          </a:p>
          <a:p>
            <a:pPr>
              <a:buClr>
                <a:schemeClr val="accent1"/>
              </a:buClr>
              <a:buSzPct val="76000"/>
              <a:buFont typeface="Wingdings 3" pitchFamily="18" charset="2"/>
            </a:pPr>
            <a:r>
              <a:rPr sz="2400" dirty="0"/>
              <a:t>Do not expose these equipments to radio or electro-magnetic waves. </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itle 1"/>
          <p:cNvSpPr>
            <a:spLocks noGrp="1"/>
          </p:cNvSpPr>
          <p:nvPr>
            <p:ph type="title"/>
          </p:nvPr>
        </p:nvSpPr>
        <p:spPr/>
        <p:txBody>
          <a:bodyPr vert="horz" wrap="square" lIns="91440" tIns="45720" rIns="91440" bIns="45720" anchor="b" anchorCtr="0"/>
          <a:lstStyle/>
          <a:p>
            <a:r>
              <a:rPr dirty="0"/>
              <a:t>First Responder Procedures</a:t>
            </a:r>
          </a:p>
        </p:txBody>
      </p:sp>
      <p:sp>
        <p:nvSpPr>
          <p:cNvPr id="142339"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sz="2200" dirty="0"/>
              <a:t>Also look for some papers diaries near computer as those may contain some username password or important filenames on that computer.</a:t>
            </a:r>
          </a:p>
          <a:p>
            <a:pPr>
              <a:buClr>
                <a:schemeClr val="accent1"/>
              </a:buClr>
              <a:buSzPct val="76000"/>
              <a:buFont typeface="Wingdings 3" pitchFamily="18" charset="2"/>
            </a:pPr>
            <a:r>
              <a:rPr sz="2200" dirty="0"/>
              <a:t>Also if you find some manuals of certain equipments seize them also as they may provide you information about the features of that equipment.</a:t>
            </a:r>
          </a:p>
          <a:p>
            <a:pPr>
              <a:buClr>
                <a:schemeClr val="accent1"/>
              </a:buClr>
              <a:buSzPct val="76000"/>
              <a:buFont typeface="Wingdings 3" pitchFamily="18" charset="2"/>
            </a:pPr>
            <a:r>
              <a:rPr sz="2200" dirty="0"/>
              <a:t>It is very important that you understand the working of any device before you start collecting any evidence.</a:t>
            </a:r>
          </a:p>
          <a:p>
            <a:pPr>
              <a:buClr>
                <a:schemeClr val="accent1"/>
              </a:buClr>
              <a:buSzPct val="76000"/>
              <a:buFont typeface="Wingdings 3" pitchFamily="18" charset="2"/>
            </a:pPr>
            <a:r>
              <a:rPr sz="2200" dirty="0"/>
              <a:t>If you handle a device without knowing it, you may unknowingly destroy or alter the data within that device.</a:t>
            </a:r>
          </a:p>
          <a:p>
            <a:pPr>
              <a:buClr>
                <a:schemeClr val="accent1"/>
              </a:buClr>
              <a:buSzPct val="76000"/>
              <a:buFont typeface="Wingdings 3" pitchFamily="18" charset="2"/>
            </a:pPr>
            <a:r>
              <a:rPr sz="2200" dirty="0"/>
              <a:t>Before you start actually collecting the digital evidence make a plan of your actions.</a:t>
            </a:r>
          </a:p>
          <a:p>
            <a:pPr>
              <a:buClr>
                <a:schemeClr val="accent1"/>
              </a:buClr>
              <a:buSzPct val="76000"/>
              <a:buFont typeface="Wingdings 3" pitchFamily="18" charset="2"/>
            </a:pPr>
            <a:r>
              <a:rPr sz="2200" dirty="0"/>
              <a:t>Do not directly work on any device specially hard disks. </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itle 1"/>
          <p:cNvSpPr>
            <a:spLocks noGrp="1"/>
          </p:cNvSpPr>
          <p:nvPr>
            <p:ph type="title"/>
          </p:nvPr>
        </p:nvSpPr>
        <p:spPr/>
        <p:txBody>
          <a:bodyPr vert="horz" wrap="square" lIns="91440" tIns="45720" rIns="91440" bIns="45720" anchor="b" anchorCtr="0"/>
          <a:lstStyle/>
          <a:p>
            <a:r>
              <a:rPr dirty="0"/>
              <a:t>Preparing a Forensics Checklist</a:t>
            </a:r>
          </a:p>
        </p:txBody>
      </p:sp>
      <p:sp>
        <p:nvSpPr>
          <p:cNvPr id="143363" name="Content Placeholder 2"/>
          <p:cNvSpPr>
            <a:spLocks noGrp="1"/>
          </p:cNvSpPr>
          <p:nvPr>
            <p:ph sz="quarter" idx="1"/>
          </p:nvPr>
        </p:nvSpPr>
        <p:spPr>
          <a:xfrm>
            <a:off x="457200" y="1143000"/>
            <a:ext cx="8229600" cy="5181600"/>
          </a:xfrm>
        </p:spPr>
        <p:txBody>
          <a:bodyPr vert="horz" wrap="square" lIns="91440" tIns="45720" rIns="91440" bIns="45720" anchor="t" anchorCtr="0"/>
          <a:lstStyle/>
          <a:p>
            <a:pPr>
              <a:buClr>
                <a:schemeClr val="accent1"/>
              </a:buClr>
              <a:buSzPct val="76000"/>
              <a:buFont typeface="Wingdings 3" pitchFamily="18" charset="2"/>
            </a:pPr>
            <a:r>
              <a:rPr sz="2200" dirty="0"/>
              <a:t>Basic Checklist of necessary things that a computer forensics requires while visiting a crime scene.</a:t>
            </a:r>
          </a:p>
          <a:p>
            <a:pPr>
              <a:buClr>
                <a:schemeClr val="accent1"/>
              </a:buClr>
              <a:buSzPct val="76000"/>
              <a:buFont typeface="Wingdings 3" pitchFamily="18" charset="2"/>
            </a:pPr>
            <a:r>
              <a:rPr sz="2200" dirty="0"/>
              <a:t>Camera for video and photographic evidence</a:t>
            </a:r>
          </a:p>
          <a:p>
            <a:pPr>
              <a:buClr>
                <a:schemeClr val="accent1"/>
              </a:buClr>
              <a:buSzPct val="76000"/>
              <a:buFont typeface="Wingdings 3" pitchFamily="18" charset="2"/>
            </a:pPr>
            <a:r>
              <a:rPr sz="2200" dirty="0"/>
              <a:t>Card board / Plastic boxes for safe transportation of any electrical device with soft packing material like sponge.</a:t>
            </a:r>
          </a:p>
          <a:p>
            <a:pPr>
              <a:buClr>
                <a:schemeClr val="accent1"/>
              </a:buClr>
              <a:buSzPct val="76000"/>
              <a:buFont typeface="Wingdings 3" pitchFamily="18" charset="2"/>
            </a:pPr>
            <a:r>
              <a:rPr sz="2200" dirty="0"/>
              <a:t>Evidence inventory documents</a:t>
            </a:r>
          </a:p>
          <a:p>
            <a:pPr>
              <a:buClr>
                <a:schemeClr val="accent1"/>
              </a:buClr>
              <a:buSzPct val="76000"/>
              <a:buFont typeface="Wingdings 3" pitchFamily="18" charset="2"/>
            </a:pPr>
            <a:r>
              <a:rPr sz="2200" dirty="0"/>
              <a:t>Evidence tape</a:t>
            </a:r>
          </a:p>
          <a:p>
            <a:pPr>
              <a:buClr>
                <a:schemeClr val="accent1"/>
              </a:buClr>
              <a:buSzPct val="76000"/>
              <a:buFont typeface="Wingdings 3" pitchFamily="18" charset="2"/>
            </a:pPr>
            <a:r>
              <a:rPr sz="2200" dirty="0"/>
              <a:t>Anti-static bags</a:t>
            </a:r>
          </a:p>
          <a:p>
            <a:pPr>
              <a:buClr>
                <a:schemeClr val="accent1"/>
              </a:buClr>
              <a:buSzPct val="76000"/>
              <a:buFont typeface="Wingdings 3" pitchFamily="18" charset="2"/>
            </a:pPr>
            <a:r>
              <a:rPr sz="2200" dirty="0"/>
              <a:t>Paper evidence bags</a:t>
            </a:r>
          </a:p>
          <a:p>
            <a:pPr>
              <a:buClr>
                <a:schemeClr val="accent1"/>
              </a:buClr>
              <a:buSzPct val="76000"/>
              <a:buFont typeface="Wingdings 3" pitchFamily="18" charset="2"/>
            </a:pPr>
            <a:r>
              <a:rPr sz="2200" dirty="0"/>
              <a:t>Notepads and pens and pencils to take down any information needed and to keep a report of the crime scene</a:t>
            </a:r>
          </a:p>
          <a:p>
            <a:pPr>
              <a:buClr>
                <a:schemeClr val="accent1"/>
              </a:buClr>
              <a:buSzPct val="76000"/>
              <a:buFont typeface="Wingdings 3" pitchFamily="18" charset="2"/>
            </a:pPr>
            <a:r>
              <a:rPr sz="2200" dirty="0"/>
              <a:t>Gloves so as not to potentially damage or contaminate any physical evidence like fingerprints.</a:t>
            </a:r>
          </a:p>
          <a:p>
            <a:pPr>
              <a:buClr>
                <a:schemeClr val="accent1"/>
              </a:buClr>
              <a:buSzPct val="76000"/>
              <a:buFont typeface="Wingdings 3" pitchFamily="18" charset="2"/>
            </a:pPr>
            <a:r>
              <a:rPr sz="2200" dirty="0"/>
              <a:t>Carry all forensics software with their keys (Hardware if any).</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itle 1"/>
          <p:cNvSpPr>
            <a:spLocks noGrp="1"/>
          </p:cNvSpPr>
          <p:nvPr>
            <p:ph type="title"/>
          </p:nvPr>
        </p:nvSpPr>
        <p:spPr/>
        <p:txBody>
          <a:bodyPr vert="horz" wrap="square" lIns="91440" tIns="45720" rIns="91440" bIns="45720" anchor="b" anchorCtr="0"/>
          <a:lstStyle/>
          <a:p>
            <a:r>
              <a:rPr dirty="0"/>
              <a:t>Preparing a Forensics Checklist</a:t>
            </a:r>
          </a:p>
        </p:txBody>
      </p:sp>
      <p:sp>
        <p:nvSpPr>
          <p:cNvPr id="144387"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200" dirty="0"/>
              <a:t>Evidence stickers, labels or tags etc.</a:t>
            </a:r>
          </a:p>
          <a:p>
            <a:pPr>
              <a:buClr>
                <a:schemeClr val="accent1"/>
              </a:buClr>
              <a:buSzPct val="76000"/>
              <a:buFont typeface="Wingdings 3" pitchFamily="18" charset="2"/>
            </a:pPr>
            <a:r>
              <a:rPr sz="2200" dirty="0"/>
              <a:t>Crime scene tape</a:t>
            </a:r>
          </a:p>
          <a:p>
            <a:pPr>
              <a:buClr>
                <a:schemeClr val="accent1"/>
              </a:buClr>
              <a:buSzPct val="76000"/>
              <a:buFont typeface="Wingdings 3" pitchFamily="18" charset="2"/>
            </a:pPr>
            <a:r>
              <a:rPr sz="2200" dirty="0"/>
              <a:t>Permanent markers to tag items and bags.</a:t>
            </a:r>
          </a:p>
          <a:p>
            <a:pPr>
              <a:buClr>
                <a:schemeClr val="accent1"/>
              </a:buClr>
              <a:buSzPct val="76000"/>
              <a:buFont typeface="Wingdings 3" pitchFamily="18" charset="2"/>
            </a:pPr>
            <a:r>
              <a:rPr sz="2200" dirty="0"/>
              <a:t>Non-magnetic tools</a:t>
            </a:r>
          </a:p>
          <a:p>
            <a:pPr>
              <a:buClr>
                <a:schemeClr val="accent1"/>
              </a:buClr>
              <a:buSzPct val="76000"/>
              <a:buFont typeface="Wingdings 3" pitchFamily="18" charset="2"/>
            </a:pPr>
            <a:r>
              <a:rPr sz="2200" dirty="0"/>
              <a:t>Radio frequency-shielding material (to wrap communication devices in to prevent signals which potentially could corrupt, alter, damage or delete potential evidence.</a:t>
            </a:r>
          </a:p>
          <a:p>
            <a:pPr>
              <a:buClr>
                <a:schemeClr val="accent1"/>
              </a:buClr>
              <a:buSzPct val="76000"/>
              <a:buFont typeface="Wingdings 3" pitchFamily="18" charset="2"/>
            </a:pPr>
            <a:r>
              <a:rPr sz="2200" dirty="0"/>
              <a:t>Flash Light to read serial numbers on devices.</a:t>
            </a:r>
          </a:p>
          <a:p>
            <a:pPr>
              <a:buClr>
                <a:schemeClr val="accent1"/>
              </a:buClr>
              <a:buSzPct val="76000"/>
              <a:buFont typeface="Wingdings 3" pitchFamily="18" charset="2"/>
            </a:pPr>
            <a:r>
              <a:rPr sz="2200" dirty="0"/>
              <a:t>Magnifier as sometimes the serial numbers may be very small.</a:t>
            </a:r>
          </a:p>
          <a:p>
            <a:pPr>
              <a:buClr>
                <a:schemeClr val="accent1"/>
              </a:buClr>
              <a:buSzPct val="76000"/>
              <a:buFont typeface="Wingdings 3" pitchFamily="18" charset="2"/>
            </a:pPr>
            <a:r>
              <a:rPr sz="2200" dirty="0"/>
              <a:t>Carry some empty external hard disks as you may need to collect some live data.</a:t>
            </a:r>
          </a:p>
          <a:p>
            <a:pPr>
              <a:buClr>
                <a:schemeClr val="accent1"/>
              </a:buClr>
              <a:buSzPct val="76000"/>
              <a:buFont typeface="Wingdings 3" pitchFamily="18" charset="2"/>
            </a:pPr>
            <a:r>
              <a:rPr sz="2200" dirty="0"/>
              <a:t>Carry network cables, USB cables, Fire wire cables, SATA, SCSI, IDE etc. cables as you may need them at the location.</a:t>
            </a:r>
          </a:p>
          <a:p>
            <a:pPr>
              <a:buClr>
                <a:schemeClr val="accent1"/>
              </a:buClr>
              <a:buSzPct val="76000"/>
              <a:buFont typeface="Wingdings 3" pitchFamily="18" charset="2"/>
            </a:pPr>
            <a:endParaRPr dirty="0"/>
          </a:p>
          <a:p>
            <a:pPr>
              <a:buClr>
                <a:schemeClr val="accent1"/>
              </a:buClr>
              <a:buSzPct val="76000"/>
              <a:buFont typeface="Wingdings 3" pitchFamily="18" charset="2"/>
            </a:pPr>
            <a:endParaRPr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itle 1"/>
          <p:cNvSpPr>
            <a:spLocks noGrp="1"/>
          </p:cNvSpPr>
          <p:nvPr>
            <p:ph type="title"/>
          </p:nvPr>
        </p:nvSpPr>
        <p:spPr/>
        <p:txBody>
          <a:bodyPr vert="horz" wrap="square" lIns="91440" tIns="45720" rIns="91440" bIns="45720" anchor="b" anchorCtr="0"/>
          <a:lstStyle/>
          <a:p>
            <a:r>
              <a:rPr dirty="0"/>
              <a:t>Preparing a Forensics Checklist</a:t>
            </a:r>
          </a:p>
        </p:txBody>
      </p:sp>
      <p:sp>
        <p:nvSpPr>
          <p:cNvPr id="145411"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300" dirty="0"/>
              <a:t>You have seized the required devices and documented them and sent them securely to forensics lab for further investigation.</a:t>
            </a:r>
          </a:p>
          <a:p>
            <a:pPr>
              <a:buClr>
                <a:schemeClr val="accent1"/>
              </a:buClr>
              <a:buSzPct val="76000"/>
              <a:buFont typeface="Wingdings 3" pitchFamily="18" charset="2"/>
            </a:pPr>
            <a:r>
              <a:rPr sz="2300" dirty="0"/>
              <a:t>However you may require some of the following information which may be useful in further investigation.</a:t>
            </a:r>
          </a:p>
          <a:p>
            <a:pPr>
              <a:buClr>
                <a:schemeClr val="accent1"/>
              </a:buClr>
              <a:buSzPct val="76000"/>
              <a:buFont typeface="Wingdings 3" pitchFamily="18" charset="2"/>
            </a:pPr>
            <a:r>
              <a:rPr sz="2300" dirty="0"/>
              <a:t>Names of all users who used the computer or the device.</a:t>
            </a:r>
          </a:p>
          <a:p>
            <a:pPr>
              <a:buClr>
                <a:schemeClr val="accent1"/>
              </a:buClr>
              <a:buSzPct val="76000"/>
              <a:buFont typeface="Wingdings 3" pitchFamily="18" charset="2"/>
            </a:pPr>
            <a:r>
              <a:rPr sz="2300" dirty="0"/>
              <a:t>All login names and user account names</a:t>
            </a:r>
          </a:p>
          <a:p>
            <a:pPr>
              <a:buClr>
                <a:schemeClr val="accent1"/>
              </a:buClr>
              <a:buSzPct val="76000"/>
              <a:buFont typeface="Wingdings 3" pitchFamily="18" charset="2"/>
            </a:pPr>
            <a:r>
              <a:rPr sz="2300" dirty="0"/>
              <a:t>Purpose and uses of devices and/or computers</a:t>
            </a:r>
          </a:p>
          <a:p>
            <a:pPr>
              <a:buClr>
                <a:schemeClr val="accent1"/>
              </a:buClr>
              <a:buSzPct val="76000"/>
              <a:buFont typeface="Wingdings 3" pitchFamily="18" charset="2"/>
            </a:pPr>
            <a:r>
              <a:rPr sz="2300" dirty="0"/>
              <a:t>All computer and device passwords </a:t>
            </a:r>
          </a:p>
          <a:p>
            <a:pPr>
              <a:buClr>
                <a:schemeClr val="accent1"/>
              </a:buClr>
              <a:buSzPct val="76000"/>
              <a:buFont typeface="Wingdings 3" pitchFamily="18" charset="2"/>
            </a:pPr>
            <a:r>
              <a:rPr sz="2300" dirty="0"/>
              <a:t>Any automated applications in use</a:t>
            </a:r>
          </a:p>
          <a:p>
            <a:pPr>
              <a:buClr>
                <a:schemeClr val="accent1"/>
              </a:buClr>
              <a:buSzPct val="76000"/>
              <a:buFont typeface="Wingdings 3" pitchFamily="18" charset="2"/>
            </a:pPr>
            <a:r>
              <a:rPr sz="2300" dirty="0"/>
              <a:t>Type of internet access</a:t>
            </a:r>
          </a:p>
          <a:p>
            <a:pPr>
              <a:buClr>
                <a:schemeClr val="accent1"/>
              </a:buClr>
              <a:buSzPct val="76000"/>
              <a:buFont typeface="Wingdings 3" pitchFamily="18" charset="2"/>
            </a:pPr>
            <a:r>
              <a:rPr sz="2300" dirty="0"/>
              <a:t>Any offsite storage</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itle 1"/>
          <p:cNvSpPr>
            <a:spLocks noGrp="1"/>
          </p:cNvSpPr>
          <p:nvPr>
            <p:ph type="title"/>
          </p:nvPr>
        </p:nvSpPr>
        <p:spPr/>
        <p:txBody>
          <a:bodyPr vert="horz" wrap="square" lIns="91440" tIns="45720" rIns="91440" bIns="45720" anchor="b" anchorCtr="0"/>
          <a:lstStyle/>
          <a:p>
            <a:r>
              <a:rPr dirty="0"/>
              <a:t>Preparing a Forensics Checklist</a:t>
            </a:r>
          </a:p>
        </p:txBody>
      </p:sp>
      <p:sp>
        <p:nvSpPr>
          <p:cNvPr id="146435"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300" dirty="0"/>
              <a:t>Internet service provider</a:t>
            </a:r>
          </a:p>
          <a:p>
            <a:pPr>
              <a:buClr>
                <a:schemeClr val="accent1"/>
              </a:buClr>
              <a:buSzPct val="76000"/>
              <a:buFont typeface="Wingdings 3" pitchFamily="18" charset="2"/>
            </a:pPr>
            <a:r>
              <a:rPr sz="2300" dirty="0"/>
              <a:t>IP address of the internet connection if fixed IP used.</a:t>
            </a:r>
          </a:p>
          <a:p>
            <a:pPr>
              <a:buClr>
                <a:schemeClr val="accent1"/>
              </a:buClr>
              <a:buSzPct val="76000"/>
              <a:buFont typeface="Wingdings 3" pitchFamily="18" charset="2"/>
            </a:pPr>
            <a:r>
              <a:rPr sz="2300" dirty="0"/>
              <a:t>Installed software and applications</a:t>
            </a:r>
          </a:p>
          <a:p>
            <a:pPr>
              <a:buClr>
                <a:schemeClr val="accent1"/>
              </a:buClr>
              <a:buSzPct val="76000"/>
              <a:buFont typeface="Wingdings 3" pitchFamily="18" charset="2"/>
            </a:pPr>
            <a:r>
              <a:rPr sz="2300" dirty="0"/>
              <a:t>Information about all e-mail accounts</a:t>
            </a:r>
          </a:p>
          <a:p>
            <a:pPr>
              <a:buClr>
                <a:schemeClr val="accent1"/>
              </a:buClr>
              <a:buSzPct val="76000"/>
              <a:buFont typeface="Wingdings 3" pitchFamily="18" charset="2"/>
            </a:pPr>
            <a:r>
              <a:rPr sz="2300" dirty="0"/>
              <a:t>Security software and other measures in use</a:t>
            </a:r>
          </a:p>
          <a:p>
            <a:pPr>
              <a:buClr>
                <a:schemeClr val="accent1"/>
              </a:buClr>
              <a:buSzPct val="76000"/>
              <a:buFont typeface="Wingdings 3" pitchFamily="18" charset="2"/>
            </a:pPr>
            <a:r>
              <a:rPr sz="2300" dirty="0"/>
              <a:t>Web mail account information</a:t>
            </a:r>
          </a:p>
          <a:p>
            <a:pPr>
              <a:buClr>
                <a:schemeClr val="accent1"/>
              </a:buClr>
              <a:buSzPct val="76000"/>
              <a:buFont typeface="Wingdings 3" pitchFamily="18" charset="2"/>
            </a:pPr>
            <a:r>
              <a:rPr sz="2300" dirty="0"/>
              <a:t>Data access restrictions in place (NTFS permissions etc.)</a:t>
            </a:r>
          </a:p>
          <a:p>
            <a:pPr>
              <a:buClr>
                <a:schemeClr val="accent1"/>
              </a:buClr>
              <a:buSzPct val="76000"/>
              <a:buFont typeface="Wingdings 3" pitchFamily="18" charset="2"/>
            </a:pPr>
            <a:r>
              <a:rPr sz="2300" dirty="0"/>
              <a:t>All instant messenger software's installed and used</a:t>
            </a:r>
          </a:p>
          <a:p>
            <a:pPr>
              <a:buClr>
                <a:schemeClr val="accent1"/>
              </a:buClr>
              <a:buSzPct val="76000"/>
              <a:buFont typeface="Wingdings 3" pitchFamily="18" charset="2"/>
            </a:pPr>
            <a:r>
              <a:rPr sz="2300" dirty="0"/>
              <a:t>All destructive devices or software in use</a:t>
            </a:r>
          </a:p>
          <a:p>
            <a:pPr>
              <a:buClr>
                <a:schemeClr val="accent1"/>
              </a:buClr>
              <a:buSzPct val="76000"/>
              <a:buFont typeface="Wingdings 3" pitchFamily="18" charset="2"/>
            </a:pPr>
            <a:r>
              <a:rPr sz="2300" dirty="0"/>
              <a:t>Any online social networking accounts the users have</a:t>
            </a:r>
          </a:p>
          <a:p>
            <a:pPr>
              <a:buClr>
                <a:schemeClr val="accent1"/>
              </a:buClr>
              <a:buSzPct val="76000"/>
              <a:buFont typeface="Wingdings 3" pitchFamily="18" charset="2"/>
            </a:pPr>
            <a:r>
              <a:rPr sz="2300" dirty="0"/>
              <a:t>Any other relevant information</a:t>
            </a:r>
          </a:p>
          <a:p>
            <a:pPr>
              <a:buClr>
                <a:schemeClr val="accent1"/>
              </a:buClr>
              <a:buSzPct val="76000"/>
              <a:buFont typeface="Wingdings 3" pitchFamily="18" charset="2"/>
            </a:pPr>
            <a:r>
              <a:rPr sz="2300" dirty="0"/>
              <a:t>Service provider in case of Mobile devices.</a:t>
            </a:r>
          </a:p>
          <a:p>
            <a:pPr>
              <a:buClr>
                <a:schemeClr val="accent1"/>
              </a:buClr>
              <a:buSzPct val="76000"/>
              <a:buFont typeface="Wingdings 3" pitchFamily="18" charset="2"/>
            </a:pPr>
            <a:endParaRPr dirty="0"/>
          </a:p>
          <a:p>
            <a:pPr>
              <a:buClr>
                <a:schemeClr val="accent1"/>
              </a:buClr>
              <a:buSzPct val="76000"/>
              <a:buFont typeface="Wingdings 3" pitchFamily="18" charset="2"/>
            </a:pPr>
            <a:endParaRPr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itle 1"/>
          <p:cNvSpPr>
            <a:spLocks noGrp="1"/>
          </p:cNvSpPr>
          <p:nvPr>
            <p:ph type="title"/>
          </p:nvPr>
        </p:nvSpPr>
        <p:spPr/>
        <p:txBody>
          <a:bodyPr vert="horz" wrap="square" lIns="91440" tIns="45720" rIns="91440" bIns="45720" anchor="b" anchorCtr="0"/>
          <a:lstStyle/>
          <a:p>
            <a:r>
              <a:rPr dirty="0"/>
              <a:t>Working on Live Systems and Dead Systems</a:t>
            </a:r>
          </a:p>
        </p:txBody>
      </p:sp>
      <p:sp>
        <p:nvSpPr>
          <p:cNvPr id="147459"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sz="2300" dirty="0"/>
              <a:t>The main argument has always been whether to conduct Live system analysis or a Dead system analysis.</a:t>
            </a:r>
          </a:p>
          <a:p>
            <a:pPr>
              <a:buClr>
                <a:schemeClr val="accent1"/>
              </a:buClr>
              <a:buSzPct val="76000"/>
              <a:buFont typeface="Wingdings 3" pitchFamily="18" charset="2"/>
            </a:pPr>
            <a:r>
              <a:rPr sz="2300" dirty="0"/>
              <a:t>The decision entirely depends on the crime scenario.</a:t>
            </a:r>
          </a:p>
          <a:p>
            <a:pPr>
              <a:buClr>
                <a:schemeClr val="accent1"/>
              </a:buClr>
              <a:buSzPct val="76000"/>
              <a:buFont typeface="Wingdings 3" pitchFamily="18" charset="2"/>
            </a:pPr>
            <a:r>
              <a:rPr sz="2300" dirty="0"/>
              <a:t>Most of the time the analysis can be performed on the dead systems.</a:t>
            </a:r>
          </a:p>
          <a:p>
            <a:pPr>
              <a:buClr>
                <a:schemeClr val="accent1"/>
              </a:buClr>
              <a:buSzPct val="76000"/>
              <a:buFont typeface="Wingdings 3" pitchFamily="18" charset="2"/>
            </a:pPr>
            <a:r>
              <a:rPr sz="2300" dirty="0"/>
              <a:t>However when it comes to analysis of mission-critical system which can not have downtimes, there is no other alternative but to perform live analysis.</a:t>
            </a:r>
          </a:p>
          <a:p>
            <a:pPr>
              <a:buClr>
                <a:schemeClr val="accent1"/>
              </a:buClr>
              <a:buSzPct val="76000"/>
              <a:buFont typeface="Wingdings 3" pitchFamily="18" charset="2"/>
            </a:pPr>
            <a:r>
              <a:rPr sz="2300" dirty="0"/>
              <a:t>There are pro’s and con’s of both the methods.</a:t>
            </a:r>
          </a:p>
          <a:p>
            <a:pPr>
              <a:buClr>
                <a:schemeClr val="accent1"/>
              </a:buClr>
              <a:buSzPct val="76000"/>
              <a:buFont typeface="Wingdings 3" pitchFamily="18" charset="2"/>
            </a:pPr>
            <a:r>
              <a:rPr sz="2300" dirty="0"/>
              <a:t>The dead system analysis provides a substantial amount of evidences but lacks the volatile data.</a:t>
            </a:r>
          </a:p>
          <a:p>
            <a:pPr>
              <a:buClr>
                <a:schemeClr val="accent1"/>
              </a:buClr>
              <a:buSzPct val="76000"/>
              <a:buFont typeface="Wingdings 3" pitchFamily="18" charset="2"/>
            </a:pPr>
            <a:r>
              <a:rPr sz="2300" dirty="0"/>
              <a:t>The volatile data contains session information, cookies, RAM data, Live applications and services running etc.</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itle 1"/>
          <p:cNvSpPr>
            <a:spLocks noGrp="1"/>
          </p:cNvSpPr>
          <p:nvPr>
            <p:ph type="title"/>
          </p:nvPr>
        </p:nvSpPr>
        <p:spPr/>
        <p:txBody>
          <a:bodyPr vert="horz" wrap="square" lIns="91440" tIns="45720" rIns="91440" bIns="45720" anchor="b" anchorCtr="0"/>
          <a:lstStyle/>
          <a:p>
            <a:r>
              <a:rPr dirty="0"/>
              <a:t>Working on Live Systems and Dead Systems</a:t>
            </a:r>
          </a:p>
        </p:txBody>
      </p:sp>
      <p:sp>
        <p:nvSpPr>
          <p:cNvPr id="148483" name="Content Placeholder 2"/>
          <p:cNvSpPr>
            <a:spLocks noGrp="1"/>
          </p:cNvSpPr>
          <p:nvPr>
            <p:ph sz="quarter" idx="1"/>
          </p:nvPr>
        </p:nvSpPr>
        <p:spPr>
          <a:xfrm>
            <a:off x="457200" y="1143000"/>
            <a:ext cx="8229600" cy="4937125"/>
          </a:xfrm>
        </p:spPr>
        <p:txBody>
          <a:bodyPr vert="horz" wrap="square" lIns="91440" tIns="45720" rIns="91440" bIns="45720" anchor="t" anchorCtr="0"/>
          <a:lstStyle/>
          <a:p>
            <a:pPr>
              <a:buClr>
                <a:schemeClr val="accent1"/>
              </a:buClr>
              <a:buSzPct val="76000"/>
              <a:buFont typeface="Wingdings 3" pitchFamily="18" charset="2"/>
            </a:pPr>
            <a:r>
              <a:rPr sz="2300" dirty="0"/>
              <a:t>The volatile data is lost when the computer is turned off. </a:t>
            </a:r>
          </a:p>
          <a:p>
            <a:pPr>
              <a:buClr>
                <a:schemeClr val="accent1"/>
              </a:buClr>
              <a:buSzPct val="76000"/>
              <a:buFont typeface="Wingdings 3" pitchFamily="18" charset="2"/>
            </a:pPr>
            <a:r>
              <a:rPr sz="2300" dirty="0"/>
              <a:t>The computer may store some of this volatile data even the computer is turned on but not all is retained.</a:t>
            </a:r>
          </a:p>
          <a:p>
            <a:pPr>
              <a:buClr>
                <a:schemeClr val="accent1"/>
              </a:buClr>
              <a:buSzPct val="76000"/>
              <a:buFont typeface="Wingdings 3" pitchFamily="18" charset="2"/>
            </a:pPr>
            <a:r>
              <a:rPr sz="2300" dirty="0"/>
              <a:t>Thus the Live system analysis always reveals more evidences as compared to the dead system analysis.</a:t>
            </a:r>
          </a:p>
          <a:p>
            <a:pPr>
              <a:buClr>
                <a:schemeClr val="accent1"/>
              </a:buClr>
              <a:buSzPct val="76000"/>
              <a:buFont typeface="Wingdings 3" pitchFamily="18" charset="2"/>
            </a:pPr>
            <a:r>
              <a:rPr sz="2300" dirty="0"/>
              <a:t>Today’s forensics tools allow you to capture entire live system which includes memory data.</a:t>
            </a:r>
          </a:p>
          <a:p>
            <a:pPr>
              <a:buClr>
                <a:schemeClr val="accent1"/>
              </a:buClr>
              <a:buSzPct val="76000"/>
              <a:buFont typeface="Wingdings 3" pitchFamily="18" charset="2"/>
            </a:pPr>
            <a:r>
              <a:rPr sz="2300" dirty="0"/>
              <a:t>However it is necessary to isolate the affected system before you start analyzing it.</a:t>
            </a:r>
          </a:p>
          <a:p>
            <a:pPr>
              <a:buClr>
                <a:schemeClr val="accent1"/>
              </a:buClr>
              <a:buSzPct val="76000"/>
              <a:buFont typeface="Wingdings 3" pitchFamily="18" charset="2"/>
            </a:pPr>
            <a:r>
              <a:rPr sz="2300" dirty="0"/>
              <a:t>If you do not properly isolate the affected system, it may affect other systems in the network and may lead to a disaster.</a:t>
            </a:r>
          </a:p>
          <a:p>
            <a:pPr>
              <a:buClr>
                <a:schemeClr val="accent1"/>
              </a:buClr>
              <a:buSzPct val="76000"/>
              <a:buFont typeface="Wingdings 3" pitchFamily="18" charset="2"/>
            </a:pPr>
            <a:r>
              <a:rPr sz="2300" dirty="0"/>
              <a:t>Either disconnect the system from network or shift to test network.</a:t>
            </a:r>
          </a:p>
          <a:p>
            <a:pPr>
              <a:buClr>
                <a:schemeClr val="accent1"/>
              </a:buClr>
              <a:buSzPct val="76000"/>
              <a:buFont typeface="Wingdings 3" pitchFamily="18" charset="2"/>
            </a:pPr>
            <a:r>
              <a:rPr dirty="0"/>
              <a:t> </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itle 1"/>
          <p:cNvSpPr>
            <a:spLocks noGrp="1"/>
          </p:cNvSpPr>
          <p:nvPr>
            <p:ph type="title"/>
          </p:nvPr>
        </p:nvSpPr>
        <p:spPr/>
        <p:txBody>
          <a:bodyPr vert="horz" wrap="square" lIns="91440" tIns="45720" rIns="91440" bIns="45720" anchor="b" anchorCtr="0"/>
          <a:lstStyle/>
          <a:p>
            <a:r>
              <a:rPr dirty="0"/>
              <a:t>Working on Live Systems and Dead Systems</a:t>
            </a:r>
          </a:p>
        </p:txBody>
      </p:sp>
      <p:sp>
        <p:nvSpPr>
          <p:cNvPr id="149507" name="Content Placeholder 2"/>
          <p:cNvSpPr>
            <a:spLocks noGrp="1"/>
          </p:cNvSpPr>
          <p:nvPr>
            <p:ph sz="quarter" idx="1"/>
          </p:nvPr>
        </p:nvSpPr>
        <p:spPr>
          <a:xfrm>
            <a:off x="457200" y="1143000"/>
            <a:ext cx="8229600" cy="5181600"/>
          </a:xfrm>
        </p:spPr>
        <p:txBody>
          <a:bodyPr vert="horz" wrap="square" lIns="91440" tIns="45720" rIns="91440" bIns="45720" anchor="t" anchorCtr="0"/>
          <a:lstStyle/>
          <a:p>
            <a:pPr>
              <a:buClr>
                <a:schemeClr val="accent1"/>
              </a:buClr>
              <a:buSzPct val="76000"/>
              <a:buFont typeface="Wingdings 3" pitchFamily="18" charset="2"/>
            </a:pPr>
            <a:r>
              <a:rPr sz="2100" dirty="0"/>
              <a:t>However the live system analysis should be done with due care as any wrong action may result in alteration or deletion of evidence.</a:t>
            </a:r>
          </a:p>
          <a:p>
            <a:pPr>
              <a:buClr>
                <a:schemeClr val="accent1"/>
              </a:buClr>
              <a:buSzPct val="76000"/>
              <a:buFont typeface="Wingdings 3" pitchFamily="18" charset="2"/>
            </a:pPr>
            <a:r>
              <a:rPr sz="2100" dirty="0"/>
              <a:t>Also before you start live system analysis it is necessary to find if any destructive program is running which may trigger on network disconnection or activating a forensics tool.</a:t>
            </a:r>
          </a:p>
          <a:p>
            <a:pPr>
              <a:buClr>
                <a:schemeClr val="accent1"/>
              </a:buClr>
              <a:buSzPct val="76000"/>
              <a:buFont typeface="Wingdings 3" pitchFamily="18" charset="2"/>
            </a:pPr>
            <a:r>
              <a:rPr sz="2100" dirty="0"/>
              <a:t>Also as in today’s systems the operating system keeps on changing the RAM data as per the operations so it is difficult to prove later that the acquired evidence was there. </a:t>
            </a:r>
          </a:p>
          <a:p>
            <a:pPr>
              <a:buClr>
                <a:schemeClr val="accent1"/>
              </a:buClr>
              <a:buSzPct val="76000"/>
              <a:buFont typeface="Wingdings 3" pitchFamily="18" charset="2"/>
            </a:pPr>
            <a:r>
              <a:rPr sz="2100" dirty="0"/>
              <a:t>Also an attacker may delete logs or other tracks when he comes to know about your forensics work.</a:t>
            </a:r>
          </a:p>
          <a:p>
            <a:pPr>
              <a:buClr>
                <a:schemeClr val="accent1"/>
              </a:buClr>
              <a:buSzPct val="76000"/>
              <a:buFont typeface="Wingdings 3" pitchFamily="18" charset="2"/>
            </a:pPr>
            <a:r>
              <a:rPr sz="2100" dirty="0"/>
              <a:t>As most of the data acquisition tools run top of the operating systems and depend on it for getting data from various locations thus if OS in infected the data you get may not be correct.</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itle 1"/>
          <p:cNvSpPr>
            <a:spLocks noGrp="1"/>
          </p:cNvSpPr>
          <p:nvPr>
            <p:ph type="ctrTitle"/>
          </p:nvPr>
        </p:nvSpPr>
        <p:spPr>
          <a:xfrm>
            <a:off x="228600" y="3581400"/>
            <a:ext cx="8001000" cy="1295400"/>
          </a:xfrm>
        </p:spPr>
        <p:txBody>
          <a:bodyPr vert="horz" wrap="square" lIns="91440" tIns="45720" rIns="91440" bIns="45720" anchor="t" anchorCtr="0"/>
          <a:lstStyle/>
          <a:p>
            <a:pPr eaLnBrk="1" hangingPunct="1">
              <a:buClrTx/>
              <a:buSzTx/>
              <a:buFontTx/>
            </a:pPr>
            <a:r>
              <a:rPr kern="1200" dirty="0">
                <a:latin typeface="+mj-lt"/>
                <a:ea typeface="+mj-ea"/>
                <a:cs typeface="+mj-cs"/>
              </a:rPr>
              <a:t>Module 5</a:t>
            </a:r>
            <a:br>
              <a:rPr kern="1200" dirty="0">
                <a:latin typeface="+mj-lt"/>
                <a:ea typeface="+mj-ea"/>
                <a:cs typeface="+mj-cs"/>
              </a:rPr>
            </a:br>
            <a:r>
              <a:rPr kern="1200" dirty="0">
                <a:latin typeface="+mj-lt"/>
                <a:ea typeface="+mj-ea"/>
                <a:cs typeface="+mj-cs"/>
              </a:rPr>
              <a:t>Forensic Imaging and Verification</a:t>
            </a:r>
          </a:p>
        </p:txBody>
      </p:sp>
      <p:sp>
        <p:nvSpPr>
          <p:cNvPr id="4" name="Subtitle 3"/>
          <p:cNvSpPr>
            <a:spLocks noGrp="1"/>
          </p:cNvSpPr>
          <p:nvPr>
            <p:ph type="subTitle" idx="1"/>
          </p:nvPr>
        </p:nvSpPr>
        <p:spPr/>
        <p:txBody>
          <a:bodyPr vert="horz" wrap="square" lIns="91440" tIns="45720" rIns="91440" bIns="45720" numCol="1" anchor="t" anchorCtr="0" compatLnSpc="1">
            <a:normAutofit/>
          </a:bodyPr>
          <a:lstStyle/>
          <a:p>
            <a:pPr marL="0" marR="0" lvl="0" indent="0" algn="r" defTabSz="914400" rtl="0" eaLnBrk="1" fontAlgn="auto" latinLnBrk="0" hangingPunct="1">
              <a:lnSpc>
                <a:spcPct val="100000"/>
              </a:lnSpc>
              <a:spcBef>
                <a:spcPts val="600"/>
              </a:spcBef>
              <a:spcAft>
                <a:spcPts val="0"/>
              </a:spcAft>
              <a:buClr>
                <a:schemeClr val="accent1"/>
              </a:buClr>
              <a:buSzPct val="76000"/>
              <a:buFont typeface="Wingdings 3"/>
              <a:buNone/>
              <a:defRPr/>
            </a:pPr>
            <a:endParaRPr kumimoji="0" lang="en-US" sz="2000" b="0" i="0" u="none" strike="noStrike" kern="1200" cap="none" spc="0" normalizeH="0" baseline="0" noProof="0">
              <a:ln>
                <a:noFill/>
              </a:ln>
              <a:solidFill>
                <a:schemeClr val="tx2"/>
              </a:solidFill>
              <a:effectLst/>
              <a:uLnTx/>
              <a:uFillTx/>
              <a:latin typeface="+mj-lt"/>
              <a:ea typeface="+mj-ea"/>
              <a:cs typeface="+mj-cs"/>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itle 1"/>
          <p:cNvSpPr>
            <a:spLocks noGrp="1"/>
          </p:cNvSpPr>
          <p:nvPr>
            <p:ph type="title"/>
          </p:nvPr>
        </p:nvSpPr>
        <p:spPr/>
        <p:txBody>
          <a:bodyPr vert="horz" wrap="square" lIns="91440" tIns="45720" rIns="91440" bIns="45720" anchor="b" anchorCtr="0"/>
          <a:lstStyle/>
          <a:p>
            <a:r>
              <a:rPr dirty="0"/>
              <a:t>Imaging</a:t>
            </a:r>
          </a:p>
        </p:txBody>
      </p:sp>
      <p:sp>
        <p:nvSpPr>
          <p:cNvPr id="151555" name="Content Placeholder 2"/>
          <p:cNvSpPr>
            <a:spLocks noGrp="1"/>
          </p:cNvSpPr>
          <p:nvPr>
            <p:ph sz="quarter" idx="1"/>
          </p:nvPr>
        </p:nvSpPr>
        <p:spPr>
          <a:xfrm>
            <a:off x="457200" y="1143000"/>
            <a:ext cx="8229600" cy="5181600"/>
          </a:xfrm>
        </p:spPr>
        <p:txBody>
          <a:bodyPr vert="horz" wrap="square" lIns="91440" tIns="45720" rIns="91440" bIns="45720" anchor="t" anchorCtr="0"/>
          <a:lstStyle/>
          <a:p>
            <a:pPr>
              <a:buClr>
                <a:schemeClr val="accent1"/>
              </a:buClr>
              <a:buSzPct val="76000"/>
              <a:buFont typeface="Wingdings 3" pitchFamily="18" charset="2"/>
            </a:pPr>
            <a:r>
              <a:rPr sz="2200" dirty="0"/>
              <a:t>Generally the forensics expert makes a digital copy of the main evidence like hard disk, pen drive etc.</a:t>
            </a:r>
          </a:p>
          <a:p>
            <a:pPr>
              <a:buClr>
                <a:schemeClr val="accent1"/>
              </a:buClr>
              <a:buSzPct val="76000"/>
              <a:buFont typeface="Wingdings 3" pitchFamily="18" charset="2"/>
            </a:pPr>
            <a:r>
              <a:rPr sz="2200" dirty="0"/>
              <a:t>It is always good to work on the digital copy of the evidence rather than working on actual evidence.</a:t>
            </a:r>
          </a:p>
          <a:p>
            <a:pPr>
              <a:buClr>
                <a:schemeClr val="accent1"/>
              </a:buClr>
              <a:buSzPct val="76000"/>
              <a:buFont typeface="Wingdings 3" pitchFamily="18" charset="2"/>
            </a:pPr>
            <a:r>
              <a:rPr sz="2200" dirty="0"/>
              <a:t>This precaution is necessary as while working, you may accidently alter or damage the actual evidence.</a:t>
            </a:r>
          </a:p>
          <a:p>
            <a:pPr>
              <a:buClr>
                <a:schemeClr val="accent1"/>
              </a:buClr>
              <a:buSzPct val="76000"/>
              <a:buFont typeface="Wingdings 3" pitchFamily="18" charset="2"/>
            </a:pPr>
            <a:r>
              <a:rPr sz="2200" dirty="0"/>
              <a:t>Also tomorrow the court may request cross verification from other party in that case the evidence requires in it’s original format as it was seized.</a:t>
            </a:r>
          </a:p>
          <a:p>
            <a:pPr>
              <a:buClr>
                <a:schemeClr val="accent1"/>
              </a:buClr>
              <a:buSzPct val="76000"/>
              <a:buFont typeface="Wingdings 3" pitchFamily="18" charset="2"/>
            </a:pPr>
            <a:r>
              <a:rPr sz="2200" dirty="0"/>
              <a:t>Also before you start working on the digital copy of the evidence, make sure that it is an exact digital replica of the original and alterations are there.</a:t>
            </a:r>
          </a:p>
          <a:p>
            <a:pPr>
              <a:buClr>
                <a:schemeClr val="accent1"/>
              </a:buClr>
              <a:buSzPct val="76000"/>
              <a:buFont typeface="Wingdings 3" pitchFamily="18" charset="2"/>
            </a:pPr>
            <a:r>
              <a:rPr sz="2200" dirty="0"/>
              <a:t>Thus the first step in forensics is to create an exact physical copy of the evidence.</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itle 1"/>
          <p:cNvSpPr>
            <a:spLocks noGrp="1"/>
          </p:cNvSpPr>
          <p:nvPr>
            <p:ph type="title"/>
          </p:nvPr>
        </p:nvSpPr>
        <p:spPr/>
        <p:txBody>
          <a:bodyPr vert="horz" wrap="square" lIns="91440" tIns="45720" rIns="91440" bIns="45720" anchor="b" anchorCtr="0"/>
          <a:lstStyle/>
          <a:p>
            <a:r>
              <a:rPr dirty="0"/>
              <a:t>Imaging</a:t>
            </a:r>
          </a:p>
        </p:txBody>
      </p:sp>
      <p:sp>
        <p:nvSpPr>
          <p:cNvPr id="152579"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300" dirty="0"/>
              <a:t>This copy is generally known as a </a:t>
            </a:r>
            <a:r>
              <a:rPr sz="2300" i="1" dirty="0"/>
              <a:t>bit-stream image</a:t>
            </a:r>
            <a:r>
              <a:rPr sz="2300" dirty="0"/>
              <a:t>, </a:t>
            </a:r>
            <a:r>
              <a:rPr sz="2300" i="1" dirty="0"/>
              <a:t>forensic duplicate </a:t>
            </a:r>
            <a:r>
              <a:rPr sz="2300" dirty="0"/>
              <a:t>or </a:t>
            </a:r>
            <a:r>
              <a:rPr sz="2300" i="1" dirty="0"/>
              <a:t>forensic image</a:t>
            </a:r>
            <a:r>
              <a:rPr sz="2300" dirty="0"/>
              <a:t>.</a:t>
            </a:r>
          </a:p>
          <a:p>
            <a:pPr>
              <a:buClr>
                <a:schemeClr val="accent1"/>
              </a:buClr>
              <a:buSzPct val="76000"/>
              <a:buFont typeface="Wingdings 3" pitchFamily="18" charset="2"/>
            </a:pPr>
            <a:r>
              <a:rPr sz="2300" dirty="0"/>
              <a:t>However this copy can not be just created by copying files as the forensics expert may need to recover deleted files.</a:t>
            </a:r>
          </a:p>
          <a:p>
            <a:pPr>
              <a:buClr>
                <a:schemeClr val="accent1"/>
              </a:buClr>
              <a:buSzPct val="76000"/>
              <a:buFont typeface="Wingdings 3" pitchFamily="18" charset="2"/>
            </a:pPr>
            <a:r>
              <a:rPr sz="2300" dirty="0"/>
              <a:t>Thus this copy should contain not only the data from the hard disk but the free locations (blocks) information and all other things.</a:t>
            </a:r>
          </a:p>
          <a:p>
            <a:pPr>
              <a:buClr>
                <a:schemeClr val="accent1"/>
              </a:buClr>
              <a:buSzPct val="76000"/>
              <a:buFont typeface="Wingdings 3" pitchFamily="18" charset="2"/>
            </a:pPr>
            <a:r>
              <a:rPr sz="2300" dirty="0"/>
              <a:t>Thus the second copy is created by copying a sector by sector information from the original hard disk.</a:t>
            </a:r>
          </a:p>
          <a:p>
            <a:pPr>
              <a:buClr>
                <a:schemeClr val="accent1"/>
              </a:buClr>
              <a:buSzPct val="76000"/>
              <a:buFont typeface="Wingdings 3" pitchFamily="18" charset="2"/>
            </a:pPr>
            <a:r>
              <a:rPr sz="2300" dirty="0"/>
              <a:t>However it should be insured that while doing this you do not alter the original device.</a:t>
            </a:r>
          </a:p>
          <a:p>
            <a:pPr>
              <a:buClr>
                <a:schemeClr val="accent1"/>
              </a:buClr>
              <a:buSzPct val="76000"/>
              <a:buFont typeface="Wingdings 3" pitchFamily="18" charset="2"/>
            </a:pPr>
            <a:r>
              <a:rPr sz="2300" dirty="0"/>
              <a:t>If you connect your original hard disk to windows it may make changes to the disk as it is mounted read/write.</a:t>
            </a:r>
          </a:p>
          <a:p>
            <a:pPr>
              <a:buClr>
                <a:schemeClr val="accent1"/>
              </a:buClr>
              <a:buSzPct val="76000"/>
              <a:buFont typeface="Wingdings 3" pitchFamily="18" charset="2"/>
            </a:pPr>
            <a:endParaRPr dirty="0"/>
          </a:p>
          <a:p>
            <a:pPr>
              <a:buClr>
                <a:schemeClr val="accent1"/>
              </a:buClr>
              <a:buSzPct val="76000"/>
              <a:buFont typeface="Wingdings 3" pitchFamily="18" charset="2"/>
            </a:pPr>
            <a:endParaRPr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itle 1"/>
          <p:cNvSpPr>
            <a:spLocks noGrp="1"/>
          </p:cNvSpPr>
          <p:nvPr>
            <p:ph type="title"/>
          </p:nvPr>
        </p:nvSpPr>
        <p:spPr/>
        <p:txBody>
          <a:bodyPr vert="horz" wrap="square" lIns="91440" tIns="45720" rIns="91440" bIns="45720" anchor="b" anchorCtr="0"/>
          <a:lstStyle/>
          <a:p>
            <a:r>
              <a:rPr dirty="0"/>
              <a:t>Write Blockers</a:t>
            </a:r>
          </a:p>
        </p:txBody>
      </p:sp>
      <p:sp>
        <p:nvSpPr>
          <p:cNvPr id="153603"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300" b="1" dirty="0"/>
              <a:t>Write blockers</a:t>
            </a:r>
            <a:r>
              <a:rPr sz="2300" dirty="0"/>
              <a:t> are devices that allow acquisition of information on a drive without creating the possibility of accidentally damaging the drive contents.</a:t>
            </a:r>
          </a:p>
          <a:p>
            <a:pPr>
              <a:buClr>
                <a:schemeClr val="accent1"/>
              </a:buClr>
              <a:buSzPct val="76000"/>
              <a:buFont typeface="Wingdings 3" pitchFamily="18" charset="2"/>
            </a:pPr>
            <a:r>
              <a:rPr sz="2300" dirty="0"/>
              <a:t> They achieve this passing read commands through them but block write commands, hence called write blockers. </a:t>
            </a:r>
          </a:p>
          <a:p>
            <a:pPr>
              <a:buClr>
                <a:schemeClr val="accent1"/>
              </a:buClr>
              <a:buSzPct val="76000"/>
              <a:buFont typeface="Wingdings 3" pitchFamily="18" charset="2"/>
            </a:pPr>
            <a:r>
              <a:rPr sz="2300" dirty="0"/>
              <a:t>Some write-blockers allow all commands to pass from the computer to the drive except for those that are on a particular list.</a:t>
            </a:r>
          </a:p>
          <a:p>
            <a:pPr>
              <a:buClr>
                <a:schemeClr val="accent1"/>
              </a:buClr>
              <a:buSzPct val="76000"/>
              <a:buFont typeface="Wingdings 3" pitchFamily="18" charset="2"/>
            </a:pPr>
            <a:r>
              <a:rPr sz="2300" dirty="0"/>
              <a:t>Where as some blockers can specifically block the write commands and let everything else through. </a:t>
            </a:r>
          </a:p>
          <a:p>
            <a:pPr>
              <a:buClr>
                <a:schemeClr val="accent1"/>
              </a:buClr>
              <a:buSzPct val="76000"/>
              <a:buFont typeface="Wingdings 3" pitchFamily="18" charset="2"/>
            </a:pPr>
            <a:r>
              <a:rPr sz="2300" dirty="0"/>
              <a:t>Write blockers may also include drive protection which will limit the speed of a drive attached to the blocker. </a:t>
            </a:r>
            <a:endParaRPr dirty="0"/>
          </a:p>
          <a:p>
            <a:pPr>
              <a:buClr>
                <a:schemeClr val="accent1"/>
              </a:buClr>
              <a:buSzPct val="76000"/>
              <a:buFont typeface="Wingdings 3" pitchFamily="18" charset="2"/>
            </a:pPr>
            <a:r>
              <a:rPr sz="2300" dirty="0"/>
              <a:t>There are two types of write blockers, Native and Tailgate. </a:t>
            </a:r>
            <a:endParaRPr dirty="0"/>
          </a:p>
          <a:p>
            <a:pPr>
              <a:buClr>
                <a:schemeClr val="accent1"/>
              </a:buClr>
              <a:buSzPct val="76000"/>
              <a:buFont typeface="Wingdings 3" pitchFamily="18" charset="2"/>
            </a:pPr>
            <a:endParaRPr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itle 1"/>
          <p:cNvSpPr>
            <a:spLocks noGrp="1"/>
          </p:cNvSpPr>
          <p:nvPr>
            <p:ph type="title"/>
          </p:nvPr>
        </p:nvSpPr>
        <p:spPr/>
        <p:txBody>
          <a:bodyPr vert="horz" wrap="square" lIns="91440" tIns="45720" rIns="91440" bIns="45720" anchor="b" anchorCtr="0"/>
          <a:lstStyle/>
          <a:p>
            <a:r>
              <a:rPr dirty="0"/>
              <a:t>Write Blockers</a:t>
            </a:r>
          </a:p>
        </p:txBody>
      </p:sp>
      <p:sp>
        <p:nvSpPr>
          <p:cNvPr id="154627" name="Content Placeholder 2"/>
          <p:cNvSpPr>
            <a:spLocks noGrp="1"/>
          </p:cNvSpPr>
          <p:nvPr>
            <p:ph sz="quarter" idx="1"/>
          </p:nvPr>
        </p:nvSpPr>
        <p:spPr>
          <a:xfrm>
            <a:off x="457200" y="1219200"/>
            <a:ext cx="4876800" cy="5105400"/>
          </a:xfrm>
        </p:spPr>
        <p:txBody>
          <a:bodyPr vert="horz" wrap="square" lIns="91440" tIns="45720" rIns="91440" bIns="45720" anchor="t" anchorCtr="0"/>
          <a:lstStyle/>
          <a:p>
            <a:pPr>
              <a:buClr>
                <a:schemeClr val="accent1"/>
              </a:buClr>
              <a:buSzPct val="76000"/>
              <a:buFont typeface="Wingdings 3" pitchFamily="18" charset="2"/>
            </a:pPr>
            <a:r>
              <a:rPr sz="2100" dirty="0"/>
              <a:t>A Native device uses the same interface on for both in and out, for example a SATA to SATA write block.</a:t>
            </a:r>
          </a:p>
          <a:p>
            <a:pPr>
              <a:buClr>
                <a:schemeClr val="accent1"/>
              </a:buClr>
              <a:buSzPct val="76000"/>
              <a:buFont typeface="Wingdings 3" pitchFamily="18" charset="2"/>
            </a:pPr>
            <a:r>
              <a:rPr sz="2100" dirty="0"/>
              <a:t> A Tailgate device uses one interface for one side and a different one for the other, for example a Fire wire to SCSI write block. </a:t>
            </a:r>
          </a:p>
          <a:p>
            <a:pPr>
              <a:buClr>
                <a:schemeClr val="accent1"/>
              </a:buClr>
              <a:buSzPct val="76000"/>
              <a:buFont typeface="Wingdings 3" pitchFamily="18" charset="2"/>
            </a:pPr>
            <a:r>
              <a:rPr sz="2100" dirty="0"/>
              <a:t>Steve Bress and Mark Menz invented hard drive write blocking (US Patent 6,813,682). </a:t>
            </a:r>
          </a:p>
          <a:p>
            <a:pPr>
              <a:buClr>
                <a:schemeClr val="accent1"/>
              </a:buClr>
              <a:buSzPct val="76000"/>
              <a:buFont typeface="Wingdings 3" pitchFamily="18" charset="2"/>
            </a:pPr>
            <a:r>
              <a:rPr sz="2100" dirty="0"/>
              <a:t>There are both hardware and software write blockers.</a:t>
            </a:r>
          </a:p>
          <a:p>
            <a:pPr>
              <a:buClr>
                <a:schemeClr val="accent1"/>
              </a:buClr>
              <a:buSzPct val="76000"/>
              <a:buFont typeface="Wingdings 3" pitchFamily="18" charset="2"/>
            </a:pPr>
            <a:r>
              <a:rPr sz="2100" dirty="0"/>
              <a:t>Linux systems do not require write blockers as we can mount the disk as read only.</a:t>
            </a:r>
          </a:p>
          <a:p>
            <a:pPr>
              <a:buClr>
                <a:schemeClr val="accent1"/>
              </a:buClr>
              <a:buSzPct val="76000"/>
              <a:buFont typeface="Wingdings 3" pitchFamily="18" charset="2"/>
            </a:pPr>
            <a:endParaRPr sz="2200" dirty="0"/>
          </a:p>
          <a:p>
            <a:pPr>
              <a:buClr>
                <a:schemeClr val="accent1"/>
              </a:buClr>
              <a:buSzPct val="76000"/>
              <a:buFont typeface="Wingdings 3" pitchFamily="18" charset="2"/>
            </a:pPr>
            <a:endParaRPr sz="2200" dirty="0"/>
          </a:p>
          <a:p>
            <a:pPr>
              <a:buClr>
                <a:schemeClr val="accent1"/>
              </a:buClr>
              <a:buSzPct val="76000"/>
              <a:buFont typeface="Wingdings 3" pitchFamily="18" charset="2"/>
            </a:pPr>
            <a:endParaRPr dirty="0"/>
          </a:p>
        </p:txBody>
      </p:sp>
      <p:pic>
        <p:nvPicPr>
          <p:cNvPr id="154628" name="Picture 3" descr="write blocker 2.jpg"/>
          <p:cNvPicPr>
            <a:picLocks noChangeAspect="1"/>
          </p:cNvPicPr>
          <p:nvPr/>
        </p:nvPicPr>
        <p:blipFill>
          <a:blip r:embed="rId2"/>
          <a:stretch>
            <a:fillRect/>
          </a:stretch>
        </p:blipFill>
        <p:spPr>
          <a:xfrm>
            <a:off x="5334000" y="1295400"/>
            <a:ext cx="3124200" cy="4876800"/>
          </a:xfrm>
          <a:prstGeom prst="rect">
            <a:avLst/>
          </a:prstGeom>
          <a:noFill/>
          <a:ln w="9525">
            <a:noFill/>
          </a:ln>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itle 1"/>
          <p:cNvSpPr>
            <a:spLocks noGrp="1"/>
          </p:cNvSpPr>
          <p:nvPr>
            <p:ph type="title"/>
          </p:nvPr>
        </p:nvSpPr>
        <p:spPr/>
        <p:txBody>
          <a:bodyPr vert="horz" wrap="square" lIns="91440" tIns="45720" rIns="91440" bIns="45720" anchor="b" anchorCtr="0"/>
          <a:lstStyle/>
          <a:p>
            <a:r>
              <a:rPr dirty="0"/>
              <a:t>Sterilizing the Forensic Media</a:t>
            </a:r>
          </a:p>
        </p:txBody>
      </p:sp>
      <p:sp>
        <p:nvSpPr>
          <p:cNvPr id="155651"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200" dirty="0"/>
              <a:t>As we know that a used hard disk even when formatted contains some data.</a:t>
            </a:r>
          </a:p>
          <a:p>
            <a:pPr>
              <a:buClr>
                <a:schemeClr val="accent1"/>
              </a:buClr>
              <a:buSzPct val="76000"/>
              <a:buFont typeface="Wingdings 3" pitchFamily="18" charset="2"/>
            </a:pPr>
            <a:r>
              <a:rPr sz="2200" dirty="0"/>
              <a:t>This residual data may cause problems in evidence gathering or in proving them later.</a:t>
            </a:r>
          </a:p>
          <a:p>
            <a:pPr>
              <a:buClr>
                <a:schemeClr val="accent1"/>
              </a:buClr>
              <a:buSzPct val="76000"/>
              <a:buFont typeface="Wingdings 3" pitchFamily="18" charset="2"/>
            </a:pPr>
            <a:r>
              <a:rPr sz="2200" dirty="0"/>
              <a:t>Thus it is a good practice to sterilize or neutralize the forensics media.</a:t>
            </a:r>
          </a:p>
          <a:p>
            <a:pPr>
              <a:buClr>
                <a:schemeClr val="accent1"/>
              </a:buClr>
              <a:buSzPct val="76000"/>
              <a:buFont typeface="Wingdings 3" pitchFamily="18" charset="2"/>
            </a:pPr>
            <a:r>
              <a:rPr sz="2200" dirty="0"/>
              <a:t> Thus first forensically wipe the hard disk that will be used to make a copy of the evidence, this makes sure that all the earlier data is removed.</a:t>
            </a:r>
          </a:p>
          <a:p>
            <a:pPr>
              <a:buClr>
                <a:schemeClr val="accent1"/>
              </a:buClr>
              <a:buSzPct val="76000"/>
              <a:buFont typeface="Wingdings 3" pitchFamily="18" charset="2"/>
            </a:pPr>
            <a:r>
              <a:rPr sz="2200" dirty="0"/>
              <a:t>Zero fill software are available that write zero’s on the entire hard disk.</a:t>
            </a:r>
          </a:p>
          <a:p>
            <a:pPr>
              <a:buClr>
                <a:schemeClr val="accent1"/>
              </a:buClr>
              <a:buSzPct val="76000"/>
              <a:buFont typeface="Wingdings 3" pitchFamily="18" charset="2"/>
            </a:pPr>
            <a:r>
              <a:rPr sz="2200" dirty="0"/>
              <a:t>You may run this routine multiple times to make sure all the earlier data is correctly wiped.  </a:t>
            </a:r>
          </a:p>
          <a:p>
            <a:pPr>
              <a:buClr>
                <a:schemeClr val="accent1"/>
              </a:buClr>
              <a:buSzPct val="76000"/>
              <a:buFont typeface="Wingdings 3" pitchFamily="18" charset="2"/>
            </a:pPr>
            <a:r>
              <a:rPr sz="2200" dirty="0"/>
              <a:t>Then format the hard disk and start imaging.</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itle 1"/>
          <p:cNvSpPr>
            <a:spLocks noGrp="1"/>
          </p:cNvSpPr>
          <p:nvPr>
            <p:ph type="title"/>
          </p:nvPr>
        </p:nvSpPr>
        <p:spPr/>
        <p:txBody>
          <a:bodyPr vert="horz" wrap="square" lIns="91440" tIns="45720" rIns="91440" bIns="45720" anchor="b" anchorCtr="0"/>
          <a:lstStyle/>
          <a:p>
            <a:r>
              <a:rPr dirty="0"/>
              <a:t>Imaging </a:t>
            </a:r>
          </a:p>
        </p:txBody>
      </p:sp>
      <p:sp>
        <p:nvSpPr>
          <p:cNvPr id="156675"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200" dirty="0"/>
              <a:t>Once you have connected the hard disk then you start imaging the hard disk.</a:t>
            </a:r>
          </a:p>
          <a:p>
            <a:pPr>
              <a:buClr>
                <a:schemeClr val="accent1"/>
              </a:buClr>
              <a:buSzPct val="76000"/>
              <a:buFont typeface="Wingdings 3" pitchFamily="18" charset="2"/>
            </a:pPr>
            <a:r>
              <a:rPr sz="2200" dirty="0"/>
              <a:t>Make sure you use a nice tool to image the hard disk.</a:t>
            </a:r>
          </a:p>
          <a:p>
            <a:pPr>
              <a:buClr>
                <a:schemeClr val="accent1"/>
              </a:buClr>
              <a:buSzPct val="76000"/>
              <a:buFont typeface="Wingdings 3" pitchFamily="18" charset="2"/>
            </a:pPr>
            <a:r>
              <a:rPr sz="2200" dirty="0"/>
              <a:t>Various organizations like Encase provide commercial forensics toolkits that contain these utilities.</a:t>
            </a:r>
          </a:p>
          <a:p>
            <a:pPr>
              <a:buClr>
                <a:schemeClr val="accent1"/>
              </a:buClr>
              <a:buSzPct val="76000"/>
              <a:buFont typeface="Wingdings 3" pitchFamily="18" charset="2"/>
            </a:pPr>
            <a:r>
              <a:rPr sz="2200" dirty="0"/>
              <a:t>Before you start imaging make a proper documentation of all equipments used, their make and model.</a:t>
            </a:r>
          </a:p>
          <a:p>
            <a:pPr>
              <a:buClr>
                <a:schemeClr val="accent1"/>
              </a:buClr>
              <a:buSzPct val="76000"/>
              <a:buFont typeface="Wingdings 3" pitchFamily="18" charset="2"/>
            </a:pPr>
            <a:r>
              <a:rPr sz="2200" dirty="0"/>
              <a:t>For imaging software document the version and other details.</a:t>
            </a:r>
          </a:p>
          <a:p>
            <a:pPr>
              <a:buClr>
                <a:schemeClr val="accent1"/>
              </a:buClr>
              <a:buSzPct val="76000"/>
              <a:buFont typeface="Wingdings 3" pitchFamily="18" charset="2"/>
            </a:pPr>
            <a:r>
              <a:rPr sz="2200" dirty="0"/>
              <a:t>Make a note of system date and time before you start imaging.</a:t>
            </a:r>
          </a:p>
          <a:p>
            <a:pPr>
              <a:buClr>
                <a:schemeClr val="accent1"/>
              </a:buClr>
              <a:buSzPct val="76000"/>
              <a:buFont typeface="Wingdings 3" pitchFamily="18" charset="2"/>
            </a:pPr>
            <a:r>
              <a:rPr sz="2200" dirty="0"/>
              <a:t>Once you finish imaging, also make a note of system date and time so you can prove the time taken for this activity.</a:t>
            </a:r>
          </a:p>
          <a:p>
            <a:pPr>
              <a:buClr>
                <a:schemeClr val="accent1"/>
              </a:buClr>
              <a:buSzPct val="76000"/>
              <a:buFont typeface="Wingdings 3" pitchFamily="18" charset="2"/>
            </a:pPr>
            <a:r>
              <a:rPr sz="2200" dirty="0"/>
              <a:t>Also you may take a photograph or screen shot of the output on the screen .</a:t>
            </a:r>
          </a:p>
          <a:p>
            <a:pPr>
              <a:buClr>
                <a:schemeClr val="accent1"/>
              </a:buClr>
              <a:buSzPct val="76000"/>
              <a:buFont typeface="Wingdings 3" pitchFamily="18" charset="2"/>
            </a:pPr>
            <a:endParaRPr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itle 1"/>
          <p:cNvSpPr>
            <a:spLocks noGrp="1"/>
          </p:cNvSpPr>
          <p:nvPr>
            <p:ph type="title"/>
          </p:nvPr>
        </p:nvSpPr>
        <p:spPr/>
        <p:txBody>
          <a:bodyPr vert="horz" wrap="square" lIns="91440" tIns="45720" rIns="91440" bIns="45720" anchor="b" anchorCtr="0"/>
          <a:lstStyle/>
          <a:p>
            <a:r>
              <a:rPr dirty="0"/>
              <a:t>Verifying Image Integrity</a:t>
            </a:r>
          </a:p>
        </p:txBody>
      </p:sp>
      <p:sp>
        <p:nvSpPr>
          <p:cNvPr id="157699"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300" dirty="0"/>
              <a:t>Once you have created an image, now you have to prove that it is an exact copy of the physical evidence.</a:t>
            </a:r>
          </a:p>
          <a:p>
            <a:pPr>
              <a:buClr>
                <a:schemeClr val="accent1"/>
              </a:buClr>
              <a:buSzPct val="76000"/>
              <a:buFont typeface="Wingdings 3" pitchFamily="18" charset="2"/>
            </a:pPr>
            <a:r>
              <a:rPr sz="2300" dirty="0"/>
              <a:t>This verification is generally done by creating a hash value of both the images and then you compare it.</a:t>
            </a:r>
          </a:p>
          <a:p>
            <a:pPr>
              <a:buClr>
                <a:schemeClr val="accent1"/>
              </a:buClr>
              <a:buSzPct val="76000"/>
              <a:buFont typeface="Wingdings 3" pitchFamily="18" charset="2"/>
            </a:pPr>
            <a:r>
              <a:rPr sz="2300" dirty="0"/>
              <a:t>Generally the MD5 hash technique can be used.</a:t>
            </a:r>
          </a:p>
          <a:p>
            <a:pPr>
              <a:buClr>
                <a:schemeClr val="accent1"/>
              </a:buClr>
              <a:buSzPct val="76000"/>
              <a:buFont typeface="Wingdings 3" pitchFamily="18" charset="2"/>
            </a:pPr>
            <a:r>
              <a:rPr sz="2300" dirty="0"/>
              <a:t>The MD5 creates a one way hash by taking an input of arbitrary length and outputs a fixed 128 bit hexadecimal number.</a:t>
            </a:r>
          </a:p>
          <a:p>
            <a:pPr>
              <a:buClr>
                <a:schemeClr val="accent1"/>
              </a:buClr>
              <a:buSzPct val="76000"/>
              <a:buFont typeface="Wingdings 3" pitchFamily="18" charset="2"/>
            </a:pPr>
            <a:r>
              <a:rPr sz="2300" dirty="0"/>
              <a:t>This output number is unique for that input.</a:t>
            </a:r>
          </a:p>
          <a:p>
            <a:pPr>
              <a:buClr>
                <a:schemeClr val="accent1"/>
              </a:buClr>
              <a:buSzPct val="76000"/>
              <a:buFont typeface="Wingdings 3" pitchFamily="18" charset="2"/>
            </a:pPr>
            <a:r>
              <a:rPr sz="2300" dirty="0"/>
              <a:t>Thus two files with the same content will create the same MD5 hash value.</a:t>
            </a:r>
          </a:p>
          <a:p>
            <a:pPr>
              <a:buClr>
                <a:schemeClr val="accent1"/>
              </a:buClr>
              <a:buSzPct val="76000"/>
              <a:buFont typeface="Wingdings 3" pitchFamily="18" charset="2"/>
            </a:pPr>
            <a:r>
              <a:rPr sz="2300" dirty="0"/>
              <a:t>Thus using this technique we make sure that the copy of the actual evidence is exactly the same. </a:t>
            </a:r>
          </a:p>
          <a:p>
            <a:pPr>
              <a:buClr>
                <a:schemeClr val="accent1"/>
              </a:buClr>
              <a:buSzPct val="76000"/>
              <a:buFont typeface="Wingdings 3" pitchFamily="18" charset="2"/>
            </a:pPr>
            <a:endParaRPr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itle 1"/>
          <p:cNvSpPr>
            <a:spLocks noGrp="1"/>
          </p:cNvSpPr>
          <p:nvPr>
            <p:ph type="title"/>
          </p:nvPr>
        </p:nvSpPr>
        <p:spPr/>
        <p:txBody>
          <a:bodyPr vert="horz" wrap="square" lIns="91440" tIns="45720" rIns="91440" bIns="45720" anchor="b" anchorCtr="0"/>
          <a:lstStyle/>
          <a:p>
            <a:r>
              <a:rPr dirty="0"/>
              <a:t>Imaging</a:t>
            </a:r>
          </a:p>
        </p:txBody>
      </p:sp>
      <p:sp>
        <p:nvSpPr>
          <p:cNvPr id="158723" name="Content Placeholder 2"/>
          <p:cNvSpPr>
            <a:spLocks noGrp="1"/>
          </p:cNvSpPr>
          <p:nvPr>
            <p:ph sz="quarter" idx="1"/>
          </p:nvPr>
        </p:nvSpPr>
        <p:spPr>
          <a:xfrm>
            <a:off x="457200" y="1143000"/>
            <a:ext cx="8229600" cy="5181600"/>
          </a:xfrm>
        </p:spPr>
        <p:txBody>
          <a:bodyPr vert="horz" wrap="square" lIns="91440" tIns="45720" rIns="91440" bIns="45720" anchor="t" anchorCtr="0"/>
          <a:lstStyle/>
          <a:p>
            <a:pPr>
              <a:buClr>
                <a:schemeClr val="accent1"/>
              </a:buClr>
              <a:buSzPct val="76000"/>
              <a:buFont typeface="Wingdings 3" pitchFamily="18" charset="2"/>
            </a:pPr>
            <a:r>
              <a:rPr sz="2200" dirty="0"/>
              <a:t>Once the image copy is verified, create some additional copies if possible.</a:t>
            </a:r>
          </a:p>
          <a:p>
            <a:pPr>
              <a:buClr>
                <a:schemeClr val="accent1"/>
              </a:buClr>
              <a:buSzPct val="76000"/>
              <a:buFont typeface="Wingdings 3" pitchFamily="18" charset="2"/>
            </a:pPr>
            <a:r>
              <a:rPr sz="2200" dirty="0"/>
              <a:t>This is necessary as you may damage or alter the image copy while performing data analysis.</a:t>
            </a:r>
          </a:p>
          <a:p>
            <a:pPr>
              <a:buClr>
                <a:schemeClr val="accent1"/>
              </a:buClr>
              <a:buSzPct val="76000"/>
              <a:buFont typeface="Wingdings 3" pitchFamily="18" charset="2"/>
            </a:pPr>
            <a:r>
              <a:rPr sz="2200" dirty="0"/>
              <a:t>Also sometimes to save time it may be required that multiple forensic expert work simultaneously to search different things.</a:t>
            </a:r>
          </a:p>
          <a:p>
            <a:pPr>
              <a:buClr>
                <a:schemeClr val="accent1"/>
              </a:buClr>
              <a:buSzPct val="76000"/>
              <a:buFont typeface="Wingdings 3" pitchFamily="18" charset="2"/>
            </a:pPr>
            <a:r>
              <a:rPr sz="2200" dirty="0"/>
              <a:t>Make sure you store all these copies securely.</a:t>
            </a:r>
          </a:p>
          <a:p>
            <a:pPr>
              <a:buClr>
                <a:schemeClr val="accent1"/>
              </a:buClr>
              <a:buSzPct val="76000"/>
              <a:buFont typeface="Wingdings 3" pitchFamily="18" charset="2"/>
            </a:pPr>
            <a:r>
              <a:rPr sz="2200" dirty="0"/>
              <a:t>Restrict access to these copies so no one else can handle them and alter them.</a:t>
            </a:r>
          </a:p>
          <a:p>
            <a:pPr>
              <a:buClr>
                <a:schemeClr val="accent1"/>
              </a:buClr>
              <a:buSzPct val="76000"/>
              <a:buFont typeface="Wingdings 3" pitchFamily="18" charset="2"/>
            </a:pPr>
            <a:r>
              <a:rPr sz="2200" dirty="0"/>
              <a:t>Keep on copy safe as you may require some additional copies during investigation. </a:t>
            </a:r>
          </a:p>
          <a:p>
            <a:pPr>
              <a:buClr>
                <a:schemeClr val="accent1"/>
              </a:buClr>
              <a:buSzPct val="76000"/>
              <a:buFont typeface="Wingdings 3" pitchFamily="18" charset="2"/>
            </a:pPr>
            <a:r>
              <a:rPr sz="2200" dirty="0"/>
              <a:t>Instead of the actual evidence hard disk use this master copy to create further copies.</a:t>
            </a:r>
          </a:p>
          <a:p>
            <a:pPr>
              <a:buClr>
                <a:schemeClr val="accent1"/>
              </a:buClr>
              <a:buSzPct val="76000"/>
              <a:buFont typeface="Wingdings 3" pitchFamily="18" charset="2"/>
            </a:pPr>
            <a:r>
              <a:rPr sz="2200" dirty="0"/>
              <a:t>This way you make sure the original evidence remains safe.</a:t>
            </a:r>
          </a:p>
          <a:p>
            <a:pPr>
              <a:buClr>
                <a:schemeClr val="accent1"/>
              </a:buClr>
              <a:buSzPct val="76000"/>
              <a:buFont typeface="Wingdings 3" pitchFamily="18" charset="2"/>
            </a:pPr>
            <a:endParaRPr sz="23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itle 1"/>
          <p:cNvSpPr>
            <a:spLocks noGrp="1"/>
          </p:cNvSpPr>
          <p:nvPr>
            <p:ph type="ctrTitle"/>
          </p:nvPr>
        </p:nvSpPr>
        <p:spPr>
          <a:xfrm>
            <a:off x="228600" y="3581400"/>
            <a:ext cx="8001000" cy="1295400"/>
          </a:xfrm>
        </p:spPr>
        <p:txBody>
          <a:bodyPr vert="horz" wrap="square" lIns="91440" tIns="45720" rIns="91440" bIns="45720" anchor="t" anchorCtr="0"/>
          <a:lstStyle/>
          <a:p>
            <a:pPr eaLnBrk="1" hangingPunct="1">
              <a:buClrTx/>
              <a:buSzTx/>
              <a:buFontTx/>
            </a:pPr>
            <a:r>
              <a:rPr sz="2800" kern="1200" dirty="0">
                <a:latin typeface="+mj-lt"/>
                <a:ea typeface="+mj-ea"/>
                <a:cs typeface="+mj-cs"/>
              </a:rPr>
              <a:t>Module 5 &amp; 6</a:t>
            </a:r>
            <a:br>
              <a:rPr sz="2800" kern="1200" dirty="0">
                <a:latin typeface="+mj-lt"/>
                <a:ea typeface="+mj-ea"/>
                <a:cs typeface="+mj-cs"/>
              </a:rPr>
            </a:br>
            <a:r>
              <a:rPr lang="en-IN" altLang="x-none" sz="2800" kern="1200" dirty="0">
                <a:latin typeface="+mj-lt"/>
                <a:ea typeface="+mj-ea"/>
                <a:cs typeface="+mj-cs"/>
              </a:rPr>
              <a:t>Data Recovery and Analysis</a:t>
            </a:r>
            <a:br>
              <a:rPr lang="en-IN" altLang="x-none" sz="2800" kern="1200" dirty="0">
                <a:latin typeface="+mj-lt"/>
                <a:ea typeface="+mj-ea"/>
                <a:cs typeface="+mj-cs"/>
              </a:rPr>
            </a:br>
            <a:r>
              <a:rPr sz="2800" kern="1200" dirty="0">
                <a:latin typeface="+mj-lt"/>
                <a:ea typeface="+mj-ea"/>
                <a:cs typeface="+mj-cs"/>
              </a:rPr>
              <a:t> Investigative Techniques </a:t>
            </a:r>
            <a:br>
              <a:rPr sz="2800" kern="1200" dirty="0">
                <a:latin typeface="+mj-lt"/>
                <a:ea typeface="+mj-ea"/>
                <a:cs typeface="+mj-cs"/>
              </a:rPr>
            </a:br>
            <a:endParaRPr sz="2800" kern="1200" dirty="0">
              <a:latin typeface="+mj-lt"/>
              <a:ea typeface="+mj-ea"/>
              <a:cs typeface="+mj-cs"/>
            </a:endParaRPr>
          </a:p>
        </p:txBody>
      </p:sp>
      <p:sp>
        <p:nvSpPr>
          <p:cNvPr id="4" name="Subtitle 3"/>
          <p:cNvSpPr>
            <a:spLocks noGrp="1"/>
          </p:cNvSpPr>
          <p:nvPr>
            <p:ph type="subTitle" idx="1"/>
          </p:nvPr>
        </p:nvSpPr>
        <p:spPr/>
        <p:txBody>
          <a:bodyPr vert="horz" wrap="square" lIns="91440" tIns="45720" rIns="91440" bIns="45720" numCol="1" anchor="t" anchorCtr="0" compatLnSpc="1">
            <a:normAutofit/>
          </a:bodyPr>
          <a:lstStyle/>
          <a:p>
            <a:pPr marL="0" marR="0" lvl="0" indent="0" algn="r" defTabSz="914400" rtl="0" eaLnBrk="1" fontAlgn="auto" latinLnBrk="0" hangingPunct="1">
              <a:lnSpc>
                <a:spcPct val="100000"/>
              </a:lnSpc>
              <a:spcBef>
                <a:spcPts val="600"/>
              </a:spcBef>
              <a:spcAft>
                <a:spcPts val="0"/>
              </a:spcAft>
              <a:buClr>
                <a:schemeClr val="accent1"/>
              </a:buClr>
              <a:buSzPct val="76000"/>
              <a:buFont typeface="Wingdings 3"/>
              <a:buNone/>
              <a:defRPr/>
            </a:pPr>
            <a:endParaRPr kumimoji="0" lang="en-US" sz="2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itle 1"/>
          <p:cNvSpPr>
            <a:spLocks noGrp="1"/>
          </p:cNvSpPr>
          <p:nvPr>
            <p:ph type="title"/>
          </p:nvPr>
        </p:nvSpPr>
        <p:spPr/>
        <p:txBody>
          <a:bodyPr vert="horz" wrap="square" lIns="91440" tIns="45720" rIns="91440" bIns="45720" anchor="b" anchorCtr="0"/>
          <a:lstStyle/>
          <a:p>
            <a:r>
              <a:rPr dirty="0"/>
              <a:t>Data Analysis</a:t>
            </a:r>
          </a:p>
        </p:txBody>
      </p:sp>
      <p:sp>
        <p:nvSpPr>
          <p:cNvPr id="160771" name="Content Placeholder 2"/>
          <p:cNvSpPr>
            <a:spLocks noGrp="1"/>
          </p:cNvSpPr>
          <p:nvPr>
            <p:ph sz="quarter" idx="1"/>
          </p:nvPr>
        </p:nvSpPr>
        <p:spPr>
          <a:xfrm>
            <a:off x="457200" y="1143000"/>
            <a:ext cx="8229600" cy="5181600"/>
          </a:xfrm>
        </p:spPr>
        <p:txBody>
          <a:bodyPr vert="horz" wrap="square" lIns="91440" tIns="45720" rIns="91440" bIns="45720" anchor="t" anchorCtr="0"/>
          <a:lstStyle/>
          <a:p>
            <a:pPr>
              <a:buClr>
                <a:schemeClr val="accent1"/>
              </a:buClr>
              <a:buSzPct val="76000"/>
              <a:buFont typeface="Wingdings 3" pitchFamily="18" charset="2"/>
            </a:pPr>
            <a:r>
              <a:rPr sz="2200" dirty="0"/>
              <a:t>The data analysis of forensics media involves logical analysis and physical analysis.</a:t>
            </a:r>
          </a:p>
          <a:p>
            <a:pPr>
              <a:buClr>
                <a:schemeClr val="accent1"/>
              </a:buClr>
              <a:buSzPct val="76000"/>
              <a:buFont typeface="Wingdings 3" pitchFamily="18" charset="2"/>
            </a:pPr>
            <a:r>
              <a:rPr sz="2200" dirty="0"/>
              <a:t>In Logical analysis the forensic investigator uses graphical tools like file manager, file viewer etc.</a:t>
            </a:r>
          </a:p>
          <a:p>
            <a:pPr>
              <a:buClr>
                <a:schemeClr val="accent1"/>
              </a:buClr>
              <a:buSzPct val="76000"/>
              <a:buFont typeface="Wingdings 3" pitchFamily="18" charset="2"/>
            </a:pPr>
            <a:r>
              <a:rPr sz="2200" dirty="0"/>
              <a:t>Logical analysis is possible if the file system on the hard disk is intact.</a:t>
            </a:r>
          </a:p>
          <a:p>
            <a:pPr>
              <a:buClr>
                <a:schemeClr val="accent1"/>
              </a:buClr>
              <a:buSzPct val="76000"/>
              <a:buFont typeface="Wingdings 3" pitchFamily="18" charset="2"/>
            </a:pPr>
            <a:r>
              <a:rPr sz="2200" dirty="0"/>
              <a:t>The physical analysis is done by directly reading data from the hard disk physical locations.</a:t>
            </a:r>
          </a:p>
          <a:p>
            <a:pPr>
              <a:buClr>
                <a:schemeClr val="accent1"/>
              </a:buClr>
              <a:buSzPct val="76000"/>
              <a:buFont typeface="Wingdings 3" pitchFamily="18" charset="2"/>
            </a:pPr>
            <a:r>
              <a:rPr sz="2200" dirty="0"/>
              <a:t>This data presented is normally in hexadecimal format.</a:t>
            </a:r>
          </a:p>
          <a:p>
            <a:pPr>
              <a:buClr>
                <a:schemeClr val="accent1"/>
              </a:buClr>
              <a:buSzPct val="76000"/>
              <a:buFont typeface="Wingdings 3" pitchFamily="18" charset="2"/>
            </a:pPr>
            <a:r>
              <a:rPr sz="2200" dirty="0"/>
              <a:t>The investigator uses hex editors or similar tools to perform physical analysis. </a:t>
            </a:r>
          </a:p>
          <a:p>
            <a:pPr>
              <a:buClr>
                <a:schemeClr val="accent1"/>
              </a:buClr>
              <a:buSzPct val="76000"/>
              <a:buFont typeface="Wingdings 3" pitchFamily="18" charset="2"/>
            </a:pPr>
            <a:r>
              <a:rPr sz="2200" dirty="0"/>
              <a:t>Before you start any analysis you should remember that you can not search all the data as data can be very huge, thus plan what you have to search.</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itle 1"/>
          <p:cNvSpPr>
            <a:spLocks noGrp="1"/>
          </p:cNvSpPr>
          <p:nvPr>
            <p:ph type="title"/>
          </p:nvPr>
        </p:nvSpPr>
        <p:spPr/>
        <p:txBody>
          <a:bodyPr vert="horz" wrap="square" lIns="91440" tIns="45720" rIns="91440" bIns="45720" anchor="b" anchorCtr="0"/>
          <a:lstStyle/>
          <a:p>
            <a:r>
              <a:rPr dirty="0"/>
              <a:t>Data Analysis</a:t>
            </a:r>
          </a:p>
        </p:txBody>
      </p:sp>
      <p:sp>
        <p:nvSpPr>
          <p:cNvPr id="161795"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300" dirty="0"/>
              <a:t>Decide the search criteria first.</a:t>
            </a:r>
          </a:p>
          <a:p>
            <a:pPr>
              <a:buClr>
                <a:schemeClr val="accent1"/>
              </a:buClr>
              <a:buSzPct val="76000"/>
              <a:buFont typeface="Wingdings 3" pitchFamily="18" charset="2"/>
            </a:pPr>
            <a:r>
              <a:rPr sz="2300" dirty="0"/>
              <a:t>This will depend on the type of the crime.</a:t>
            </a:r>
          </a:p>
          <a:p>
            <a:pPr>
              <a:buClr>
                <a:schemeClr val="accent1"/>
              </a:buClr>
              <a:buSzPct val="76000"/>
              <a:buFont typeface="Wingdings 3" pitchFamily="18" charset="2"/>
            </a:pPr>
            <a:r>
              <a:rPr sz="2300" dirty="0"/>
              <a:t>If you are handling a crime related to web site hacks or email frauds then you have look for temporary Internet files.</a:t>
            </a:r>
          </a:p>
          <a:p>
            <a:pPr>
              <a:buClr>
                <a:schemeClr val="accent1"/>
              </a:buClr>
              <a:buSzPct val="76000"/>
              <a:buFont typeface="Wingdings 3" pitchFamily="18" charset="2"/>
            </a:pPr>
            <a:r>
              <a:rPr sz="2300" dirty="0"/>
              <a:t>If you are working on a financial crime then you may require to search for office documents like doc or excel files.</a:t>
            </a:r>
          </a:p>
          <a:p>
            <a:pPr>
              <a:buClr>
                <a:schemeClr val="accent1"/>
              </a:buClr>
              <a:buSzPct val="76000"/>
              <a:buFont typeface="Wingdings 3" pitchFamily="18" charset="2"/>
            </a:pPr>
            <a:r>
              <a:rPr sz="2300" dirty="0"/>
              <a:t>Hash analysis can also be performed to find the files that are different or changed.</a:t>
            </a:r>
          </a:p>
          <a:p>
            <a:pPr>
              <a:buClr>
                <a:schemeClr val="accent1"/>
              </a:buClr>
              <a:buSzPct val="76000"/>
              <a:buFont typeface="Wingdings 3" pitchFamily="18" charset="2"/>
            </a:pPr>
            <a:r>
              <a:rPr sz="2300" dirty="0"/>
              <a:t>If you have hash of known files you may compare them to find the files present on the forensics media .</a:t>
            </a:r>
          </a:p>
          <a:p>
            <a:pPr>
              <a:buClr>
                <a:schemeClr val="accent1"/>
              </a:buClr>
              <a:buSzPct val="76000"/>
              <a:buFont typeface="Wingdings 3" pitchFamily="18" charset="2"/>
            </a:pPr>
            <a:r>
              <a:rPr sz="2300" dirty="0"/>
              <a:t>This technique is useful if an employee has stored the official files on the his computer in an unauthorized manner  by different names.</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itle 1"/>
          <p:cNvSpPr>
            <a:spLocks noGrp="1"/>
          </p:cNvSpPr>
          <p:nvPr>
            <p:ph type="title"/>
          </p:nvPr>
        </p:nvSpPr>
        <p:spPr/>
        <p:txBody>
          <a:bodyPr vert="horz" wrap="square" lIns="91440" tIns="45720" rIns="91440" bIns="45720" anchor="b" anchorCtr="0"/>
          <a:lstStyle/>
          <a:p>
            <a:r>
              <a:rPr dirty="0"/>
              <a:t>Data Analysis</a:t>
            </a:r>
          </a:p>
        </p:txBody>
      </p:sp>
      <p:sp>
        <p:nvSpPr>
          <p:cNvPr id="162819" name="Content Placeholder 2"/>
          <p:cNvSpPr>
            <a:spLocks noGrp="1"/>
          </p:cNvSpPr>
          <p:nvPr>
            <p:ph sz="quarter" idx="1"/>
          </p:nvPr>
        </p:nvSpPr>
        <p:spPr>
          <a:xfrm>
            <a:off x="457200" y="1143000"/>
            <a:ext cx="8382000" cy="5105400"/>
          </a:xfrm>
        </p:spPr>
        <p:txBody>
          <a:bodyPr vert="horz" wrap="square" lIns="91440" tIns="45720" rIns="91440" bIns="45720" anchor="t" anchorCtr="0"/>
          <a:lstStyle/>
          <a:p>
            <a:pPr>
              <a:buClr>
                <a:schemeClr val="accent1"/>
              </a:buClr>
              <a:buSzPct val="76000"/>
              <a:buFont typeface="Wingdings 3" pitchFamily="18" charset="2"/>
            </a:pPr>
            <a:r>
              <a:rPr sz="2300" dirty="0"/>
              <a:t>The US government’s NIST keeps a hash of a large amount of files.</a:t>
            </a:r>
          </a:p>
          <a:p>
            <a:pPr>
              <a:buClr>
                <a:schemeClr val="accent1"/>
              </a:buClr>
              <a:buSzPct val="76000"/>
              <a:buFont typeface="Wingdings 3" pitchFamily="18" charset="2"/>
            </a:pPr>
            <a:r>
              <a:rPr sz="2300" dirty="0"/>
              <a:t>Also the HashKeeper site holds a hash of a good amount of files.</a:t>
            </a:r>
          </a:p>
          <a:p>
            <a:pPr>
              <a:buClr>
                <a:schemeClr val="accent1"/>
              </a:buClr>
              <a:buSzPct val="76000"/>
              <a:buFont typeface="Wingdings 3" pitchFamily="18" charset="2"/>
            </a:pPr>
            <a:r>
              <a:rPr sz="2300" dirty="0"/>
              <a:t>HashKeeper uses the MD5 file signature algorithm to establish unique hash identifiers for files "known to be good" and "known to be bad."</a:t>
            </a:r>
          </a:p>
          <a:p>
            <a:pPr>
              <a:buClr>
                <a:schemeClr val="accent1"/>
              </a:buClr>
              <a:buSzPct val="76000"/>
              <a:buFont typeface="Wingdings 3" pitchFamily="18" charset="2"/>
            </a:pPr>
            <a:r>
              <a:rPr sz="2300" dirty="0"/>
              <a:t>The HashKeeper application was developed to reduce the amount of time required to examine files on digital media. </a:t>
            </a:r>
          </a:p>
          <a:p>
            <a:pPr>
              <a:buClr>
                <a:schemeClr val="accent1"/>
              </a:buClr>
              <a:buSzPct val="76000"/>
              <a:buFont typeface="Wingdings 3" pitchFamily="18" charset="2"/>
            </a:pPr>
            <a:r>
              <a:rPr sz="2300" dirty="0"/>
              <a:t>Once an examiner defines a file as known to be good, the examiner need not repeat that analysis.</a:t>
            </a:r>
          </a:p>
          <a:p>
            <a:pPr>
              <a:buClr>
                <a:schemeClr val="accent1"/>
              </a:buClr>
              <a:buSzPct val="76000"/>
              <a:buFont typeface="Wingdings 3" pitchFamily="18" charset="2"/>
            </a:pPr>
            <a:r>
              <a:rPr sz="2300" dirty="0"/>
              <a:t> HashKeeper is available, free-of-charge, to law enforcement, military and other government agencies throughout the world. </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itle 1"/>
          <p:cNvSpPr>
            <a:spLocks noGrp="1"/>
          </p:cNvSpPr>
          <p:nvPr>
            <p:ph type="title"/>
          </p:nvPr>
        </p:nvSpPr>
        <p:spPr/>
        <p:txBody>
          <a:bodyPr vert="horz" wrap="square" lIns="91440" tIns="45720" rIns="91440" bIns="45720" anchor="b" anchorCtr="0"/>
          <a:lstStyle/>
          <a:p>
            <a:r>
              <a:rPr dirty="0"/>
              <a:t>Data Analysis</a:t>
            </a:r>
          </a:p>
        </p:txBody>
      </p:sp>
      <p:sp>
        <p:nvSpPr>
          <p:cNvPr id="3" name="Content Placeholder 2"/>
          <p:cNvSpPr>
            <a:spLocks noGrp="1"/>
          </p:cNvSpPr>
          <p:nvPr>
            <p:ph sz="quarter" idx="1"/>
          </p:nvPr>
        </p:nvSpPr>
        <p:spPr>
          <a:xfrm>
            <a:off x="457200" y="1219200"/>
            <a:ext cx="8229600" cy="5105400"/>
          </a:xfrm>
        </p:spPr>
        <p:txBody>
          <a:bodyPr vert="horz" wrap="square" lIns="91440" tIns="45720" rIns="91440" bIns="45720" numCol="1" anchor="t" anchorCtr="0" compatLnSpc="1"/>
          <a:lstStyle/>
          <a:p>
            <a:pPr marL="273050" marR="0" lvl="0" indent="-273050" algn="l" defTabSz="914400" rtl="0" eaLnBrk="0" fontAlgn="base" latinLnBrk="0" hangingPunct="0">
              <a:lnSpc>
                <a:spcPct val="100000"/>
              </a:lnSpc>
              <a:spcBef>
                <a:spcPts val="600"/>
              </a:spcBef>
              <a:spcAft>
                <a:spcPct val="0"/>
              </a:spcAft>
              <a:buClr>
                <a:schemeClr val="accent1"/>
              </a:buClr>
              <a:buSzPct val="76000"/>
              <a:buFont typeface="Wingdings 3"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The second method that is used is known as Signature Analysis.</a:t>
            </a:r>
          </a:p>
          <a:p>
            <a:pPr marL="273050" marR="0" lvl="0" indent="-273050" algn="l" defTabSz="914400" rtl="0" eaLnBrk="0" fontAlgn="base" latinLnBrk="0" hangingPunct="0">
              <a:lnSpc>
                <a:spcPct val="100000"/>
              </a:lnSpc>
              <a:spcBef>
                <a:spcPts val="600"/>
              </a:spcBef>
              <a:spcAft>
                <a:spcPct val="0"/>
              </a:spcAft>
              <a:buClr>
                <a:schemeClr val="accent1"/>
              </a:buClr>
              <a:buSzPct val="76000"/>
              <a:buFont typeface="Wingdings 3"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A file Signature is a header or footer within a file that indicates the type of the file.</a:t>
            </a:r>
          </a:p>
          <a:p>
            <a:pPr marL="273050" marR="0" lvl="0" indent="-273050" algn="l" defTabSz="914400" rtl="0" eaLnBrk="0" fontAlgn="base" latinLnBrk="0" hangingPunct="0">
              <a:lnSpc>
                <a:spcPct val="100000"/>
              </a:lnSpc>
              <a:spcBef>
                <a:spcPts val="600"/>
              </a:spcBef>
              <a:spcAft>
                <a:spcPct val="0"/>
              </a:spcAft>
              <a:buClr>
                <a:schemeClr val="accent1"/>
              </a:buClr>
              <a:buSzPct val="76000"/>
              <a:buFont typeface="Wingdings 3"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It is also known as file magic number.</a:t>
            </a:r>
          </a:p>
          <a:p>
            <a:pPr marL="273050" marR="0" lvl="0" indent="-273050" algn="l" defTabSz="914400" rtl="0" eaLnBrk="0" fontAlgn="base" latinLnBrk="0" hangingPunct="0">
              <a:lnSpc>
                <a:spcPct val="100000"/>
              </a:lnSpc>
              <a:spcBef>
                <a:spcPts val="600"/>
              </a:spcBef>
              <a:spcAft>
                <a:spcPct val="0"/>
              </a:spcAft>
              <a:buClr>
                <a:schemeClr val="accent1"/>
              </a:buClr>
              <a:buSzPct val="76000"/>
              <a:buFont typeface="Wingdings 3"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The signature for the MPEG files is</a:t>
            </a:r>
          </a:p>
          <a:p>
            <a:pPr marL="273050" marR="0" lvl="1" indent="-273050" algn="l" defTabSz="914400" rtl="0" eaLnBrk="0" fontAlgn="base" latinLnBrk="0" hangingPunct="0">
              <a:lnSpc>
                <a:spcPct val="100000"/>
              </a:lnSpc>
              <a:spcBef>
                <a:spcPts val="600"/>
              </a:spcBef>
              <a:spcAft>
                <a:spcPct val="0"/>
              </a:spcAft>
              <a:buClr>
                <a:schemeClr val="accent1"/>
              </a:buClr>
              <a:buSzPct val="76000"/>
              <a:buFont typeface="Wingdings 3" pitchFamily="18" charset="2"/>
              <a:buChar char=""/>
              <a:defRPr/>
            </a:pPr>
            <a:r>
              <a:rPr kumimoji="0" lang="en-US" sz="2300" b="0" i="0" u="none" strike="noStrike" kern="1200" cap="none" spc="0" normalizeH="0" baseline="0" noProof="0" dirty="0" smtClean="0">
                <a:ln>
                  <a:noFill/>
                </a:ln>
                <a:solidFill>
                  <a:schemeClr val="tx2"/>
                </a:solidFill>
                <a:effectLst/>
                <a:uLnTx/>
                <a:uFillTx/>
                <a:latin typeface="+mn-lt"/>
                <a:ea typeface="+mn-ea"/>
                <a:cs typeface="+mn-cs"/>
              </a:rPr>
              <a:t>00 00 01 </a:t>
            </a:r>
            <a:r>
              <a:rPr kumimoji="0" lang="en-US" sz="2300" b="0" i="0" u="none" strike="noStrike" kern="1200" cap="none" spc="0" normalizeH="0" baseline="0" noProof="0" dirty="0" err="1" smtClean="0">
                <a:ln>
                  <a:noFill/>
                </a:ln>
                <a:solidFill>
                  <a:schemeClr val="tx2"/>
                </a:solidFill>
                <a:effectLst/>
                <a:uLnTx/>
                <a:uFillTx/>
                <a:latin typeface="+mn-lt"/>
                <a:ea typeface="+mn-ea"/>
                <a:cs typeface="+mn-cs"/>
              </a:rPr>
              <a:t>Bx</a:t>
            </a:r>
            <a:endParaRPr kumimoji="0" lang="en-US" sz="2300" b="0" i="0" u="none" strike="noStrike" kern="1200" cap="none" spc="0" normalizeH="0" baseline="0" noProof="0" dirty="0" smtClean="0">
              <a:ln>
                <a:noFill/>
              </a:ln>
              <a:solidFill>
                <a:schemeClr val="tx2"/>
              </a:solidFill>
              <a:effectLst/>
              <a:uLnTx/>
              <a:uFillTx/>
              <a:latin typeface="+mn-lt"/>
              <a:ea typeface="+mn-ea"/>
              <a:cs typeface="+mn-cs"/>
            </a:endParaRPr>
          </a:p>
          <a:p>
            <a:pPr marL="273050" marR="0" lvl="1" indent="-273050" algn="l" defTabSz="914400" rtl="0" eaLnBrk="0" fontAlgn="base" latinLnBrk="0" hangingPunct="0">
              <a:lnSpc>
                <a:spcPct val="100000"/>
              </a:lnSpc>
              <a:spcBef>
                <a:spcPts val="600"/>
              </a:spcBef>
              <a:spcAft>
                <a:spcPct val="0"/>
              </a:spcAft>
              <a:buClr>
                <a:schemeClr val="accent1"/>
              </a:buClr>
              <a:buSzPct val="76000"/>
              <a:buFont typeface="Wingdings 3"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For  Microsoft Office files the signature is </a:t>
            </a:r>
          </a:p>
          <a:p>
            <a:pPr marL="273050" marR="0" lvl="1" indent="-273050" algn="l" defTabSz="914400" rtl="0" eaLnBrk="0" fontAlgn="base" latinLnBrk="0" hangingPunct="0">
              <a:lnSpc>
                <a:spcPct val="100000"/>
              </a:lnSpc>
              <a:spcBef>
                <a:spcPts val="600"/>
              </a:spcBef>
              <a:spcAft>
                <a:spcPct val="0"/>
              </a:spcAft>
              <a:buClr>
                <a:schemeClr val="accent1"/>
              </a:buClr>
              <a:buSzPct val="76000"/>
              <a:buFont typeface="Wingdings 3" pitchFamily="18" charset="2"/>
              <a:buChar char=""/>
              <a:defRPr/>
            </a:pPr>
            <a:r>
              <a:rPr kumimoji="0" lang="en-US" sz="2300" b="0" i="0" u="none" strike="noStrike" kern="1200" cap="none" spc="0" normalizeH="0" baseline="0" noProof="0" dirty="0" smtClean="0">
                <a:ln>
                  <a:noFill/>
                </a:ln>
                <a:solidFill>
                  <a:schemeClr val="tx2"/>
                </a:solidFill>
                <a:effectLst/>
                <a:uLnTx/>
                <a:uFillTx/>
                <a:latin typeface="+mn-lt"/>
                <a:ea typeface="+mn-ea"/>
                <a:cs typeface="+mn-cs"/>
              </a:rPr>
              <a:t>D0 CF 11 E0 A1 B1 1A E1 </a:t>
            </a:r>
          </a:p>
          <a:p>
            <a:pPr marL="273050" marR="0" lvl="0" indent="-273050" algn="l" defTabSz="914400" rtl="0" eaLnBrk="0" fontAlgn="base" latinLnBrk="0" hangingPunct="0">
              <a:lnSpc>
                <a:spcPct val="100000"/>
              </a:lnSpc>
              <a:spcBef>
                <a:spcPts val="600"/>
              </a:spcBef>
              <a:spcAft>
                <a:spcPct val="0"/>
              </a:spcAft>
              <a:buClr>
                <a:schemeClr val="accent1"/>
              </a:buClr>
              <a:buSzPct val="76000"/>
              <a:buFont typeface="Wingdings 3"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The Signature for the JPEG image files is</a:t>
            </a:r>
          </a:p>
          <a:p>
            <a:pPr marL="548005" marR="0" lvl="1" indent="-273050" algn="l" defTabSz="914400" rtl="0" eaLnBrk="0" fontAlgn="base" latinLnBrk="0" hangingPunct="0">
              <a:lnSpc>
                <a:spcPct val="100000"/>
              </a:lnSpc>
              <a:spcBef>
                <a:spcPts val="500"/>
              </a:spcBef>
              <a:spcAft>
                <a:spcPct val="0"/>
              </a:spcAft>
              <a:buClr>
                <a:schemeClr val="accent2"/>
              </a:buClr>
              <a:buSzPct val="76000"/>
              <a:buFont typeface="Wingdings 3" pitchFamily="18" charset="2"/>
              <a:buChar char=""/>
              <a:defRPr/>
            </a:pPr>
            <a:r>
              <a:rPr kumimoji="0" lang="en-US" sz="2300" b="0" i="0" u="none" strike="noStrike" kern="1200" cap="none" spc="0" normalizeH="0" baseline="0" noProof="0" dirty="0" smtClean="0">
                <a:ln>
                  <a:noFill/>
                </a:ln>
                <a:solidFill>
                  <a:schemeClr val="tx2"/>
                </a:solidFill>
                <a:effectLst/>
                <a:uLnTx/>
                <a:uFillTx/>
                <a:latin typeface="+mn-lt"/>
                <a:ea typeface="+mn-ea"/>
                <a:cs typeface="+mn-cs"/>
              </a:rPr>
              <a:t>FF D8 FF </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itle 1"/>
          <p:cNvSpPr>
            <a:spLocks noGrp="1"/>
          </p:cNvSpPr>
          <p:nvPr>
            <p:ph type="title"/>
          </p:nvPr>
        </p:nvSpPr>
        <p:spPr/>
        <p:txBody>
          <a:bodyPr vert="horz" wrap="square" lIns="91440" tIns="45720" rIns="91440" bIns="45720" anchor="b" anchorCtr="0"/>
          <a:lstStyle/>
          <a:p>
            <a:r>
              <a:rPr dirty="0"/>
              <a:t>Data Analysis</a:t>
            </a:r>
          </a:p>
        </p:txBody>
      </p:sp>
      <p:sp>
        <p:nvSpPr>
          <p:cNvPr id="164867"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300" dirty="0"/>
              <a:t>Thus while searching the forensic media you first search using keyword criteria i.e. using filenames for search.</a:t>
            </a:r>
          </a:p>
          <a:p>
            <a:pPr>
              <a:buClr>
                <a:schemeClr val="accent1"/>
              </a:buClr>
              <a:buSzPct val="76000"/>
              <a:buFont typeface="Wingdings 3" pitchFamily="18" charset="2"/>
            </a:pPr>
            <a:r>
              <a:rPr sz="2300" dirty="0"/>
              <a:t>Second you try to search files based on their types like bmp etc.</a:t>
            </a:r>
          </a:p>
          <a:p>
            <a:pPr>
              <a:buClr>
                <a:schemeClr val="accent1"/>
              </a:buClr>
              <a:buSzPct val="76000"/>
              <a:buFont typeface="Wingdings 3" pitchFamily="18" charset="2"/>
            </a:pPr>
            <a:r>
              <a:rPr sz="2300" dirty="0"/>
              <a:t>For the internet related files the first location to search for is the temporary internet files folder.</a:t>
            </a:r>
          </a:p>
          <a:p>
            <a:pPr>
              <a:buClr>
                <a:schemeClr val="accent1"/>
              </a:buClr>
              <a:buSzPct val="76000"/>
              <a:buFont typeface="Wingdings 3" pitchFamily="18" charset="2"/>
            </a:pPr>
            <a:r>
              <a:rPr sz="2300" dirty="0"/>
              <a:t>The web based email communication will also be stored at the same location.</a:t>
            </a:r>
          </a:p>
          <a:p>
            <a:pPr>
              <a:buClr>
                <a:schemeClr val="accent1"/>
              </a:buClr>
              <a:buSzPct val="76000"/>
              <a:buFont typeface="Wingdings 3" pitchFamily="18" charset="2"/>
            </a:pPr>
            <a:r>
              <a:rPr sz="2300" dirty="0"/>
              <a:t>Whenever a user uses Windows explorer or internet explorer to access a file or a web site a trace of that activity is created.</a:t>
            </a:r>
          </a:p>
          <a:p>
            <a:pPr>
              <a:buClr>
                <a:schemeClr val="accent1"/>
              </a:buClr>
              <a:buSzPct val="76000"/>
              <a:buFont typeface="Wingdings 3" pitchFamily="18" charset="2"/>
            </a:pPr>
            <a:r>
              <a:rPr sz="2300" dirty="0"/>
              <a:t>The index.dat file contains most of these logs.</a:t>
            </a:r>
          </a:p>
          <a:p>
            <a:pPr>
              <a:buClr>
                <a:schemeClr val="accent1"/>
              </a:buClr>
              <a:buSzPct val="76000"/>
              <a:buFont typeface="Wingdings 3" pitchFamily="18" charset="2"/>
            </a:pPr>
            <a:r>
              <a:rPr sz="2300" dirty="0"/>
              <a:t>This is a binary file and is not easily viewable unless used a tool like Pasco.</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itle 1"/>
          <p:cNvSpPr>
            <a:spLocks noGrp="1"/>
          </p:cNvSpPr>
          <p:nvPr>
            <p:ph type="title"/>
          </p:nvPr>
        </p:nvSpPr>
        <p:spPr/>
        <p:txBody>
          <a:bodyPr vert="horz" wrap="square" lIns="91440" tIns="45720" rIns="91440" bIns="45720" anchor="b" anchorCtr="0"/>
          <a:lstStyle/>
          <a:p>
            <a:r>
              <a:rPr dirty="0"/>
              <a:t>Data Analysis</a:t>
            </a:r>
          </a:p>
        </p:txBody>
      </p:sp>
      <p:sp>
        <p:nvSpPr>
          <p:cNvPr id="165891"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dirty="0"/>
              <a:t>Also for tracking internet related information cookies provide a good help.</a:t>
            </a:r>
          </a:p>
          <a:p>
            <a:pPr>
              <a:buClr>
                <a:schemeClr val="accent1"/>
              </a:buClr>
              <a:buSzPct val="76000"/>
              <a:buFont typeface="Wingdings 3" pitchFamily="18" charset="2"/>
            </a:pPr>
            <a:r>
              <a:rPr dirty="0"/>
              <a:t>Cookies are files that are placed by the web server on the client computers.</a:t>
            </a:r>
          </a:p>
          <a:p>
            <a:pPr>
              <a:buClr>
                <a:schemeClr val="accent1"/>
              </a:buClr>
              <a:buSzPct val="76000"/>
              <a:buFont typeface="Wingdings 3" pitchFamily="18" charset="2"/>
            </a:pPr>
            <a:r>
              <a:rPr dirty="0"/>
              <a:t>The Cookies are of different types and their use is also different.</a:t>
            </a:r>
          </a:p>
          <a:p>
            <a:pPr>
              <a:buClr>
                <a:schemeClr val="accent1"/>
              </a:buClr>
              <a:buSzPct val="76000"/>
              <a:buFont typeface="Wingdings 3" pitchFamily="18" charset="2"/>
            </a:pPr>
            <a:r>
              <a:rPr dirty="0"/>
              <a:t>The session cookies are used by the web server to identify a user and his connection. </a:t>
            </a:r>
          </a:p>
          <a:p>
            <a:pPr>
              <a:buClr>
                <a:schemeClr val="accent1"/>
              </a:buClr>
              <a:buSzPct val="76000"/>
              <a:buFont typeface="Wingdings 3" pitchFamily="18" charset="2"/>
            </a:pPr>
            <a:r>
              <a:rPr dirty="0"/>
              <a:t>Each time a communication takes place between client computer and web server this cookie is encoded into the HTML code.</a:t>
            </a:r>
          </a:p>
          <a:p>
            <a:pPr>
              <a:buClr>
                <a:schemeClr val="accent1"/>
              </a:buClr>
              <a:buSzPct val="76000"/>
              <a:buFont typeface="Wingdings 3" pitchFamily="18" charset="2"/>
            </a:pPr>
            <a:r>
              <a:rPr dirty="0"/>
              <a:t> A cookies directory in user profile stores all cookies.</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itle 1"/>
          <p:cNvSpPr>
            <a:spLocks noGrp="1"/>
          </p:cNvSpPr>
          <p:nvPr>
            <p:ph type="title"/>
          </p:nvPr>
        </p:nvSpPr>
        <p:spPr/>
        <p:txBody>
          <a:bodyPr vert="horz" wrap="square" lIns="91440" tIns="45720" rIns="91440" bIns="45720" anchor="b" anchorCtr="0"/>
          <a:lstStyle/>
          <a:p>
            <a:r>
              <a:rPr dirty="0"/>
              <a:t>Data Analysis</a:t>
            </a:r>
          </a:p>
        </p:txBody>
      </p:sp>
      <p:sp>
        <p:nvSpPr>
          <p:cNvPr id="166915"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sz="2300" dirty="0">
                <a:solidFill>
                  <a:srgbClr val="FF0000"/>
                </a:solidFill>
              </a:rPr>
              <a:t>On windows XP the temporary internet files are available at </a:t>
            </a:r>
          </a:p>
          <a:p>
            <a:pPr>
              <a:buClr>
                <a:schemeClr val="accent1"/>
              </a:buClr>
              <a:buSzPct val="76000"/>
              <a:buFont typeface="Wingdings 3" pitchFamily="18" charset="2"/>
            </a:pPr>
            <a:r>
              <a:rPr sz="2300" b="1" dirty="0">
                <a:solidFill>
                  <a:srgbClr val="FF0000"/>
                </a:solidFill>
              </a:rPr>
              <a:t>Documents and settings\%Username%\Local Settings\Temporary Internet Files</a:t>
            </a:r>
          </a:p>
          <a:p>
            <a:pPr>
              <a:buClr>
                <a:schemeClr val="accent1"/>
              </a:buClr>
              <a:buSzPct val="76000"/>
              <a:buFont typeface="Wingdings 3" pitchFamily="18" charset="2"/>
            </a:pPr>
            <a:r>
              <a:rPr sz="2300" dirty="0">
                <a:solidFill>
                  <a:srgbClr val="00B0F0"/>
                </a:solidFill>
              </a:rPr>
              <a:t>Additional internet files may be cached at</a:t>
            </a:r>
          </a:p>
          <a:p>
            <a:pPr>
              <a:buClr>
                <a:schemeClr val="accent1"/>
              </a:buClr>
              <a:buSzPct val="76000"/>
              <a:buFont typeface="Wingdings 3" pitchFamily="18" charset="2"/>
            </a:pPr>
            <a:r>
              <a:rPr sz="2300" b="1" dirty="0">
                <a:solidFill>
                  <a:srgbClr val="00B0F0"/>
                </a:solidFill>
              </a:rPr>
              <a:t>Documents and settings\%Username%\ Local Settings\Temp\Temporary Internet Files</a:t>
            </a:r>
            <a:r>
              <a:rPr sz="2300" dirty="0">
                <a:solidFill>
                  <a:srgbClr val="00B0F0"/>
                </a:solidFill>
              </a:rPr>
              <a:t> or in </a:t>
            </a:r>
            <a:r>
              <a:rPr sz="2300" b="1" dirty="0">
                <a:solidFill>
                  <a:srgbClr val="00B0F0"/>
                </a:solidFill>
              </a:rPr>
              <a:t>Documents and settings\%Username%\ Local Settings\Temporary Internet Files</a:t>
            </a:r>
            <a:r>
              <a:rPr sz="2300" dirty="0">
                <a:solidFill>
                  <a:srgbClr val="00B0F0"/>
                </a:solidFill>
              </a:rPr>
              <a:t>.</a:t>
            </a:r>
          </a:p>
          <a:p>
            <a:pPr>
              <a:buClr>
                <a:schemeClr val="accent1"/>
              </a:buClr>
              <a:buSzPct val="76000"/>
              <a:buFont typeface="Wingdings 3" pitchFamily="18" charset="2"/>
            </a:pPr>
            <a:r>
              <a:rPr sz="2300" dirty="0"/>
              <a:t>On Windows 7 </a:t>
            </a:r>
          </a:p>
          <a:p>
            <a:pPr>
              <a:buClr>
                <a:schemeClr val="accent1"/>
              </a:buClr>
              <a:buSzPct val="76000"/>
              <a:buFont typeface="Wingdings 3" pitchFamily="18" charset="2"/>
            </a:pPr>
            <a:r>
              <a:rPr sz="2300" b="1" dirty="0"/>
              <a:t>Users\%Username%\AppData\Local\Microsoft\Windows folder.</a:t>
            </a:r>
            <a:endParaRPr sz="2300" dirty="0"/>
          </a:p>
          <a:p>
            <a:pPr>
              <a:buClr>
                <a:schemeClr val="accent1"/>
              </a:buClr>
              <a:buSzPct val="76000"/>
              <a:buFont typeface="Wingdings 3" pitchFamily="18" charset="2"/>
            </a:pPr>
            <a:r>
              <a:rPr sz="2300" dirty="0"/>
              <a:t>All these folders are hidden so make sure you enable show hidden files option.</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Title 1"/>
          <p:cNvSpPr>
            <a:spLocks noGrp="1"/>
          </p:cNvSpPr>
          <p:nvPr>
            <p:ph type="title"/>
          </p:nvPr>
        </p:nvSpPr>
        <p:spPr/>
        <p:txBody>
          <a:bodyPr vert="horz" wrap="square" lIns="91440" tIns="45720" rIns="91440" bIns="45720" anchor="b" anchorCtr="0"/>
          <a:lstStyle/>
          <a:p>
            <a:pPr>
              <a:buNone/>
            </a:pPr>
            <a:r>
              <a:rPr dirty="0"/>
              <a:t>Data Analysis</a:t>
            </a:r>
          </a:p>
        </p:txBody>
      </p:sp>
      <p:sp>
        <p:nvSpPr>
          <p:cNvPr id="167939" name="Content Placeholder 2"/>
          <p:cNvSpPr>
            <a:spLocks noGrp="1"/>
          </p:cNvSpPr>
          <p:nvPr>
            <p:ph sz="quarter" idx="1"/>
          </p:nvPr>
        </p:nvSpPr>
        <p:spPr>
          <a:xfrm>
            <a:off x="457200" y="1143000"/>
            <a:ext cx="8382000" cy="5181600"/>
          </a:xfrm>
        </p:spPr>
        <p:txBody>
          <a:bodyPr vert="horz" wrap="square" lIns="91440" tIns="45720" rIns="91440" bIns="45720" anchor="t" anchorCtr="0"/>
          <a:lstStyle/>
          <a:p>
            <a:pPr>
              <a:buClr>
                <a:schemeClr val="accent1"/>
              </a:buClr>
              <a:buSzPct val="76000"/>
              <a:buFont typeface="Wingdings 3" pitchFamily="18" charset="2"/>
            </a:pPr>
            <a:r>
              <a:rPr sz="2300" dirty="0"/>
              <a:t>Outlook Express stores emails in windows at </a:t>
            </a:r>
          </a:p>
          <a:p>
            <a:pPr>
              <a:buClr>
                <a:schemeClr val="accent1"/>
              </a:buClr>
              <a:buSzPct val="76000"/>
              <a:buFont typeface="Wingdings 3" pitchFamily="18" charset="2"/>
            </a:pPr>
            <a:r>
              <a:rPr sz="2300" dirty="0"/>
              <a:t>\</a:t>
            </a:r>
            <a:r>
              <a:rPr sz="2300" b="1" dirty="0"/>
              <a:t>Documents and settings\%Username%\Local Settings\Application Data\Identities\{long number}\Microsoft\Outlook Express.</a:t>
            </a:r>
          </a:p>
          <a:p>
            <a:pPr>
              <a:buClr>
                <a:schemeClr val="accent1"/>
              </a:buClr>
              <a:buSzPct val="76000"/>
              <a:buFont typeface="Wingdings 3" pitchFamily="18" charset="2"/>
            </a:pPr>
            <a:r>
              <a:rPr sz="2300" dirty="0"/>
              <a:t>The  file extension is .dbx</a:t>
            </a:r>
          </a:p>
          <a:p>
            <a:pPr>
              <a:buClr>
                <a:schemeClr val="accent1"/>
              </a:buClr>
              <a:buSzPct val="76000"/>
              <a:buFont typeface="Wingdings 3" pitchFamily="18" charset="2"/>
            </a:pPr>
            <a:r>
              <a:rPr sz="2300" dirty="0"/>
              <a:t>In Windows 7 the Microsoft Outlook stores the email files at</a:t>
            </a:r>
          </a:p>
          <a:p>
            <a:pPr>
              <a:buClr>
                <a:schemeClr val="accent1"/>
              </a:buClr>
              <a:buSzPct val="76000"/>
              <a:buFont typeface="Wingdings 3" pitchFamily="18" charset="2"/>
            </a:pPr>
            <a:r>
              <a:rPr sz="2300" b="1" dirty="0"/>
              <a:t>\Users\%</a:t>
            </a:r>
            <a:r>
              <a:rPr sz="2300" b="1" i="1" dirty="0"/>
              <a:t>username%</a:t>
            </a:r>
            <a:r>
              <a:rPr sz="2300" b="1" dirty="0"/>
              <a:t>\AppData\Local\Microsoft\Outlook\Outlook.pst</a:t>
            </a:r>
          </a:p>
          <a:p>
            <a:pPr>
              <a:buClr>
                <a:schemeClr val="accent1"/>
              </a:buClr>
              <a:buSzPct val="76000"/>
              <a:buFont typeface="Wingdings 3" pitchFamily="18" charset="2"/>
            </a:pPr>
            <a:r>
              <a:rPr sz="2300" dirty="0"/>
              <a:t>The cookies folder in windows 7 is at</a:t>
            </a:r>
          </a:p>
          <a:p>
            <a:pPr>
              <a:buClr>
                <a:schemeClr val="accent1"/>
              </a:buClr>
              <a:buSzPct val="76000"/>
              <a:buFont typeface="Wingdings 3" pitchFamily="18" charset="2"/>
            </a:pPr>
            <a:r>
              <a:rPr sz="2400" b="1" dirty="0"/>
              <a:t>\ Users\ %username%\ AppData\ Roaming\ Microsoft\ Windows”. </a:t>
            </a:r>
          </a:p>
          <a:p>
            <a:pPr>
              <a:buClr>
                <a:schemeClr val="accent1"/>
              </a:buClr>
              <a:buSzPct val="76000"/>
              <a:buFont typeface="Wingdings 3" pitchFamily="18" charset="2"/>
            </a:pPr>
            <a:r>
              <a:rPr sz="2400" dirty="0"/>
              <a:t>On windows XP it is at</a:t>
            </a:r>
          </a:p>
          <a:p>
            <a:pPr>
              <a:buClr>
                <a:schemeClr val="accent1"/>
              </a:buClr>
              <a:buSzPct val="76000"/>
              <a:buFont typeface="Wingdings 3" pitchFamily="18" charset="2"/>
            </a:pPr>
            <a:r>
              <a:rPr sz="2400" dirty="0"/>
              <a:t>C:\Documents and Settings\</a:t>
            </a:r>
            <a:r>
              <a:rPr sz="2400" i="1" dirty="0"/>
              <a:t>%username%</a:t>
            </a:r>
            <a:r>
              <a:rPr sz="2400" dirty="0"/>
              <a:t>\Cookies\ </a:t>
            </a:r>
            <a:br>
              <a:rPr sz="2400" dirty="0"/>
            </a:br>
            <a:r>
              <a:rPr sz="2400" dirty="0"/>
              <a:t> </a:t>
            </a:r>
            <a:r>
              <a:rPr sz="2300" dirty="0"/>
              <a:t/>
            </a:r>
            <a:br>
              <a:rPr sz="2300" dirty="0"/>
            </a:br>
            <a:endParaRPr sz="23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itle 1"/>
          <p:cNvSpPr>
            <a:spLocks noGrp="1"/>
          </p:cNvSpPr>
          <p:nvPr>
            <p:ph type="title"/>
          </p:nvPr>
        </p:nvSpPr>
        <p:spPr/>
        <p:txBody>
          <a:bodyPr vert="horz" wrap="square" lIns="91440" tIns="45720" rIns="91440" bIns="45720" anchor="b" anchorCtr="0"/>
          <a:lstStyle/>
          <a:p>
            <a:pPr>
              <a:buNone/>
            </a:pPr>
            <a:r>
              <a:rPr dirty="0"/>
              <a:t>Data Analysis</a:t>
            </a:r>
          </a:p>
        </p:txBody>
      </p:sp>
      <p:sp>
        <p:nvSpPr>
          <p:cNvPr id="168963"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sz="2300" dirty="0"/>
              <a:t>The Log files also provide a good amount of evidence.</a:t>
            </a:r>
          </a:p>
          <a:p>
            <a:pPr>
              <a:buClr>
                <a:schemeClr val="accent1"/>
              </a:buClr>
              <a:buSzPct val="76000"/>
              <a:buFont typeface="Wingdings 3" pitchFamily="18" charset="2"/>
            </a:pPr>
            <a:r>
              <a:rPr sz="2300" dirty="0"/>
              <a:t>Every file creation activity in the operating systems is marked with a time stamp.</a:t>
            </a:r>
          </a:p>
          <a:p>
            <a:pPr>
              <a:buClr>
                <a:schemeClr val="accent1"/>
              </a:buClr>
              <a:buSzPct val="76000"/>
              <a:buFont typeface="Wingdings 3" pitchFamily="18" charset="2"/>
            </a:pPr>
            <a:r>
              <a:rPr sz="2300" dirty="0"/>
              <a:t>Thus verify the time stamps of important files.</a:t>
            </a:r>
          </a:p>
          <a:p>
            <a:pPr>
              <a:buClr>
                <a:schemeClr val="accent1"/>
              </a:buClr>
              <a:buSzPct val="76000"/>
              <a:buFont typeface="Wingdings 3" pitchFamily="18" charset="2"/>
            </a:pPr>
            <a:r>
              <a:rPr sz="2300" dirty="0"/>
              <a:t>Also some times a criminal might have deleted some data.</a:t>
            </a:r>
          </a:p>
          <a:p>
            <a:pPr>
              <a:buClr>
                <a:schemeClr val="accent1"/>
              </a:buClr>
              <a:buSzPct val="76000"/>
              <a:buFont typeface="Wingdings 3" pitchFamily="18" charset="2"/>
            </a:pPr>
            <a:r>
              <a:rPr sz="2300" dirty="0"/>
              <a:t>But as we know when you delete a file the actual data is not deleted from the hard disk.</a:t>
            </a:r>
          </a:p>
          <a:p>
            <a:pPr>
              <a:buClr>
                <a:schemeClr val="accent1"/>
              </a:buClr>
              <a:buSzPct val="76000"/>
              <a:buFont typeface="Wingdings 3" pitchFamily="18" charset="2"/>
            </a:pPr>
            <a:r>
              <a:rPr sz="2300" dirty="0"/>
              <a:t>Thus a good data recovery software will be able to recover these files.</a:t>
            </a:r>
          </a:p>
          <a:p>
            <a:pPr>
              <a:buClr>
                <a:schemeClr val="accent1"/>
              </a:buClr>
              <a:buSzPct val="76000"/>
              <a:buFont typeface="Wingdings 3" pitchFamily="18" charset="2"/>
            </a:pPr>
            <a:r>
              <a:rPr sz="2300" dirty="0"/>
              <a:t>However this is possible only if the data is not overwritten on the hard disk.</a:t>
            </a:r>
          </a:p>
          <a:p>
            <a:pPr>
              <a:buClr>
                <a:schemeClr val="accent1"/>
              </a:buClr>
              <a:buSzPct val="76000"/>
              <a:buFont typeface="Wingdings 3" pitchFamily="18" charset="2"/>
            </a:pPr>
            <a:r>
              <a:rPr sz="2300" dirty="0"/>
              <a:t>Also the success of data recovery depends on the file system.</a:t>
            </a:r>
          </a:p>
          <a:p>
            <a:pPr>
              <a:buClr>
                <a:schemeClr val="accent1"/>
              </a:buClr>
              <a:buSzPct val="76000"/>
              <a:buFont typeface="Wingdings 3" pitchFamily="18" charset="2"/>
            </a:pPr>
            <a:endParaRPr sz="23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itle 1"/>
          <p:cNvSpPr>
            <a:spLocks noGrp="1"/>
          </p:cNvSpPr>
          <p:nvPr>
            <p:ph type="title"/>
          </p:nvPr>
        </p:nvSpPr>
        <p:spPr/>
        <p:txBody>
          <a:bodyPr vert="horz" wrap="square" lIns="91440" tIns="45720" rIns="91440" bIns="45720" anchor="b" anchorCtr="0"/>
          <a:lstStyle/>
          <a:p>
            <a:pPr>
              <a:buNone/>
            </a:pPr>
            <a:r>
              <a:rPr dirty="0"/>
              <a:t>Data Analysis</a:t>
            </a:r>
          </a:p>
        </p:txBody>
      </p:sp>
      <p:sp>
        <p:nvSpPr>
          <p:cNvPr id="169987"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dirty="0"/>
              <a:t>Whatever files you search , make sure they are related to the crime.</a:t>
            </a:r>
          </a:p>
          <a:p>
            <a:pPr>
              <a:buClr>
                <a:schemeClr val="accent1"/>
              </a:buClr>
              <a:buSzPct val="76000"/>
              <a:buFont typeface="Wingdings 3" pitchFamily="18" charset="2"/>
            </a:pPr>
            <a:r>
              <a:rPr dirty="0"/>
              <a:t>Sometimes it is not possible to recover the entire file, however the part of the recovered file may also contain some information.</a:t>
            </a:r>
          </a:p>
          <a:p>
            <a:pPr>
              <a:buClr>
                <a:schemeClr val="accent1"/>
              </a:buClr>
              <a:buSzPct val="76000"/>
              <a:buFont typeface="Wingdings 3" pitchFamily="18" charset="2"/>
            </a:pPr>
            <a:r>
              <a:rPr dirty="0"/>
              <a:t>Also look for the temporary files created by the applications like office application.</a:t>
            </a:r>
          </a:p>
          <a:p>
            <a:pPr>
              <a:buClr>
                <a:schemeClr val="accent1"/>
              </a:buClr>
              <a:buSzPct val="76000"/>
              <a:buFont typeface="Wingdings 3" pitchFamily="18" charset="2"/>
            </a:pPr>
            <a:r>
              <a:rPr dirty="0"/>
              <a:t>These temporary files will contain certain records related to the crime.</a:t>
            </a:r>
          </a:p>
          <a:p>
            <a:pPr>
              <a:buClr>
                <a:schemeClr val="accent1"/>
              </a:buClr>
              <a:buSzPct val="76000"/>
              <a:buFont typeface="Wingdings 3" pitchFamily="18" charset="2"/>
            </a:pPr>
            <a:r>
              <a:rPr dirty="0"/>
              <a:t>Sometimes it may be required to perform a physical analysis of the data.</a:t>
            </a:r>
          </a:p>
          <a:p>
            <a:pPr>
              <a:buClr>
                <a:schemeClr val="accent1"/>
              </a:buClr>
              <a:buSzPct val="76000"/>
              <a:buFont typeface="Wingdings 3" pitchFamily="18" charset="2"/>
            </a:pPr>
            <a:r>
              <a:rPr dirty="0"/>
              <a:t>This process required a lot of skills and pations also.</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itle 1"/>
          <p:cNvSpPr>
            <a:spLocks noGrp="1"/>
          </p:cNvSpPr>
          <p:nvPr>
            <p:ph type="title"/>
          </p:nvPr>
        </p:nvSpPr>
        <p:spPr/>
        <p:txBody>
          <a:bodyPr vert="horz" wrap="square" lIns="91440" tIns="45720" rIns="91440" bIns="45720" anchor="b" anchorCtr="0"/>
          <a:lstStyle/>
          <a:p>
            <a:pPr>
              <a:buNone/>
            </a:pPr>
            <a:r>
              <a:rPr dirty="0"/>
              <a:t>Data Analysis</a:t>
            </a:r>
          </a:p>
        </p:txBody>
      </p:sp>
      <p:sp>
        <p:nvSpPr>
          <p:cNvPr id="171011"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dirty="0"/>
              <a:t>During data analysis when you find any file related to the crime first document all the details about that file.</a:t>
            </a:r>
          </a:p>
          <a:p>
            <a:pPr>
              <a:buClr>
                <a:schemeClr val="accent1"/>
              </a:buClr>
              <a:buSzPct val="76000"/>
              <a:buFont typeface="Wingdings 3" pitchFamily="18" charset="2"/>
            </a:pPr>
            <a:r>
              <a:rPr dirty="0"/>
              <a:t>The details should include the name of the file, size of the file, location it was stored, file type, time stamps related to the file etc.</a:t>
            </a:r>
          </a:p>
          <a:p>
            <a:pPr>
              <a:buClr>
                <a:schemeClr val="accent1"/>
              </a:buClr>
              <a:buSzPct val="76000"/>
              <a:buFont typeface="Wingdings 3" pitchFamily="18" charset="2"/>
            </a:pPr>
            <a:r>
              <a:rPr dirty="0"/>
              <a:t>Copy that file to a separate clean drive.</a:t>
            </a:r>
          </a:p>
          <a:p>
            <a:pPr>
              <a:buClr>
                <a:schemeClr val="accent1"/>
              </a:buClr>
              <a:buSzPct val="76000"/>
              <a:buFont typeface="Wingdings 3" pitchFamily="18" charset="2"/>
            </a:pPr>
            <a:r>
              <a:rPr dirty="0"/>
              <a:t>Create a hash of that file.</a:t>
            </a:r>
          </a:p>
          <a:p>
            <a:pPr>
              <a:buClr>
                <a:schemeClr val="accent1"/>
              </a:buClr>
              <a:buSzPct val="76000"/>
              <a:buFont typeface="Wingdings 3" pitchFamily="18" charset="2"/>
            </a:pPr>
            <a:r>
              <a:rPr dirty="0"/>
              <a:t>Compare the original and the copied file.</a:t>
            </a:r>
          </a:p>
          <a:p>
            <a:pPr>
              <a:buClr>
                <a:schemeClr val="accent1"/>
              </a:buClr>
              <a:buSzPct val="76000"/>
              <a:buFont typeface="Wingdings 3" pitchFamily="18" charset="2"/>
            </a:pPr>
            <a:r>
              <a:rPr dirty="0"/>
              <a:t>Make sure you document every step of forensics procedure.</a:t>
            </a:r>
          </a:p>
          <a:p>
            <a:pPr>
              <a:buClr>
                <a:schemeClr val="accent1"/>
              </a:buClr>
              <a:buSzPct val="76000"/>
              <a:buFont typeface="Wingdings 3" pitchFamily="18" charset="2"/>
            </a:pPr>
            <a:r>
              <a:rPr dirty="0"/>
              <a:t>Similarly scan all other devices also.</a:t>
            </a:r>
          </a:p>
          <a:p>
            <a:pPr>
              <a:buClr>
                <a:schemeClr val="accent1"/>
              </a:buClr>
              <a:buSzPct val="76000"/>
              <a:buFont typeface="Wingdings 3" pitchFamily="18" charset="2"/>
            </a:pPr>
            <a:endParaRPr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itle 1"/>
          <p:cNvSpPr>
            <a:spLocks noGrp="1"/>
          </p:cNvSpPr>
          <p:nvPr>
            <p:ph type="title"/>
          </p:nvPr>
        </p:nvSpPr>
        <p:spPr/>
        <p:txBody>
          <a:bodyPr vert="horz" wrap="square" lIns="91440" tIns="45720" rIns="91440" bIns="45720" anchor="b" anchorCtr="0"/>
          <a:lstStyle/>
          <a:p>
            <a:pPr>
              <a:buNone/>
            </a:pPr>
            <a:r>
              <a:rPr dirty="0"/>
              <a:t>Reporting </a:t>
            </a:r>
          </a:p>
        </p:txBody>
      </p:sp>
      <p:sp>
        <p:nvSpPr>
          <p:cNvPr id="172035"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sz="2300" dirty="0"/>
              <a:t>Once you have done with the investigation , next step is to create a report.</a:t>
            </a:r>
          </a:p>
          <a:p>
            <a:pPr>
              <a:buClr>
                <a:schemeClr val="accent1"/>
              </a:buClr>
              <a:buSzPct val="76000"/>
              <a:buFont typeface="Wingdings 3" pitchFamily="18" charset="2"/>
            </a:pPr>
            <a:r>
              <a:rPr sz="2300" dirty="0"/>
              <a:t>While writing the report first find out where these findings will be used.</a:t>
            </a:r>
          </a:p>
          <a:p>
            <a:pPr>
              <a:buClr>
                <a:schemeClr val="accent1"/>
              </a:buClr>
              <a:buSzPct val="76000"/>
              <a:buFont typeface="Wingdings 3" pitchFamily="18" charset="2"/>
            </a:pPr>
            <a:r>
              <a:rPr sz="2300" dirty="0"/>
              <a:t>According to the use of the report you require to create it in that specific format.</a:t>
            </a:r>
          </a:p>
          <a:p>
            <a:pPr>
              <a:buClr>
                <a:schemeClr val="accent1"/>
              </a:buClr>
              <a:buSzPct val="76000"/>
              <a:buFont typeface="Wingdings 3" pitchFamily="18" charset="2"/>
            </a:pPr>
            <a:r>
              <a:rPr sz="2300" dirty="0"/>
              <a:t>Make your report technical but simple by avoiding complicated technical terms as it may be read by people who may not be technical.</a:t>
            </a:r>
          </a:p>
          <a:p>
            <a:pPr>
              <a:buClr>
                <a:schemeClr val="accent1"/>
              </a:buClr>
              <a:buSzPct val="76000"/>
              <a:buFont typeface="Wingdings 3" pitchFamily="18" charset="2"/>
            </a:pPr>
            <a:r>
              <a:rPr sz="2300" dirty="0"/>
              <a:t>You may require to justify your findings at a later stage may be after a long period. </a:t>
            </a:r>
          </a:p>
          <a:p>
            <a:pPr>
              <a:buClr>
                <a:schemeClr val="accent1"/>
              </a:buClr>
              <a:buSzPct val="76000"/>
              <a:buFont typeface="Wingdings 3" pitchFamily="18" charset="2"/>
            </a:pPr>
            <a:r>
              <a:rPr sz="2300" dirty="0"/>
              <a:t>Thus make the report such that you will remember it.</a:t>
            </a:r>
          </a:p>
          <a:p>
            <a:pPr>
              <a:buClr>
                <a:schemeClr val="accent1"/>
              </a:buClr>
              <a:buSzPct val="76000"/>
              <a:buFont typeface="Wingdings 3" pitchFamily="18" charset="2"/>
            </a:pPr>
            <a:r>
              <a:rPr sz="2300" dirty="0"/>
              <a:t>Do not include your views in the report.</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itle 1"/>
          <p:cNvSpPr>
            <a:spLocks noGrp="1"/>
          </p:cNvSpPr>
          <p:nvPr>
            <p:ph type="title"/>
          </p:nvPr>
        </p:nvSpPr>
        <p:spPr/>
        <p:txBody>
          <a:bodyPr vert="horz" wrap="square" lIns="91440" tIns="45720" rIns="91440" bIns="45720" anchor="b" anchorCtr="0"/>
          <a:lstStyle/>
          <a:p>
            <a:pPr>
              <a:buNone/>
            </a:pPr>
            <a:r>
              <a:rPr dirty="0"/>
              <a:t>Reporting</a:t>
            </a:r>
          </a:p>
        </p:txBody>
      </p:sp>
      <p:sp>
        <p:nvSpPr>
          <p:cNvPr id="173059" name="Content Placeholder 2"/>
          <p:cNvSpPr>
            <a:spLocks noGrp="1"/>
          </p:cNvSpPr>
          <p:nvPr>
            <p:ph sz="quarter" idx="1"/>
          </p:nvPr>
        </p:nvSpPr>
        <p:spPr>
          <a:xfrm>
            <a:off x="457200" y="1219200"/>
            <a:ext cx="8229600" cy="5105400"/>
          </a:xfrm>
        </p:spPr>
        <p:txBody>
          <a:bodyPr vert="horz" wrap="square" lIns="91440" tIns="45720" rIns="91440" bIns="45720" anchor="t" anchorCtr="0"/>
          <a:lstStyle/>
          <a:p>
            <a:pPr>
              <a:buClr>
                <a:schemeClr val="accent1"/>
              </a:buClr>
              <a:buSzPct val="76000"/>
              <a:buFont typeface="Wingdings 3" pitchFamily="18" charset="2"/>
            </a:pPr>
            <a:r>
              <a:rPr sz="2300" dirty="0"/>
              <a:t>Do not generate report with your biased views.</a:t>
            </a:r>
          </a:p>
          <a:p>
            <a:pPr>
              <a:buClr>
                <a:schemeClr val="accent1"/>
              </a:buClr>
              <a:buSzPct val="76000"/>
              <a:buFont typeface="Wingdings 3" pitchFamily="18" charset="2"/>
            </a:pPr>
            <a:r>
              <a:rPr sz="2300" dirty="0"/>
              <a:t>This report should just provide your findings.</a:t>
            </a:r>
          </a:p>
          <a:p>
            <a:pPr>
              <a:buClr>
                <a:schemeClr val="accent1"/>
              </a:buClr>
              <a:buSzPct val="76000"/>
              <a:buFont typeface="Wingdings 3" pitchFamily="18" charset="2"/>
            </a:pPr>
            <a:r>
              <a:rPr sz="2300" dirty="0"/>
              <a:t>Include all possible screen shots and photographs that you have taken during investigation.</a:t>
            </a:r>
          </a:p>
          <a:p>
            <a:pPr>
              <a:buClr>
                <a:schemeClr val="accent1"/>
              </a:buClr>
              <a:buSzPct val="76000"/>
              <a:buFont typeface="Wingdings 3" pitchFamily="18" charset="2"/>
            </a:pPr>
            <a:r>
              <a:rPr sz="2300" dirty="0"/>
              <a:t>Include all documentation related to tools used and date and timings etc.</a:t>
            </a:r>
          </a:p>
          <a:p>
            <a:pPr>
              <a:buClr>
                <a:schemeClr val="accent1"/>
              </a:buClr>
              <a:buSzPct val="76000"/>
              <a:buFont typeface="Wingdings 3" pitchFamily="18" charset="2"/>
            </a:pPr>
            <a:r>
              <a:rPr sz="2300" dirty="0"/>
              <a:t>If for some thing some other expert advice was taken then include all the things related to this activity.</a:t>
            </a:r>
          </a:p>
          <a:p>
            <a:pPr>
              <a:buClr>
                <a:schemeClr val="accent1"/>
              </a:buClr>
              <a:buSzPct val="76000"/>
              <a:buFont typeface="Wingdings 3" pitchFamily="18" charset="2"/>
            </a:pPr>
            <a:r>
              <a:rPr sz="2300" dirty="0"/>
              <a:t>Also include the report from that expert as it is.</a:t>
            </a:r>
          </a:p>
          <a:p>
            <a:pPr>
              <a:buClr>
                <a:schemeClr val="accent1"/>
              </a:buClr>
              <a:buSzPct val="76000"/>
              <a:buFont typeface="Wingdings 3" pitchFamily="18" charset="2"/>
            </a:pPr>
            <a:r>
              <a:rPr sz="2300" dirty="0"/>
              <a:t>Include the chain of custody document.</a:t>
            </a:r>
          </a:p>
          <a:p>
            <a:pPr>
              <a:buClr>
                <a:schemeClr val="accent1"/>
              </a:buClr>
              <a:buSzPct val="76000"/>
              <a:buFont typeface="Wingdings 3" pitchFamily="18" charset="2"/>
            </a:pPr>
            <a:r>
              <a:rPr sz="2300" dirty="0"/>
              <a:t>Make sure the report activities are as per the chain of custody document.</a:t>
            </a:r>
          </a:p>
          <a:p>
            <a:pPr>
              <a:buClr>
                <a:schemeClr val="accent1"/>
              </a:buClr>
              <a:buSzPct val="76000"/>
              <a:buFont typeface="Wingdings 3" pitchFamily="18" charset="2"/>
            </a:pPr>
            <a:r>
              <a:rPr sz="2300" dirty="0"/>
              <a:t>Include file and MD5 hashes taken at various stages.</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itle 1"/>
          <p:cNvSpPr>
            <a:spLocks noGrp="1"/>
          </p:cNvSpPr>
          <p:nvPr>
            <p:ph type="title"/>
          </p:nvPr>
        </p:nvSpPr>
        <p:spPr/>
        <p:txBody>
          <a:bodyPr vert="horz" wrap="square" lIns="91440" tIns="45720" rIns="91440" bIns="45720" anchor="b" anchorCtr="0"/>
          <a:lstStyle/>
          <a:p>
            <a:pPr>
              <a:buNone/>
            </a:pPr>
            <a:r>
              <a:rPr dirty="0"/>
              <a:t>Reporting</a:t>
            </a:r>
          </a:p>
        </p:txBody>
      </p:sp>
      <p:sp>
        <p:nvSpPr>
          <p:cNvPr id="174083" name="Content Placeholder 2"/>
          <p:cNvSpPr>
            <a:spLocks noGrp="1"/>
          </p:cNvSpPr>
          <p:nvPr>
            <p:ph sz="quarter" idx="1"/>
          </p:nvPr>
        </p:nvSpPr>
        <p:spPr>
          <a:xfrm>
            <a:off x="457200" y="1219200"/>
            <a:ext cx="8229600" cy="4937125"/>
          </a:xfrm>
        </p:spPr>
        <p:txBody>
          <a:bodyPr vert="horz" wrap="square" lIns="91440" tIns="45720" rIns="91440" bIns="45720" anchor="t" anchorCtr="0"/>
          <a:lstStyle/>
          <a:p>
            <a:pPr>
              <a:buClr>
                <a:schemeClr val="accent1"/>
              </a:buClr>
              <a:buSzPct val="76000"/>
              <a:buFont typeface="Wingdings 3" pitchFamily="18" charset="2"/>
            </a:pPr>
            <a:r>
              <a:rPr sz="2300" dirty="0"/>
              <a:t>Also make sure you include only those evidences which are related to the actual crime.</a:t>
            </a:r>
          </a:p>
          <a:p>
            <a:pPr>
              <a:buClr>
                <a:schemeClr val="accent1"/>
              </a:buClr>
              <a:buSzPct val="76000"/>
              <a:buFont typeface="Wingdings 3" pitchFamily="18" charset="2"/>
            </a:pPr>
            <a:r>
              <a:rPr sz="2300" dirty="0"/>
              <a:t>Else you may tend to put each and every piece of evidence gathered and cause an Information Overload problem.</a:t>
            </a:r>
          </a:p>
          <a:p>
            <a:pPr>
              <a:buClr>
                <a:schemeClr val="accent1"/>
              </a:buClr>
              <a:buSzPct val="76000"/>
              <a:buFont typeface="Wingdings 3" pitchFamily="18" charset="2"/>
            </a:pPr>
            <a:r>
              <a:rPr sz="2300" dirty="0"/>
              <a:t>Thus it is necessary for a forensics expert to identify relevant evidence.</a:t>
            </a:r>
          </a:p>
          <a:p>
            <a:pPr>
              <a:buClr>
                <a:schemeClr val="accent1"/>
              </a:buClr>
              <a:buSzPct val="76000"/>
              <a:buFont typeface="Wingdings 3" pitchFamily="18" charset="2"/>
            </a:pPr>
            <a:r>
              <a:rPr sz="2300" dirty="0"/>
              <a:t>You may consult other authorities involved before finalizing the report just to check the proper format.</a:t>
            </a:r>
          </a:p>
          <a:p>
            <a:pPr>
              <a:buClr>
                <a:schemeClr val="accent1"/>
              </a:buClr>
              <a:buSzPct val="76000"/>
              <a:buFont typeface="Wingdings 3" pitchFamily="18" charset="2"/>
            </a:pPr>
            <a:r>
              <a:rPr sz="2300" dirty="0"/>
              <a:t>Also do not reveal your report to all except the required authorities.</a:t>
            </a:r>
          </a:p>
          <a:p>
            <a:pPr>
              <a:buClr>
                <a:schemeClr val="accent1"/>
              </a:buClr>
              <a:buSzPct val="76000"/>
              <a:buFont typeface="Wingdings 3" pitchFamily="18" charset="2"/>
            </a:pPr>
            <a:r>
              <a:rPr sz="2300" dirty="0"/>
              <a:t>If the reporting is for the personal / enterprise usage then may be once the job is over you require to destroy everything that you have</a:t>
            </a:r>
            <a:r>
              <a:rPr dirty="0"/>
              <a:t>.  </a:t>
            </a:r>
          </a:p>
          <a:p>
            <a:pPr>
              <a:buClr>
                <a:schemeClr val="accent1"/>
              </a:buClr>
              <a:buSzPct val="76000"/>
              <a:buFont typeface="Wingdings 3" pitchFamily="18" charset="2"/>
              <a:buNone/>
            </a:pPr>
            <a:endParaRPr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itle 1"/>
          <p:cNvSpPr>
            <a:spLocks noGrp="1"/>
          </p:cNvSpPr>
          <p:nvPr>
            <p:ph type="title"/>
          </p:nvPr>
        </p:nvSpPr>
        <p:spPr>
          <a:xfrm>
            <a:off x="457200" y="155575"/>
            <a:ext cx="8229600" cy="987425"/>
          </a:xfrm>
        </p:spPr>
        <p:txBody>
          <a:bodyPr vert="horz" wrap="square" lIns="91440" tIns="45720" rIns="91440" bIns="45720" anchor="b" anchorCtr="0"/>
          <a:lstStyle/>
          <a:p>
            <a:r>
              <a:rPr dirty="0"/>
              <a:t>Questions</a:t>
            </a:r>
          </a:p>
        </p:txBody>
      </p:sp>
      <p:pic>
        <p:nvPicPr>
          <p:cNvPr id="175107" name="Picture 2" descr="C:\Documents and Settings\sa\Local Settings\Temporary Internet Files\Content.IE5\KCKVXMAD\MC900441523[1].wmf"/>
          <p:cNvPicPr>
            <a:picLocks noGrp="1" noChangeAspect="1"/>
          </p:cNvPicPr>
          <p:nvPr>
            <p:ph sz="quarter" idx="1"/>
          </p:nvPr>
        </p:nvPicPr>
        <p:blipFill>
          <a:blip r:embed="rId2"/>
          <a:srcRect/>
          <a:stretch>
            <a:fillRect/>
          </a:stretch>
        </p:blipFill>
        <p:spPr>
          <a:xfrm>
            <a:off x="1828800" y="1676400"/>
            <a:ext cx="4876800" cy="4191000"/>
          </a:xfr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Origin</Template>
  <TotalTime>53</TotalTime>
  <Words>12534</Words>
  <Application>Microsoft Office PowerPoint</Application>
  <PresentationFormat>On-screen Show (4:3)</PresentationFormat>
  <Paragraphs>1226</Paragraphs>
  <Slides>164</Slides>
  <Notes>4</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0</vt:i4>
      </vt:variant>
      <vt:variant>
        <vt:lpstr>Slide Titles</vt:lpstr>
      </vt:variant>
      <vt:variant>
        <vt:i4>164</vt:i4>
      </vt:variant>
    </vt:vector>
  </HeadingPairs>
  <TitlesOfParts>
    <vt:vector size="176" baseType="lpstr">
      <vt:lpstr>Arial</vt:lpstr>
      <vt:lpstr>Bookman Old Style</vt:lpstr>
      <vt:lpstr>Calibri</vt:lpstr>
      <vt:lpstr>Comic Sans MS</vt:lpstr>
      <vt:lpstr>Courier</vt:lpstr>
      <vt:lpstr>Gill Sans MT</vt:lpstr>
      <vt:lpstr>Gulim</vt:lpstr>
      <vt:lpstr>Times New Roman</vt:lpstr>
      <vt:lpstr>Wingdings</vt:lpstr>
      <vt:lpstr>Wingdings 2</vt:lpstr>
      <vt:lpstr>Wingdings 3</vt:lpstr>
      <vt:lpstr>Origin</vt:lpstr>
      <vt:lpstr> Introduction to Cyber Crime and  Cyber Forensics</vt:lpstr>
      <vt:lpstr>Introduction to Cyber Crime</vt:lpstr>
      <vt:lpstr>Introduction to Cyber Crime</vt:lpstr>
      <vt:lpstr>Introduction to Cyber Crime</vt:lpstr>
      <vt:lpstr>Introduction to Cyber Crime</vt:lpstr>
      <vt:lpstr>Introduction to Cyber Crime</vt:lpstr>
      <vt:lpstr>Introduction to Cyber Crime</vt:lpstr>
      <vt:lpstr>Introduction to Cyber Crime</vt:lpstr>
      <vt:lpstr>Introduction to Digital Evidence</vt:lpstr>
      <vt:lpstr>Introduction to Digital Evidence</vt:lpstr>
      <vt:lpstr>Introduction to Digital Evidence</vt:lpstr>
      <vt:lpstr>Introduction to Digital Evidence</vt:lpstr>
      <vt:lpstr>Introduction to Digital Evidence</vt:lpstr>
      <vt:lpstr>The Rules of Evidence</vt:lpstr>
      <vt:lpstr>The Rules of Evidence</vt:lpstr>
      <vt:lpstr>The Rules of Evidence</vt:lpstr>
      <vt:lpstr>Locard’s Exchange Principle</vt:lpstr>
      <vt:lpstr>Locard’s Exchange Principle</vt:lpstr>
      <vt:lpstr>Locard’s Exchange Principle</vt:lpstr>
      <vt:lpstr>Why is Computer Forensics necessary?</vt:lpstr>
      <vt:lpstr>Why is Computer Forensics necessary?</vt:lpstr>
      <vt:lpstr>Computer Forensics </vt:lpstr>
      <vt:lpstr>Cyber Forensics and Incident Response Plan</vt:lpstr>
      <vt:lpstr>Cyber Forensics and Incident Response Plan</vt:lpstr>
      <vt:lpstr>Module 2 Basic Forensics principle</vt:lpstr>
      <vt:lpstr>Principles of Cyber Forensics</vt:lpstr>
      <vt:lpstr>Principles of Cyber Forensics</vt:lpstr>
      <vt:lpstr>Principles of Cyber Forensics</vt:lpstr>
      <vt:lpstr>Principles of Cyber Forensics</vt:lpstr>
      <vt:lpstr>Chain of Custody</vt:lpstr>
      <vt:lpstr>Chain of Custody</vt:lpstr>
      <vt:lpstr>Methodology of Cyber Forensics</vt:lpstr>
      <vt:lpstr>Methodology of Cyber Forensics</vt:lpstr>
      <vt:lpstr>General Evidence processing Guidelines and Procedures</vt:lpstr>
      <vt:lpstr>General Evidence processing Guidelines and Procedures</vt:lpstr>
      <vt:lpstr>General Evidence processing Guidelines and Procedures</vt:lpstr>
      <vt:lpstr>General Evidence processing Guidelines and Procedures</vt:lpstr>
      <vt:lpstr>General Evidence processing Guidelines and Procedures</vt:lpstr>
      <vt:lpstr>General Evidence processing Guidelines and Procedures</vt:lpstr>
      <vt:lpstr>Module 3 General Computing Principles</vt:lpstr>
      <vt:lpstr>Storage Basics</vt:lpstr>
      <vt:lpstr>Storage….. Hard Disk Basics</vt:lpstr>
      <vt:lpstr>Hard Disk Basics</vt:lpstr>
      <vt:lpstr>PowerPoint Presentation</vt:lpstr>
      <vt:lpstr>Hard Disk Basics</vt:lpstr>
      <vt:lpstr>Heads, tracks, and Cylinders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Hard Disk Interface</vt:lpstr>
      <vt:lpstr>CD/DVD Storage Basics</vt:lpstr>
      <vt:lpstr>CD/DVD Storage Basics</vt:lpstr>
      <vt:lpstr>Small Storage Basics</vt:lpstr>
      <vt:lpstr>Storage Basics</vt:lpstr>
      <vt:lpstr>File System Basics</vt:lpstr>
      <vt:lpstr>File System Basics</vt:lpstr>
      <vt:lpstr>File System Basics</vt:lpstr>
      <vt:lpstr>File System Basics</vt:lpstr>
      <vt:lpstr>File System Basics</vt:lpstr>
      <vt:lpstr>File System Basics</vt:lpstr>
      <vt:lpstr>File System Basics</vt:lpstr>
      <vt:lpstr>File System Basics-Swap File</vt:lpstr>
      <vt:lpstr>File System Basics-Slack Space</vt:lpstr>
      <vt:lpstr>File System Basics</vt:lpstr>
      <vt:lpstr>Memory Basics</vt:lpstr>
      <vt:lpstr>Memory Basics</vt:lpstr>
      <vt:lpstr>Memory Basics</vt:lpstr>
      <vt:lpstr>Boot Process</vt:lpstr>
      <vt:lpstr> ROM on the Motherboard </vt:lpstr>
      <vt:lpstr>Boot Process</vt:lpstr>
      <vt:lpstr>Boot Process</vt:lpstr>
      <vt:lpstr>Booting up Your Computer</vt:lpstr>
      <vt:lpstr>PowerPoint Presentation</vt:lpstr>
      <vt:lpstr>The Master Boot Record</vt:lpstr>
      <vt:lpstr>How BIOS Finds/Loads the OS </vt:lpstr>
      <vt:lpstr>Parts of the Boot Process</vt:lpstr>
      <vt:lpstr>Boot Step 1 </vt:lpstr>
      <vt:lpstr>PowerPoint Presentation</vt:lpstr>
      <vt:lpstr>Boot Step 3 </vt:lpstr>
      <vt:lpstr>Booting and ROM</vt:lpstr>
      <vt:lpstr>Networking Basics-OSI Layers</vt:lpstr>
      <vt:lpstr>OSI Layers</vt:lpstr>
      <vt:lpstr>Star Topology</vt:lpstr>
      <vt:lpstr>Star Topology‏</vt:lpstr>
      <vt:lpstr>Star Topology ‏</vt:lpstr>
      <vt:lpstr>OSI Layers</vt:lpstr>
      <vt:lpstr>OSI Layers</vt:lpstr>
      <vt:lpstr>OSI Layers</vt:lpstr>
      <vt:lpstr>OSI Layers</vt:lpstr>
      <vt:lpstr>OSI Layers</vt:lpstr>
      <vt:lpstr>TCP / IP Model</vt:lpstr>
      <vt:lpstr>TCP / IP Model</vt:lpstr>
      <vt:lpstr>TCP / IP Model</vt:lpstr>
      <vt:lpstr>TCP / IP Model</vt:lpstr>
      <vt:lpstr>  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Overview of Transmission Media</vt:lpstr>
      <vt:lpstr>Module 4 Search and Seizure of Computers </vt:lpstr>
      <vt:lpstr>First Responder Procedures</vt:lpstr>
      <vt:lpstr>First Responder Procedures</vt:lpstr>
      <vt:lpstr>First Responder Procedures</vt:lpstr>
      <vt:lpstr>First Responder Procedures</vt:lpstr>
      <vt:lpstr>First Responder Procedures</vt:lpstr>
      <vt:lpstr>First Responder Procedures</vt:lpstr>
      <vt:lpstr>Preparing a Forensics Checklist</vt:lpstr>
      <vt:lpstr>Preparing a Forensics Checklist</vt:lpstr>
      <vt:lpstr>Preparing a Forensics Checklist</vt:lpstr>
      <vt:lpstr>Preparing a Forensics Checklist</vt:lpstr>
      <vt:lpstr>Working on Live Systems and Dead Systems</vt:lpstr>
      <vt:lpstr>Working on Live Systems and Dead Systems</vt:lpstr>
      <vt:lpstr>Working on Live Systems and Dead Systems</vt:lpstr>
      <vt:lpstr>Module 5 Forensic Imaging and Verification</vt:lpstr>
      <vt:lpstr>Imaging</vt:lpstr>
      <vt:lpstr>Imaging</vt:lpstr>
      <vt:lpstr>Write Blockers</vt:lpstr>
      <vt:lpstr>Write Blockers</vt:lpstr>
      <vt:lpstr>Sterilizing the Forensic Media</vt:lpstr>
      <vt:lpstr>Imaging </vt:lpstr>
      <vt:lpstr>Verifying Image Integrity</vt:lpstr>
      <vt:lpstr>Imaging</vt:lpstr>
      <vt:lpstr>Module 5 &amp; 6 Data Recovery and Analysis  Investigative Techniques  </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Reporting </vt:lpstr>
      <vt:lpstr>Reporting</vt:lpstr>
      <vt:lpstr>Reporting</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Certificate Course  on  Cyber Security</dc:title>
  <dc:creator>sa</dc:creator>
  <cp:lastModifiedBy>sunbeam</cp:lastModifiedBy>
  <cp:revision>149</cp:revision>
  <dcterms:created xsi:type="dcterms:W3CDTF">2013-10-21T04:17:00Z</dcterms:created>
  <dcterms:modified xsi:type="dcterms:W3CDTF">2024-01-11T17:48:27Z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3BFF3D28F36C477097F004989D34EAC2_13</vt:lpwstr>
  </property>
  <property fmtid="{D5CDD505-2E9C-101B-9397-08002B2CF9AE}" pid="3" name="KSOProductBuildVer">
    <vt:lpwstr>1033-12.2.0.13306</vt:lpwstr>
  </property>
</Properties>
</file>