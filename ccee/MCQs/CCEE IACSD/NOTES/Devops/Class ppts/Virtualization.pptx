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Lst>
  <p:sldSz cy="6858000" cx="12192000"/>
  <p:notesSz cx="7104050" cy="102346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http://customooxmlschemas.google.com/">
      <go:slidesCustomData xmlns:go="http://customooxmlschemas.google.com/" r:id="rId67" roundtripDataSignature="AMtx7mharuiX2gZkIDbMMLLrO67UUTX3V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23" Type="http://schemas.openxmlformats.org/officeDocument/2006/relationships/slide" Target="slides/slide18.xml"/><Relationship Id="rId67" Type="http://customschemas.google.com/relationships/presentationmetadata" Target="metadata"/><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84225" y="767575"/>
            <a:ext cx="4736250" cy="38379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710400" y="4861425"/>
            <a:ext cx="5683225" cy="460555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1:notes"/>
          <p:cNvSpPr txBox="1"/>
          <p:nvPr>
            <p:ph idx="1" type="body"/>
          </p:nvPr>
        </p:nvSpPr>
        <p:spPr>
          <a:xfrm>
            <a:off x="710400" y="4861425"/>
            <a:ext cx="5683225" cy="46055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notes"/>
          <p:cNvSpPr/>
          <p:nvPr>
            <p:ph idx="2" type="sldImg"/>
          </p:nvPr>
        </p:nvSpPr>
        <p:spPr>
          <a:xfrm>
            <a:off x="1184225" y="767575"/>
            <a:ext cx="4736250" cy="3837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2:notes"/>
          <p:cNvSpPr txBox="1"/>
          <p:nvPr>
            <p:ph idx="1" type="body"/>
          </p:nvPr>
        </p:nvSpPr>
        <p:spPr>
          <a:xfrm>
            <a:off x="710400" y="4861425"/>
            <a:ext cx="5683225" cy="46055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2:notes"/>
          <p:cNvSpPr/>
          <p:nvPr>
            <p:ph idx="2" type="sldImg"/>
          </p:nvPr>
        </p:nvSpPr>
        <p:spPr>
          <a:xfrm>
            <a:off x="1184225" y="767575"/>
            <a:ext cx="4736250" cy="3837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3:notes"/>
          <p:cNvSpPr txBox="1"/>
          <p:nvPr>
            <p:ph idx="1" type="body"/>
          </p:nvPr>
        </p:nvSpPr>
        <p:spPr>
          <a:xfrm>
            <a:off x="710400" y="4861425"/>
            <a:ext cx="5683225" cy="46055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3:notes"/>
          <p:cNvSpPr/>
          <p:nvPr>
            <p:ph idx="2" type="sldImg"/>
          </p:nvPr>
        </p:nvSpPr>
        <p:spPr>
          <a:xfrm>
            <a:off x="1184225" y="767575"/>
            <a:ext cx="4736250" cy="3837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4:notes"/>
          <p:cNvSpPr txBox="1"/>
          <p:nvPr>
            <p:ph idx="1" type="body"/>
          </p:nvPr>
        </p:nvSpPr>
        <p:spPr>
          <a:xfrm>
            <a:off x="710400" y="4861425"/>
            <a:ext cx="5683225" cy="46055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4:notes"/>
          <p:cNvSpPr/>
          <p:nvPr>
            <p:ph idx="2" type="sldImg"/>
          </p:nvPr>
        </p:nvSpPr>
        <p:spPr>
          <a:xfrm>
            <a:off x="1184225" y="767575"/>
            <a:ext cx="4736250" cy="3837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5:notes"/>
          <p:cNvSpPr txBox="1"/>
          <p:nvPr>
            <p:ph idx="1" type="body"/>
          </p:nvPr>
        </p:nvSpPr>
        <p:spPr>
          <a:xfrm>
            <a:off x="710400" y="4861425"/>
            <a:ext cx="5683225" cy="46055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5:notes"/>
          <p:cNvSpPr/>
          <p:nvPr>
            <p:ph idx="2" type="sldImg"/>
          </p:nvPr>
        </p:nvSpPr>
        <p:spPr>
          <a:xfrm>
            <a:off x="1184225" y="767575"/>
            <a:ext cx="4736250" cy="3837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6:notes"/>
          <p:cNvSpPr txBox="1"/>
          <p:nvPr>
            <p:ph idx="1" type="body"/>
          </p:nvPr>
        </p:nvSpPr>
        <p:spPr>
          <a:xfrm>
            <a:off x="710400" y="4861425"/>
            <a:ext cx="5683225" cy="46055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6:notes"/>
          <p:cNvSpPr/>
          <p:nvPr>
            <p:ph idx="2" type="sldImg"/>
          </p:nvPr>
        </p:nvSpPr>
        <p:spPr>
          <a:xfrm>
            <a:off x="1184225" y="767575"/>
            <a:ext cx="4736250" cy="3837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7:notes"/>
          <p:cNvSpPr txBox="1"/>
          <p:nvPr>
            <p:ph idx="1" type="body"/>
          </p:nvPr>
        </p:nvSpPr>
        <p:spPr>
          <a:xfrm>
            <a:off x="710400" y="4861425"/>
            <a:ext cx="5683225" cy="46055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7:notes"/>
          <p:cNvSpPr/>
          <p:nvPr>
            <p:ph idx="2" type="sldImg"/>
          </p:nvPr>
        </p:nvSpPr>
        <p:spPr>
          <a:xfrm>
            <a:off x="1184225" y="767575"/>
            <a:ext cx="4736250" cy="3837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8:notes"/>
          <p:cNvSpPr txBox="1"/>
          <p:nvPr>
            <p:ph idx="1" type="body"/>
          </p:nvPr>
        </p:nvSpPr>
        <p:spPr>
          <a:xfrm>
            <a:off x="710400" y="4861425"/>
            <a:ext cx="5683225" cy="46055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notes"/>
          <p:cNvSpPr/>
          <p:nvPr>
            <p:ph idx="2" type="sldImg"/>
          </p:nvPr>
        </p:nvSpPr>
        <p:spPr>
          <a:xfrm>
            <a:off x="1184225" y="767575"/>
            <a:ext cx="4736250" cy="3837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9:notes"/>
          <p:cNvSpPr txBox="1"/>
          <p:nvPr>
            <p:ph idx="1" type="body"/>
          </p:nvPr>
        </p:nvSpPr>
        <p:spPr>
          <a:xfrm>
            <a:off x="710400" y="4861425"/>
            <a:ext cx="5683225" cy="46055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9:notes"/>
          <p:cNvSpPr/>
          <p:nvPr>
            <p:ph idx="2" type="sldImg"/>
          </p:nvPr>
        </p:nvSpPr>
        <p:spPr>
          <a:xfrm>
            <a:off x="1184225" y="767575"/>
            <a:ext cx="4736250" cy="3837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10:notes"/>
          <p:cNvSpPr txBox="1"/>
          <p:nvPr>
            <p:ph idx="1" type="body"/>
          </p:nvPr>
        </p:nvSpPr>
        <p:spPr>
          <a:xfrm>
            <a:off x="710400" y="4861425"/>
            <a:ext cx="5683225" cy="46055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0:notes"/>
          <p:cNvSpPr/>
          <p:nvPr>
            <p:ph idx="2" type="sldImg"/>
          </p:nvPr>
        </p:nvSpPr>
        <p:spPr>
          <a:xfrm>
            <a:off x="1184225" y="767575"/>
            <a:ext cx="4736250" cy="3837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1:notes"/>
          <p:cNvSpPr txBox="1"/>
          <p:nvPr>
            <p:ph idx="1" type="body"/>
          </p:nvPr>
        </p:nvSpPr>
        <p:spPr>
          <a:xfrm>
            <a:off x="710400" y="4861425"/>
            <a:ext cx="5683225" cy="46055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1:notes"/>
          <p:cNvSpPr/>
          <p:nvPr>
            <p:ph idx="2" type="sldImg"/>
          </p:nvPr>
        </p:nvSpPr>
        <p:spPr>
          <a:xfrm>
            <a:off x="1184225" y="767575"/>
            <a:ext cx="4736250" cy="3837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12:notes"/>
          <p:cNvSpPr txBox="1"/>
          <p:nvPr>
            <p:ph idx="1" type="body"/>
          </p:nvPr>
        </p:nvSpPr>
        <p:spPr>
          <a:xfrm>
            <a:off x="710400" y="4861425"/>
            <a:ext cx="5683225" cy="46055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2:notes"/>
          <p:cNvSpPr/>
          <p:nvPr>
            <p:ph idx="2" type="sldImg"/>
          </p:nvPr>
        </p:nvSpPr>
        <p:spPr>
          <a:xfrm>
            <a:off x="1184225" y="767575"/>
            <a:ext cx="4736250" cy="3837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3:notes"/>
          <p:cNvSpPr txBox="1"/>
          <p:nvPr>
            <p:ph idx="1" type="body"/>
          </p:nvPr>
        </p:nvSpPr>
        <p:spPr>
          <a:xfrm>
            <a:off x="710400" y="4861425"/>
            <a:ext cx="5683225" cy="46055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3:notes"/>
          <p:cNvSpPr/>
          <p:nvPr>
            <p:ph idx="2" type="sldImg"/>
          </p:nvPr>
        </p:nvSpPr>
        <p:spPr>
          <a:xfrm>
            <a:off x="1184225" y="767575"/>
            <a:ext cx="4736250" cy="3837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4:notes"/>
          <p:cNvSpPr txBox="1"/>
          <p:nvPr>
            <p:ph idx="1" type="body"/>
          </p:nvPr>
        </p:nvSpPr>
        <p:spPr>
          <a:xfrm>
            <a:off x="710400" y="4861425"/>
            <a:ext cx="5683225" cy="46055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4:notes"/>
          <p:cNvSpPr/>
          <p:nvPr>
            <p:ph idx="2" type="sldImg"/>
          </p:nvPr>
        </p:nvSpPr>
        <p:spPr>
          <a:xfrm>
            <a:off x="1184225" y="767575"/>
            <a:ext cx="4736250" cy="3837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5:notes"/>
          <p:cNvSpPr txBox="1"/>
          <p:nvPr>
            <p:ph idx="1" type="body"/>
          </p:nvPr>
        </p:nvSpPr>
        <p:spPr>
          <a:xfrm>
            <a:off x="710400" y="4861425"/>
            <a:ext cx="5683225" cy="46055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5:notes"/>
          <p:cNvSpPr/>
          <p:nvPr>
            <p:ph idx="2" type="sldImg"/>
          </p:nvPr>
        </p:nvSpPr>
        <p:spPr>
          <a:xfrm>
            <a:off x="1184225" y="767575"/>
            <a:ext cx="4736250" cy="3837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6:notes"/>
          <p:cNvSpPr txBox="1"/>
          <p:nvPr>
            <p:ph idx="1" type="body"/>
          </p:nvPr>
        </p:nvSpPr>
        <p:spPr>
          <a:xfrm>
            <a:off x="710400" y="4861425"/>
            <a:ext cx="5683225" cy="46055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6:notes"/>
          <p:cNvSpPr/>
          <p:nvPr>
            <p:ph idx="2" type="sldImg"/>
          </p:nvPr>
        </p:nvSpPr>
        <p:spPr>
          <a:xfrm>
            <a:off x="1184225" y="767575"/>
            <a:ext cx="4736250" cy="3837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7:notes"/>
          <p:cNvSpPr txBox="1"/>
          <p:nvPr>
            <p:ph idx="1" type="body"/>
          </p:nvPr>
        </p:nvSpPr>
        <p:spPr>
          <a:xfrm>
            <a:off x="710400" y="4861425"/>
            <a:ext cx="5683225" cy="46055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7:notes"/>
          <p:cNvSpPr/>
          <p:nvPr>
            <p:ph idx="2" type="sldImg"/>
          </p:nvPr>
        </p:nvSpPr>
        <p:spPr>
          <a:xfrm>
            <a:off x="1184225" y="767575"/>
            <a:ext cx="4736250" cy="3837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8:notes"/>
          <p:cNvSpPr txBox="1"/>
          <p:nvPr>
            <p:ph idx="1" type="body"/>
          </p:nvPr>
        </p:nvSpPr>
        <p:spPr>
          <a:xfrm>
            <a:off x="710400" y="4861425"/>
            <a:ext cx="5683225" cy="46055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8:notes"/>
          <p:cNvSpPr/>
          <p:nvPr>
            <p:ph idx="2" type="sldImg"/>
          </p:nvPr>
        </p:nvSpPr>
        <p:spPr>
          <a:xfrm>
            <a:off x="1184225" y="767575"/>
            <a:ext cx="4736250" cy="3837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9:notes"/>
          <p:cNvSpPr txBox="1"/>
          <p:nvPr>
            <p:ph idx="1" type="body"/>
          </p:nvPr>
        </p:nvSpPr>
        <p:spPr>
          <a:xfrm>
            <a:off x="710400" y="4861425"/>
            <a:ext cx="5683225" cy="46055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9:notes"/>
          <p:cNvSpPr/>
          <p:nvPr>
            <p:ph idx="2" type="sldImg"/>
          </p:nvPr>
        </p:nvSpPr>
        <p:spPr>
          <a:xfrm>
            <a:off x="1184225" y="767575"/>
            <a:ext cx="4736250" cy="3837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20:notes"/>
          <p:cNvSpPr txBox="1"/>
          <p:nvPr>
            <p:ph idx="1" type="body"/>
          </p:nvPr>
        </p:nvSpPr>
        <p:spPr>
          <a:xfrm>
            <a:off x="710400" y="4861425"/>
            <a:ext cx="5683225" cy="46055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20:notes"/>
          <p:cNvSpPr/>
          <p:nvPr>
            <p:ph idx="2" type="sldImg"/>
          </p:nvPr>
        </p:nvSpPr>
        <p:spPr>
          <a:xfrm>
            <a:off x="1184225" y="767575"/>
            <a:ext cx="4736250" cy="3837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21:notes"/>
          <p:cNvSpPr txBox="1"/>
          <p:nvPr>
            <p:ph idx="1" type="body"/>
          </p:nvPr>
        </p:nvSpPr>
        <p:spPr>
          <a:xfrm>
            <a:off x="710400" y="4861425"/>
            <a:ext cx="5683225" cy="46055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21:notes"/>
          <p:cNvSpPr/>
          <p:nvPr>
            <p:ph idx="2" type="sldImg"/>
          </p:nvPr>
        </p:nvSpPr>
        <p:spPr>
          <a:xfrm>
            <a:off x="1184225" y="767575"/>
            <a:ext cx="4736250" cy="3837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22:notes"/>
          <p:cNvSpPr txBox="1"/>
          <p:nvPr>
            <p:ph idx="1" type="body"/>
          </p:nvPr>
        </p:nvSpPr>
        <p:spPr>
          <a:xfrm>
            <a:off x="710400" y="4861425"/>
            <a:ext cx="5683225" cy="46055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2:notes"/>
          <p:cNvSpPr/>
          <p:nvPr>
            <p:ph idx="2" type="sldImg"/>
          </p:nvPr>
        </p:nvSpPr>
        <p:spPr>
          <a:xfrm>
            <a:off x="1184225" y="767575"/>
            <a:ext cx="4736250" cy="3837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3:notes"/>
          <p:cNvSpPr txBox="1"/>
          <p:nvPr>
            <p:ph idx="1" type="body"/>
          </p:nvPr>
        </p:nvSpPr>
        <p:spPr>
          <a:xfrm>
            <a:off x="710400" y="4861425"/>
            <a:ext cx="5683225" cy="46055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23:notes"/>
          <p:cNvSpPr/>
          <p:nvPr>
            <p:ph idx="2" type="sldImg"/>
          </p:nvPr>
        </p:nvSpPr>
        <p:spPr>
          <a:xfrm>
            <a:off x="1184225" y="767575"/>
            <a:ext cx="4736250" cy="3837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24:notes"/>
          <p:cNvSpPr txBox="1"/>
          <p:nvPr>
            <p:ph idx="1" type="body"/>
          </p:nvPr>
        </p:nvSpPr>
        <p:spPr>
          <a:xfrm>
            <a:off x="710400" y="4861425"/>
            <a:ext cx="5683225" cy="46055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24:notes"/>
          <p:cNvSpPr/>
          <p:nvPr>
            <p:ph idx="2" type="sldImg"/>
          </p:nvPr>
        </p:nvSpPr>
        <p:spPr>
          <a:xfrm>
            <a:off x="1184225" y="767575"/>
            <a:ext cx="4736250" cy="3837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25:notes"/>
          <p:cNvSpPr txBox="1"/>
          <p:nvPr>
            <p:ph idx="1" type="body"/>
          </p:nvPr>
        </p:nvSpPr>
        <p:spPr>
          <a:xfrm>
            <a:off x="710400" y="4861425"/>
            <a:ext cx="5683225" cy="46055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5:notes"/>
          <p:cNvSpPr/>
          <p:nvPr>
            <p:ph idx="2" type="sldImg"/>
          </p:nvPr>
        </p:nvSpPr>
        <p:spPr>
          <a:xfrm>
            <a:off x="1184225" y="767575"/>
            <a:ext cx="4736250" cy="3837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26:notes"/>
          <p:cNvSpPr txBox="1"/>
          <p:nvPr>
            <p:ph idx="1" type="body"/>
          </p:nvPr>
        </p:nvSpPr>
        <p:spPr>
          <a:xfrm>
            <a:off x="710400" y="4861425"/>
            <a:ext cx="5683225" cy="46055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26:notes"/>
          <p:cNvSpPr/>
          <p:nvPr>
            <p:ph idx="2" type="sldImg"/>
          </p:nvPr>
        </p:nvSpPr>
        <p:spPr>
          <a:xfrm>
            <a:off x="1184225" y="767575"/>
            <a:ext cx="4736250" cy="3837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27:notes"/>
          <p:cNvSpPr txBox="1"/>
          <p:nvPr>
            <p:ph idx="1" type="body"/>
          </p:nvPr>
        </p:nvSpPr>
        <p:spPr>
          <a:xfrm>
            <a:off x="710400" y="4861425"/>
            <a:ext cx="5683225" cy="46055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27:notes"/>
          <p:cNvSpPr/>
          <p:nvPr>
            <p:ph idx="2" type="sldImg"/>
          </p:nvPr>
        </p:nvSpPr>
        <p:spPr>
          <a:xfrm>
            <a:off x="1184225" y="767575"/>
            <a:ext cx="4736250" cy="3837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28:notes"/>
          <p:cNvSpPr txBox="1"/>
          <p:nvPr>
            <p:ph idx="1" type="body"/>
          </p:nvPr>
        </p:nvSpPr>
        <p:spPr>
          <a:xfrm>
            <a:off x="710400" y="4861425"/>
            <a:ext cx="5683225" cy="46055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28:notes"/>
          <p:cNvSpPr/>
          <p:nvPr>
            <p:ph idx="2" type="sldImg"/>
          </p:nvPr>
        </p:nvSpPr>
        <p:spPr>
          <a:xfrm>
            <a:off x="1184225" y="767575"/>
            <a:ext cx="4736250" cy="3837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9:notes"/>
          <p:cNvSpPr txBox="1"/>
          <p:nvPr>
            <p:ph idx="1" type="body"/>
          </p:nvPr>
        </p:nvSpPr>
        <p:spPr>
          <a:xfrm>
            <a:off x="710400" y="4861425"/>
            <a:ext cx="5683225" cy="46055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9:notes"/>
          <p:cNvSpPr/>
          <p:nvPr>
            <p:ph idx="2" type="sldImg"/>
          </p:nvPr>
        </p:nvSpPr>
        <p:spPr>
          <a:xfrm>
            <a:off x="1184225" y="767575"/>
            <a:ext cx="4736250" cy="3837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30:notes"/>
          <p:cNvSpPr txBox="1"/>
          <p:nvPr>
            <p:ph idx="1" type="body"/>
          </p:nvPr>
        </p:nvSpPr>
        <p:spPr>
          <a:xfrm>
            <a:off x="710400" y="4861425"/>
            <a:ext cx="5683225" cy="46055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30:notes"/>
          <p:cNvSpPr/>
          <p:nvPr>
            <p:ph idx="2" type="sldImg"/>
          </p:nvPr>
        </p:nvSpPr>
        <p:spPr>
          <a:xfrm>
            <a:off x="1184225" y="767575"/>
            <a:ext cx="4736250" cy="3837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31:notes"/>
          <p:cNvSpPr txBox="1"/>
          <p:nvPr>
            <p:ph idx="1" type="body"/>
          </p:nvPr>
        </p:nvSpPr>
        <p:spPr>
          <a:xfrm>
            <a:off x="710400" y="4861425"/>
            <a:ext cx="5683225" cy="46055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31:notes"/>
          <p:cNvSpPr/>
          <p:nvPr>
            <p:ph idx="2" type="sldImg"/>
          </p:nvPr>
        </p:nvSpPr>
        <p:spPr>
          <a:xfrm>
            <a:off x="1184225" y="767575"/>
            <a:ext cx="4736250" cy="3837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32:notes"/>
          <p:cNvSpPr txBox="1"/>
          <p:nvPr>
            <p:ph idx="1" type="body"/>
          </p:nvPr>
        </p:nvSpPr>
        <p:spPr>
          <a:xfrm>
            <a:off x="710400" y="4861425"/>
            <a:ext cx="5683225" cy="46055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32:notes"/>
          <p:cNvSpPr/>
          <p:nvPr>
            <p:ph idx="2" type="sldImg"/>
          </p:nvPr>
        </p:nvSpPr>
        <p:spPr>
          <a:xfrm>
            <a:off x="1184225" y="767575"/>
            <a:ext cx="4736250" cy="3837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3:notes"/>
          <p:cNvSpPr txBox="1"/>
          <p:nvPr>
            <p:ph idx="1" type="body"/>
          </p:nvPr>
        </p:nvSpPr>
        <p:spPr>
          <a:xfrm>
            <a:off x="710400" y="4861425"/>
            <a:ext cx="5683225" cy="46055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33:notes"/>
          <p:cNvSpPr/>
          <p:nvPr>
            <p:ph idx="2" type="sldImg"/>
          </p:nvPr>
        </p:nvSpPr>
        <p:spPr>
          <a:xfrm>
            <a:off x="1184225" y="767575"/>
            <a:ext cx="4736250" cy="3837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34:notes"/>
          <p:cNvSpPr txBox="1"/>
          <p:nvPr>
            <p:ph idx="1" type="body"/>
          </p:nvPr>
        </p:nvSpPr>
        <p:spPr>
          <a:xfrm>
            <a:off x="710400" y="4861425"/>
            <a:ext cx="5683225" cy="46055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34:notes"/>
          <p:cNvSpPr/>
          <p:nvPr>
            <p:ph idx="2" type="sldImg"/>
          </p:nvPr>
        </p:nvSpPr>
        <p:spPr>
          <a:xfrm>
            <a:off x="1184225" y="767575"/>
            <a:ext cx="4736250" cy="3837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35:notes"/>
          <p:cNvSpPr txBox="1"/>
          <p:nvPr>
            <p:ph idx="1" type="body"/>
          </p:nvPr>
        </p:nvSpPr>
        <p:spPr>
          <a:xfrm>
            <a:off x="710400" y="4861425"/>
            <a:ext cx="5683225" cy="46055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35:notes"/>
          <p:cNvSpPr/>
          <p:nvPr>
            <p:ph idx="2" type="sldImg"/>
          </p:nvPr>
        </p:nvSpPr>
        <p:spPr>
          <a:xfrm>
            <a:off x="1184225" y="767575"/>
            <a:ext cx="4736250" cy="3837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36:notes"/>
          <p:cNvSpPr txBox="1"/>
          <p:nvPr>
            <p:ph idx="1" type="body"/>
          </p:nvPr>
        </p:nvSpPr>
        <p:spPr>
          <a:xfrm>
            <a:off x="710400" y="4861425"/>
            <a:ext cx="5683225" cy="46055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36:notes"/>
          <p:cNvSpPr/>
          <p:nvPr>
            <p:ph idx="2" type="sldImg"/>
          </p:nvPr>
        </p:nvSpPr>
        <p:spPr>
          <a:xfrm>
            <a:off x="1184225" y="767575"/>
            <a:ext cx="4736250" cy="3837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37:notes"/>
          <p:cNvSpPr txBox="1"/>
          <p:nvPr>
            <p:ph idx="1" type="body"/>
          </p:nvPr>
        </p:nvSpPr>
        <p:spPr>
          <a:xfrm>
            <a:off x="710400" y="4861425"/>
            <a:ext cx="5683225" cy="46055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37:notes"/>
          <p:cNvSpPr/>
          <p:nvPr>
            <p:ph idx="2" type="sldImg"/>
          </p:nvPr>
        </p:nvSpPr>
        <p:spPr>
          <a:xfrm>
            <a:off x="1184225" y="767575"/>
            <a:ext cx="4736250" cy="3837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38:notes"/>
          <p:cNvSpPr txBox="1"/>
          <p:nvPr>
            <p:ph idx="1" type="body"/>
          </p:nvPr>
        </p:nvSpPr>
        <p:spPr>
          <a:xfrm>
            <a:off x="710400" y="4861425"/>
            <a:ext cx="5683225" cy="46055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38:notes"/>
          <p:cNvSpPr/>
          <p:nvPr>
            <p:ph idx="2" type="sldImg"/>
          </p:nvPr>
        </p:nvSpPr>
        <p:spPr>
          <a:xfrm>
            <a:off x="1184225" y="767575"/>
            <a:ext cx="4736250" cy="3837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39:notes"/>
          <p:cNvSpPr txBox="1"/>
          <p:nvPr>
            <p:ph idx="1" type="body"/>
          </p:nvPr>
        </p:nvSpPr>
        <p:spPr>
          <a:xfrm>
            <a:off x="710400" y="4861425"/>
            <a:ext cx="5683225" cy="46055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39:notes"/>
          <p:cNvSpPr/>
          <p:nvPr>
            <p:ph idx="2" type="sldImg"/>
          </p:nvPr>
        </p:nvSpPr>
        <p:spPr>
          <a:xfrm>
            <a:off x="1184225" y="767575"/>
            <a:ext cx="4736250" cy="3837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40:notes"/>
          <p:cNvSpPr txBox="1"/>
          <p:nvPr>
            <p:ph idx="1" type="body"/>
          </p:nvPr>
        </p:nvSpPr>
        <p:spPr>
          <a:xfrm>
            <a:off x="710400" y="4861425"/>
            <a:ext cx="5683225" cy="46055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40:notes"/>
          <p:cNvSpPr/>
          <p:nvPr>
            <p:ph idx="2" type="sldImg"/>
          </p:nvPr>
        </p:nvSpPr>
        <p:spPr>
          <a:xfrm>
            <a:off x="1184225" y="767575"/>
            <a:ext cx="4736250" cy="3837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41:notes"/>
          <p:cNvSpPr txBox="1"/>
          <p:nvPr>
            <p:ph idx="1" type="body"/>
          </p:nvPr>
        </p:nvSpPr>
        <p:spPr>
          <a:xfrm>
            <a:off x="710400" y="4861425"/>
            <a:ext cx="5683225" cy="46055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41:notes"/>
          <p:cNvSpPr/>
          <p:nvPr>
            <p:ph idx="2" type="sldImg"/>
          </p:nvPr>
        </p:nvSpPr>
        <p:spPr>
          <a:xfrm>
            <a:off x="1184225" y="767575"/>
            <a:ext cx="4736250" cy="3837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42:notes"/>
          <p:cNvSpPr txBox="1"/>
          <p:nvPr>
            <p:ph idx="1" type="body"/>
          </p:nvPr>
        </p:nvSpPr>
        <p:spPr>
          <a:xfrm>
            <a:off x="710400" y="4861425"/>
            <a:ext cx="5683225" cy="46055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42:notes"/>
          <p:cNvSpPr/>
          <p:nvPr>
            <p:ph idx="2" type="sldImg"/>
          </p:nvPr>
        </p:nvSpPr>
        <p:spPr>
          <a:xfrm>
            <a:off x="1184225" y="767575"/>
            <a:ext cx="4736250" cy="3837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3:notes"/>
          <p:cNvSpPr txBox="1"/>
          <p:nvPr>
            <p:ph idx="1" type="body"/>
          </p:nvPr>
        </p:nvSpPr>
        <p:spPr>
          <a:xfrm>
            <a:off x="710400" y="4861425"/>
            <a:ext cx="5683225" cy="46055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43:notes"/>
          <p:cNvSpPr/>
          <p:nvPr>
            <p:ph idx="2" type="sldImg"/>
          </p:nvPr>
        </p:nvSpPr>
        <p:spPr>
          <a:xfrm>
            <a:off x="1184225" y="767575"/>
            <a:ext cx="4736250" cy="3837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44:notes"/>
          <p:cNvSpPr txBox="1"/>
          <p:nvPr>
            <p:ph idx="1" type="body"/>
          </p:nvPr>
        </p:nvSpPr>
        <p:spPr>
          <a:xfrm>
            <a:off x="710400" y="4861425"/>
            <a:ext cx="5683225" cy="46055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44:notes"/>
          <p:cNvSpPr/>
          <p:nvPr>
            <p:ph idx="2" type="sldImg"/>
          </p:nvPr>
        </p:nvSpPr>
        <p:spPr>
          <a:xfrm>
            <a:off x="1184225" y="767575"/>
            <a:ext cx="4736250" cy="3837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45:notes"/>
          <p:cNvSpPr txBox="1"/>
          <p:nvPr>
            <p:ph idx="1" type="body"/>
          </p:nvPr>
        </p:nvSpPr>
        <p:spPr>
          <a:xfrm>
            <a:off x="710400" y="4861425"/>
            <a:ext cx="5683225" cy="46055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45:notes"/>
          <p:cNvSpPr/>
          <p:nvPr>
            <p:ph idx="2" type="sldImg"/>
          </p:nvPr>
        </p:nvSpPr>
        <p:spPr>
          <a:xfrm>
            <a:off x="1184225" y="767575"/>
            <a:ext cx="4736250" cy="3837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46:notes"/>
          <p:cNvSpPr txBox="1"/>
          <p:nvPr>
            <p:ph idx="1" type="body"/>
          </p:nvPr>
        </p:nvSpPr>
        <p:spPr>
          <a:xfrm>
            <a:off x="710400" y="4861425"/>
            <a:ext cx="5683225" cy="46055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46:notes"/>
          <p:cNvSpPr/>
          <p:nvPr>
            <p:ph idx="2" type="sldImg"/>
          </p:nvPr>
        </p:nvSpPr>
        <p:spPr>
          <a:xfrm>
            <a:off x="1184225" y="767575"/>
            <a:ext cx="4736250" cy="3837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47:notes"/>
          <p:cNvSpPr txBox="1"/>
          <p:nvPr>
            <p:ph idx="1" type="body"/>
          </p:nvPr>
        </p:nvSpPr>
        <p:spPr>
          <a:xfrm>
            <a:off x="710400" y="4861425"/>
            <a:ext cx="5683225" cy="46055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47:notes"/>
          <p:cNvSpPr/>
          <p:nvPr>
            <p:ph idx="2" type="sldImg"/>
          </p:nvPr>
        </p:nvSpPr>
        <p:spPr>
          <a:xfrm>
            <a:off x="1184225" y="767575"/>
            <a:ext cx="4736250" cy="3837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48:notes"/>
          <p:cNvSpPr txBox="1"/>
          <p:nvPr>
            <p:ph idx="1" type="body"/>
          </p:nvPr>
        </p:nvSpPr>
        <p:spPr>
          <a:xfrm>
            <a:off x="710400" y="4861425"/>
            <a:ext cx="5683225" cy="46055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48:notes"/>
          <p:cNvSpPr/>
          <p:nvPr>
            <p:ph idx="2" type="sldImg"/>
          </p:nvPr>
        </p:nvSpPr>
        <p:spPr>
          <a:xfrm>
            <a:off x="1184225" y="767575"/>
            <a:ext cx="4736250" cy="3837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49:notes"/>
          <p:cNvSpPr txBox="1"/>
          <p:nvPr>
            <p:ph idx="1" type="body"/>
          </p:nvPr>
        </p:nvSpPr>
        <p:spPr>
          <a:xfrm>
            <a:off x="710400" y="4861425"/>
            <a:ext cx="5683225" cy="46055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49:notes"/>
          <p:cNvSpPr/>
          <p:nvPr>
            <p:ph idx="2" type="sldImg"/>
          </p:nvPr>
        </p:nvSpPr>
        <p:spPr>
          <a:xfrm>
            <a:off x="1184225" y="767575"/>
            <a:ext cx="4736250" cy="3837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50:notes"/>
          <p:cNvSpPr txBox="1"/>
          <p:nvPr>
            <p:ph idx="1" type="body"/>
          </p:nvPr>
        </p:nvSpPr>
        <p:spPr>
          <a:xfrm>
            <a:off x="710400" y="4861425"/>
            <a:ext cx="5683225" cy="46055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50:notes"/>
          <p:cNvSpPr/>
          <p:nvPr>
            <p:ph idx="2" type="sldImg"/>
          </p:nvPr>
        </p:nvSpPr>
        <p:spPr>
          <a:xfrm>
            <a:off x="1184225" y="767575"/>
            <a:ext cx="4736250" cy="3837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51:notes"/>
          <p:cNvSpPr txBox="1"/>
          <p:nvPr>
            <p:ph idx="1" type="body"/>
          </p:nvPr>
        </p:nvSpPr>
        <p:spPr>
          <a:xfrm>
            <a:off x="710400" y="4861425"/>
            <a:ext cx="5683225" cy="46055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51:notes"/>
          <p:cNvSpPr/>
          <p:nvPr>
            <p:ph idx="2" type="sldImg"/>
          </p:nvPr>
        </p:nvSpPr>
        <p:spPr>
          <a:xfrm>
            <a:off x="1184225" y="767575"/>
            <a:ext cx="4736250" cy="3837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52:notes"/>
          <p:cNvSpPr txBox="1"/>
          <p:nvPr>
            <p:ph idx="1" type="body"/>
          </p:nvPr>
        </p:nvSpPr>
        <p:spPr>
          <a:xfrm>
            <a:off x="710400" y="4861425"/>
            <a:ext cx="5683225" cy="46055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52:notes"/>
          <p:cNvSpPr/>
          <p:nvPr>
            <p:ph idx="2" type="sldImg"/>
          </p:nvPr>
        </p:nvSpPr>
        <p:spPr>
          <a:xfrm>
            <a:off x="1184225" y="767575"/>
            <a:ext cx="4736250" cy="3837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53:notes"/>
          <p:cNvSpPr txBox="1"/>
          <p:nvPr>
            <p:ph idx="1" type="body"/>
          </p:nvPr>
        </p:nvSpPr>
        <p:spPr>
          <a:xfrm>
            <a:off x="710400" y="4861425"/>
            <a:ext cx="5683225" cy="46055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53:notes"/>
          <p:cNvSpPr/>
          <p:nvPr>
            <p:ph idx="2" type="sldImg"/>
          </p:nvPr>
        </p:nvSpPr>
        <p:spPr>
          <a:xfrm>
            <a:off x="1184225" y="767575"/>
            <a:ext cx="4736250" cy="3837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54:notes"/>
          <p:cNvSpPr txBox="1"/>
          <p:nvPr>
            <p:ph idx="1" type="body"/>
          </p:nvPr>
        </p:nvSpPr>
        <p:spPr>
          <a:xfrm>
            <a:off x="710400" y="4861425"/>
            <a:ext cx="5683225" cy="46055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54:notes"/>
          <p:cNvSpPr/>
          <p:nvPr>
            <p:ph idx="2" type="sldImg"/>
          </p:nvPr>
        </p:nvSpPr>
        <p:spPr>
          <a:xfrm>
            <a:off x="1184225" y="767575"/>
            <a:ext cx="4736250" cy="3837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55:notes"/>
          <p:cNvSpPr txBox="1"/>
          <p:nvPr>
            <p:ph idx="1" type="body"/>
          </p:nvPr>
        </p:nvSpPr>
        <p:spPr>
          <a:xfrm>
            <a:off x="710400" y="4861425"/>
            <a:ext cx="5683225" cy="46055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55:notes"/>
          <p:cNvSpPr/>
          <p:nvPr>
            <p:ph idx="2" type="sldImg"/>
          </p:nvPr>
        </p:nvSpPr>
        <p:spPr>
          <a:xfrm>
            <a:off x="1184225" y="767575"/>
            <a:ext cx="4736250" cy="3837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56:notes"/>
          <p:cNvSpPr txBox="1"/>
          <p:nvPr>
            <p:ph idx="1" type="body"/>
          </p:nvPr>
        </p:nvSpPr>
        <p:spPr>
          <a:xfrm>
            <a:off x="710400" y="4861425"/>
            <a:ext cx="5683225" cy="46055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56:notes"/>
          <p:cNvSpPr/>
          <p:nvPr>
            <p:ph idx="2" type="sldImg"/>
          </p:nvPr>
        </p:nvSpPr>
        <p:spPr>
          <a:xfrm>
            <a:off x="1184225" y="767575"/>
            <a:ext cx="4736250" cy="3837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57:notes"/>
          <p:cNvSpPr txBox="1"/>
          <p:nvPr>
            <p:ph idx="1" type="body"/>
          </p:nvPr>
        </p:nvSpPr>
        <p:spPr>
          <a:xfrm>
            <a:off x="710400" y="4861425"/>
            <a:ext cx="5683225" cy="46055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57:notes"/>
          <p:cNvSpPr/>
          <p:nvPr>
            <p:ph idx="2" type="sldImg"/>
          </p:nvPr>
        </p:nvSpPr>
        <p:spPr>
          <a:xfrm>
            <a:off x="1184225" y="767575"/>
            <a:ext cx="4736250" cy="3837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58:notes"/>
          <p:cNvSpPr txBox="1"/>
          <p:nvPr>
            <p:ph idx="1" type="body"/>
          </p:nvPr>
        </p:nvSpPr>
        <p:spPr>
          <a:xfrm>
            <a:off x="710400" y="4861425"/>
            <a:ext cx="5683225" cy="46055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58:notes"/>
          <p:cNvSpPr/>
          <p:nvPr>
            <p:ph idx="2" type="sldImg"/>
          </p:nvPr>
        </p:nvSpPr>
        <p:spPr>
          <a:xfrm>
            <a:off x="1184225" y="767575"/>
            <a:ext cx="4736250" cy="3837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59:notes"/>
          <p:cNvSpPr txBox="1"/>
          <p:nvPr>
            <p:ph idx="1" type="body"/>
          </p:nvPr>
        </p:nvSpPr>
        <p:spPr>
          <a:xfrm>
            <a:off x="710400" y="4861425"/>
            <a:ext cx="5683225" cy="46055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59:notes"/>
          <p:cNvSpPr/>
          <p:nvPr>
            <p:ph idx="2" type="sldImg"/>
          </p:nvPr>
        </p:nvSpPr>
        <p:spPr>
          <a:xfrm>
            <a:off x="1184225" y="767575"/>
            <a:ext cx="4736250" cy="3837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60:notes"/>
          <p:cNvSpPr txBox="1"/>
          <p:nvPr>
            <p:ph idx="1" type="body"/>
          </p:nvPr>
        </p:nvSpPr>
        <p:spPr>
          <a:xfrm>
            <a:off x="710400" y="4861425"/>
            <a:ext cx="5683225" cy="46055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60:notes"/>
          <p:cNvSpPr/>
          <p:nvPr>
            <p:ph idx="2" type="sldImg"/>
          </p:nvPr>
        </p:nvSpPr>
        <p:spPr>
          <a:xfrm>
            <a:off x="1184225" y="767575"/>
            <a:ext cx="4736250" cy="3837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61:notes"/>
          <p:cNvSpPr txBox="1"/>
          <p:nvPr>
            <p:ph idx="1" type="body"/>
          </p:nvPr>
        </p:nvSpPr>
        <p:spPr>
          <a:xfrm>
            <a:off x="710400" y="4861425"/>
            <a:ext cx="5683225" cy="46055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61:notes"/>
          <p:cNvSpPr/>
          <p:nvPr>
            <p:ph idx="2" type="sldImg"/>
          </p:nvPr>
        </p:nvSpPr>
        <p:spPr>
          <a:xfrm>
            <a:off x="1184225" y="767575"/>
            <a:ext cx="4736250" cy="3837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6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6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6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6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6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64"/>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64"/>
          <p:cNvSpPr txBox="1"/>
          <p:nvPr>
            <p:ph idx="1" type="body"/>
          </p:nvPr>
        </p:nvSpPr>
        <p:spPr>
          <a:xfrm>
            <a:off x="838200" y="1825625"/>
            <a:ext cx="10515600" cy="4351337"/>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6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6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6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6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6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6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6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6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66"/>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6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6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6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6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6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6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6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6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6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6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6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6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68"/>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6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6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6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6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6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6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4" name="Shape 54"/>
        <p:cNvGrpSpPr/>
        <p:nvPr/>
      </p:nvGrpSpPr>
      <p:grpSpPr>
        <a:xfrm>
          <a:off x="0" y="0"/>
          <a:ext cx="0" cy="0"/>
          <a:chOff x="0" y="0"/>
          <a:chExt cx="0" cy="0"/>
        </a:xfrm>
      </p:grpSpPr>
      <p:sp>
        <p:nvSpPr>
          <p:cNvPr id="55" name="Google Shape;55;p7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70"/>
          <p:cNvSpPr/>
          <p:nvPr>
            <p:ph idx="2" type="pic"/>
          </p:nvPr>
        </p:nvSpPr>
        <p:spPr>
          <a:xfrm>
            <a:off x="5183188" y="987425"/>
            <a:ext cx="6172200" cy="4873625"/>
          </a:xfrm>
          <a:prstGeom prst="rect">
            <a:avLst/>
          </a:prstGeom>
          <a:noFill/>
          <a:ln>
            <a:noFill/>
          </a:ln>
        </p:spPr>
      </p:sp>
      <p:sp>
        <p:nvSpPr>
          <p:cNvPr id="57" name="Google Shape;57;p7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7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7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7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1" name="Shape 61"/>
        <p:cNvGrpSpPr/>
        <p:nvPr/>
      </p:nvGrpSpPr>
      <p:grpSpPr>
        <a:xfrm>
          <a:off x="0" y="0"/>
          <a:ext cx="0" cy="0"/>
          <a:chOff x="0" y="0"/>
          <a:chExt cx="0" cy="0"/>
        </a:xfrm>
      </p:grpSpPr>
      <p:sp>
        <p:nvSpPr>
          <p:cNvPr id="62" name="Google Shape;62;p71"/>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71"/>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 name="Google Shape;64;p7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7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7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ype="objOnly">
  <p:cSld name="OBJECT_ONLY">
    <p:spTree>
      <p:nvGrpSpPr>
        <p:cNvPr id="67" name="Shape 67"/>
        <p:cNvGrpSpPr/>
        <p:nvPr/>
      </p:nvGrpSpPr>
      <p:grpSpPr>
        <a:xfrm>
          <a:off x="0" y="0"/>
          <a:ext cx="0" cy="0"/>
          <a:chOff x="0" y="0"/>
          <a:chExt cx="0" cy="0"/>
        </a:xfrm>
      </p:grpSpPr>
      <p:sp>
        <p:nvSpPr>
          <p:cNvPr id="68" name="Google Shape;68;p72"/>
          <p:cNvSpPr txBox="1"/>
          <p:nvPr>
            <p:ph idx="1" type="body"/>
          </p:nvPr>
        </p:nvSpPr>
        <p:spPr>
          <a:xfrm>
            <a:off x="838200" y="365125"/>
            <a:ext cx="10515600" cy="58118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p7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7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7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1.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62"/>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62"/>
          <p:cNvSpPr txBox="1"/>
          <p:nvPr>
            <p:ph idx="1" type="body"/>
          </p:nvPr>
        </p:nvSpPr>
        <p:spPr>
          <a:xfrm>
            <a:off x="838200" y="1825625"/>
            <a:ext cx="10515600" cy="4351337"/>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6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6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6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
          <p:cNvSpPr txBox="1"/>
          <p:nvPr>
            <p:ph type="ctrTitle"/>
          </p:nvPr>
        </p:nvSpPr>
        <p:spPr>
          <a:xfrm>
            <a:off x="1524000" y="1122362"/>
            <a:ext cx="9144000" cy="238760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dk1"/>
              </a:buClr>
              <a:buSzPts val="6000"/>
              <a:buFont typeface="Calibri"/>
              <a:buNone/>
            </a:pPr>
            <a:r>
              <a:rPr lang="en-US" sz="6000">
                <a:solidFill>
                  <a:schemeClr val="dk1"/>
                </a:solidFill>
                <a:latin typeface="Calibri"/>
                <a:ea typeface="Calibri"/>
                <a:cs typeface="Calibri"/>
                <a:sym typeface="Calibri"/>
              </a:rPr>
              <a:t>Virtualization</a:t>
            </a:r>
            <a:endParaRPr/>
          </a:p>
        </p:txBody>
      </p:sp>
      <p:sp>
        <p:nvSpPr>
          <p:cNvPr id="77" name="Google Shape;77;p1"/>
          <p:cNvSpPr txBox="1"/>
          <p:nvPr>
            <p:ph idx="1" type="subTitle"/>
          </p:nvPr>
        </p:nvSpPr>
        <p:spPr>
          <a:xfrm>
            <a:off x="1524000" y="3602037"/>
            <a:ext cx="9144000" cy="1655762"/>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1"/>
              </a:buClr>
              <a:buSzPts val="2400"/>
              <a:buNone/>
            </a:pPr>
            <a:r>
              <a:t/>
            </a:r>
            <a:endParaRPr sz="24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2"/>
          <p:cNvSpPr txBox="1"/>
          <p:nvPr>
            <p:ph type="title"/>
          </p:nvPr>
        </p:nvSpPr>
        <p:spPr>
          <a:xfrm>
            <a:off x="838200" y="365125"/>
            <a:ext cx="10515600" cy="6032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solidFill>
                  <a:schemeClr val="dk1"/>
                </a:solidFill>
                <a:latin typeface="Calibri"/>
                <a:ea typeface="Calibri"/>
                <a:cs typeface="Calibri"/>
                <a:sym typeface="Calibri"/>
              </a:rPr>
              <a:t>Virtualization</a:t>
            </a:r>
            <a:endParaRPr/>
          </a:p>
        </p:txBody>
      </p:sp>
      <p:sp>
        <p:nvSpPr>
          <p:cNvPr id="83" name="Google Shape;83;p2"/>
          <p:cNvSpPr txBox="1"/>
          <p:nvPr>
            <p:ph idx="1" type="body"/>
          </p:nvPr>
        </p:nvSpPr>
        <p:spPr>
          <a:xfrm>
            <a:off x="838200" y="1220787"/>
            <a:ext cx="10515600" cy="5281612"/>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Virtualization is a group of technologies and concepts that are meant to provide an abstract environment—whether virtual hardware or an operating system—to run applications.</a:t>
            </a:r>
            <a:endParaRPr/>
          </a:p>
          <a:p>
            <a:pPr indent="-38100" lvl="0" marL="228600" marR="0" rtl="0" algn="l">
              <a:lnSpc>
                <a:spcPct val="90000"/>
              </a:lnSpc>
              <a:spcBef>
                <a:spcPts val="1000"/>
              </a:spcBef>
              <a:spcAft>
                <a:spcPts val="0"/>
              </a:spcAft>
              <a:buClr>
                <a:schemeClr val="dk1"/>
              </a:buClr>
              <a:buSzPts val="3000"/>
              <a:buFont typeface="Arial"/>
              <a:buNone/>
            </a:pPr>
            <a:r>
              <a:t/>
            </a:r>
            <a:endParaRPr b="0" i="0" sz="3000" u="none" cap="none" strike="noStrik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Virtualization assign's a logical name for a physical resource.</a:t>
            </a:r>
            <a:endParaRPr/>
          </a:p>
          <a:p>
            <a:pPr indent="-38100" lvl="0" marL="228600" marR="0" rtl="0" algn="l">
              <a:lnSpc>
                <a:spcPct val="90000"/>
              </a:lnSpc>
              <a:spcBef>
                <a:spcPts val="1000"/>
              </a:spcBef>
              <a:spcAft>
                <a:spcPts val="0"/>
              </a:spcAft>
              <a:buClr>
                <a:schemeClr val="dk1"/>
              </a:buClr>
              <a:buSzPts val="3000"/>
              <a:buFont typeface="Arial"/>
              <a:buNone/>
            </a:pPr>
            <a:r>
              <a:t/>
            </a:r>
            <a:endParaRPr b="0" i="0" sz="3000" u="none" cap="none" strike="noStrik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Then provides a pointer to that physical resource when a request is made.</a:t>
            </a:r>
            <a:endParaRPr/>
          </a:p>
          <a:p>
            <a:pPr indent="-38100" lvl="0" marL="228600" marR="0" rtl="0" algn="l">
              <a:lnSpc>
                <a:spcPct val="90000"/>
              </a:lnSpc>
              <a:spcBef>
                <a:spcPts val="1000"/>
              </a:spcBef>
              <a:spcAft>
                <a:spcPts val="0"/>
              </a:spcAft>
              <a:buClr>
                <a:schemeClr val="dk1"/>
              </a:buClr>
              <a:buSzPts val="3000"/>
              <a:buFont typeface="Arial"/>
              <a:buNone/>
            </a:pPr>
            <a:r>
              <a:t/>
            </a:r>
            <a:endParaRPr b="0" i="0" sz="3000" u="none" cap="none" strike="noStrik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Virtualization is dynamic in that the mapping can be assigned based on rapidly changing conditions.</a:t>
            </a:r>
            <a:endParaRPr/>
          </a:p>
          <a:p>
            <a:pPr indent="0" lvl="0" marL="0" marR="0" rtl="0" algn="l">
              <a:lnSpc>
                <a:spcPct val="100000"/>
              </a:lnSpc>
              <a:spcBef>
                <a:spcPts val="0"/>
              </a:spcBef>
              <a:spcAft>
                <a:spcPts val="0"/>
              </a:spcAft>
              <a:buNone/>
            </a:pPr>
            <a:r>
              <a:t/>
            </a:r>
            <a:endParaRPr b="0" i="0" sz="30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3"/>
          <p:cNvSpPr txBox="1"/>
          <p:nvPr>
            <p:ph type="title"/>
          </p:nvPr>
        </p:nvSpPr>
        <p:spPr>
          <a:xfrm>
            <a:off x="838200" y="365125"/>
            <a:ext cx="10515600" cy="6032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solidFill>
                  <a:schemeClr val="dk1"/>
                </a:solidFill>
                <a:latin typeface="Calibri"/>
                <a:ea typeface="Calibri"/>
                <a:cs typeface="Calibri"/>
                <a:sym typeface="Calibri"/>
              </a:rPr>
              <a:t>Virtualization</a:t>
            </a:r>
            <a:endParaRPr/>
          </a:p>
        </p:txBody>
      </p:sp>
      <p:sp>
        <p:nvSpPr>
          <p:cNvPr id="89" name="Google Shape;89;p3"/>
          <p:cNvSpPr txBox="1"/>
          <p:nvPr>
            <p:ph idx="1" type="body"/>
          </p:nvPr>
        </p:nvSpPr>
        <p:spPr>
          <a:xfrm>
            <a:off x="838200" y="1220787"/>
            <a:ext cx="10515600" cy="5281612"/>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Virtualization is a major design technique for all cloud architectures. </a:t>
            </a:r>
            <a:endParaRPr/>
          </a:p>
          <a:p>
            <a:pPr indent="-38100" lvl="0" marL="228600" marR="0" rtl="0" algn="l">
              <a:lnSpc>
                <a:spcPct val="90000"/>
              </a:lnSpc>
              <a:spcBef>
                <a:spcPts val="1000"/>
              </a:spcBef>
              <a:spcAft>
                <a:spcPts val="0"/>
              </a:spcAft>
              <a:buClr>
                <a:schemeClr val="dk1"/>
              </a:buClr>
              <a:buSzPts val="3000"/>
              <a:buFont typeface="Arial"/>
              <a:buNone/>
            </a:pPr>
            <a:r>
              <a:t/>
            </a:r>
            <a:endParaRPr b="0" i="0" sz="3000" u="none" cap="none" strike="noStrik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In cloud computing it refers primarily to platform virtualization, or the abstraction of physical IT resources from the people and applications using them. </a:t>
            </a:r>
            <a:endParaRPr/>
          </a:p>
          <a:p>
            <a:pPr indent="-38100" lvl="0" marL="228600" marR="0" rtl="0" algn="l">
              <a:lnSpc>
                <a:spcPct val="90000"/>
              </a:lnSpc>
              <a:spcBef>
                <a:spcPts val="1000"/>
              </a:spcBef>
              <a:spcAft>
                <a:spcPts val="0"/>
              </a:spcAft>
              <a:buClr>
                <a:schemeClr val="dk1"/>
              </a:buClr>
              <a:buSzPts val="3000"/>
              <a:buFont typeface="Arial"/>
              <a:buNone/>
            </a:pPr>
            <a:r>
              <a:t/>
            </a:r>
            <a:endParaRPr b="0" i="0" sz="3000" u="none" cap="none" strike="noStrik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Virtualization allows servers, storage devices, and other hardware to be treated as a pool of resources rather than discrete systems, so that these resources can be allocated on demand. </a:t>
            </a:r>
            <a:endParaRPr/>
          </a:p>
          <a:p>
            <a:pPr indent="-38100" lvl="0" marL="228600" marR="0" rtl="0" algn="l">
              <a:lnSpc>
                <a:spcPct val="90000"/>
              </a:lnSpc>
              <a:spcBef>
                <a:spcPts val="1000"/>
              </a:spcBef>
              <a:spcAft>
                <a:spcPts val="0"/>
              </a:spcAft>
              <a:buClr>
                <a:schemeClr val="dk1"/>
              </a:buClr>
              <a:buSzPts val="3000"/>
              <a:buFont typeface="Arial"/>
              <a:buNone/>
            </a:pPr>
            <a:r>
              <a:t/>
            </a:r>
            <a:endParaRPr b="0" i="0" sz="3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b="0" i="0" sz="30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4"/>
          <p:cNvSpPr txBox="1"/>
          <p:nvPr>
            <p:ph type="title"/>
          </p:nvPr>
        </p:nvSpPr>
        <p:spPr>
          <a:xfrm>
            <a:off x="838200" y="365125"/>
            <a:ext cx="10515600" cy="6032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solidFill>
                  <a:schemeClr val="dk1"/>
                </a:solidFill>
                <a:latin typeface="Calibri"/>
                <a:ea typeface="Calibri"/>
                <a:cs typeface="Calibri"/>
                <a:sym typeface="Calibri"/>
              </a:rPr>
              <a:t>Virtualization Benefits</a:t>
            </a:r>
            <a:endParaRPr/>
          </a:p>
        </p:txBody>
      </p:sp>
      <p:sp>
        <p:nvSpPr>
          <p:cNvPr id="95" name="Google Shape;95;p4"/>
          <p:cNvSpPr txBox="1"/>
          <p:nvPr>
            <p:ph idx="1" type="body"/>
          </p:nvPr>
        </p:nvSpPr>
        <p:spPr>
          <a:xfrm>
            <a:off x="838200" y="1220787"/>
            <a:ext cx="10515600" cy="5281612"/>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3200"/>
              <a:buFont typeface="Arial"/>
              <a:buChar char="•"/>
            </a:pPr>
            <a:r>
              <a:rPr b="1" i="0" lang="en-US" sz="3200" u="none" cap="none" strike="noStrike">
                <a:solidFill>
                  <a:schemeClr val="dk1"/>
                </a:solidFill>
                <a:latin typeface="Calibri"/>
                <a:ea typeface="Calibri"/>
                <a:cs typeface="Calibri"/>
                <a:sym typeface="Calibri"/>
              </a:rPr>
              <a:t>Increased performance and computing capacity -</a:t>
            </a:r>
            <a:endParaRPr/>
          </a:p>
          <a:p>
            <a:pPr indent="-25400" lvl="0" marL="228600" marR="0" rtl="0" algn="l">
              <a:lnSpc>
                <a:spcPct val="90000"/>
              </a:lnSpc>
              <a:spcBef>
                <a:spcPts val="1000"/>
              </a:spcBef>
              <a:spcAft>
                <a:spcPts val="0"/>
              </a:spcAft>
              <a:buClr>
                <a:schemeClr val="dk1"/>
              </a:buClr>
              <a:buSzPts val="3200"/>
              <a:buFont typeface="Arial"/>
              <a:buNone/>
            </a:pPr>
            <a:r>
              <a:t/>
            </a:r>
            <a:endParaRPr b="1" i="0" sz="3200" u="none" cap="none" strike="noStrik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The average end-user desktop PC is powerful enough to meet almost all the needs of everyday computing.</a:t>
            </a:r>
            <a:endParaRPr/>
          </a:p>
          <a:p>
            <a:pPr indent="-228600" lvl="0" marL="228600" marR="0" rtl="0" algn="l">
              <a:lnSpc>
                <a:spcPct val="9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Almost all these PCs have resources enough to host a virtual machine manager and execute a virtual machine with by far acceptable performance. </a:t>
            </a:r>
            <a:endParaRPr/>
          </a:p>
          <a:p>
            <a:pPr indent="-228600" lvl="0" marL="228600" marR="0" rtl="0" algn="l">
              <a:lnSpc>
                <a:spcPct val="9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The same consideration applies to the high-end side of the PC market, where high end servers can provide immense compute power that can accommodate the execution of hundreds or thousands of virtual machines.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5"/>
          <p:cNvSpPr txBox="1"/>
          <p:nvPr>
            <p:ph type="title"/>
          </p:nvPr>
        </p:nvSpPr>
        <p:spPr>
          <a:xfrm>
            <a:off x="838200" y="365125"/>
            <a:ext cx="10515600" cy="6032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solidFill>
                  <a:schemeClr val="dk1"/>
                </a:solidFill>
                <a:latin typeface="Calibri"/>
                <a:ea typeface="Calibri"/>
                <a:cs typeface="Calibri"/>
                <a:sym typeface="Calibri"/>
              </a:rPr>
              <a:t>Virtualization Benefits</a:t>
            </a:r>
            <a:endParaRPr/>
          </a:p>
        </p:txBody>
      </p:sp>
      <p:sp>
        <p:nvSpPr>
          <p:cNvPr id="101" name="Google Shape;101;p5"/>
          <p:cNvSpPr txBox="1"/>
          <p:nvPr>
            <p:ph idx="1" type="body"/>
          </p:nvPr>
        </p:nvSpPr>
        <p:spPr>
          <a:xfrm>
            <a:off x="838200" y="1220787"/>
            <a:ext cx="10515600" cy="5281612"/>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3200"/>
              <a:buFont typeface="Arial"/>
              <a:buChar char="•"/>
            </a:pPr>
            <a:r>
              <a:rPr b="1" i="0" lang="en-US" sz="3200" u="none" cap="none" strike="noStrike">
                <a:solidFill>
                  <a:schemeClr val="dk1"/>
                </a:solidFill>
                <a:latin typeface="Calibri"/>
                <a:ea typeface="Calibri"/>
                <a:cs typeface="Calibri"/>
                <a:sym typeface="Calibri"/>
              </a:rPr>
              <a:t>Underutilized hardware and software resources -</a:t>
            </a:r>
            <a:endParaRPr/>
          </a:p>
          <a:p>
            <a:pPr indent="-25400" lvl="0" marL="228600" marR="0" rtl="0" algn="l">
              <a:lnSpc>
                <a:spcPct val="90000"/>
              </a:lnSpc>
              <a:spcBef>
                <a:spcPts val="1000"/>
              </a:spcBef>
              <a:spcAft>
                <a:spcPts val="0"/>
              </a:spcAft>
              <a:buClr>
                <a:schemeClr val="dk1"/>
              </a:buClr>
              <a:buSzPts val="3200"/>
              <a:buFont typeface="Arial"/>
              <a:buNone/>
            </a:pPr>
            <a:r>
              <a:t/>
            </a:r>
            <a:endParaRPr b="1" i="0" sz="3200" u="none" cap="none" strike="noStrik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Computers today are so powerful that in most cases only a fraction of their capacity is used by an application or the system. Moreover, if we consider the IT infrastructure of an enterprise, many computers are only partially utilized.</a:t>
            </a:r>
            <a:endParaRPr/>
          </a:p>
          <a:p>
            <a:pPr indent="-228600" lvl="0" marL="228600" marR="0" rtl="0" algn="l">
              <a:lnSpc>
                <a:spcPct val="9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Using these resources for other purposes could improve the efficiency of the IT infrastructure. </a:t>
            </a:r>
            <a:endParaRPr/>
          </a:p>
          <a:p>
            <a:pPr indent="-228600" lvl="0" marL="228600" marR="0" rtl="0" algn="l">
              <a:lnSpc>
                <a:spcPct val="9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To transparently provide such a service, it would be necessary to deploy a completely separate environment, which can be achieved through virtualization.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6"/>
          <p:cNvSpPr txBox="1"/>
          <p:nvPr>
            <p:ph type="title"/>
          </p:nvPr>
        </p:nvSpPr>
        <p:spPr>
          <a:xfrm>
            <a:off x="838200" y="365125"/>
            <a:ext cx="10515600" cy="6032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solidFill>
                  <a:schemeClr val="dk1"/>
                </a:solidFill>
                <a:latin typeface="Calibri"/>
                <a:ea typeface="Calibri"/>
                <a:cs typeface="Calibri"/>
                <a:sym typeface="Calibri"/>
              </a:rPr>
              <a:t>Virtualization Benefits</a:t>
            </a:r>
            <a:endParaRPr/>
          </a:p>
        </p:txBody>
      </p:sp>
      <p:sp>
        <p:nvSpPr>
          <p:cNvPr id="107" name="Google Shape;107;p6"/>
          <p:cNvSpPr txBox="1"/>
          <p:nvPr>
            <p:ph idx="1" type="body"/>
          </p:nvPr>
        </p:nvSpPr>
        <p:spPr>
          <a:xfrm>
            <a:off x="838200" y="1220787"/>
            <a:ext cx="10515600" cy="5281612"/>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3200"/>
              <a:buFont typeface="Arial"/>
              <a:buChar char="•"/>
            </a:pPr>
            <a:r>
              <a:rPr b="1" i="0" lang="en-US" sz="3200" u="none" cap="none" strike="noStrike">
                <a:solidFill>
                  <a:schemeClr val="dk1"/>
                </a:solidFill>
                <a:latin typeface="Calibri"/>
                <a:ea typeface="Calibri"/>
                <a:cs typeface="Calibri"/>
                <a:sym typeface="Calibri"/>
              </a:rPr>
              <a:t>Lack of space - </a:t>
            </a:r>
            <a:endParaRPr/>
          </a:p>
          <a:p>
            <a:pPr indent="-25400" lvl="0" marL="228600" marR="0" rtl="0" algn="l">
              <a:lnSpc>
                <a:spcPct val="90000"/>
              </a:lnSpc>
              <a:spcBef>
                <a:spcPts val="1000"/>
              </a:spcBef>
              <a:spcAft>
                <a:spcPts val="0"/>
              </a:spcAft>
              <a:buClr>
                <a:schemeClr val="dk1"/>
              </a:buClr>
              <a:buSzPts val="3200"/>
              <a:buFont typeface="Arial"/>
              <a:buNone/>
            </a:pPr>
            <a:r>
              <a:t/>
            </a:r>
            <a:endParaRPr b="0" i="0" sz="3200" u="none" cap="none" strike="noStrik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The continuous need for additional capacity, whether storage or compute power, makes data centers grow quickly.</a:t>
            </a:r>
            <a:endParaRPr/>
          </a:p>
          <a:p>
            <a:pPr indent="-38100" lvl="0" marL="228600" marR="0" rtl="0" algn="l">
              <a:lnSpc>
                <a:spcPct val="90000"/>
              </a:lnSpc>
              <a:spcBef>
                <a:spcPts val="1000"/>
              </a:spcBef>
              <a:spcAft>
                <a:spcPts val="0"/>
              </a:spcAft>
              <a:buClr>
                <a:schemeClr val="dk1"/>
              </a:buClr>
              <a:buSzPts val="3000"/>
              <a:buFont typeface="Arial"/>
              <a:buNone/>
            </a:pPr>
            <a:r>
              <a:t/>
            </a:r>
            <a:endParaRPr b="0" i="0" sz="3000" u="none" cap="none" strike="noStrik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 In most cases enterprises cannot afford to build another data center to accommodate additional resource capacity. </a:t>
            </a:r>
            <a:endParaRPr/>
          </a:p>
          <a:p>
            <a:pPr indent="-38100" lvl="0" marL="228600" marR="0" rtl="0" algn="l">
              <a:lnSpc>
                <a:spcPct val="90000"/>
              </a:lnSpc>
              <a:spcBef>
                <a:spcPts val="1000"/>
              </a:spcBef>
              <a:spcAft>
                <a:spcPts val="0"/>
              </a:spcAft>
              <a:buClr>
                <a:schemeClr val="dk1"/>
              </a:buClr>
              <a:buSzPts val="3000"/>
              <a:buFont typeface="Arial"/>
              <a:buNone/>
            </a:pPr>
            <a:r>
              <a:t/>
            </a:r>
            <a:endParaRPr b="0" i="0" sz="3000" u="none" cap="none" strike="noStrik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This condition, along with hardware underutilization, has led to the diffusion of a technique called server consolidation, for which virtualization technologies are fundamental.</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7"/>
          <p:cNvSpPr txBox="1"/>
          <p:nvPr>
            <p:ph type="title"/>
          </p:nvPr>
        </p:nvSpPr>
        <p:spPr>
          <a:xfrm>
            <a:off x="838200" y="365125"/>
            <a:ext cx="10515600" cy="6032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solidFill>
                  <a:schemeClr val="dk1"/>
                </a:solidFill>
                <a:latin typeface="Calibri"/>
                <a:ea typeface="Calibri"/>
                <a:cs typeface="Calibri"/>
                <a:sym typeface="Calibri"/>
              </a:rPr>
              <a:t>Virtualization Benefits</a:t>
            </a:r>
            <a:endParaRPr/>
          </a:p>
        </p:txBody>
      </p:sp>
      <p:sp>
        <p:nvSpPr>
          <p:cNvPr id="113" name="Google Shape;113;p7"/>
          <p:cNvSpPr txBox="1"/>
          <p:nvPr>
            <p:ph idx="1" type="body"/>
          </p:nvPr>
        </p:nvSpPr>
        <p:spPr>
          <a:xfrm>
            <a:off x="838200" y="1220787"/>
            <a:ext cx="10515600" cy="5281612"/>
          </a:xfrm>
          <a:prstGeom prst="rect">
            <a:avLst/>
          </a:prstGeom>
          <a:noFill/>
          <a:ln>
            <a:noFill/>
          </a:ln>
        </p:spPr>
        <p:txBody>
          <a:bodyPr anchorCtr="0" anchor="t" bIns="45700" lIns="91425" spcFirstLastPara="1" rIns="91425" wrap="square" tIns="45700">
            <a:noAutofit/>
          </a:bodyPr>
          <a:lstStyle/>
          <a:p>
            <a:pPr indent="-228600" lvl="0" marL="228600" marR="0" rtl="0" algn="l">
              <a:lnSpc>
                <a:spcPct val="80000"/>
              </a:lnSpc>
              <a:spcBef>
                <a:spcPts val="0"/>
              </a:spcBef>
              <a:spcAft>
                <a:spcPts val="0"/>
              </a:spcAft>
              <a:buClr>
                <a:schemeClr val="dk1"/>
              </a:buClr>
              <a:buSzPts val="3200"/>
              <a:buFont typeface="Arial"/>
              <a:buChar char="•"/>
            </a:pPr>
            <a:r>
              <a:rPr b="1" i="0" lang="en-US" sz="3200" u="none" cap="none" strike="noStrike">
                <a:solidFill>
                  <a:schemeClr val="dk1"/>
                </a:solidFill>
                <a:latin typeface="Calibri"/>
                <a:ea typeface="Calibri"/>
                <a:cs typeface="Calibri"/>
                <a:sym typeface="Calibri"/>
              </a:rPr>
              <a:t>Greening initiatives - </a:t>
            </a:r>
            <a:endParaRPr/>
          </a:p>
          <a:p>
            <a:pPr indent="-228600" lvl="0" marL="228600" marR="0" rtl="0" algn="l">
              <a:lnSpc>
                <a:spcPct val="80000"/>
              </a:lnSpc>
              <a:spcBef>
                <a:spcPts val="10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Recently, companies are increasingly looking for ways to reduce the amount of energy they consume and to reduce their carbon footprint. </a:t>
            </a:r>
            <a:endParaRPr/>
          </a:p>
          <a:p>
            <a:pPr indent="-228600" lvl="0" marL="228600" marR="0" rtl="0" algn="l">
              <a:lnSpc>
                <a:spcPct val="80000"/>
              </a:lnSpc>
              <a:spcBef>
                <a:spcPts val="10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Data centers are one of the major power consumers; they contribute consistently.</a:t>
            </a:r>
            <a:endParaRPr/>
          </a:p>
          <a:p>
            <a:pPr indent="-228600" lvl="0" marL="228600" marR="0" rtl="0" algn="l">
              <a:lnSpc>
                <a:spcPct val="80000"/>
              </a:lnSpc>
              <a:spcBef>
                <a:spcPts val="10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Maintaining a data center operation not only involves keeping servers on, but a great deal of energy is also consumed in keeping them cool.</a:t>
            </a:r>
            <a:endParaRPr/>
          </a:p>
          <a:p>
            <a:pPr indent="-228600" lvl="0" marL="228600" marR="0" rtl="0" algn="l">
              <a:lnSpc>
                <a:spcPct val="80000"/>
              </a:lnSpc>
              <a:spcBef>
                <a:spcPts val="10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Infrastructures for cooling have a significant impact on the carbon footprint of a data center. </a:t>
            </a:r>
            <a:endParaRPr/>
          </a:p>
          <a:p>
            <a:pPr indent="-228600" lvl="0" marL="228600" marR="0" rtl="0" algn="l">
              <a:lnSpc>
                <a:spcPct val="80000"/>
              </a:lnSpc>
              <a:spcBef>
                <a:spcPts val="10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Hence, reducing the number of servers through server consolidation will definitely reduce the impact of cooling and power consumption of a data center. </a:t>
            </a:r>
            <a:endParaRPr/>
          </a:p>
          <a:p>
            <a:pPr indent="-228600" lvl="0" marL="228600" marR="0" rtl="0" algn="l">
              <a:lnSpc>
                <a:spcPct val="80000"/>
              </a:lnSpc>
              <a:spcBef>
                <a:spcPts val="10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Virtualization technologies can provide an efficient way of consolidating servers.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8"/>
          <p:cNvSpPr txBox="1"/>
          <p:nvPr>
            <p:ph type="title"/>
          </p:nvPr>
        </p:nvSpPr>
        <p:spPr>
          <a:xfrm>
            <a:off x="838200" y="365125"/>
            <a:ext cx="10515600" cy="6032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solidFill>
                  <a:schemeClr val="dk1"/>
                </a:solidFill>
                <a:latin typeface="Calibri"/>
                <a:ea typeface="Calibri"/>
                <a:cs typeface="Calibri"/>
                <a:sym typeface="Calibri"/>
              </a:rPr>
              <a:t>Virtualization Benefits</a:t>
            </a:r>
            <a:endParaRPr/>
          </a:p>
        </p:txBody>
      </p:sp>
      <p:sp>
        <p:nvSpPr>
          <p:cNvPr id="119" name="Google Shape;119;p8"/>
          <p:cNvSpPr txBox="1"/>
          <p:nvPr>
            <p:ph idx="1" type="body"/>
          </p:nvPr>
        </p:nvSpPr>
        <p:spPr>
          <a:xfrm>
            <a:off x="838200" y="1220787"/>
            <a:ext cx="10515600" cy="5281612"/>
          </a:xfrm>
          <a:prstGeom prst="rect">
            <a:avLst/>
          </a:prstGeom>
          <a:noFill/>
          <a:ln>
            <a:noFill/>
          </a:ln>
        </p:spPr>
        <p:txBody>
          <a:bodyPr anchorCtr="0" anchor="t" bIns="45700" lIns="91425" spcFirstLastPara="1" rIns="91425" wrap="square" tIns="45700">
            <a:noAutofit/>
          </a:bodyPr>
          <a:lstStyle/>
          <a:p>
            <a:pPr indent="-228600" lvl="0" marL="228600" marR="0" rtl="0" algn="l">
              <a:lnSpc>
                <a:spcPct val="80000"/>
              </a:lnSpc>
              <a:spcBef>
                <a:spcPts val="0"/>
              </a:spcBef>
              <a:spcAft>
                <a:spcPts val="0"/>
              </a:spcAft>
              <a:buClr>
                <a:schemeClr val="dk1"/>
              </a:buClr>
              <a:buSzPts val="3200"/>
              <a:buFont typeface="Arial"/>
              <a:buChar char="•"/>
            </a:pPr>
            <a:r>
              <a:rPr b="1" i="0" lang="en-US" sz="3200" u="none" cap="none" strike="noStrike">
                <a:solidFill>
                  <a:schemeClr val="dk1"/>
                </a:solidFill>
                <a:latin typeface="Calibri"/>
                <a:ea typeface="Calibri"/>
                <a:cs typeface="Calibri"/>
                <a:sym typeface="Calibri"/>
              </a:rPr>
              <a:t>Rise of administrative costs - </a:t>
            </a:r>
            <a:endParaRPr/>
          </a:p>
          <a:p>
            <a:pPr indent="-25400" lvl="0" marL="228600" marR="0" rtl="0" algn="l">
              <a:lnSpc>
                <a:spcPct val="80000"/>
              </a:lnSpc>
              <a:spcBef>
                <a:spcPts val="1000"/>
              </a:spcBef>
              <a:spcAft>
                <a:spcPts val="0"/>
              </a:spcAft>
              <a:buClr>
                <a:schemeClr val="dk1"/>
              </a:buClr>
              <a:buSzPts val="3200"/>
              <a:buFont typeface="Arial"/>
              <a:buNone/>
            </a:pPr>
            <a:r>
              <a:t/>
            </a:r>
            <a:endParaRPr b="1" i="0" sz="3200" u="none" cap="none" strike="noStrik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Power consumption and cooling costs have now become higher than the cost of IT equipment. </a:t>
            </a:r>
            <a:endParaRPr/>
          </a:p>
          <a:p>
            <a:pPr indent="-228600" lvl="0" marL="228600" marR="0" rtl="0" algn="l">
              <a:lnSpc>
                <a:spcPct val="8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Moreover, the increased demand for additional capacity, which translates into more servers in a data center, is also responsible for a significant increment in administrative costs. </a:t>
            </a:r>
            <a:endParaRPr/>
          </a:p>
          <a:p>
            <a:pPr indent="-228600" lvl="0" marL="228600" marR="0" rtl="0" algn="l">
              <a:lnSpc>
                <a:spcPct val="8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Common system administration tasks include hardware monitoring, defective hardware replacement, server setup and updates, server resources monitoring, and backups. </a:t>
            </a:r>
            <a:endParaRPr/>
          </a:p>
          <a:p>
            <a:pPr indent="-228600" lvl="0" marL="228600" marR="0" rtl="0" algn="l">
              <a:lnSpc>
                <a:spcPct val="8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Virtualization can help reduce the number of required servers for a given workload, thus reducing the cost of the administrative personnel.</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9"/>
          <p:cNvSpPr txBox="1"/>
          <p:nvPr>
            <p:ph type="title"/>
          </p:nvPr>
        </p:nvSpPr>
        <p:spPr>
          <a:xfrm>
            <a:off x="838200" y="365125"/>
            <a:ext cx="10515600" cy="6032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solidFill>
                  <a:schemeClr val="dk1"/>
                </a:solidFill>
                <a:latin typeface="Calibri"/>
                <a:ea typeface="Calibri"/>
                <a:cs typeface="Calibri"/>
                <a:sym typeface="Calibri"/>
              </a:rPr>
              <a:t>Virtualization</a:t>
            </a:r>
            <a:endParaRPr/>
          </a:p>
        </p:txBody>
      </p:sp>
      <p:sp>
        <p:nvSpPr>
          <p:cNvPr id="125" name="Google Shape;125;p9"/>
          <p:cNvSpPr txBox="1"/>
          <p:nvPr>
            <p:ph idx="1" type="body"/>
          </p:nvPr>
        </p:nvSpPr>
        <p:spPr>
          <a:xfrm>
            <a:off x="838200" y="1220787"/>
            <a:ext cx="10515600" cy="5281612"/>
          </a:xfrm>
          <a:prstGeom prst="rect">
            <a:avLst/>
          </a:prstGeom>
          <a:noFill/>
          <a:ln>
            <a:noFill/>
          </a:ln>
        </p:spPr>
        <p:txBody>
          <a:bodyPr anchorCtr="0" anchor="t" bIns="45700" lIns="91425" spcFirstLastPara="1" rIns="91425" wrap="square" tIns="45700">
            <a:noAutofit/>
          </a:bodyPr>
          <a:lstStyle/>
          <a:p>
            <a:pPr indent="-228600" lvl="0" marL="228600" marR="0" rtl="0" algn="l">
              <a:lnSpc>
                <a:spcPct val="80000"/>
              </a:lnSpc>
              <a:spcBef>
                <a:spcPts val="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Virtualization is a broad concept that refers to the creation of a virtual version of something, whether hardware, a software environment, storage, or a network. </a:t>
            </a:r>
            <a:endParaRPr/>
          </a:p>
          <a:p>
            <a:pPr indent="-228600" lvl="0" marL="228600" marR="0" rtl="0" algn="l">
              <a:lnSpc>
                <a:spcPct val="80000"/>
              </a:lnSpc>
              <a:spcBef>
                <a:spcPts val="10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In a virtualized environment there are three major components: </a:t>
            </a:r>
            <a:r>
              <a:rPr b="1" i="0" lang="en-US" sz="2800" u="none" cap="none" strike="noStrike">
                <a:solidFill>
                  <a:schemeClr val="dk1"/>
                </a:solidFill>
                <a:latin typeface="Calibri"/>
                <a:ea typeface="Calibri"/>
                <a:cs typeface="Calibri"/>
                <a:sym typeface="Calibri"/>
              </a:rPr>
              <a:t>guest, host, and virtualization layer. </a:t>
            </a:r>
            <a:endParaRPr/>
          </a:p>
          <a:p>
            <a:pPr indent="-50800" lvl="0" marL="228600" marR="0" rtl="0" algn="l">
              <a:lnSpc>
                <a:spcPct val="80000"/>
              </a:lnSpc>
              <a:spcBef>
                <a:spcPts val="1000"/>
              </a:spcBef>
              <a:spcAft>
                <a:spcPts val="0"/>
              </a:spcAft>
              <a:buClr>
                <a:schemeClr val="dk1"/>
              </a:buClr>
              <a:buSzPts val="2800"/>
              <a:buFont typeface="Arial"/>
              <a:buNone/>
            </a:pPr>
            <a:r>
              <a:t/>
            </a:r>
            <a:endParaRPr b="1" i="0" sz="2800" u="none" cap="none" strike="noStrik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The </a:t>
            </a:r>
            <a:r>
              <a:rPr b="1" i="0" lang="en-US" sz="2800" u="none" cap="none" strike="noStrike">
                <a:solidFill>
                  <a:schemeClr val="dk1"/>
                </a:solidFill>
                <a:latin typeface="Calibri"/>
                <a:ea typeface="Calibri"/>
                <a:cs typeface="Calibri"/>
                <a:sym typeface="Calibri"/>
              </a:rPr>
              <a:t>guest</a:t>
            </a:r>
            <a:r>
              <a:rPr b="0" i="0" lang="en-US" sz="2800" u="none" cap="none" strike="noStrike">
                <a:solidFill>
                  <a:schemeClr val="dk1"/>
                </a:solidFill>
                <a:latin typeface="Calibri"/>
                <a:ea typeface="Calibri"/>
                <a:cs typeface="Calibri"/>
                <a:sym typeface="Calibri"/>
              </a:rPr>
              <a:t> represents the system component that interacts with the virtualization layer.</a:t>
            </a:r>
            <a:endParaRPr/>
          </a:p>
          <a:p>
            <a:pPr indent="-50800" lvl="0" marL="228600" marR="0" rtl="0" algn="l">
              <a:lnSpc>
                <a:spcPct val="80000"/>
              </a:lnSpc>
              <a:spcBef>
                <a:spcPts val="100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The </a:t>
            </a:r>
            <a:r>
              <a:rPr b="1" i="0" lang="en-US" sz="2800" u="none" cap="none" strike="noStrike">
                <a:solidFill>
                  <a:schemeClr val="dk1"/>
                </a:solidFill>
                <a:latin typeface="Calibri"/>
                <a:ea typeface="Calibri"/>
                <a:cs typeface="Calibri"/>
                <a:sym typeface="Calibri"/>
              </a:rPr>
              <a:t>host</a:t>
            </a:r>
            <a:r>
              <a:rPr b="0" i="0" lang="en-US" sz="2800" u="none" cap="none" strike="noStrike">
                <a:solidFill>
                  <a:schemeClr val="dk1"/>
                </a:solidFill>
                <a:latin typeface="Calibri"/>
                <a:ea typeface="Calibri"/>
                <a:cs typeface="Calibri"/>
                <a:sym typeface="Calibri"/>
              </a:rPr>
              <a:t> represents the original environment where the guest is supposed to be managed.</a:t>
            </a:r>
            <a:endParaRPr/>
          </a:p>
          <a:p>
            <a:pPr indent="-50800" lvl="0" marL="228600" marR="0" rtl="0" algn="l">
              <a:lnSpc>
                <a:spcPct val="80000"/>
              </a:lnSpc>
              <a:spcBef>
                <a:spcPts val="100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 The </a:t>
            </a:r>
            <a:r>
              <a:rPr b="1" i="0" lang="en-US" sz="2800" u="none" cap="none" strike="noStrike">
                <a:solidFill>
                  <a:schemeClr val="dk1"/>
                </a:solidFill>
                <a:latin typeface="Calibri"/>
                <a:ea typeface="Calibri"/>
                <a:cs typeface="Calibri"/>
                <a:sym typeface="Calibri"/>
              </a:rPr>
              <a:t>virtualization</a:t>
            </a:r>
            <a:r>
              <a:rPr b="0" i="0" lang="en-US" sz="2800" u="none" cap="none" strike="noStrike">
                <a:solidFill>
                  <a:schemeClr val="dk1"/>
                </a:solidFill>
                <a:latin typeface="Calibri"/>
                <a:ea typeface="Calibri"/>
                <a:cs typeface="Calibri"/>
                <a:sym typeface="Calibri"/>
              </a:rPr>
              <a:t> layer is responsible for recreating the same or a different environment where the guest will operate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0"/>
          <p:cNvSpPr txBox="1"/>
          <p:nvPr>
            <p:ph type="title"/>
          </p:nvPr>
        </p:nvSpPr>
        <p:spPr>
          <a:xfrm>
            <a:off x="838200" y="365125"/>
            <a:ext cx="10515600" cy="6032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solidFill>
                  <a:schemeClr val="dk1"/>
                </a:solidFill>
                <a:latin typeface="Calibri"/>
                <a:ea typeface="Calibri"/>
                <a:cs typeface="Calibri"/>
                <a:sym typeface="Calibri"/>
              </a:rPr>
              <a:t>Virtualization</a:t>
            </a:r>
            <a:endParaRPr/>
          </a:p>
        </p:txBody>
      </p:sp>
      <p:sp>
        <p:nvSpPr>
          <p:cNvPr id="131" name="Google Shape;131;p10"/>
          <p:cNvSpPr txBox="1"/>
          <p:nvPr>
            <p:ph idx="1" type="body"/>
          </p:nvPr>
        </p:nvSpPr>
        <p:spPr>
          <a:xfrm>
            <a:off x="838200" y="1220787"/>
            <a:ext cx="10515600" cy="5281612"/>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In the case of hardware virtualization, the guest is represented by a system image comprising an operating system and installed applications. </a:t>
            </a:r>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These are installed on top of virtual hardware that is controlled and managed by the virtualization layer, also called the virtual machine manager. </a:t>
            </a:r>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The host is instead represented by the physical hardware, and in some cases the operating system, that defines the environment where the virtual machine manager is running. </a:t>
            </a:r>
            <a:endParaRPr/>
          </a:p>
          <a:p>
            <a:pPr indent="0" lvl="0" marL="0" marR="0" rtl="0" algn="l">
              <a:lnSpc>
                <a:spcPct val="100000"/>
              </a:lnSpc>
              <a:spcBef>
                <a:spcPts val="0"/>
              </a:spcBef>
              <a:spcAft>
                <a:spcPts val="0"/>
              </a:spcAft>
              <a:buNone/>
            </a:pPr>
            <a:r>
              <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1"/>
          <p:cNvSpPr txBox="1"/>
          <p:nvPr>
            <p:ph type="title"/>
          </p:nvPr>
        </p:nvSpPr>
        <p:spPr>
          <a:xfrm>
            <a:off x="838200" y="365125"/>
            <a:ext cx="10515600" cy="6032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solidFill>
                  <a:schemeClr val="dk1"/>
                </a:solidFill>
                <a:latin typeface="Calibri"/>
                <a:ea typeface="Calibri"/>
                <a:cs typeface="Calibri"/>
                <a:sym typeface="Calibri"/>
              </a:rPr>
              <a:t>Virtualization</a:t>
            </a:r>
            <a:endParaRPr/>
          </a:p>
        </p:txBody>
      </p:sp>
      <p:pic>
        <p:nvPicPr>
          <p:cNvPr id="137" name="Google Shape;137;p11"/>
          <p:cNvPicPr preferRelativeResize="0"/>
          <p:nvPr>
            <p:ph idx="1" type="body"/>
          </p:nvPr>
        </p:nvPicPr>
        <p:blipFill rotWithShape="1">
          <a:blip r:embed="rId3">
            <a:alphaModFix/>
          </a:blip>
          <a:srcRect b="0" l="0" r="0" t="0"/>
          <a:stretch/>
        </p:blipFill>
        <p:spPr>
          <a:xfrm>
            <a:off x="838200" y="1231900"/>
            <a:ext cx="10515600" cy="52578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2"/>
          <p:cNvSpPr txBox="1"/>
          <p:nvPr>
            <p:ph type="title"/>
          </p:nvPr>
        </p:nvSpPr>
        <p:spPr>
          <a:xfrm>
            <a:off x="838200" y="365125"/>
            <a:ext cx="10515600" cy="6032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solidFill>
                  <a:schemeClr val="dk1"/>
                </a:solidFill>
                <a:latin typeface="Calibri"/>
                <a:ea typeface="Calibri"/>
                <a:cs typeface="Calibri"/>
                <a:sym typeface="Calibri"/>
              </a:rPr>
              <a:t>Virtualization</a:t>
            </a:r>
            <a:endParaRPr/>
          </a:p>
        </p:txBody>
      </p:sp>
      <p:sp>
        <p:nvSpPr>
          <p:cNvPr id="143" name="Google Shape;143;p12"/>
          <p:cNvSpPr txBox="1"/>
          <p:nvPr>
            <p:ph idx="1" type="body"/>
          </p:nvPr>
        </p:nvSpPr>
        <p:spPr>
          <a:xfrm>
            <a:off x="838200" y="968375"/>
            <a:ext cx="10847387" cy="5572125"/>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The main common characteristic of this implementations is the fact that the virtual environment is created by means of a software program. </a:t>
            </a:r>
            <a:endParaRPr/>
          </a:p>
          <a:p>
            <a:pPr indent="-228600" lvl="0" marL="228600" marR="0" rtl="0" algn="l">
              <a:lnSpc>
                <a:spcPct val="9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The ability to use software to emulate such a wide variety of environments creates a lot of opportunities, previously less attractive because of excessive overhead introduced by the virtualization layer. </a:t>
            </a:r>
            <a:endParaRPr/>
          </a:p>
          <a:p>
            <a:pPr indent="-228600" lvl="0" marL="228600" marR="0" rtl="0" algn="l">
              <a:lnSpc>
                <a:spcPct val="9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The technologies of today allow profitable use of virtualization and make it possible to fully exploit the advantages that come with it. </a:t>
            </a:r>
            <a:endParaRPr/>
          </a:p>
          <a:p>
            <a:pPr indent="-228600" lvl="0" marL="228600" marR="0" rtl="0" algn="l">
              <a:lnSpc>
                <a:spcPct val="9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Such advantages have always been characteristics of virtualized solutions.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3"/>
          <p:cNvSpPr txBox="1"/>
          <p:nvPr>
            <p:ph type="title"/>
          </p:nvPr>
        </p:nvSpPr>
        <p:spPr>
          <a:xfrm>
            <a:off x="838200" y="365125"/>
            <a:ext cx="10515600" cy="6032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solidFill>
                  <a:schemeClr val="dk1"/>
                </a:solidFill>
                <a:latin typeface="Calibri"/>
                <a:ea typeface="Calibri"/>
                <a:cs typeface="Calibri"/>
                <a:sym typeface="Calibri"/>
              </a:rPr>
              <a:t>Virtualization - Security</a:t>
            </a:r>
            <a:endParaRPr/>
          </a:p>
        </p:txBody>
      </p:sp>
      <p:sp>
        <p:nvSpPr>
          <p:cNvPr id="149" name="Google Shape;149;p13"/>
          <p:cNvSpPr txBox="1"/>
          <p:nvPr>
            <p:ph idx="1" type="body"/>
          </p:nvPr>
        </p:nvSpPr>
        <p:spPr>
          <a:xfrm>
            <a:off x="838200" y="968375"/>
            <a:ext cx="10847387" cy="5572125"/>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The ability to control the execution of a guest in a completely transparent manner provides new possibilities for delivering a secure, controlled execution environment. </a:t>
            </a:r>
            <a:endParaRPr/>
          </a:p>
          <a:p>
            <a:pPr indent="-228600" lvl="0" marL="228600" marR="0" rtl="0" algn="l">
              <a:lnSpc>
                <a:spcPct val="9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The virtual machine represents an emulated environment in which the guest is executed. </a:t>
            </a:r>
            <a:endParaRPr/>
          </a:p>
          <a:p>
            <a:pPr indent="-228600" lvl="0" marL="228600" marR="0" rtl="0" algn="l">
              <a:lnSpc>
                <a:spcPct val="9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All the operations of the guest are generally performed against the virtual machine, which then translates and applies them to the host. </a:t>
            </a:r>
            <a:endParaRPr/>
          </a:p>
          <a:p>
            <a:pPr indent="-228600" lvl="0" marL="228600" marR="0" rtl="0" algn="l">
              <a:lnSpc>
                <a:spcPct val="9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This level of indirection allows the virtual machine manager to control and filter the activity of the guest, thus preventing some harmful operations from being performed.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4"/>
          <p:cNvSpPr txBox="1"/>
          <p:nvPr>
            <p:ph type="title"/>
          </p:nvPr>
        </p:nvSpPr>
        <p:spPr>
          <a:xfrm>
            <a:off x="838200" y="365125"/>
            <a:ext cx="10515600" cy="6032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solidFill>
                  <a:schemeClr val="dk1"/>
                </a:solidFill>
                <a:latin typeface="Calibri"/>
                <a:ea typeface="Calibri"/>
                <a:cs typeface="Calibri"/>
                <a:sym typeface="Calibri"/>
              </a:rPr>
              <a:t>Virtualization - Security</a:t>
            </a:r>
            <a:endParaRPr/>
          </a:p>
        </p:txBody>
      </p:sp>
      <p:sp>
        <p:nvSpPr>
          <p:cNvPr id="155" name="Google Shape;155;p14"/>
          <p:cNvSpPr txBox="1"/>
          <p:nvPr>
            <p:ph idx="1" type="body"/>
          </p:nvPr>
        </p:nvSpPr>
        <p:spPr>
          <a:xfrm>
            <a:off x="838200" y="968375"/>
            <a:ext cx="11044237" cy="5572125"/>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chemeClr val="dk1"/>
              </a:buClr>
              <a:buSzPts val="2500"/>
              <a:buFont typeface="Arial"/>
              <a:buChar char="•"/>
            </a:pPr>
            <a:r>
              <a:rPr b="0" i="0" lang="en-US" sz="2500" u="none" cap="none" strike="noStrike">
                <a:solidFill>
                  <a:schemeClr val="dk1"/>
                </a:solidFill>
                <a:latin typeface="Calibri"/>
                <a:ea typeface="Calibri"/>
                <a:cs typeface="Calibri"/>
                <a:sym typeface="Calibri"/>
              </a:rPr>
              <a:t>Resources exposed by the host can then be hidden or simply protected from the guest. </a:t>
            </a:r>
            <a:endParaRPr/>
          </a:p>
          <a:p>
            <a:pPr indent="-228600" lvl="0" marL="228600" marR="0" rtl="0" algn="l">
              <a:lnSpc>
                <a:spcPct val="90000"/>
              </a:lnSpc>
              <a:spcBef>
                <a:spcPts val="1000"/>
              </a:spcBef>
              <a:spcAft>
                <a:spcPts val="0"/>
              </a:spcAft>
              <a:buClr>
                <a:schemeClr val="dk1"/>
              </a:buClr>
              <a:buSzPts val="2500"/>
              <a:buFont typeface="Arial"/>
              <a:buChar char="•"/>
            </a:pPr>
            <a:r>
              <a:rPr b="0" i="0" lang="en-US" sz="2500" u="none" cap="none" strike="noStrike">
                <a:solidFill>
                  <a:schemeClr val="dk1"/>
                </a:solidFill>
                <a:latin typeface="Calibri"/>
                <a:ea typeface="Calibri"/>
                <a:cs typeface="Calibri"/>
                <a:sym typeface="Calibri"/>
              </a:rPr>
              <a:t>Moreover, sensitive information that is contained in the host can be naturally hidden without the need to install complex security policies. </a:t>
            </a:r>
            <a:endParaRPr/>
          </a:p>
          <a:p>
            <a:pPr indent="-228600" lvl="0" marL="228600" marR="0" rtl="0" algn="l">
              <a:lnSpc>
                <a:spcPct val="90000"/>
              </a:lnSpc>
              <a:spcBef>
                <a:spcPts val="1000"/>
              </a:spcBef>
              <a:spcAft>
                <a:spcPts val="0"/>
              </a:spcAft>
              <a:buClr>
                <a:schemeClr val="dk1"/>
              </a:buClr>
              <a:buSzPts val="2500"/>
              <a:buFont typeface="Arial"/>
              <a:buChar char="•"/>
            </a:pPr>
            <a:r>
              <a:rPr b="0" i="0" lang="en-US" sz="2500" u="none" cap="none" strike="noStrike">
                <a:solidFill>
                  <a:schemeClr val="dk1"/>
                </a:solidFill>
                <a:latin typeface="Calibri"/>
                <a:ea typeface="Calibri"/>
                <a:cs typeface="Calibri"/>
                <a:sym typeface="Calibri"/>
              </a:rPr>
              <a:t>Increased security is a requirement when dealing with untrusted code. For example, applets downloaded from the Internet run in a sandboxed version of the Java Virtual Machine (JVM), which provides them with limited access to the hosting operating system resources. </a:t>
            </a:r>
            <a:endParaRPr/>
          </a:p>
          <a:p>
            <a:pPr indent="-228600" lvl="0" marL="228600" marR="0" rtl="0" algn="l">
              <a:lnSpc>
                <a:spcPct val="90000"/>
              </a:lnSpc>
              <a:spcBef>
                <a:spcPts val="1000"/>
              </a:spcBef>
              <a:spcAft>
                <a:spcPts val="0"/>
              </a:spcAft>
              <a:buClr>
                <a:schemeClr val="dk1"/>
              </a:buClr>
              <a:buSzPts val="2500"/>
              <a:buFont typeface="Arial"/>
              <a:buChar char="•"/>
            </a:pPr>
            <a:r>
              <a:rPr b="0" i="0" lang="en-US" sz="2500" u="none" cap="none" strike="noStrike">
                <a:solidFill>
                  <a:schemeClr val="dk1"/>
                </a:solidFill>
                <a:latin typeface="Calibri"/>
                <a:ea typeface="Calibri"/>
                <a:cs typeface="Calibri"/>
                <a:sym typeface="Calibri"/>
              </a:rPr>
              <a:t>Hardware virtualization solutions such as VMware Desktop, VirtualBox, and Parallels provide the ability to create a virtual computer with customized virtual hardware on top of which a new operating system can be installed. </a:t>
            </a:r>
            <a:endParaRPr/>
          </a:p>
          <a:p>
            <a:pPr indent="-228600" lvl="0" marL="228600" marR="0" rtl="0" algn="l">
              <a:lnSpc>
                <a:spcPct val="90000"/>
              </a:lnSpc>
              <a:spcBef>
                <a:spcPts val="1000"/>
              </a:spcBef>
              <a:spcAft>
                <a:spcPts val="0"/>
              </a:spcAft>
              <a:buClr>
                <a:schemeClr val="dk1"/>
              </a:buClr>
              <a:buSzPts val="2500"/>
              <a:buFont typeface="Arial"/>
              <a:buChar char="•"/>
            </a:pPr>
            <a:r>
              <a:rPr b="0" i="0" lang="en-US" sz="2500" u="none" cap="none" strike="noStrike">
                <a:solidFill>
                  <a:schemeClr val="dk1"/>
                </a:solidFill>
                <a:latin typeface="Calibri"/>
                <a:ea typeface="Calibri"/>
                <a:cs typeface="Calibri"/>
                <a:sym typeface="Calibri"/>
              </a:rPr>
              <a:t>By default, the file system exposed by the virtual computer is completely separated from the one of the host machine. </a:t>
            </a:r>
            <a:endParaRPr/>
          </a:p>
          <a:p>
            <a:pPr indent="-228600" lvl="0" marL="228600" marR="0" rtl="0" algn="l">
              <a:lnSpc>
                <a:spcPct val="90000"/>
              </a:lnSpc>
              <a:spcBef>
                <a:spcPts val="1000"/>
              </a:spcBef>
              <a:spcAft>
                <a:spcPts val="0"/>
              </a:spcAft>
              <a:buClr>
                <a:schemeClr val="dk1"/>
              </a:buClr>
              <a:buSzPts val="2500"/>
              <a:buFont typeface="Arial"/>
              <a:buChar char="•"/>
            </a:pPr>
            <a:r>
              <a:rPr b="0" i="0" lang="en-US" sz="2500" u="none" cap="none" strike="noStrike">
                <a:solidFill>
                  <a:schemeClr val="dk1"/>
                </a:solidFill>
                <a:latin typeface="Calibri"/>
                <a:ea typeface="Calibri"/>
                <a:cs typeface="Calibri"/>
                <a:sym typeface="Calibri"/>
              </a:rPr>
              <a:t>This becomes the perfect environment for running applications without affecting other users in the environment.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5"/>
          <p:cNvSpPr txBox="1"/>
          <p:nvPr>
            <p:ph type="title"/>
          </p:nvPr>
        </p:nvSpPr>
        <p:spPr>
          <a:xfrm>
            <a:off x="838200" y="365125"/>
            <a:ext cx="10515600" cy="6032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solidFill>
                  <a:schemeClr val="dk1"/>
                </a:solidFill>
                <a:latin typeface="Calibri"/>
                <a:ea typeface="Calibri"/>
                <a:cs typeface="Calibri"/>
                <a:sym typeface="Calibri"/>
              </a:rPr>
              <a:t>Virtualization</a:t>
            </a:r>
            <a:endParaRPr/>
          </a:p>
        </p:txBody>
      </p:sp>
      <p:sp>
        <p:nvSpPr>
          <p:cNvPr id="161" name="Google Shape;161;p15"/>
          <p:cNvSpPr txBox="1"/>
          <p:nvPr>
            <p:ph idx="1" type="body"/>
          </p:nvPr>
        </p:nvSpPr>
        <p:spPr>
          <a:xfrm>
            <a:off x="838200" y="968375"/>
            <a:ext cx="10847387" cy="5662612"/>
          </a:xfrm>
          <a:prstGeom prst="rect">
            <a:avLst/>
          </a:prstGeom>
          <a:noFill/>
          <a:ln>
            <a:noFill/>
          </a:ln>
        </p:spPr>
        <p:txBody>
          <a:bodyPr anchorCtr="0" anchor="t" bIns="45700" lIns="91425" spcFirstLastPara="1" rIns="91425" wrap="square" tIns="45700">
            <a:noAutofit/>
          </a:bodyPr>
          <a:lstStyle/>
          <a:p>
            <a:pPr indent="-228600" lvl="0" marL="228600" marR="0" rtl="0" algn="l">
              <a:lnSpc>
                <a:spcPct val="80000"/>
              </a:lnSpc>
              <a:spcBef>
                <a:spcPts val="0"/>
              </a:spcBef>
              <a:spcAft>
                <a:spcPts val="0"/>
              </a:spcAft>
              <a:buClr>
                <a:schemeClr val="dk1"/>
              </a:buClr>
              <a:buSzPts val="2700"/>
              <a:buFont typeface="Arial"/>
              <a:buChar char="•"/>
            </a:pPr>
            <a:r>
              <a:rPr b="0" i="0" lang="en-US" sz="2700" u="none" cap="none" strike="noStrike">
                <a:solidFill>
                  <a:schemeClr val="dk1"/>
                </a:solidFill>
                <a:latin typeface="Calibri"/>
                <a:ea typeface="Calibri"/>
                <a:cs typeface="Calibri"/>
                <a:sym typeface="Calibri"/>
              </a:rPr>
              <a:t>Virtualization allows the creation of a separate computing environments within the same host. </a:t>
            </a:r>
            <a:endParaRPr/>
          </a:p>
          <a:p>
            <a:pPr indent="-228600" lvl="0" marL="228600" marR="0" rtl="0" algn="l">
              <a:lnSpc>
                <a:spcPct val="80000"/>
              </a:lnSpc>
              <a:spcBef>
                <a:spcPts val="1000"/>
              </a:spcBef>
              <a:spcAft>
                <a:spcPts val="0"/>
              </a:spcAft>
              <a:buClr>
                <a:schemeClr val="dk1"/>
              </a:buClr>
              <a:buSzPts val="2700"/>
              <a:buFont typeface="Arial"/>
              <a:buChar char="•"/>
            </a:pPr>
            <a:r>
              <a:rPr b="0" i="0" lang="en-US" sz="2700" u="none" cap="none" strike="noStrike">
                <a:solidFill>
                  <a:schemeClr val="dk1"/>
                </a:solidFill>
                <a:latin typeface="Calibri"/>
                <a:ea typeface="Calibri"/>
                <a:cs typeface="Calibri"/>
                <a:sym typeface="Calibri"/>
              </a:rPr>
              <a:t>In this way it is possible to fully exploit the capabilities of a powerful guest, which would otherwise be underutilized. </a:t>
            </a:r>
            <a:endParaRPr/>
          </a:p>
          <a:p>
            <a:pPr indent="-228600" lvl="0" marL="228600" marR="0" rtl="0" algn="l">
              <a:lnSpc>
                <a:spcPct val="80000"/>
              </a:lnSpc>
              <a:spcBef>
                <a:spcPts val="1000"/>
              </a:spcBef>
              <a:spcAft>
                <a:spcPts val="0"/>
              </a:spcAft>
              <a:buClr>
                <a:schemeClr val="dk1"/>
              </a:buClr>
              <a:buSzPts val="2700"/>
              <a:buFont typeface="Arial"/>
              <a:buChar char="•"/>
            </a:pPr>
            <a:r>
              <a:rPr b="1" i="0" lang="en-US" sz="2700" u="none" cap="none" strike="noStrike">
                <a:solidFill>
                  <a:schemeClr val="dk1"/>
                </a:solidFill>
                <a:latin typeface="Calibri"/>
                <a:ea typeface="Calibri"/>
                <a:cs typeface="Calibri"/>
                <a:sym typeface="Calibri"/>
              </a:rPr>
              <a:t>Sharing</a:t>
            </a:r>
            <a:r>
              <a:rPr b="0" i="0" lang="en-US" sz="2700" u="none" cap="none" strike="noStrike">
                <a:solidFill>
                  <a:schemeClr val="dk1"/>
                </a:solidFill>
                <a:latin typeface="Calibri"/>
                <a:ea typeface="Calibri"/>
                <a:cs typeface="Calibri"/>
                <a:sym typeface="Calibri"/>
              </a:rPr>
              <a:t> is a particularly important feature in virtualized data centers, where this basic feature is used to reduce the number of active servers and limit power consumption.</a:t>
            </a:r>
            <a:endParaRPr/>
          </a:p>
          <a:p>
            <a:pPr indent="-228600" lvl="0" marL="228600" marR="0" rtl="0" algn="l">
              <a:lnSpc>
                <a:spcPct val="80000"/>
              </a:lnSpc>
              <a:spcBef>
                <a:spcPts val="1000"/>
              </a:spcBef>
              <a:spcAft>
                <a:spcPts val="0"/>
              </a:spcAft>
              <a:buClr>
                <a:schemeClr val="dk1"/>
              </a:buClr>
              <a:buSzPts val="2700"/>
              <a:buFont typeface="Arial"/>
              <a:buChar char="•"/>
            </a:pPr>
            <a:r>
              <a:rPr b="0" i="0" lang="en-US" sz="2700" u="none" cap="none" strike="noStrike">
                <a:solidFill>
                  <a:schemeClr val="dk1"/>
                </a:solidFill>
                <a:latin typeface="Calibri"/>
                <a:ea typeface="Calibri"/>
                <a:cs typeface="Calibri"/>
                <a:sym typeface="Calibri"/>
              </a:rPr>
              <a:t>With virtualization not only is it possible to share physical resource among several guests, but virtualization also allows </a:t>
            </a:r>
            <a:r>
              <a:rPr b="1" i="0" lang="en-US" sz="2700" u="none" cap="none" strike="noStrike">
                <a:solidFill>
                  <a:schemeClr val="dk1"/>
                </a:solidFill>
                <a:latin typeface="Calibri"/>
                <a:ea typeface="Calibri"/>
                <a:cs typeface="Calibri"/>
                <a:sym typeface="Calibri"/>
              </a:rPr>
              <a:t>aggregation</a:t>
            </a:r>
            <a:r>
              <a:rPr b="0" i="0" lang="en-US" sz="2700" u="none" cap="none" strike="noStrike">
                <a:solidFill>
                  <a:schemeClr val="dk1"/>
                </a:solidFill>
                <a:latin typeface="Calibri"/>
                <a:ea typeface="Calibri"/>
                <a:cs typeface="Calibri"/>
                <a:sym typeface="Calibri"/>
              </a:rPr>
              <a:t>, which is the opposite process.</a:t>
            </a:r>
            <a:endParaRPr/>
          </a:p>
          <a:p>
            <a:pPr indent="-228600" lvl="0" marL="228600" marR="0" rtl="0" algn="l">
              <a:lnSpc>
                <a:spcPct val="80000"/>
              </a:lnSpc>
              <a:spcBef>
                <a:spcPts val="1000"/>
              </a:spcBef>
              <a:spcAft>
                <a:spcPts val="0"/>
              </a:spcAft>
              <a:buClr>
                <a:schemeClr val="dk1"/>
              </a:buClr>
              <a:buSzPts val="2700"/>
              <a:buFont typeface="Arial"/>
              <a:buChar char="•"/>
            </a:pPr>
            <a:r>
              <a:rPr b="0" i="0" lang="en-US" sz="2700" u="none" cap="none" strike="noStrike">
                <a:solidFill>
                  <a:schemeClr val="dk1"/>
                </a:solidFill>
                <a:latin typeface="Calibri"/>
                <a:ea typeface="Calibri"/>
                <a:cs typeface="Calibri"/>
                <a:sym typeface="Calibri"/>
              </a:rPr>
              <a:t>A group of separate hosts can be grouped together and represented to guests as a single virtual host. </a:t>
            </a:r>
            <a:endParaRPr/>
          </a:p>
          <a:p>
            <a:pPr indent="-228600" lvl="0" marL="228600" marR="0" rtl="0" algn="l">
              <a:lnSpc>
                <a:spcPct val="80000"/>
              </a:lnSpc>
              <a:spcBef>
                <a:spcPts val="1000"/>
              </a:spcBef>
              <a:spcAft>
                <a:spcPts val="0"/>
              </a:spcAft>
              <a:buClr>
                <a:schemeClr val="dk1"/>
              </a:buClr>
              <a:buSzPts val="2700"/>
              <a:buFont typeface="Arial"/>
              <a:buChar char="•"/>
            </a:pPr>
            <a:r>
              <a:rPr b="0" i="0" lang="en-US" sz="2700" u="none" cap="none" strike="noStrike">
                <a:solidFill>
                  <a:schemeClr val="dk1"/>
                </a:solidFill>
                <a:latin typeface="Calibri"/>
                <a:ea typeface="Calibri"/>
                <a:cs typeface="Calibri"/>
                <a:sym typeface="Calibri"/>
              </a:rPr>
              <a:t>This function is naturally implemented in middleware for distributed computing, with a classical example represented by cluster management software, which harnesses the physical resources of a homogeneous group of machines and represents them as a single resource.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6"/>
          <p:cNvSpPr txBox="1"/>
          <p:nvPr>
            <p:ph type="title"/>
          </p:nvPr>
        </p:nvSpPr>
        <p:spPr>
          <a:xfrm>
            <a:off x="838200" y="365125"/>
            <a:ext cx="10515600" cy="6032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solidFill>
                  <a:schemeClr val="dk1"/>
                </a:solidFill>
                <a:latin typeface="Calibri"/>
                <a:ea typeface="Calibri"/>
                <a:cs typeface="Calibri"/>
                <a:sym typeface="Calibri"/>
              </a:rPr>
              <a:t>Virtualization</a:t>
            </a:r>
            <a:endParaRPr/>
          </a:p>
        </p:txBody>
      </p:sp>
      <p:sp>
        <p:nvSpPr>
          <p:cNvPr id="167" name="Google Shape;167;p16"/>
          <p:cNvSpPr txBox="1"/>
          <p:nvPr>
            <p:ph idx="1" type="body"/>
          </p:nvPr>
        </p:nvSpPr>
        <p:spPr>
          <a:xfrm>
            <a:off x="838200" y="968375"/>
            <a:ext cx="10847387" cy="5572125"/>
          </a:xfrm>
          <a:prstGeom prst="rect">
            <a:avLst/>
          </a:prstGeom>
          <a:noFill/>
          <a:ln>
            <a:noFill/>
          </a:ln>
        </p:spPr>
        <p:txBody>
          <a:bodyPr anchorCtr="0" anchor="t" bIns="45700" lIns="91425" spcFirstLastPara="1" rIns="91425" wrap="square" tIns="45700">
            <a:noAutofit/>
          </a:bodyPr>
          <a:lstStyle/>
          <a:p>
            <a:pPr indent="-228600" lvl="0" marL="228600" marR="0" rtl="0" algn="l">
              <a:lnSpc>
                <a:spcPct val="80000"/>
              </a:lnSpc>
              <a:spcBef>
                <a:spcPts val="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Guest programs are executed within an environment that is controlled by the virtualization layer, which ultimately is a software. </a:t>
            </a:r>
            <a:endParaRPr/>
          </a:p>
          <a:p>
            <a:pPr indent="-50800" lvl="0" marL="228600" marR="0" rtl="0" algn="l">
              <a:lnSpc>
                <a:spcPct val="80000"/>
              </a:lnSpc>
              <a:spcBef>
                <a:spcPts val="100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This allows for controlling and tuning the environment that is exposed to guests. </a:t>
            </a:r>
            <a:endParaRPr/>
          </a:p>
          <a:p>
            <a:pPr indent="-50800" lvl="0" marL="228600" marR="0" rtl="0" algn="l">
              <a:lnSpc>
                <a:spcPct val="80000"/>
              </a:lnSpc>
              <a:spcBef>
                <a:spcPts val="100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For instance, a completely different environment with respect to the host can be emulated, thus allowing the execution of guest programs requiring specific characteristics that are not present in the physical host. </a:t>
            </a:r>
            <a:endParaRPr/>
          </a:p>
          <a:p>
            <a:pPr indent="-50800" lvl="0" marL="228600" marR="0" rtl="0" algn="l">
              <a:lnSpc>
                <a:spcPct val="80000"/>
              </a:lnSpc>
              <a:spcBef>
                <a:spcPts val="100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This feature becomes very useful for testing purposes, where a specific guest has to be validated against different platforms or architectures and the wide range of options is not easily accessible during development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7"/>
          <p:cNvSpPr txBox="1"/>
          <p:nvPr>
            <p:ph type="title"/>
          </p:nvPr>
        </p:nvSpPr>
        <p:spPr>
          <a:xfrm>
            <a:off x="838200" y="365125"/>
            <a:ext cx="10515600" cy="6032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solidFill>
                  <a:schemeClr val="dk1"/>
                </a:solidFill>
                <a:latin typeface="Calibri"/>
                <a:ea typeface="Calibri"/>
                <a:cs typeface="Calibri"/>
                <a:sym typeface="Calibri"/>
              </a:rPr>
              <a:t>Virtualization</a:t>
            </a:r>
            <a:endParaRPr/>
          </a:p>
        </p:txBody>
      </p:sp>
      <p:sp>
        <p:nvSpPr>
          <p:cNvPr id="173" name="Google Shape;173;p17"/>
          <p:cNvSpPr txBox="1"/>
          <p:nvPr>
            <p:ph idx="1" type="body"/>
          </p:nvPr>
        </p:nvSpPr>
        <p:spPr>
          <a:xfrm>
            <a:off x="838200" y="968375"/>
            <a:ext cx="10847387" cy="5572125"/>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Old and legacy software that does not meet the requirements of current systems can be run on emulated hardware without any need to change the code. </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This is possible either by emulating the required hardware architecture.</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Virtualization allows providing guests—whether they are operating systems, applications, or other entities—with a completely separate environment, in which they are executed. </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The guest program performs its activity by interacting with an abstraction layer, which provides access to the underlying resources. Isolation brings several benefits; for example, it allows multiple guests to run on the same host without interfering with each other.</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Second, it provides a separation between the host and the guest. The virtual machine can filter the activity of the guest and prevent harmful operations against the host.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8"/>
          <p:cNvSpPr txBox="1"/>
          <p:nvPr>
            <p:ph type="title"/>
          </p:nvPr>
        </p:nvSpPr>
        <p:spPr>
          <a:xfrm>
            <a:off x="838200" y="365125"/>
            <a:ext cx="10515600" cy="6032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solidFill>
                  <a:schemeClr val="dk1"/>
                </a:solidFill>
                <a:latin typeface="Calibri"/>
                <a:ea typeface="Calibri"/>
                <a:cs typeface="Calibri"/>
                <a:sym typeface="Calibri"/>
              </a:rPr>
              <a:t>Virtualization</a:t>
            </a:r>
            <a:endParaRPr/>
          </a:p>
        </p:txBody>
      </p:sp>
      <p:sp>
        <p:nvSpPr>
          <p:cNvPr id="179" name="Google Shape;179;p18"/>
          <p:cNvSpPr txBox="1"/>
          <p:nvPr>
            <p:ph idx="1" type="body"/>
          </p:nvPr>
        </p:nvSpPr>
        <p:spPr>
          <a:xfrm>
            <a:off x="838200" y="968375"/>
            <a:ext cx="10847387" cy="5572125"/>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Besides these characteristics, another important capability enabled by virtualization is performance tuning. </a:t>
            </a:r>
            <a:endParaRPr/>
          </a:p>
          <a:p>
            <a:pPr indent="-228600" lvl="0" marL="228600" marR="0" rtl="0" algn="l">
              <a:lnSpc>
                <a:spcPct val="9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This feature is a reality at present, given the considerable advances in hardware and software supporting virtualization. </a:t>
            </a:r>
            <a:endParaRPr/>
          </a:p>
          <a:p>
            <a:pPr indent="-228600" lvl="0" marL="228600" marR="0" rtl="0" algn="l">
              <a:lnSpc>
                <a:spcPct val="9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It becomes easier to control the performance of the guest by finely tuning the properties of the resources exposed through the virtual environment. </a:t>
            </a:r>
            <a:endParaRPr/>
          </a:p>
          <a:p>
            <a:pPr indent="-228600" lvl="0" marL="228600" marR="0" rtl="0" algn="l">
              <a:lnSpc>
                <a:spcPct val="9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This capability provides a means to effectively implement a quality-of-service (QoS) infrastructure that more easily fulfills the service-level agreement (SLA) established for the guest.</a:t>
            </a:r>
            <a:endParaRPr/>
          </a:p>
          <a:p>
            <a:pPr indent="-228600" lvl="0" marL="228600" marR="0" rtl="0" algn="l">
              <a:lnSpc>
                <a:spcPct val="9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Another advantage of managed execution is that sometimes it allows easy capturing of the state of the guest program, persisting it, and resuming its execution.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19"/>
          <p:cNvSpPr txBox="1"/>
          <p:nvPr>
            <p:ph type="title"/>
          </p:nvPr>
        </p:nvSpPr>
        <p:spPr>
          <a:xfrm>
            <a:off x="838200" y="365125"/>
            <a:ext cx="10515600" cy="6032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solidFill>
                  <a:schemeClr val="dk1"/>
                </a:solidFill>
                <a:latin typeface="Calibri"/>
                <a:ea typeface="Calibri"/>
                <a:cs typeface="Calibri"/>
                <a:sym typeface="Calibri"/>
              </a:rPr>
              <a:t>Virtualization</a:t>
            </a:r>
            <a:endParaRPr/>
          </a:p>
        </p:txBody>
      </p:sp>
      <p:sp>
        <p:nvSpPr>
          <p:cNvPr id="185" name="Google Shape;185;p19"/>
          <p:cNvSpPr txBox="1"/>
          <p:nvPr>
            <p:ph idx="1" type="body"/>
          </p:nvPr>
        </p:nvSpPr>
        <p:spPr>
          <a:xfrm>
            <a:off x="838200" y="968375"/>
            <a:ext cx="10847387" cy="5572125"/>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80000"/>
              </a:lnSpc>
              <a:spcBef>
                <a:spcPts val="0"/>
              </a:spcBef>
              <a:spcAft>
                <a:spcPts val="0"/>
              </a:spcAft>
              <a:buClr>
                <a:schemeClr val="dk1"/>
              </a:buClr>
              <a:buSzPts val="2500"/>
              <a:buFont typeface="Arial"/>
              <a:buChar char="•"/>
            </a:pPr>
            <a:r>
              <a:rPr b="0" i="0" lang="en-US" sz="2500" u="none" cap="none" strike="noStrike">
                <a:solidFill>
                  <a:schemeClr val="dk1"/>
                </a:solidFill>
                <a:latin typeface="Calibri"/>
                <a:ea typeface="Calibri"/>
                <a:cs typeface="Calibri"/>
                <a:sym typeface="Calibri"/>
              </a:rPr>
              <a:t>This allows virtual machine managers to stop the execution of a guest operating system, move its virtual image into another machine, and resume its execution in a completely transparent manner. </a:t>
            </a:r>
            <a:endParaRPr/>
          </a:p>
          <a:p>
            <a:pPr indent="-69850" lvl="0" marL="228600" marR="0" rtl="0" algn="l">
              <a:lnSpc>
                <a:spcPct val="80000"/>
              </a:lnSpc>
              <a:spcBef>
                <a:spcPts val="1000"/>
              </a:spcBef>
              <a:spcAft>
                <a:spcPts val="0"/>
              </a:spcAft>
              <a:buClr>
                <a:schemeClr val="dk1"/>
              </a:buClr>
              <a:buSzPts val="2500"/>
              <a:buFont typeface="Arial"/>
              <a:buNone/>
            </a:pPr>
            <a:r>
              <a:t/>
            </a:r>
            <a:endParaRPr b="0" i="0" sz="2500" u="none" cap="none" strike="noStrik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2500"/>
              <a:buFont typeface="Arial"/>
              <a:buChar char="•"/>
            </a:pPr>
            <a:r>
              <a:rPr b="0" i="0" lang="en-US" sz="2500" u="none" cap="none" strike="noStrike">
                <a:solidFill>
                  <a:schemeClr val="dk1"/>
                </a:solidFill>
                <a:latin typeface="Calibri"/>
                <a:ea typeface="Calibri"/>
                <a:cs typeface="Calibri"/>
                <a:sym typeface="Calibri"/>
              </a:rPr>
              <a:t>This technique is called </a:t>
            </a:r>
            <a:r>
              <a:rPr b="1" i="0" lang="en-US" sz="2500" u="none" cap="none" strike="noStrike">
                <a:solidFill>
                  <a:schemeClr val="dk1"/>
                </a:solidFill>
                <a:latin typeface="Calibri"/>
                <a:ea typeface="Calibri"/>
                <a:cs typeface="Calibri"/>
                <a:sym typeface="Calibri"/>
              </a:rPr>
              <a:t>virtual machine migration</a:t>
            </a:r>
            <a:r>
              <a:rPr b="0" i="0" lang="en-US" sz="2500" u="none" cap="none" strike="noStrike">
                <a:solidFill>
                  <a:schemeClr val="dk1"/>
                </a:solidFill>
                <a:latin typeface="Calibri"/>
                <a:ea typeface="Calibri"/>
                <a:cs typeface="Calibri"/>
                <a:sym typeface="Calibri"/>
              </a:rPr>
              <a:t> and constitutes an important feature in virtualized data centers for optimizing their efficiency in serving application demands.</a:t>
            </a:r>
            <a:endParaRPr/>
          </a:p>
          <a:p>
            <a:pPr indent="-69850" lvl="0" marL="228600" marR="0" rtl="0" algn="l">
              <a:lnSpc>
                <a:spcPct val="80000"/>
              </a:lnSpc>
              <a:spcBef>
                <a:spcPts val="1000"/>
              </a:spcBef>
              <a:spcAft>
                <a:spcPts val="0"/>
              </a:spcAft>
              <a:buClr>
                <a:schemeClr val="dk1"/>
              </a:buClr>
              <a:buSzPts val="2500"/>
              <a:buFont typeface="Arial"/>
              <a:buNone/>
            </a:pPr>
            <a:r>
              <a:t/>
            </a:r>
            <a:endParaRPr b="0" i="0" sz="2500" u="none" cap="none" strike="noStrik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2500"/>
              <a:buFont typeface="Arial"/>
              <a:buChar char="•"/>
            </a:pPr>
            <a:r>
              <a:rPr b="0" i="0" lang="en-US" sz="2500" u="none" cap="none" strike="noStrike">
                <a:solidFill>
                  <a:schemeClr val="dk1"/>
                </a:solidFill>
                <a:latin typeface="Calibri"/>
                <a:ea typeface="Calibri"/>
                <a:cs typeface="Calibri"/>
                <a:sym typeface="Calibri"/>
              </a:rPr>
              <a:t>Virtualization covers a wide range of emulation techniques that are applied to different areas of computing.</a:t>
            </a:r>
            <a:endParaRPr/>
          </a:p>
          <a:p>
            <a:pPr indent="-69850" lvl="0" marL="228600" marR="0" rtl="0" algn="l">
              <a:lnSpc>
                <a:spcPct val="80000"/>
              </a:lnSpc>
              <a:spcBef>
                <a:spcPts val="1000"/>
              </a:spcBef>
              <a:spcAft>
                <a:spcPts val="0"/>
              </a:spcAft>
              <a:buClr>
                <a:schemeClr val="dk1"/>
              </a:buClr>
              <a:buSzPts val="2500"/>
              <a:buFont typeface="Arial"/>
              <a:buNone/>
            </a:pPr>
            <a:r>
              <a:t/>
            </a:r>
            <a:endParaRPr b="0" i="0" sz="2500" u="none" cap="none" strike="noStrik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2500"/>
              <a:buFont typeface="Arial"/>
              <a:buChar char="•"/>
            </a:pPr>
            <a:r>
              <a:rPr b="0" i="0" lang="en-US" sz="2500" u="none" cap="none" strike="noStrike">
                <a:solidFill>
                  <a:schemeClr val="dk1"/>
                </a:solidFill>
                <a:latin typeface="Calibri"/>
                <a:ea typeface="Calibri"/>
                <a:cs typeface="Calibri"/>
                <a:sym typeface="Calibri"/>
              </a:rPr>
              <a:t>he first classification discriminates against the service or entity that is being emulated.</a:t>
            </a:r>
            <a:endParaRPr/>
          </a:p>
          <a:p>
            <a:pPr indent="-69850" lvl="0" marL="228600" marR="0" rtl="0" algn="l">
              <a:lnSpc>
                <a:spcPct val="80000"/>
              </a:lnSpc>
              <a:spcBef>
                <a:spcPts val="1000"/>
              </a:spcBef>
              <a:spcAft>
                <a:spcPts val="0"/>
              </a:spcAft>
              <a:buClr>
                <a:schemeClr val="dk1"/>
              </a:buClr>
              <a:buSzPts val="2500"/>
              <a:buFont typeface="Arial"/>
              <a:buNone/>
            </a:pPr>
            <a:r>
              <a:t/>
            </a:r>
            <a:endParaRPr b="0" i="0" sz="2500" u="none" cap="none" strike="noStrik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2500"/>
              <a:buFont typeface="Arial"/>
              <a:buChar char="•"/>
            </a:pPr>
            <a:r>
              <a:rPr b="0" i="0" lang="en-US" sz="2500" u="none" cap="none" strike="noStrike">
                <a:solidFill>
                  <a:schemeClr val="dk1"/>
                </a:solidFill>
                <a:latin typeface="Calibri"/>
                <a:ea typeface="Calibri"/>
                <a:cs typeface="Calibri"/>
                <a:sym typeface="Calibri"/>
              </a:rPr>
              <a:t>Virtualization is mainly used to emulate </a:t>
            </a:r>
            <a:r>
              <a:rPr b="1" i="0" lang="en-US" sz="2500" u="none" cap="none" strike="noStrike">
                <a:solidFill>
                  <a:schemeClr val="dk1"/>
                </a:solidFill>
                <a:latin typeface="Calibri"/>
                <a:ea typeface="Calibri"/>
                <a:cs typeface="Calibri"/>
                <a:sym typeface="Calibri"/>
              </a:rPr>
              <a:t>execution environments</a:t>
            </a:r>
            <a:r>
              <a:rPr b="0" i="0" lang="en-US" sz="2500" u="none" cap="none" strike="noStrike">
                <a:solidFill>
                  <a:schemeClr val="dk1"/>
                </a:solidFill>
                <a:latin typeface="Calibri"/>
                <a:ea typeface="Calibri"/>
                <a:cs typeface="Calibri"/>
                <a:sym typeface="Calibri"/>
              </a:rPr>
              <a:t>, </a:t>
            </a:r>
            <a:r>
              <a:rPr b="1" i="0" lang="en-US" sz="2500" u="none" cap="none" strike="noStrike">
                <a:solidFill>
                  <a:schemeClr val="dk1"/>
                </a:solidFill>
                <a:latin typeface="Calibri"/>
                <a:ea typeface="Calibri"/>
                <a:cs typeface="Calibri"/>
                <a:sym typeface="Calibri"/>
              </a:rPr>
              <a:t>storage</a:t>
            </a:r>
            <a:r>
              <a:rPr b="0" i="0" lang="en-US" sz="2500" u="none" cap="none" strike="noStrike">
                <a:solidFill>
                  <a:schemeClr val="dk1"/>
                </a:solidFill>
                <a:latin typeface="Calibri"/>
                <a:ea typeface="Calibri"/>
                <a:cs typeface="Calibri"/>
                <a:sym typeface="Calibri"/>
              </a:rPr>
              <a:t>, and </a:t>
            </a:r>
            <a:r>
              <a:rPr b="1" i="0" lang="en-US" sz="2500" u="none" cap="none" strike="noStrike">
                <a:solidFill>
                  <a:schemeClr val="dk1"/>
                </a:solidFill>
                <a:latin typeface="Calibri"/>
                <a:ea typeface="Calibri"/>
                <a:cs typeface="Calibri"/>
                <a:sym typeface="Calibri"/>
              </a:rPr>
              <a:t>networks</a:t>
            </a:r>
            <a:r>
              <a:rPr b="0" i="0" lang="en-US" sz="2500" u="none" cap="none" strike="noStrike">
                <a:solidFill>
                  <a:schemeClr val="dk1"/>
                </a:solidFill>
                <a:latin typeface="Calibri"/>
                <a:ea typeface="Calibri"/>
                <a:cs typeface="Calibri"/>
                <a:sym typeface="Calibri"/>
              </a:rPr>
              <a:t>. </a:t>
            </a:r>
            <a:endParaRPr/>
          </a:p>
          <a:p>
            <a:pPr indent="0" lvl="0" marL="0" marR="0" rtl="0" algn="l">
              <a:lnSpc>
                <a:spcPct val="100000"/>
              </a:lnSpc>
              <a:spcBef>
                <a:spcPts val="0"/>
              </a:spcBef>
              <a:spcAft>
                <a:spcPts val="0"/>
              </a:spcAft>
              <a:buNone/>
            </a:pPr>
            <a:r>
              <a:t/>
            </a:r>
            <a:endParaRPr b="0" i="0" sz="25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0"/>
          <p:cNvSpPr txBox="1"/>
          <p:nvPr>
            <p:ph type="title"/>
          </p:nvPr>
        </p:nvSpPr>
        <p:spPr>
          <a:xfrm>
            <a:off x="838200" y="365125"/>
            <a:ext cx="10515600" cy="6032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solidFill>
                  <a:schemeClr val="dk1"/>
                </a:solidFill>
                <a:latin typeface="Calibri"/>
                <a:ea typeface="Calibri"/>
                <a:cs typeface="Calibri"/>
                <a:sym typeface="Calibri"/>
              </a:rPr>
              <a:t>Virtualization</a:t>
            </a:r>
            <a:endParaRPr/>
          </a:p>
        </p:txBody>
      </p:sp>
      <p:sp>
        <p:nvSpPr>
          <p:cNvPr id="191" name="Google Shape;191;p20"/>
          <p:cNvSpPr txBox="1"/>
          <p:nvPr>
            <p:ph idx="1" type="body"/>
          </p:nvPr>
        </p:nvSpPr>
        <p:spPr>
          <a:xfrm>
            <a:off x="838200" y="968375"/>
            <a:ext cx="10847387" cy="5572125"/>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700"/>
              <a:buFont typeface="Arial"/>
              <a:buChar char="•"/>
            </a:pPr>
            <a:r>
              <a:rPr b="0" i="0" lang="en-US" sz="2700" u="none" cap="none" strike="noStrike">
                <a:solidFill>
                  <a:schemeClr val="dk1"/>
                </a:solidFill>
                <a:latin typeface="Calibri"/>
                <a:ea typeface="Calibri"/>
                <a:cs typeface="Calibri"/>
                <a:sym typeface="Calibri"/>
              </a:rPr>
              <a:t>In particular we can divide these execution virtualization techniques into two major categories by considering the type of host they require. </a:t>
            </a:r>
            <a:endParaRPr/>
          </a:p>
          <a:p>
            <a:pPr indent="-228600" lvl="0" marL="228600" marR="0" rtl="0" algn="l">
              <a:lnSpc>
                <a:spcPct val="90000"/>
              </a:lnSpc>
              <a:spcBef>
                <a:spcPts val="1000"/>
              </a:spcBef>
              <a:spcAft>
                <a:spcPts val="0"/>
              </a:spcAft>
              <a:buClr>
                <a:schemeClr val="dk1"/>
              </a:buClr>
              <a:buSzPts val="2700"/>
              <a:buFont typeface="Arial"/>
              <a:buChar char="•"/>
            </a:pPr>
            <a:r>
              <a:rPr b="1" i="0" lang="en-US" sz="2700" u="none" cap="none" strike="noStrike">
                <a:solidFill>
                  <a:schemeClr val="dk1"/>
                </a:solidFill>
                <a:latin typeface="Calibri"/>
                <a:ea typeface="Calibri"/>
                <a:cs typeface="Calibri"/>
                <a:sym typeface="Calibri"/>
              </a:rPr>
              <a:t>Process-level techniques</a:t>
            </a:r>
            <a:r>
              <a:rPr b="0" i="0" lang="en-US" sz="2700" u="none" cap="none" strike="noStrike">
                <a:solidFill>
                  <a:schemeClr val="dk1"/>
                </a:solidFill>
                <a:latin typeface="Calibri"/>
                <a:ea typeface="Calibri"/>
                <a:cs typeface="Calibri"/>
                <a:sym typeface="Calibri"/>
              </a:rPr>
              <a:t> are implemented on top of an existing operating system, which has full control of the hardware. </a:t>
            </a:r>
            <a:endParaRPr/>
          </a:p>
          <a:p>
            <a:pPr indent="-228600" lvl="0" marL="228600" marR="0" rtl="0" algn="l">
              <a:lnSpc>
                <a:spcPct val="90000"/>
              </a:lnSpc>
              <a:spcBef>
                <a:spcPts val="1000"/>
              </a:spcBef>
              <a:spcAft>
                <a:spcPts val="0"/>
              </a:spcAft>
              <a:buClr>
                <a:schemeClr val="dk1"/>
              </a:buClr>
              <a:buSzPts val="2700"/>
              <a:buFont typeface="Arial"/>
              <a:buChar char="•"/>
            </a:pPr>
            <a:r>
              <a:rPr b="1" i="0" lang="en-US" sz="2700" u="none" cap="none" strike="noStrike">
                <a:solidFill>
                  <a:schemeClr val="dk1"/>
                </a:solidFill>
                <a:latin typeface="Calibri"/>
                <a:ea typeface="Calibri"/>
                <a:cs typeface="Calibri"/>
                <a:sym typeface="Calibri"/>
              </a:rPr>
              <a:t>System-level techniques</a:t>
            </a:r>
            <a:r>
              <a:rPr b="0" i="0" lang="en-US" sz="2700" u="none" cap="none" strike="noStrike">
                <a:solidFill>
                  <a:schemeClr val="dk1"/>
                </a:solidFill>
                <a:latin typeface="Calibri"/>
                <a:ea typeface="Calibri"/>
                <a:cs typeface="Calibri"/>
                <a:sym typeface="Calibri"/>
              </a:rPr>
              <a:t> are implemented directly on hardware and do not require—or require a minimum of support from—an existing operating system. </a:t>
            </a:r>
            <a:endParaRPr/>
          </a:p>
          <a:p>
            <a:pPr indent="-228600" lvl="0" marL="228600" marR="0" rtl="0" algn="l">
              <a:lnSpc>
                <a:spcPct val="90000"/>
              </a:lnSpc>
              <a:spcBef>
                <a:spcPts val="1000"/>
              </a:spcBef>
              <a:spcAft>
                <a:spcPts val="0"/>
              </a:spcAft>
              <a:buClr>
                <a:schemeClr val="dk1"/>
              </a:buClr>
              <a:buSzPts val="2700"/>
              <a:buFont typeface="Arial"/>
              <a:buChar char="•"/>
            </a:pPr>
            <a:r>
              <a:rPr b="0" i="0" lang="en-US" sz="2700" u="none" cap="none" strike="noStrike">
                <a:solidFill>
                  <a:schemeClr val="dk1"/>
                </a:solidFill>
                <a:latin typeface="Calibri"/>
                <a:ea typeface="Calibri"/>
                <a:cs typeface="Calibri"/>
                <a:sym typeface="Calibri"/>
              </a:rPr>
              <a:t>Execution virtualization includes all techniques that aim to emulate an execution environment that is separate from the one hosting the virtualization layer. </a:t>
            </a:r>
            <a:endParaRPr/>
          </a:p>
          <a:p>
            <a:pPr indent="-228600" lvl="0" marL="228600" marR="0" rtl="0" algn="l">
              <a:lnSpc>
                <a:spcPct val="90000"/>
              </a:lnSpc>
              <a:spcBef>
                <a:spcPts val="1000"/>
              </a:spcBef>
              <a:spcAft>
                <a:spcPts val="0"/>
              </a:spcAft>
              <a:buClr>
                <a:schemeClr val="dk1"/>
              </a:buClr>
              <a:buSzPts val="2700"/>
              <a:buFont typeface="Arial"/>
              <a:buChar char="•"/>
            </a:pPr>
            <a:r>
              <a:rPr b="0" i="0" lang="en-US" sz="2700" u="none" cap="none" strike="noStrike">
                <a:solidFill>
                  <a:schemeClr val="dk1"/>
                </a:solidFill>
                <a:latin typeface="Calibri"/>
                <a:ea typeface="Calibri"/>
                <a:cs typeface="Calibri"/>
                <a:sym typeface="Calibri"/>
              </a:rPr>
              <a:t>All these techniques concentrate their interest on providing support for the execution of programs, whether these are the operating system, a binary specification of a program compiled against an abstract machine model, or an application.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1"/>
          <p:cNvSpPr txBox="1"/>
          <p:nvPr>
            <p:ph type="title"/>
          </p:nvPr>
        </p:nvSpPr>
        <p:spPr>
          <a:xfrm>
            <a:off x="838200" y="365125"/>
            <a:ext cx="10515600" cy="6032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solidFill>
                  <a:schemeClr val="dk1"/>
                </a:solidFill>
                <a:latin typeface="Calibri"/>
                <a:ea typeface="Calibri"/>
                <a:cs typeface="Calibri"/>
                <a:sym typeface="Calibri"/>
              </a:rPr>
              <a:t>Virtualization</a:t>
            </a:r>
            <a:endParaRPr/>
          </a:p>
        </p:txBody>
      </p:sp>
      <p:sp>
        <p:nvSpPr>
          <p:cNvPr id="197" name="Google Shape;197;p21"/>
          <p:cNvSpPr txBox="1"/>
          <p:nvPr>
            <p:ph idx="1" type="body"/>
          </p:nvPr>
        </p:nvSpPr>
        <p:spPr>
          <a:xfrm>
            <a:off x="838200" y="968375"/>
            <a:ext cx="10847387" cy="5572125"/>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Virtualizing an execution environment at different levels of the computing stack requires a reference model that defines the interfaces between the levels of abstractions, which hide implementation details. </a:t>
            </a:r>
            <a:endParaRPr/>
          </a:p>
          <a:p>
            <a:pPr indent="-38100" lvl="0" marL="228600" marR="0" rtl="0" algn="l">
              <a:lnSpc>
                <a:spcPct val="90000"/>
              </a:lnSpc>
              <a:spcBef>
                <a:spcPts val="1000"/>
              </a:spcBef>
              <a:spcAft>
                <a:spcPts val="0"/>
              </a:spcAft>
              <a:buClr>
                <a:schemeClr val="dk1"/>
              </a:buClr>
              <a:buSzPts val="3000"/>
              <a:buFont typeface="Arial"/>
              <a:buNone/>
            </a:pPr>
            <a:r>
              <a:t/>
            </a:r>
            <a:endParaRPr b="0" i="0" sz="3000" u="none" cap="none" strike="noStrik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From this perspective, virtualization techniques actually replace one of the layers and intercept the calls that are directed toward it.</a:t>
            </a:r>
            <a:endParaRPr/>
          </a:p>
          <a:p>
            <a:pPr indent="-38100" lvl="0" marL="228600" marR="0" rtl="0" algn="l">
              <a:lnSpc>
                <a:spcPct val="90000"/>
              </a:lnSpc>
              <a:spcBef>
                <a:spcPts val="1000"/>
              </a:spcBef>
              <a:spcAft>
                <a:spcPts val="0"/>
              </a:spcAft>
              <a:buClr>
                <a:schemeClr val="dk1"/>
              </a:buClr>
              <a:buSzPts val="3000"/>
              <a:buFont typeface="Arial"/>
              <a:buNone/>
            </a:pPr>
            <a:r>
              <a:t/>
            </a:r>
            <a:endParaRPr b="0" i="0" sz="3000" u="none" cap="none" strike="noStrik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 Therefore, a clear separation between layers simplifies their implementation, which only requires the emulation of the interfaces and a proper interaction with the underlying layer.</a:t>
            </a:r>
            <a:endParaRPr/>
          </a:p>
          <a:p>
            <a:pPr indent="-38100" lvl="0" marL="228600" marR="0" rtl="0" algn="l">
              <a:lnSpc>
                <a:spcPct val="90000"/>
              </a:lnSpc>
              <a:spcBef>
                <a:spcPts val="1000"/>
              </a:spcBef>
              <a:spcAft>
                <a:spcPts val="0"/>
              </a:spcAft>
              <a:buClr>
                <a:schemeClr val="dk1"/>
              </a:buClr>
              <a:buSzPts val="3000"/>
              <a:buFont typeface="Arial"/>
              <a:buNone/>
            </a:pPr>
            <a:r>
              <a:t/>
            </a:r>
            <a:endParaRPr b="0" i="0" sz="3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b="0" i="0" sz="30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2"/>
          <p:cNvSpPr txBox="1"/>
          <p:nvPr>
            <p:ph type="title"/>
          </p:nvPr>
        </p:nvSpPr>
        <p:spPr>
          <a:xfrm>
            <a:off x="838200" y="365125"/>
            <a:ext cx="10515600" cy="6032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solidFill>
                  <a:schemeClr val="dk1"/>
                </a:solidFill>
                <a:latin typeface="Calibri"/>
                <a:ea typeface="Calibri"/>
                <a:cs typeface="Calibri"/>
                <a:sym typeface="Calibri"/>
              </a:rPr>
              <a:t>Virtualization</a:t>
            </a:r>
            <a:endParaRPr/>
          </a:p>
        </p:txBody>
      </p:sp>
      <p:pic>
        <p:nvPicPr>
          <p:cNvPr id="203" name="Google Shape;203;p22"/>
          <p:cNvPicPr preferRelativeResize="0"/>
          <p:nvPr>
            <p:ph idx="1" type="body"/>
          </p:nvPr>
        </p:nvPicPr>
        <p:blipFill rotWithShape="1">
          <a:blip r:embed="rId3">
            <a:alphaModFix/>
          </a:blip>
          <a:srcRect b="0" l="0" r="0" t="0"/>
          <a:stretch/>
        </p:blipFill>
        <p:spPr>
          <a:xfrm>
            <a:off x="838200" y="1428750"/>
            <a:ext cx="10623550" cy="4891087"/>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3"/>
          <p:cNvSpPr txBox="1"/>
          <p:nvPr>
            <p:ph type="title"/>
          </p:nvPr>
        </p:nvSpPr>
        <p:spPr>
          <a:xfrm>
            <a:off x="838200" y="365125"/>
            <a:ext cx="10515600" cy="6032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solidFill>
                  <a:schemeClr val="dk1"/>
                </a:solidFill>
                <a:latin typeface="Calibri"/>
                <a:ea typeface="Calibri"/>
                <a:cs typeface="Calibri"/>
                <a:sym typeface="Calibri"/>
              </a:rPr>
              <a:t>Virtualization</a:t>
            </a:r>
            <a:endParaRPr/>
          </a:p>
        </p:txBody>
      </p:sp>
      <p:sp>
        <p:nvSpPr>
          <p:cNvPr id="209" name="Google Shape;209;p23"/>
          <p:cNvSpPr txBox="1"/>
          <p:nvPr>
            <p:ph idx="1" type="body"/>
          </p:nvPr>
        </p:nvSpPr>
        <p:spPr>
          <a:xfrm>
            <a:off x="838200" y="968375"/>
            <a:ext cx="10847387" cy="5572125"/>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900"/>
              <a:buFont typeface="Arial"/>
              <a:buChar char="•"/>
            </a:pPr>
            <a:r>
              <a:rPr b="0" i="0" lang="en-US" sz="2900" u="none" cap="none" strike="noStrike">
                <a:solidFill>
                  <a:schemeClr val="dk1"/>
                </a:solidFill>
                <a:latin typeface="Calibri"/>
                <a:ea typeface="Calibri"/>
                <a:cs typeface="Calibri"/>
                <a:sym typeface="Calibri"/>
              </a:rPr>
              <a:t>At the bottom layer, the model for the hardware is expressed in terms of the Instruction Set Architecture (ISA), which defines the instruction set for the processor, registers, memory, and interrupt management.</a:t>
            </a:r>
            <a:endParaRPr/>
          </a:p>
          <a:p>
            <a:pPr indent="-228600" lvl="0" marL="228600" marR="0" rtl="0" algn="l">
              <a:lnSpc>
                <a:spcPct val="90000"/>
              </a:lnSpc>
              <a:spcBef>
                <a:spcPts val="1000"/>
              </a:spcBef>
              <a:spcAft>
                <a:spcPts val="0"/>
              </a:spcAft>
              <a:buClr>
                <a:schemeClr val="dk1"/>
              </a:buClr>
              <a:buSzPts val="2900"/>
              <a:buFont typeface="Arial"/>
              <a:buChar char="•"/>
            </a:pPr>
            <a:r>
              <a:rPr b="0" i="0" lang="en-US" sz="2900" u="none" cap="none" strike="noStrike">
                <a:solidFill>
                  <a:schemeClr val="dk1"/>
                </a:solidFill>
                <a:latin typeface="Calibri"/>
                <a:ea typeface="Calibri"/>
                <a:cs typeface="Calibri"/>
                <a:sym typeface="Calibri"/>
              </a:rPr>
              <a:t>ISA is the interface between hardware and software, and it is important to the operating system (OS) developer (System ISA) and developers of applications that directly manage the underlying hardware (User ISA). </a:t>
            </a:r>
            <a:endParaRPr/>
          </a:p>
          <a:p>
            <a:pPr indent="-228600" lvl="0" marL="228600" marR="0" rtl="0" algn="l">
              <a:lnSpc>
                <a:spcPct val="90000"/>
              </a:lnSpc>
              <a:spcBef>
                <a:spcPts val="1000"/>
              </a:spcBef>
              <a:spcAft>
                <a:spcPts val="0"/>
              </a:spcAft>
              <a:buClr>
                <a:schemeClr val="dk1"/>
              </a:buClr>
              <a:buSzPts val="2900"/>
              <a:buFont typeface="Arial"/>
              <a:buChar char="•"/>
            </a:pPr>
            <a:r>
              <a:rPr b="0" i="0" lang="en-US" sz="2900" u="none" cap="none" strike="noStrike">
                <a:solidFill>
                  <a:schemeClr val="dk1"/>
                </a:solidFill>
                <a:latin typeface="Calibri"/>
                <a:ea typeface="Calibri"/>
                <a:cs typeface="Calibri"/>
                <a:sym typeface="Calibri"/>
              </a:rPr>
              <a:t>The application binary interface (ABI) separates the operating system layer from the applications and libraries, which are managed by the OS. </a:t>
            </a:r>
            <a:endParaRPr/>
          </a:p>
          <a:p>
            <a:pPr indent="-228600" lvl="0" marL="228600" marR="0" rtl="0" algn="l">
              <a:lnSpc>
                <a:spcPct val="90000"/>
              </a:lnSpc>
              <a:spcBef>
                <a:spcPts val="1000"/>
              </a:spcBef>
              <a:spcAft>
                <a:spcPts val="0"/>
              </a:spcAft>
              <a:buClr>
                <a:schemeClr val="dk1"/>
              </a:buClr>
              <a:buSzPts val="2900"/>
              <a:buFont typeface="Arial"/>
              <a:buChar char="•"/>
            </a:pPr>
            <a:r>
              <a:rPr b="0" i="0" lang="en-US" sz="2900" u="none" cap="none" strike="noStrike">
                <a:solidFill>
                  <a:schemeClr val="dk1"/>
                </a:solidFill>
                <a:latin typeface="Calibri"/>
                <a:ea typeface="Calibri"/>
                <a:cs typeface="Calibri"/>
                <a:sym typeface="Calibri"/>
              </a:rPr>
              <a:t>ABI covers details such as low-level data types, alignment, and call conventions and defines a format for executable programs. </a:t>
            </a:r>
            <a:endParaRPr/>
          </a:p>
          <a:p>
            <a:pPr indent="-228600" lvl="0" marL="228600" marR="0" rtl="0" algn="l">
              <a:lnSpc>
                <a:spcPct val="90000"/>
              </a:lnSpc>
              <a:spcBef>
                <a:spcPts val="1000"/>
              </a:spcBef>
              <a:spcAft>
                <a:spcPts val="0"/>
              </a:spcAft>
              <a:buClr>
                <a:schemeClr val="dk1"/>
              </a:buClr>
              <a:buSzPts val="2900"/>
              <a:buFont typeface="Arial"/>
              <a:buChar char="•"/>
            </a:pPr>
            <a:r>
              <a:rPr b="0" i="0" lang="en-US" sz="2900" u="none" cap="none" strike="noStrike">
                <a:solidFill>
                  <a:schemeClr val="dk1"/>
                </a:solidFill>
                <a:latin typeface="Calibri"/>
                <a:ea typeface="Calibri"/>
                <a:cs typeface="Calibri"/>
                <a:sym typeface="Calibri"/>
              </a:rPr>
              <a:t>System calls are defined at this level.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4"/>
          <p:cNvSpPr txBox="1"/>
          <p:nvPr>
            <p:ph type="title"/>
          </p:nvPr>
        </p:nvSpPr>
        <p:spPr>
          <a:xfrm>
            <a:off x="838200" y="365125"/>
            <a:ext cx="10515600" cy="6032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solidFill>
                  <a:schemeClr val="dk1"/>
                </a:solidFill>
                <a:latin typeface="Calibri"/>
                <a:ea typeface="Calibri"/>
                <a:cs typeface="Calibri"/>
                <a:sym typeface="Calibri"/>
              </a:rPr>
              <a:t>Virtualization</a:t>
            </a:r>
            <a:endParaRPr/>
          </a:p>
        </p:txBody>
      </p:sp>
      <p:sp>
        <p:nvSpPr>
          <p:cNvPr id="215" name="Google Shape;215;p24"/>
          <p:cNvSpPr txBox="1"/>
          <p:nvPr>
            <p:ph idx="1" type="body"/>
          </p:nvPr>
        </p:nvSpPr>
        <p:spPr>
          <a:xfrm>
            <a:off x="838200" y="968375"/>
            <a:ext cx="10847387" cy="5572125"/>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chemeClr val="dk1"/>
              </a:buClr>
              <a:buSzPts val="2700"/>
              <a:buFont typeface="Arial"/>
              <a:buChar char="•"/>
            </a:pPr>
            <a:r>
              <a:rPr b="0" i="0" lang="en-US" sz="2700" u="none" cap="none" strike="noStrike">
                <a:solidFill>
                  <a:schemeClr val="dk1"/>
                </a:solidFill>
                <a:latin typeface="Calibri"/>
                <a:ea typeface="Calibri"/>
                <a:cs typeface="Calibri"/>
                <a:sym typeface="Calibri"/>
              </a:rPr>
              <a:t>The highest level of abstraction is represented by the application programming interface (API), which interfaces applications to libraries and/or the underlying operating system.</a:t>
            </a:r>
            <a:endParaRPr/>
          </a:p>
          <a:p>
            <a:pPr indent="-57150" lvl="0" marL="228600" marR="0" rtl="0" algn="l">
              <a:lnSpc>
                <a:spcPct val="90000"/>
              </a:lnSpc>
              <a:spcBef>
                <a:spcPts val="1000"/>
              </a:spcBef>
              <a:spcAft>
                <a:spcPts val="0"/>
              </a:spcAft>
              <a:buClr>
                <a:schemeClr val="dk1"/>
              </a:buClr>
              <a:buSzPts val="2700"/>
              <a:buFont typeface="Arial"/>
              <a:buNone/>
            </a:pPr>
            <a:r>
              <a:t/>
            </a:r>
            <a:endParaRPr b="0" i="0" sz="2700" u="none" cap="none" strike="noStrik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2700"/>
              <a:buFont typeface="Arial"/>
              <a:buChar char="•"/>
            </a:pPr>
            <a:r>
              <a:rPr b="0" i="0" lang="en-US" sz="2700" u="none" cap="none" strike="noStrike">
                <a:solidFill>
                  <a:schemeClr val="dk1"/>
                </a:solidFill>
                <a:latin typeface="Calibri"/>
                <a:ea typeface="Calibri"/>
                <a:cs typeface="Calibri"/>
                <a:sym typeface="Calibri"/>
              </a:rPr>
              <a:t>For any operation to be performed in the application level API, ABI and ISA are responsible for making it happen. The high-level abstraction is converted into machine-level instructions to perform the actual operations supported by the processor.</a:t>
            </a:r>
            <a:endParaRPr/>
          </a:p>
          <a:p>
            <a:pPr indent="-57150" lvl="0" marL="228600" marR="0" rtl="0" algn="l">
              <a:lnSpc>
                <a:spcPct val="90000"/>
              </a:lnSpc>
              <a:spcBef>
                <a:spcPts val="1000"/>
              </a:spcBef>
              <a:spcAft>
                <a:spcPts val="0"/>
              </a:spcAft>
              <a:buClr>
                <a:schemeClr val="dk1"/>
              </a:buClr>
              <a:buSzPts val="2700"/>
              <a:buFont typeface="Arial"/>
              <a:buNone/>
            </a:pPr>
            <a:r>
              <a:t/>
            </a:r>
            <a:endParaRPr b="0" i="0" sz="2700" u="none" cap="none" strike="noStrik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2700"/>
              <a:buFont typeface="Arial"/>
              <a:buChar char="•"/>
            </a:pPr>
            <a:r>
              <a:rPr b="0" i="0" lang="en-US" sz="2700" u="none" cap="none" strike="noStrike">
                <a:solidFill>
                  <a:schemeClr val="dk1"/>
                </a:solidFill>
                <a:latin typeface="Calibri"/>
                <a:ea typeface="Calibri"/>
                <a:cs typeface="Calibri"/>
                <a:sym typeface="Calibri"/>
              </a:rPr>
              <a:t>This layered approach simplifies the development and implementation of computing systems and simplifies the implementation of multitasking and the coexistence of multiple executing environments. </a:t>
            </a:r>
            <a:endParaRPr/>
          </a:p>
          <a:p>
            <a:pPr indent="0" lvl="0" marL="0" marR="0" rtl="0" algn="l">
              <a:lnSpc>
                <a:spcPct val="100000"/>
              </a:lnSpc>
              <a:spcBef>
                <a:spcPts val="0"/>
              </a:spcBef>
              <a:spcAft>
                <a:spcPts val="0"/>
              </a:spcAft>
              <a:buNone/>
            </a:pPr>
            <a:r>
              <a:t/>
            </a:r>
            <a:endParaRPr b="0" i="0" sz="27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5"/>
          <p:cNvSpPr txBox="1"/>
          <p:nvPr>
            <p:ph type="title"/>
          </p:nvPr>
        </p:nvSpPr>
        <p:spPr>
          <a:xfrm>
            <a:off x="838200" y="365125"/>
            <a:ext cx="10515600" cy="6032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solidFill>
                  <a:schemeClr val="dk1"/>
                </a:solidFill>
                <a:latin typeface="Calibri"/>
                <a:ea typeface="Calibri"/>
                <a:cs typeface="Calibri"/>
                <a:sym typeface="Calibri"/>
              </a:rPr>
              <a:t>Virtualization</a:t>
            </a:r>
            <a:endParaRPr/>
          </a:p>
        </p:txBody>
      </p:sp>
      <p:sp>
        <p:nvSpPr>
          <p:cNvPr id="221" name="Google Shape;221;p25"/>
          <p:cNvSpPr txBox="1"/>
          <p:nvPr>
            <p:ph idx="1" type="body"/>
          </p:nvPr>
        </p:nvSpPr>
        <p:spPr>
          <a:xfrm>
            <a:off x="838200" y="968375"/>
            <a:ext cx="10847387" cy="5572125"/>
          </a:xfrm>
          <a:prstGeom prst="rect">
            <a:avLst/>
          </a:prstGeom>
          <a:noFill/>
          <a:ln>
            <a:noFill/>
          </a:ln>
        </p:spPr>
        <p:txBody>
          <a:bodyPr anchorCtr="0" anchor="t" bIns="45700" lIns="91425" spcFirstLastPara="1" rIns="91425" wrap="square" tIns="45700">
            <a:noAutofit/>
          </a:bodyPr>
          <a:lstStyle/>
          <a:p>
            <a:pPr indent="-228600" lvl="0" marL="228600" marR="0" rtl="0" algn="l">
              <a:lnSpc>
                <a:spcPct val="80000"/>
              </a:lnSpc>
              <a:spcBef>
                <a:spcPts val="0"/>
              </a:spcBef>
              <a:spcAft>
                <a:spcPts val="0"/>
              </a:spcAft>
              <a:buClr>
                <a:schemeClr val="dk1"/>
              </a:buClr>
              <a:buSzPts val="2700"/>
              <a:buFont typeface="Arial"/>
              <a:buChar char="•"/>
            </a:pPr>
            <a:r>
              <a:rPr b="0" i="0" lang="en-US" sz="2700" u="none" cap="none" strike="noStrike">
                <a:solidFill>
                  <a:schemeClr val="dk1"/>
                </a:solidFill>
                <a:latin typeface="Calibri"/>
                <a:ea typeface="Calibri"/>
                <a:cs typeface="Calibri"/>
                <a:sym typeface="Calibri"/>
              </a:rPr>
              <a:t>For this purpose, the instruction set exposed by the hardware has been divided into different security classes that define who can operate with them. The first distinction can be made between privileged and nonprivileged instructions. </a:t>
            </a:r>
            <a:endParaRPr/>
          </a:p>
          <a:p>
            <a:pPr indent="-57150" lvl="0" marL="228600" marR="0" rtl="0" algn="l">
              <a:lnSpc>
                <a:spcPct val="80000"/>
              </a:lnSpc>
              <a:spcBef>
                <a:spcPts val="1000"/>
              </a:spcBef>
              <a:spcAft>
                <a:spcPts val="0"/>
              </a:spcAft>
              <a:buClr>
                <a:schemeClr val="dk1"/>
              </a:buClr>
              <a:buSzPts val="2700"/>
              <a:buFont typeface="Arial"/>
              <a:buNone/>
            </a:pPr>
            <a:r>
              <a:t/>
            </a:r>
            <a:endParaRPr b="0" i="0" sz="2700" u="none" cap="none" strike="noStrik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2700"/>
              <a:buFont typeface="Arial"/>
              <a:buChar char="•"/>
            </a:pPr>
            <a:r>
              <a:rPr b="0" i="0" lang="en-US" sz="2700" u="none" cap="none" strike="noStrike">
                <a:solidFill>
                  <a:schemeClr val="dk1"/>
                </a:solidFill>
                <a:latin typeface="Calibri"/>
                <a:ea typeface="Calibri"/>
                <a:cs typeface="Calibri"/>
                <a:sym typeface="Calibri"/>
              </a:rPr>
              <a:t>Nonprivileged instructions are those instructions that can be used without interfering with other tasks because they do not access shared resources. </a:t>
            </a:r>
            <a:endParaRPr/>
          </a:p>
          <a:p>
            <a:pPr indent="-57150" lvl="0" marL="228600" marR="0" rtl="0" algn="l">
              <a:lnSpc>
                <a:spcPct val="80000"/>
              </a:lnSpc>
              <a:spcBef>
                <a:spcPts val="1000"/>
              </a:spcBef>
              <a:spcAft>
                <a:spcPts val="0"/>
              </a:spcAft>
              <a:buClr>
                <a:schemeClr val="dk1"/>
              </a:buClr>
              <a:buSzPts val="2700"/>
              <a:buFont typeface="Arial"/>
              <a:buNone/>
            </a:pPr>
            <a:r>
              <a:t/>
            </a:r>
            <a:endParaRPr b="0" i="0" sz="2700" u="none" cap="none" strike="noStrik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2700"/>
              <a:buFont typeface="Arial"/>
              <a:buChar char="•"/>
            </a:pPr>
            <a:r>
              <a:rPr b="0" i="0" lang="en-US" sz="2700" u="none" cap="none" strike="noStrike">
                <a:solidFill>
                  <a:schemeClr val="dk1"/>
                </a:solidFill>
                <a:latin typeface="Calibri"/>
                <a:ea typeface="Calibri"/>
                <a:cs typeface="Calibri"/>
                <a:sym typeface="Calibri"/>
              </a:rPr>
              <a:t>This category examples are the floating, fixed-point, and arithmetic instructions.</a:t>
            </a:r>
            <a:endParaRPr/>
          </a:p>
          <a:p>
            <a:pPr indent="-57150" lvl="0" marL="228600" marR="0" rtl="0" algn="l">
              <a:lnSpc>
                <a:spcPct val="80000"/>
              </a:lnSpc>
              <a:spcBef>
                <a:spcPts val="1000"/>
              </a:spcBef>
              <a:spcAft>
                <a:spcPts val="0"/>
              </a:spcAft>
              <a:buClr>
                <a:schemeClr val="dk1"/>
              </a:buClr>
              <a:buSzPts val="2700"/>
              <a:buFont typeface="Arial"/>
              <a:buNone/>
            </a:pPr>
            <a:r>
              <a:t/>
            </a:r>
            <a:endParaRPr b="0" i="0" sz="2700" u="none" cap="none" strike="noStrik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2700"/>
              <a:buFont typeface="Arial"/>
              <a:buChar char="•"/>
            </a:pPr>
            <a:r>
              <a:rPr b="0" i="0" lang="en-US" sz="2700" u="none" cap="none" strike="noStrike">
                <a:solidFill>
                  <a:schemeClr val="dk1"/>
                </a:solidFill>
                <a:latin typeface="Calibri"/>
                <a:ea typeface="Calibri"/>
                <a:cs typeface="Calibri"/>
                <a:sym typeface="Calibri"/>
              </a:rPr>
              <a:t>Privileged instructions are those that are executed under specific restrictions and are mostly used for sensitive operations.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6"/>
          <p:cNvSpPr txBox="1"/>
          <p:nvPr>
            <p:ph type="title"/>
          </p:nvPr>
        </p:nvSpPr>
        <p:spPr>
          <a:xfrm>
            <a:off x="838200" y="365125"/>
            <a:ext cx="10515600" cy="6032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solidFill>
                  <a:schemeClr val="dk1"/>
                </a:solidFill>
                <a:latin typeface="Calibri"/>
                <a:ea typeface="Calibri"/>
                <a:cs typeface="Calibri"/>
                <a:sym typeface="Calibri"/>
              </a:rPr>
              <a:t>Virtualization</a:t>
            </a:r>
            <a:endParaRPr/>
          </a:p>
        </p:txBody>
      </p:sp>
      <p:pic>
        <p:nvPicPr>
          <p:cNvPr id="227" name="Google Shape;227;p26"/>
          <p:cNvPicPr preferRelativeResize="0"/>
          <p:nvPr>
            <p:ph idx="1" type="body"/>
          </p:nvPr>
        </p:nvPicPr>
        <p:blipFill rotWithShape="1">
          <a:blip r:embed="rId3">
            <a:alphaModFix/>
          </a:blip>
          <a:srcRect b="0" l="0" r="0" t="0"/>
          <a:stretch/>
        </p:blipFill>
        <p:spPr>
          <a:xfrm>
            <a:off x="973137" y="1400175"/>
            <a:ext cx="9655175" cy="5024437"/>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7"/>
          <p:cNvSpPr txBox="1"/>
          <p:nvPr>
            <p:ph type="title"/>
          </p:nvPr>
        </p:nvSpPr>
        <p:spPr>
          <a:xfrm>
            <a:off x="838200" y="365125"/>
            <a:ext cx="10515600" cy="6032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solidFill>
                  <a:schemeClr val="dk1"/>
                </a:solidFill>
                <a:latin typeface="Calibri"/>
                <a:ea typeface="Calibri"/>
                <a:cs typeface="Calibri"/>
                <a:sym typeface="Calibri"/>
              </a:rPr>
              <a:t>Virtualization</a:t>
            </a:r>
            <a:endParaRPr/>
          </a:p>
        </p:txBody>
      </p:sp>
      <p:sp>
        <p:nvSpPr>
          <p:cNvPr id="233" name="Google Shape;233;p27"/>
          <p:cNvSpPr txBox="1"/>
          <p:nvPr>
            <p:ph idx="1" type="body"/>
          </p:nvPr>
        </p:nvSpPr>
        <p:spPr>
          <a:xfrm>
            <a:off x="838200" y="968375"/>
            <a:ext cx="10847387" cy="5572125"/>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All the current systems support at least two different execution modes: </a:t>
            </a:r>
            <a:r>
              <a:rPr b="1" i="0" lang="en-US" sz="3000" u="none" cap="none" strike="noStrike">
                <a:solidFill>
                  <a:schemeClr val="dk1"/>
                </a:solidFill>
                <a:latin typeface="Calibri"/>
                <a:ea typeface="Calibri"/>
                <a:cs typeface="Calibri"/>
                <a:sym typeface="Calibri"/>
              </a:rPr>
              <a:t>supervisor mode</a:t>
            </a:r>
            <a:r>
              <a:rPr b="0" i="0" lang="en-US" sz="3000" u="none" cap="none" strike="noStrike">
                <a:solidFill>
                  <a:schemeClr val="dk1"/>
                </a:solidFill>
                <a:latin typeface="Calibri"/>
                <a:ea typeface="Calibri"/>
                <a:cs typeface="Calibri"/>
                <a:sym typeface="Calibri"/>
              </a:rPr>
              <a:t> and </a:t>
            </a:r>
            <a:r>
              <a:rPr b="1" i="0" lang="en-US" sz="3000" u="none" cap="none" strike="noStrike">
                <a:solidFill>
                  <a:schemeClr val="dk1"/>
                </a:solidFill>
                <a:latin typeface="Calibri"/>
                <a:ea typeface="Calibri"/>
                <a:cs typeface="Calibri"/>
                <a:sym typeface="Calibri"/>
              </a:rPr>
              <a:t>user mode</a:t>
            </a:r>
            <a:r>
              <a:rPr b="0" i="0" lang="en-US" sz="3000" u="none" cap="none" strike="noStrike">
                <a:solidFill>
                  <a:schemeClr val="dk1"/>
                </a:solidFill>
                <a:latin typeface="Calibri"/>
                <a:ea typeface="Calibri"/>
                <a:cs typeface="Calibri"/>
                <a:sym typeface="Calibri"/>
              </a:rPr>
              <a:t>. </a:t>
            </a:r>
            <a:endParaRPr/>
          </a:p>
          <a:p>
            <a:pPr indent="-228600" lvl="0" marL="228600" marR="0" rtl="0" algn="l">
              <a:lnSpc>
                <a:spcPct val="9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The first mode denotes an execution mode in which all the instructions (privileged and nonprivileged) can be executed without any restriction. </a:t>
            </a:r>
            <a:endParaRPr/>
          </a:p>
          <a:p>
            <a:pPr indent="-228600" lvl="0" marL="228600" marR="0" rtl="0" algn="l">
              <a:lnSpc>
                <a:spcPct val="9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This mode, also called </a:t>
            </a:r>
            <a:r>
              <a:rPr b="1" i="0" lang="en-US" sz="3000" u="none" cap="none" strike="noStrike">
                <a:solidFill>
                  <a:schemeClr val="dk1"/>
                </a:solidFill>
                <a:latin typeface="Calibri"/>
                <a:ea typeface="Calibri"/>
                <a:cs typeface="Calibri"/>
                <a:sym typeface="Calibri"/>
              </a:rPr>
              <a:t>kernel mode</a:t>
            </a:r>
            <a:r>
              <a:rPr b="0" i="0" lang="en-US" sz="3000" u="none" cap="none" strike="noStrike">
                <a:solidFill>
                  <a:schemeClr val="dk1"/>
                </a:solidFill>
                <a:latin typeface="Calibri"/>
                <a:ea typeface="Calibri"/>
                <a:cs typeface="Calibri"/>
                <a:sym typeface="Calibri"/>
              </a:rPr>
              <a:t>, is generally used by the operating system (or the hypervisor) to perform sensitive operations on hardwarelevel resources.</a:t>
            </a:r>
            <a:endParaRPr/>
          </a:p>
          <a:p>
            <a:pPr indent="-228600" lvl="0" marL="228600" marR="0" rtl="0" algn="l">
              <a:lnSpc>
                <a:spcPct val="9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 In user mode, there are restrictions to control the machine-level resources.</a:t>
            </a:r>
            <a:endParaRPr/>
          </a:p>
          <a:p>
            <a:pPr indent="-228600" lvl="0" marL="228600" marR="0" rtl="0" algn="l">
              <a:lnSpc>
                <a:spcPct val="9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 If code running in user mode invokes the privileged instructions, hardware interrupts occur and trap the potentially harmful execution of the instruction.</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28"/>
          <p:cNvSpPr txBox="1"/>
          <p:nvPr>
            <p:ph type="title"/>
          </p:nvPr>
        </p:nvSpPr>
        <p:spPr>
          <a:xfrm>
            <a:off x="838200" y="365125"/>
            <a:ext cx="10515600" cy="6032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solidFill>
                  <a:schemeClr val="dk1"/>
                </a:solidFill>
                <a:latin typeface="Calibri"/>
                <a:ea typeface="Calibri"/>
                <a:cs typeface="Calibri"/>
                <a:sym typeface="Calibri"/>
              </a:rPr>
              <a:t>Virtualization</a:t>
            </a:r>
            <a:endParaRPr/>
          </a:p>
        </p:txBody>
      </p:sp>
      <p:sp>
        <p:nvSpPr>
          <p:cNvPr id="239" name="Google Shape;239;p28"/>
          <p:cNvSpPr txBox="1"/>
          <p:nvPr>
            <p:ph idx="1" type="body"/>
          </p:nvPr>
        </p:nvSpPr>
        <p:spPr>
          <a:xfrm>
            <a:off x="838200" y="968375"/>
            <a:ext cx="10847387" cy="5572125"/>
          </a:xfrm>
          <a:prstGeom prst="rect">
            <a:avLst/>
          </a:prstGeom>
          <a:noFill/>
          <a:ln>
            <a:noFill/>
          </a:ln>
        </p:spPr>
        <p:txBody>
          <a:bodyPr anchorCtr="0" anchor="t" bIns="45700" lIns="91425" spcFirstLastPara="1" rIns="91425" wrap="square" tIns="45700">
            <a:noAutofit/>
          </a:bodyPr>
          <a:lstStyle/>
          <a:p>
            <a:pPr indent="-228600" lvl="0" marL="228600" marR="0" rtl="0" algn="l">
              <a:lnSpc>
                <a:spcPct val="80000"/>
              </a:lnSpc>
              <a:spcBef>
                <a:spcPts val="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The distinction between user and supervisor mode allows us to understand the role of the hypervisor and why it is called that. </a:t>
            </a:r>
            <a:endParaRPr/>
          </a:p>
          <a:p>
            <a:pPr indent="-38100" lvl="0" marL="228600" marR="0" rtl="0" algn="l">
              <a:lnSpc>
                <a:spcPct val="80000"/>
              </a:lnSpc>
              <a:spcBef>
                <a:spcPts val="1000"/>
              </a:spcBef>
              <a:spcAft>
                <a:spcPts val="0"/>
              </a:spcAft>
              <a:buClr>
                <a:schemeClr val="dk1"/>
              </a:buClr>
              <a:buSzPts val="3000"/>
              <a:buFont typeface="Arial"/>
              <a:buNone/>
            </a:pPr>
            <a:r>
              <a:t/>
            </a:r>
            <a:endParaRPr b="0" i="0" sz="3000" u="none" cap="none" strike="noStrik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Conceptually, the hypervisor runs above the supervisor mode, and from here the prefix hyper- is used. </a:t>
            </a:r>
            <a:endParaRPr/>
          </a:p>
          <a:p>
            <a:pPr indent="-38100" lvl="0" marL="228600" marR="0" rtl="0" algn="l">
              <a:lnSpc>
                <a:spcPct val="80000"/>
              </a:lnSpc>
              <a:spcBef>
                <a:spcPts val="1000"/>
              </a:spcBef>
              <a:spcAft>
                <a:spcPts val="0"/>
              </a:spcAft>
              <a:buClr>
                <a:schemeClr val="dk1"/>
              </a:buClr>
              <a:buSzPts val="3000"/>
              <a:buFont typeface="Arial"/>
              <a:buNone/>
            </a:pPr>
            <a:r>
              <a:t/>
            </a:r>
            <a:endParaRPr b="0" i="0" sz="3000" u="none" cap="none" strike="noStrik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In reality, hypervisors are run in supervisor mode, and the division between privileged and nonprivileged instructions has posed challenges in designing virtual machine managers.</a:t>
            </a:r>
            <a:endParaRPr/>
          </a:p>
          <a:p>
            <a:pPr indent="-38100" lvl="0" marL="228600" marR="0" rtl="0" algn="l">
              <a:lnSpc>
                <a:spcPct val="80000"/>
              </a:lnSpc>
              <a:spcBef>
                <a:spcPts val="1000"/>
              </a:spcBef>
              <a:spcAft>
                <a:spcPts val="0"/>
              </a:spcAft>
              <a:buClr>
                <a:schemeClr val="dk1"/>
              </a:buClr>
              <a:buSzPts val="3000"/>
              <a:buFont typeface="Arial"/>
              <a:buNone/>
            </a:pPr>
            <a:r>
              <a:t/>
            </a:r>
            <a:endParaRPr b="0" i="0" sz="3000" u="none" cap="none" strike="noStrik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It is expected that all the sensitive instructions will be executed in privileged mode, which requires supervisor mode in order to avoid traps.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29"/>
          <p:cNvSpPr txBox="1"/>
          <p:nvPr>
            <p:ph type="title"/>
          </p:nvPr>
        </p:nvSpPr>
        <p:spPr>
          <a:xfrm>
            <a:off x="838200" y="365125"/>
            <a:ext cx="10515600" cy="6032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solidFill>
                  <a:schemeClr val="dk1"/>
                </a:solidFill>
                <a:latin typeface="Calibri"/>
                <a:ea typeface="Calibri"/>
                <a:cs typeface="Calibri"/>
                <a:sym typeface="Calibri"/>
              </a:rPr>
              <a:t>Virtualization</a:t>
            </a:r>
            <a:endParaRPr/>
          </a:p>
        </p:txBody>
      </p:sp>
      <p:sp>
        <p:nvSpPr>
          <p:cNvPr id="245" name="Google Shape;245;p29"/>
          <p:cNvSpPr txBox="1"/>
          <p:nvPr>
            <p:ph idx="1" type="body"/>
          </p:nvPr>
        </p:nvSpPr>
        <p:spPr>
          <a:xfrm>
            <a:off x="838200" y="968375"/>
            <a:ext cx="10847387" cy="5572125"/>
          </a:xfrm>
          <a:prstGeom prst="rect">
            <a:avLst/>
          </a:prstGeom>
          <a:noFill/>
          <a:ln>
            <a:noFill/>
          </a:ln>
        </p:spPr>
        <p:txBody>
          <a:bodyPr anchorCtr="0" anchor="t" bIns="45700" lIns="91425" spcFirstLastPara="1" rIns="91425" wrap="square" tIns="45700">
            <a:noAutofit/>
          </a:bodyPr>
          <a:lstStyle/>
          <a:p>
            <a:pPr indent="-228600" lvl="0" marL="228600" marR="0" rtl="0" algn="l">
              <a:lnSpc>
                <a:spcPct val="80000"/>
              </a:lnSpc>
              <a:spcBef>
                <a:spcPts val="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Without this assumption it is impossible to fully emulate and manage the status of the CPU for guest operating systems.</a:t>
            </a:r>
            <a:endParaRPr/>
          </a:p>
          <a:p>
            <a:pPr indent="-38100" lvl="0" marL="228600" marR="0" rtl="0" algn="l">
              <a:lnSpc>
                <a:spcPct val="80000"/>
              </a:lnSpc>
              <a:spcBef>
                <a:spcPts val="1000"/>
              </a:spcBef>
              <a:spcAft>
                <a:spcPts val="0"/>
              </a:spcAft>
              <a:buClr>
                <a:schemeClr val="dk1"/>
              </a:buClr>
              <a:buSzPts val="3000"/>
              <a:buFont typeface="Arial"/>
              <a:buNone/>
            </a:pPr>
            <a:r>
              <a:t/>
            </a:r>
            <a:endParaRPr b="0" i="0" sz="3000" u="none" cap="none" strike="noStrik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Unfortunately, this is not true for the original ISA, which allows 17 sensitive instructions to be called in user mode.</a:t>
            </a:r>
            <a:endParaRPr/>
          </a:p>
          <a:p>
            <a:pPr indent="-38100" lvl="0" marL="228600" marR="0" rtl="0" algn="l">
              <a:lnSpc>
                <a:spcPct val="80000"/>
              </a:lnSpc>
              <a:spcBef>
                <a:spcPts val="1000"/>
              </a:spcBef>
              <a:spcAft>
                <a:spcPts val="0"/>
              </a:spcAft>
              <a:buClr>
                <a:schemeClr val="dk1"/>
              </a:buClr>
              <a:buSzPts val="3000"/>
              <a:buFont typeface="Arial"/>
              <a:buNone/>
            </a:pPr>
            <a:r>
              <a:t/>
            </a:r>
            <a:endParaRPr b="0" i="0" sz="3000" u="none" cap="none" strike="noStrik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This prevents multiple operating systems managed by a single hypervisor to be isolated from each other, since they are able to access the privileged state of the processor and change it.</a:t>
            </a:r>
            <a:endParaRPr/>
          </a:p>
          <a:p>
            <a:pPr indent="-38100" lvl="0" marL="228600" marR="0" rtl="0" algn="l">
              <a:lnSpc>
                <a:spcPct val="80000"/>
              </a:lnSpc>
              <a:spcBef>
                <a:spcPts val="1000"/>
              </a:spcBef>
              <a:spcAft>
                <a:spcPts val="0"/>
              </a:spcAft>
              <a:buClr>
                <a:schemeClr val="dk1"/>
              </a:buClr>
              <a:buSzPts val="3000"/>
              <a:buFont typeface="Arial"/>
              <a:buNone/>
            </a:pPr>
            <a:r>
              <a:t/>
            </a:r>
            <a:endParaRPr b="0" i="0" sz="3000" u="none" cap="none" strike="noStrik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More recent implementations of ISA (Intel VT and AMD Pacifica) have solved this problem by redesigning such instructions as privileged ones.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0"/>
          <p:cNvSpPr txBox="1"/>
          <p:nvPr>
            <p:ph type="title"/>
          </p:nvPr>
        </p:nvSpPr>
        <p:spPr>
          <a:xfrm>
            <a:off x="838200" y="365125"/>
            <a:ext cx="10515600" cy="6032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solidFill>
                  <a:schemeClr val="dk1"/>
                </a:solidFill>
                <a:latin typeface="Calibri"/>
                <a:ea typeface="Calibri"/>
                <a:cs typeface="Calibri"/>
                <a:sym typeface="Calibri"/>
              </a:rPr>
              <a:t>Hardware-level Virtualization</a:t>
            </a:r>
            <a:endParaRPr/>
          </a:p>
        </p:txBody>
      </p:sp>
      <p:sp>
        <p:nvSpPr>
          <p:cNvPr id="251" name="Google Shape;251;p30"/>
          <p:cNvSpPr txBox="1"/>
          <p:nvPr>
            <p:ph idx="1" type="body"/>
          </p:nvPr>
        </p:nvSpPr>
        <p:spPr>
          <a:xfrm>
            <a:off x="838200" y="968375"/>
            <a:ext cx="10847387" cy="5572125"/>
          </a:xfrm>
          <a:prstGeom prst="rect">
            <a:avLst/>
          </a:prstGeom>
          <a:noFill/>
          <a:ln>
            <a:noFill/>
          </a:ln>
        </p:spPr>
        <p:txBody>
          <a:bodyPr anchorCtr="0" anchor="t" bIns="45700" lIns="91425" spcFirstLastPara="1" rIns="91425" wrap="square" tIns="45700">
            <a:noAutofit/>
          </a:bodyPr>
          <a:lstStyle/>
          <a:p>
            <a:pPr indent="-228600" lvl="0" marL="228600" marR="0" rtl="0" algn="l">
              <a:lnSpc>
                <a:spcPct val="80000"/>
              </a:lnSpc>
              <a:spcBef>
                <a:spcPts val="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Hardware-level virtualization is a virtualization technique that provides an abstract execution environment in terms of computer hardware on top of which a guest operating system can be run.</a:t>
            </a:r>
            <a:endParaRPr/>
          </a:p>
          <a:p>
            <a:pPr indent="-38100" lvl="0" marL="228600" marR="0" rtl="0" algn="l">
              <a:lnSpc>
                <a:spcPct val="80000"/>
              </a:lnSpc>
              <a:spcBef>
                <a:spcPts val="1000"/>
              </a:spcBef>
              <a:spcAft>
                <a:spcPts val="0"/>
              </a:spcAft>
              <a:buClr>
                <a:schemeClr val="dk1"/>
              </a:buClr>
              <a:buSzPts val="3000"/>
              <a:buFont typeface="Arial"/>
              <a:buNone/>
            </a:pPr>
            <a:r>
              <a:t/>
            </a:r>
            <a:endParaRPr b="0" i="0" sz="3000" u="none" cap="none" strike="noStrik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In this model, the guest is represented by the operating system, the host by the physical computer  hardware, the virtual machine by its emulation, and the virtual machine manager by the hypervisor.</a:t>
            </a:r>
            <a:endParaRPr/>
          </a:p>
          <a:p>
            <a:pPr indent="-38100" lvl="0" marL="228600" marR="0" rtl="0" algn="l">
              <a:lnSpc>
                <a:spcPct val="80000"/>
              </a:lnSpc>
              <a:spcBef>
                <a:spcPts val="1000"/>
              </a:spcBef>
              <a:spcAft>
                <a:spcPts val="0"/>
              </a:spcAft>
              <a:buClr>
                <a:schemeClr val="dk1"/>
              </a:buClr>
              <a:buSzPts val="3000"/>
              <a:buFont typeface="Arial"/>
              <a:buNone/>
            </a:pPr>
            <a:r>
              <a:t/>
            </a:r>
            <a:endParaRPr b="0" i="0" sz="3000" u="none" cap="none" strike="noStrik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Hardware-level virtualization is also called system virtualization, since it provides ISA to virtual machines, which is the representation of the hardware interface of a system. </a:t>
            </a:r>
            <a:endParaRPr/>
          </a:p>
          <a:p>
            <a:pPr indent="-38100" lvl="0" marL="228600" marR="0" rtl="0" algn="l">
              <a:lnSpc>
                <a:spcPct val="80000"/>
              </a:lnSpc>
              <a:spcBef>
                <a:spcPts val="1000"/>
              </a:spcBef>
              <a:spcAft>
                <a:spcPts val="0"/>
              </a:spcAft>
              <a:buClr>
                <a:schemeClr val="dk1"/>
              </a:buClr>
              <a:buSzPts val="3000"/>
              <a:buFont typeface="Arial"/>
              <a:buNone/>
            </a:pPr>
            <a:r>
              <a:t/>
            </a:r>
            <a:endParaRPr b="0" i="0" sz="3000" u="none" cap="none" strike="noStrik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This is to differentiate it from process virtual machines, which expose ABI to virtual machines.</a:t>
            </a:r>
            <a:endParaRPr/>
          </a:p>
          <a:p>
            <a:pPr indent="0" lvl="0" marL="0" marR="0" rtl="0" algn="l">
              <a:lnSpc>
                <a:spcPct val="100000"/>
              </a:lnSpc>
              <a:spcBef>
                <a:spcPts val="0"/>
              </a:spcBef>
              <a:spcAft>
                <a:spcPts val="0"/>
              </a:spcAft>
              <a:buNone/>
            </a:pPr>
            <a:r>
              <a:t/>
            </a:r>
            <a:endParaRPr b="0" i="0" sz="300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1"/>
          <p:cNvSpPr txBox="1"/>
          <p:nvPr>
            <p:ph type="title"/>
          </p:nvPr>
        </p:nvSpPr>
        <p:spPr>
          <a:xfrm>
            <a:off x="838200" y="365125"/>
            <a:ext cx="10515600" cy="6032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solidFill>
                  <a:schemeClr val="dk1"/>
                </a:solidFill>
                <a:latin typeface="Calibri"/>
                <a:ea typeface="Calibri"/>
                <a:cs typeface="Calibri"/>
                <a:sym typeface="Calibri"/>
              </a:rPr>
              <a:t>Hardware-level Virtualization</a:t>
            </a:r>
            <a:endParaRPr/>
          </a:p>
        </p:txBody>
      </p:sp>
      <p:sp>
        <p:nvSpPr>
          <p:cNvPr id="257" name="Google Shape;257;p31"/>
          <p:cNvSpPr txBox="1"/>
          <p:nvPr>
            <p:ph idx="1" type="body"/>
          </p:nvPr>
        </p:nvSpPr>
        <p:spPr>
          <a:xfrm>
            <a:off x="838200" y="968375"/>
            <a:ext cx="10847387" cy="5572125"/>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A fundamental element of hardware virtualization is the hypervisor, or virtual machine manager (VMM). </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It recreates a hardware environment in which guest operating systems are installed. </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There are two major types of hypervisor: Type I and Type II</a:t>
            </a:r>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Type I hypervisors run directly on top of the hardware. </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Therefore, they take the place of the operating systems and interact directly with the ISA interface exposed by the underlying hardware, and they emulate this interface in order to allow the management of guest operating systems. </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This type of hypervisor is also called a native virtual machine since it runs natively on hardware.</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2"/>
          <p:cNvSpPr txBox="1"/>
          <p:nvPr>
            <p:ph type="title"/>
          </p:nvPr>
        </p:nvSpPr>
        <p:spPr>
          <a:xfrm>
            <a:off x="838200" y="365125"/>
            <a:ext cx="10515600" cy="6032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solidFill>
                  <a:schemeClr val="dk1"/>
                </a:solidFill>
                <a:latin typeface="Calibri"/>
                <a:ea typeface="Calibri"/>
                <a:cs typeface="Calibri"/>
                <a:sym typeface="Calibri"/>
              </a:rPr>
              <a:t>Hardware-level Virtualization</a:t>
            </a:r>
            <a:endParaRPr/>
          </a:p>
        </p:txBody>
      </p:sp>
      <p:sp>
        <p:nvSpPr>
          <p:cNvPr id="263" name="Google Shape;263;p32"/>
          <p:cNvSpPr txBox="1"/>
          <p:nvPr>
            <p:ph idx="1" type="body"/>
          </p:nvPr>
        </p:nvSpPr>
        <p:spPr>
          <a:xfrm>
            <a:off x="838200" y="968375"/>
            <a:ext cx="10847387" cy="5572125"/>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700"/>
              <a:buFont typeface="Arial"/>
              <a:buChar char="•"/>
            </a:pPr>
            <a:r>
              <a:rPr b="0" i="0" lang="en-US" sz="2700" u="none" cap="none" strike="noStrike">
                <a:solidFill>
                  <a:schemeClr val="dk1"/>
                </a:solidFill>
                <a:latin typeface="Calibri"/>
                <a:ea typeface="Calibri"/>
                <a:cs typeface="Calibri"/>
                <a:sym typeface="Calibri"/>
              </a:rPr>
              <a:t>T</a:t>
            </a:r>
            <a:r>
              <a:rPr b="0" i="0" lang="en-US" sz="3000" u="none" cap="none" strike="noStrike">
                <a:solidFill>
                  <a:schemeClr val="dk1"/>
                </a:solidFill>
                <a:latin typeface="Calibri"/>
                <a:ea typeface="Calibri"/>
                <a:cs typeface="Calibri"/>
                <a:sym typeface="Calibri"/>
              </a:rPr>
              <a:t>ype II hypervisors require the support of an operating system to provide virtualization services. </a:t>
            </a:r>
            <a:endParaRPr/>
          </a:p>
          <a:p>
            <a:pPr indent="-38100" lvl="0" marL="228600" marR="0" rtl="0" algn="l">
              <a:lnSpc>
                <a:spcPct val="90000"/>
              </a:lnSpc>
              <a:spcBef>
                <a:spcPts val="1000"/>
              </a:spcBef>
              <a:spcAft>
                <a:spcPts val="0"/>
              </a:spcAft>
              <a:buClr>
                <a:schemeClr val="dk1"/>
              </a:buClr>
              <a:buSzPts val="3000"/>
              <a:buFont typeface="Arial"/>
              <a:buNone/>
            </a:pPr>
            <a:r>
              <a:t/>
            </a:r>
            <a:endParaRPr b="0" i="0" sz="3000" u="none" cap="none" strike="noStrik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This means that they are programs managed by the operating system, which interact with it through the ABI and emulate the ISA of virtual hardware for guest operating systems.</a:t>
            </a:r>
            <a:endParaRPr/>
          </a:p>
          <a:p>
            <a:pPr indent="-38100" lvl="0" marL="228600" marR="0" rtl="0" algn="l">
              <a:lnSpc>
                <a:spcPct val="90000"/>
              </a:lnSpc>
              <a:spcBef>
                <a:spcPts val="1000"/>
              </a:spcBef>
              <a:spcAft>
                <a:spcPts val="0"/>
              </a:spcAft>
              <a:buClr>
                <a:schemeClr val="dk1"/>
              </a:buClr>
              <a:buSzPts val="3000"/>
              <a:buFont typeface="Arial"/>
              <a:buNone/>
            </a:pPr>
            <a:r>
              <a:t/>
            </a:r>
            <a:endParaRPr b="0" i="0" sz="3000" u="none" cap="none" strike="noStrik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This type of hypervisor is also called a hosted virtual machine since it is hosted within an operating system.</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3"/>
          <p:cNvSpPr txBox="1"/>
          <p:nvPr>
            <p:ph type="title"/>
          </p:nvPr>
        </p:nvSpPr>
        <p:spPr>
          <a:xfrm>
            <a:off x="838200" y="365125"/>
            <a:ext cx="10515600" cy="6032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solidFill>
                  <a:schemeClr val="dk1"/>
                </a:solidFill>
                <a:latin typeface="Calibri"/>
                <a:ea typeface="Calibri"/>
                <a:cs typeface="Calibri"/>
                <a:sym typeface="Calibri"/>
              </a:rPr>
              <a:t>Hardware-level Virtualization</a:t>
            </a:r>
            <a:endParaRPr/>
          </a:p>
        </p:txBody>
      </p:sp>
      <p:pic>
        <p:nvPicPr>
          <p:cNvPr id="269" name="Google Shape;269;p33"/>
          <p:cNvPicPr preferRelativeResize="0"/>
          <p:nvPr>
            <p:ph idx="1" type="body"/>
          </p:nvPr>
        </p:nvPicPr>
        <p:blipFill rotWithShape="1">
          <a:blip r:embed="rId3">
            <a:alphaModFix/>
          </a:blip>
          <a:srcRect b="0" l="0" r="0" t="0"/>
          <a:stretch/>
        </p:blipFill>
        <p:spPr>
          <a:xfrm>
            <a:off x="838200" y="1327150"/>
            <a:ext cx="10115550" cy="49720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34"/>
          <p:cNvSpPr txBox="1"/>
          <p:nvPr>
            <p:ph type="title"/>
          </p:nvPr>
        </p:nvSpPr>
        <p:spPr>
          <a:xfrm>
            <a:off x="838200" y="365125"/>
            <a:ext cx="10515600" cy="6032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solidFill>
                  <a:schemeClr val="dk1"/>
                </a:solidFill>
                <a:latin typeface="Calibri"/>
                <a:ea typeface="Calibri"/>
                <a:cs typeface="Calibri"/>
                <a:sym typeface="Calibri"/>
              </a:rPr>
              <a:t>Virtualization</a:t>
            </a:r>
            <a:endParaRPr/>
          </a:p>
        </p:txBody>
      </p:sp>
      <p:pic>
        <p:nvPicPr>
          <p:cNvPr id="275" name="Google Shape;275;p34"/>
          <p:cNvPicPr preferRelativeResize="0"/>
          <p:nvPr>
            <p:ph idx="1" type="body"/>
          </p:nvPr>
        </p:nvPicPr>
        <p:blipFill rotWithShape="1">
          <a:blip r:embed="rId3">
            <a:alphaModFix/>
          </a:blip>
          <a:srcRect b="0" l="0" r="0" t="0"/>
          <a:stretch/>
        </p:blipFill>
        <p:spPr>
          <a:xfrm>
            <a:off x="965200" y="1169987"/>
            <a:ext cx="10048875" cy="5151437"/>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5"/>
          <p:cNvSpPr txBox="1"/>
          <p:nvPr>
            <p:ph type="title"/>
          </p:nvPr>
        </p:nvSpPr>
        <p:spPr>
          <a:xfrm>
            <a:off x="838200" y="365125"/>
            <a:ext cx="10515600" cy="6032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solidFill>
                  <a:schemeClr val="dk1"/>
                </a:solidFill>
                <a:latin typeface="Calibri"/>
                <a:ea typeface="Calibri"/>
                <a:cs typeface="Calibri"/>
                <a:sym typeface="Calibri"/>
              </a:rPr>
              <a:t>Virtualization</a:t>
            </a:r>
            <a:endParaRPr/>
          </a:p>
        </p:txBody>
      </p:sp>
      <p:sp>
        <p:nvSpPr>
          <p:cNvPr id="281" name="Google Shape;281;p35"/>
          <p:cNvSpPr txBox="1"/>
          <p:nvPr>
            <p:ph idx="1" type="body"/>
          </p:nvPr>
        </p:nvSpPr>
        <p:spPr>
          <a:xfrm>
            <a:off x="838200" y="968375"/>
            <a:ext cx="10847387" cy="5572125"/>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Conceptually, a virtual machine manager is internally organized into three main modules, </a:t>
            </a:r>
            <a:r>
              <a:rPr b="1" i="0" lang="en-US" sz="2800" u="none" cap="none" strike="noStrike">
                <a:solidFill>
                  <a:schemeClr val="dk1"/>
                </a:solidFill>
                <a:latin typeface="Calibri"/>
                <a:ea typeface="Calibri"/>
                <a:cs typeface="Calibri"/>
                <a:sym typeface="Calibri"/>
              </a:rPr>
              <a:t>dispatcher</a:t>
            </a:r>
            <a:r>
              <a:rPr b="0" i="0" lang="en-US" sz="2800" u="none" cap="none" strike="noStrike">
                <a:solidFill>
                  <a:schemeClr val="dk1"/>
                </a:solidFill>
                <a:latin typeface="Calibri"/>
                <a:ea typeface="Calibri"/>
                <a:cs typeface="Calibri"/>
                <a:sym typeface="Calibri"/>
              </a:rPr>
              <a:t>, </a:t>
            </a:r>
            <a:r>
              <a:rPr b="1" i="0" lang="en-US" sz="2800" u="none" cap="none" strike="noStrike">
                <a:solidFill>
                  <a:schemeClr val="dk1"/>
                </a:solidFill>
                <a:latin typeface="Calibri"/>
                <a:ea typeface="Calibri"/>
                <a:cs typeface="Calibri"/>
                <a:sym typeface="Calibri"/>
              </a:rPr>
              <a:t>allocator</a:t>
            </a:r>
            <a:r>
              <a:rPr b="0" i="0" lang="en-US" sz="2800" u="none" cap="none" strike="noStrike">
                <a:solidFill>
                  <a:schemeClr val="dk1"/>
                </a:solidFill>
                <a:latin typeface="Calibri"/>
                <a:ea typeface="Calibri"/>
                <a:cs typeface="Calibri"/>
                <a:sym typeface="Calibri"/>
              </a:rPr>
              <a:t>, and </a:t>
            </a:r>
            <a:r>
              <a:rPr b="1" i="0" lang="en-US" sz="2800" u="none" cap="none" strike="noStrike">
                <a:solidFill>
                  <a:schemeClr val="dk1"/>
                </a:solidFill>
                <a:latin typeface="Calibri"/>
                <a:ea typeface="Calibri"/>
                <a:cs typeface="Calibri"/>
                <a:sym typeface="Calibri"/>
              </a:rPr>
              <a:t>interpreter</a:t>
            </a:r>
            <a:r>
              <a:rPr b="0" i="0" lang="en-US" sz="2800" u="none" cap="none" strike="noStrike">
                <a:solidFill>
                  <a:schemeClr val="dk1"/>
                </a:solidFill>
                <a:latin typeface="Calibri"/>
                <a:ea typeface="Calibri"/>
                <a:cs typeface="Calibri"/>
                <a:sym typeface="Calibri"/>
              </a:rPr>
              <a:t>, coordinate their activity in order to emulate the underlying hardware. </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The dispatcher constitutes the entry point of the monitor and reroutes the instructions issued by the virtual machine instance to one of the two other modules.</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The allocator is responsible for deciding the system resources to be provided to the VM: whenever a virtual machine tries to execute an instruction that results in changing the machine resources associated with that VM, the allocator is invoked by the dispatcher. </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The interpreter module consists of interpreter routines. </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These are executed whenever a virtual machine executes a privileged instruction: a trap is triggered and the corresponding routine is executed.</a:t>
            </a:r>
            <a:endParaRPr/>
          </a:p>
          <a:p>
            <a:pPr indent="0" lvl="0" marL="0" marR="0" rtl="0" algn="l">
              <a:lnSpc>
                <a:spcPct val="100000"/>
              </a:lnSpc>
              <a:spcBef>
                <a:spcPts val="0"/>
              </a:spcBef>
              <a:spcAft>
                <a:spcPts val="0"/>
              </a:spcAft>
              <a:buNone/>
            </a:pPr>
            <a:r>
              <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6"/>
          <p:cNvSpPr txBox="1"/>
          <p:nvPr>
            <p:ph type="title"/>
          </p:nvPr>
        </p:nvSpPr>
        <p:spPr>
          <a:xfrm>
            <a:off x="838200" y="365125"/>
            <a:ext cx="10515600" cy="6032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solidFill>
                  <a:schemeClr val="dk1"/>
                </a:solidFill>
                <a:latin typeface="Calibri"/>
                <a:ea typeface="Calibri"/>
                <a:cs typeface="Calibri"/>
                <a:sym typeface="Calibri"/>
              </a:rPr>
              <a:t>Virtualization</a:t>
            </a:r>
            <a:endParaRPr/>
          </a:p>
        </p:txBody>
      </p:sp>
      <p:sp>
        <p:nvSpPr>
          <p:cNvPr id="287" name="Google Shape;287;p36"/>
          <p:cNvSpPr txBox="1"/>
          <p:nvPr>
            <p:ph idx="1" type="body"/>
          </p:nvPr>
        </p:nvSpPr>
        <p:spPr>
          <a:xfrm>
            <a:off x="838200" y="968375"/>
            <a:ext cx="10847387" cy="5572125"/>
          </a:xfrm>
          <a:prstGeom prst="rect">
            <a:avLst/>
          </a:prstGeom>
          <a:noFill/>
          <a:ln>
            <a:noFill/>
          </a:ln>
        </p:spPr>
        <p:txBody>
          <a:bodyPr anchorCtr="0" anchor="t" bIns="45700" lIns="91425" spcFirstLastPara="1" rIns="91425" wrap="square" tIns="45700">
            <a:noAutofit/>
          </a:bodyPr>
          <a:lstStyle/>
          <a:p>
            <a:pPr indent="-228600" lvl="0" marL="228600" marR="0" rtl="0" algn="l">
              <a:lnSpc>
                <a:spcPct val="80000"/>
              </a:lnSpc>
              <a:spcBef>
                <a:spcPts val="0"/>
              </a:spcBef>
              <a:spcAft>
                <a:spcPts val="0"/>
              </a:spcAft>
              <a:buClr>
                <a:schemeClr val="dk1"/>
              </a:buClr>
              <a:buSzPts val="2700"/>
              <a:buFont typeface="Arial"/>
              <a:buChar char="•"/>
            </a:pPr>
            <a:r>
              <a:rPr b="0" i="0" lang="en-US" sz="2700" u="none" cap="none" strike="noStrike">
                <a:solidFill>
                  <a:schemeClr val="dk1"/>
                </a:solidFill>
                <a:latin typeface="Calibri"/>
                <a:ea typeface="Calibri"/>
                <a:cs typeface="Calibri"/>
                <a:sym typeface="Calibri"/>
              </a:rPr>
              <a:t>The design and architecture of a virtual machine manager, together with the underlying hardware design of the host machine, determine the full realization of hardware virtualization, where a guest operating system can be transparently executed on top of a VMM as though it were run on the underlying hardware. </a:t>
            </a:r>
            <a:endParaRPr/>
          </a:p>
          <a:p>
            <a:pPr indent="-57150" lvl="0" marL="228600" marR="0" rtl="0" algn="l">
              <a:lnSpc>
                <a:spcPct val="80000"/>
              </a:lnSpc>
              <a:spcBef>
                <a:spcPts val="1000"/>
              </a:spcBef>
              <a:spcAft>
                <a:spcPts val="0"/>
              </a:spcAft>
              <a:buClr>
                <a:schemeClr val="dk1"/>
              </a:buClr>
              <a:buSzPts val="2700"/>
              <a:buFont typeface="Arial"/>
              <a:buNone/>
            </a:pPr>
            <a:r>
              <a:t/>
            </a:r>
            <a:endParaRPr b="0" i="0" sz="2700" u="none" cap="none" strike="noStrik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2700"/>
              <a:buFont typeface="Arial"/>
              <a:buChar char="•"/>
            </a:pPr>
            <a:r>
              <a:rPr b="0" i="0" lang="en-US" sz="2700" u="none" cap="none" strike="noStrike">
                <a:solidFill>
                  <a:schemeClr val="dk1"/>
                </a:solidFill>
                <a:latin typeface="Calibri"/>
                <a:ea typeface="Calibri"/>
                <a:cs typeface="Calibri"/>
                <a:sym typeface="Calibri"/>
              </a:rPr>
              <a:t>The criteria that need to be met by a virtual machine manager to efficiently support virtualization were established by Goldberg and Popek in 1974.</a:t>
            </a:r>
            <a:endParaRPr/>
          </a:p>
          <a:p>
            <a:pPr indent="-57150" lvl="0" marL="228600" marR="0" rtl="0" algn="l">
              <a:lnSpc>
                <a:spcPct val="80000"/>
              </a:lnSpc>
              <a:spcBef>
                <a:spcPts val="1000"/>
              </a:spcBef>
              <a:spcAft>
                <a:spcPts val="0"/>
              </a:spcAft>
              <a:buClr>
                <a:schemeClr val="dk1"/>
              </a:buClr>
              <a:buSzPts val="2700"/>
              <a:buFont typeface="Arial"/>
              <a:buNone/>
            </a:pPr>
            <a:r>
              <a:t/>
            </a:r>
            <a:endParaRPr b="0" i="0" sz="2700" u="none" cap="none" strike="noStrik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2700"/>
              <a:buFont typeface="Arial"/>
              <a:buChar char="•"/>
            </a:pPr>
            <a:r>
              <a:rPr b="0" i="0" lang="en-US" sz="2700" u="none" cap="none" strike="noStrike">
                <a:solidFill>
                  <a:schemeClr val="dk1"/>
                </a:solidFill>
                <a:latin typeface="Calibri"/>
                <a:ea typeface="Calibri"/>
                <a:cs typeface="Calibri"/>
                <a:sym typeface="Calibri"/>
              </a:rPr>
              <a:t>Three properties have to be satisfied:</a:t>
            </a:r>
            <a:endParaRPr/>
          </a:p>
          <a:p>
            <a:pPr indent="-228600" lvl="0" marL="228600" marR="0" rtl="0" algn="l">
              <a:lnSpc>
                <a:spcPct val="80000"/>
              </a:lnSpc>
              <a:spcBef>
                <a:spcPts val="1000"/>
              </a:spcBef>
              <a:spcAft>
                <a:spcPts val="0"/>
              </a:spcAft>
              <a:buClr>
                <a:schemeClr val="dk1"/>
              </a:buClr>
              <a:buSzPts val="2700"/>
              <a:buFont typeface="Arial"/>
              <a:buChar char="•"/>
            </a:pPr>
            <a:r>
              <a:rPr b="1" i="0" lang="en-US" sz="2700" u="none" cap="none" strike="noStrike">
                <a:solidFill>
                  <a:schemeClr val="dk1"/>
                </a:solidFill>
                <a:latin typeface="Calibri"/>
                <a:ea typeface="Calibri"/>
                <a:cs typeface="Calibri"/>
                <a:sym typeface="Calibri"/>
              </a:rPr>
              <a:t>Equivalence -</a:t>
            </a:r>
            <a:r>
              <a:rPr b="0" i="0" lang="en-US" sz="2700" u="none" cap="none" strike="noStrike">
                <a:solidFill>
                  <a:schemeClr val="dk1"/>
                </a:solidFill>
                <a:latin typeface="Calibri"/>
                <a:ea typeface="Calibri"/>
                <a:cs typeface="Calibri"/>
                <a:sym typeface="Calibri"/>
              </a:rPr>
              <a:t> A guest running under the control of a virtual machine manager should exhibit the same behavior as when it is executed directly on the physical host.</a:t>
            </a:r>
            <a:endParaRPr/>
          </a:p>
          <a:p>
            <a:pPr indent="-228600" lvl="0" marL="228600" marR="0" rtl="0" algn="l">
              <a:lnSpc>
                <a:spcPct val="80000"/>
              </a:lnSpc>
              <a:spcBef>
                <a:spcPts val="1000"/>
              </a:spcBef>
              <a:spcAft>
                <a:spcPts val="0"/>
              </a:spcAft>
              <a:buClr>
                <a:schemeClr val="dk1"/>
              </a:buClr>
              <a:buSzPts val="2700"/>
              <a:buFont typeface="Arial"/>
              <a:buChar char="•"/>
            </a:pPr>
            <a:r>
              <a:rPr b="1" i="0" lang="en-US" sz="2700" u="none" cap="none" strike="noStrike">
                <a:solidFill>
                  <a:schemeClr val="dk1"/>
                </a:solidFill>
                <a:latin typeface="Calibri"/>
                <a:ea typeface="Calibri"/>
                <a:cs typeface="Calibri"/>
                <a:sym typeface="Calibri"/>
              </a:rPr>
              <a:t>Resource control - </a:t>
            </a:r>
            <a:r>
              <a:rPr b="0" i="0" lang="en-US" sz="2700" u="none" cap="none" strike="noStrike">
                <a:solidFill>
                  <a:schemeClr val="dk1"/>
                </a:solidFill>
                <a:latin typeface="Calibri"/>
                <a:ea typeface="Calibri"/>
                <a:cs typeface="Calibri"/>
                <a:sym typeface="Calibri"/>
              </a:rPr>
              <a:t>The virtual machine manager should be in complete control of virtualized resources.</a:t>
            </a:r>
            <a:endParaRPr/>
          </a:p>
          <a:p>
            <a:pPr indent="0" lvl="0" marL="0" marR="0" rtl="0" algn="l">
              <a:lnSpc>
                <a:spcPct val="100000"/>
              </a:lnSpc>
              <a:spcBef>
                <a:spcPts val="0"/>
              </a:spcBef>
              <a:spcAft>
                <a:spcPts val="0"/>
              </a:spcAft>
              <a:buNone/>
            </a:pPr>
            <a:r>
              <a:t/>
            </a:r>
            <a:endParaRPr b="0" i="0" sz="2700" u="none" cap="none" strike="noStrike">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37"/>
          <p:cNvSpPr txBox="1"/>
          <p:nvPr>
            <p:ph type="title"/>
          </p:nvPr>
        </p:nvSpPr>
        <p:spPr>
          <a:xfrm>
            <a:off x="838200" y="365125"/>
            <a:ext cx="10515600" cy="6032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solidFill>
                  <a:schemeClr val="dk1"/>
                </a:solidFill>
                <a:latin typeface="Calibri"/>
                <a:ea typeface="Calibri"/>
                <a:cs typeface="Calibri"/>
                <a:sym typeface="Calibri"/>
              </a:rPr>
              <a:t>Virtualization</a:t>
            </a:r>
            <a:endParaRPr/>
          </a:p>
        </p:txBody>
      </p:sp>
      <p:sp>
        <p:nvSpPr>
          <p:cNvPr id="293" name="Google Shape;293;p37"/>
          <p:cNvSpPr txBox="1"/>
          <p:nvPr>
            <p:ph idx="1" type="body"/>
          </p:nvPr>
        </p:nvSpPr>
        <p:spPr>
          <a:xfrm>
            <a:off x="838200" y="968375"/>
            <a:ext cx="10847387" cy="5572125"/>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3000"/>
              <a:buFont typeface="Arial"/>
              <a:buChar char="•"/>
            </a:pPr>
            <a:r>
              <a:rPr b="1" i="0" lang="en-US" sz="3000" u="none" cap="none" strike="noStrike">
                <a:solidFill>
                  <a:schemeClr val="dk1"/>
                </a:solidFill>
                <a:latin typeface="Calibri"/>
                <a:ea typeface="Calibri"/>
                <a:cs typeface="Calibri"/>
                <a:sym typeface="Calibri"/>
              </a:rPr>
              <a:t>Efficiency</a:t>
            </a:r>
            <a:r>
              <a:rPr b="0" i="0" lang="en-US" sz="3000" u="none" cap="none" strike="noStrike">
                <a:solidFill>
                  <a:schemeClr val="dk1"/>
                </a:solidFill>
                <a:latin typeface="Calibri"/>
                <a:ea typeface="Calibri"/>
                <a:cs typeface="Calibri"/>
                <a:sym typeface="Calibri"/>
              </a:rPr>
              <a:t> -  A statistically dominant fraction of the machine instructions should be executed without intervention from the virtual machine manager.</a:t>
            </a:r>
            <a:endParaRPr/>
          </a:p>
          <a:p>
            <a:pPr indent="-38100" lvl="0" marL="228600" marR="0" rtl="0" algn="l">
              <a:lnSpc>
                <a:spcPct val="90000"/>
              </a:lnSpc>
              <a:spcBef>
                <a:spcPts val="1000"/>
              </a:spcBef>
              <a:spcAft>
                <a:spcPts val="0"/>
              </a:spcAft>
              <a:buClr>
                <a:schemeClr val="dk1"/>
              </a:buClr>
              <a:buSzPts val="3000"/>
              <a:buFont typeface="Arial"/>
              <a:buNone/>
            </a:pPr>
            <a:r>
              <a:t/>
            </a:r>
            <a:endParaRPr b="0" i="0" sz="3000" u="none" cap="none" strike="noStrik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The major factor that determines whether these properties are satisfied is represented by the layout of the ISA of the host running a virtual machine manager. </a:t>
            </a:r>
            <a:endParaRPr/>
          </a:p>
          <a:p>
            <a:pPr indent="-38100" lvl="0" marL="228600" marR="0" rtl="0" algn="l">
              <a:lnSpc>
                <a:spcPct val="90000"/>
              </a:lnSpc>
              <a:spcBef>
                <a:spcPts val="1000"/>
              </a:spcBef>
              <a:spcAft>
                <a:spcPts val="0"/>
              </a:spcAft>
              <a:buClr>
                <a:schemeClr val="dk1"/>
              </a:buClr>
              <a:buSzPts val="3000"/>
              <a:buFont typeface="Arial"/>
              <a:buNone/>
            </a:pPr>
            <a:r>
              <a:t/>
            </a:r>
            <a:endParaRPr b="0" i="0" sz="3000" u="none" cap="none" strike="noStrik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Popek and Goldberg provided a classification of the instruction set and proposed three theorems that define the properties that hardware instructions need to satisfy in order to efficiently support virtualization.</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8"/>
          <p:cNvSpPr txBox="1"/>
          <p:nvPr>
            <p:ph type="title"/>
          </p:nvPr>
        </p:nvSpPr>
        <p:spPr>
          <a:xfrm>
            <a:off x="838200" y="365125"/>
            <a:ext cx="10515600" cy="6032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solidFill>
                  <a:schemeClr val="dk1"/>
                </a:solidFill>
                <a:latin typeface="Calibri"/>
                <a:ea typeface="Calibri"/>
                <a:cs typeface="Calibri"/>
                <a:sym typeface="Calibri"/>
              </a:rPr>
              <a:t>Virtualization</a:t>
            </a:r>
            <a:endParaRPr/>
          </a:p>
        </p:txBody>
      </p:sp>
      <p:sp>
        <p:nvSpPr>
          <p:cNvPr id="299" name="Google Shape;299;p38"/>
          <p:cNvSpPr txBox="1"/>
          <p:nvPr>
            <p:ph idx="1" type="body"/>
          </p:nvPr>
        </p:nvSpPr>
        <p:spPr>
          <a:xfrm>
            <a:off x="838200" y="968375"/>
            <a:ext cx="10847387" cy="5572125"/>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80000"/>
              </a:lnSpc>
              <a:spcBef>
                <a:spcPts val="0"/>
              </a:spcBef>
              <a:spcAft>
                <a:spcPts val="0"/>
              </a:spcAft>
              <a:buClr>
                <a:schemeClr val="dk1"/>
              </a:buClr>
              <a:buSzPts val="2700"/>
              <a:buFont typeface="Arial"/>
              <a:buChar char="•"/>
            </a:pPr>
            <a:r>
              <a:rPr b="0" i="0" lang="en-US" sz="2700" u="none" cap="none" strike="noStrike">
                <a:solidFill>
                  <a:schemeClr val="dk1"/>
                </a:solidFill>
                <a:latin typeface="Calibri"/>
                <a:ea typeface="Calibri"/>
                <a:cs typeface="Calibri"/>
                <a:sym typeface="Calibri"/>
              </a:rPr>
              <a:t>This theorem establishes that all the instructions that change the configuration of the system resources should generate a trap in user mode and be executed under the control of the virtual machine manager. </a:t>
            </a:r>
            <a:endParaRPr/>
          </a:p>
          <a:p>
            <a:pPr indent="-57150" lvl="0" marL="228600" marR="0" rtl="0" algn="l">
              <a:lnSpc>
                <a:spcPct val="80000"/>
              </a:lnSpc>
              <a:spcBef>
                <a:spcPts val="1000"/>
              </a:spcBef>
              <a:spcAft>
                <a:spcPts val="0"/>
              </a:spcAft>
              <a:buClr>
                <a:schemeClr val="dk1"/>
              </a:buClr>
              <a:buSzPts val="2700"/>
              <a:buFont typeface="Arial"/>
              <a:buNone/>
            </a:pPr>
            <a:r>
              <a:t/>
            </a:r>
            <a:endParaRPr b="0" i="0" sz="2700" u="none" cap="none" strike="noStrik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2700"/>
              <a:buFont typeface="Arial"/>
              <a:buChar char="•"/>
            </a:pPr>
            <a:r>
              <a:rPr b="0" i="0" lang="en-US" sz="2700" u="none" cap="none" strike="noStrike">
                <a:solidFill>
                  <a:schemeClr val="dk1"/>
                </a:solidFill>
                <a:latin typeface="Calibri"/>
                <a:ea typeface="Calibri"/>
                <a:cs typeface="Calibri"/>
                <a:sym typeface="Calibri"/>
              </a:rPr>
              <a:t>This allows hypervisors to efficiently control only those instructions that would reveal the presence of an abstraction layer while executing all the rest of the instructions without considerable performance loss. </a:t>
            </a:r>
            <a:endParaRPr/>
          </a:p>
          <a:p>
            <a:pPr indent="-57150" lvl="0" marL="228600" marR="0" rtl="0" algn="l">
              <a:lnSpc>
                <a:spcPct val="80000"/>
              </a:lnSpc>
              <a:spcBef>
                <a:spcPts val="1000"/>
              </a:spcBef>
              <a:spcAft>
                <a:spcPts val="0"/>
              </a:spcAft>
              <a:buClr>
                <a:schemeClr val="dk1"/>
              </a:buClr>
              <a:buSzPts val="2700"/>
              <a:buFont typeface="Arial"/>
              <a:buNone/>
            </a:pPr>
            <a:r>
              <a:t/>
            </a:r>
            <a:endParaRPr b="0" i="0" sz="2700" u="none" cap="none" strike="noStrik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2700"/>
              <a:buFont typeface="Arial"/>
              <a:buChar char="•"/>
            </a:pPr>
            <a:r>
              <a:rPr b="0" i="0" lang="en-US" sz="2700" u="none" cap="none" strike="noStrike">
                <a:solidFill>
                  <a:schemeClr val="dk1"/>
                </a:solidFill>
                <a:latin typeface="Calibri"/>
                <a:ea typeface="Calibri"/>
                <a:cs typeface="Calibri"/>
                <a:sym typeface="Calibri"/>
              </a:rPr>
              <a:t>The theorem always guarantees the resource control property when the hypervisor is in the most privileged mode (Ring 0). </a:t>
            </a:r>
            <a:endParaRPr/>
          </a:p>
          <a:p>
            <a:pPr indent="-57150" lvl="0" marL="228600" marR="0" rtl="0" algn="l">
              <a:lnSpc>
                <a:spcPct val="80000"/>
              </a:lnSpc>
              <a:spcBef>
                <a:spcPts val="1000"/>
              </a:spcBef>
              <a:spcAft>
                <a:spcPts val="0"/>
              </a:spcAft>
              <a:buClr>
                <a:schemeClr val="dk1"/>
              </a:buClr>
              <a:buSzPts val="2700"/>
              <a:buFont typeface="Arial"/>
              <a:buNone/>
            </a:pPr>
            <a:r>
              <a:t/>
            </a:r>
            <a:endParaRPr b="0" i="0" sz="2700" u="none" cap="none" strike="noStrik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2700"/>
              <a:buFont typeface="Arial"/>
              <a:buChar char="•"/>
            </a:pPr>
            <a:r>
              <a:rPr b="0" i="0" lang="en-US" sz="2700" u="none" cap="none" strike="noStrike">
                <a:solidFill>
                  <a:schemeClr val="dk1"/>
                </a:solidFill>
                <a:latin typeface="Calibri"/>
                <a:ea typeface="Calibri"/>
                <a:cs typeface="Calibri"/>
                <a:sym typeface="Calibri"/>
              </a:rPr>
              <a:t>The nonprivileged instructions must be executed without the intervention of the hypervisor. The equivalence property also holds good since the output of the code is the same in both cases because the code is not changed.</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39"/>
          <p:cNvSpPr txBox="1"/>
          <p:nvPr>
            <p:ph type="title"/>
          </p:nvPr>
        </p:nvSpPr>
        <p:spPr>
          <a:xfrm>
            <a:off x="838200" y="365125"/>
            <a:ext cx="10515600" cy="6032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solidFill>
                  <a:schemeClr val="dk1"/>
                </a:solidFill>
                <a:latin typeface="Calibri"/>
                <a:ea typeface="Calibri"/>
                <a:cs typeface="Calibri"/>
                <a:sym typeface="Calibri"/>
              </a:rPr>
              <a:t>Virtualization</a:t>
            </a:r>
            <a:endParaRPr/>
          </a:p>
        </p:txBody>
      </p:sp>
      <p:sp>
        <p:nvSpPr>
          <p:cNvPr id="305" name="Google Shape;305;p39"/>
          <p:cNvSpPr txBox="1"/>
          <p:nvPr>
            <p:ph idx="1" type="body"/>
          </p:nvPr>
        </p:nvSpPr>
        <p:spPr>
          <a:xfrm>
            <a:off x="838200" y="968375"/>
            <a:ext cx="10847387" cy="5572125"/>
          </a:xfrm>
          <a:prstGeom prst="rect">
            <a:avLst/>
          </a:prstGeom>
          <a:noFill/>
          <a:ln>
            <a:noFill/>
          </a:ln>
        </p:spPr>
        <p:txBody>
          <a:bodyPr anchorCtr="0" anchor="t" bIns="45700" lIns="91425" spcFirstLastPara="1" rIns="91425" wrap="square" tIns="45700">
            <a:noAutofit/>
          </a:bodyPr>
          <a:lstStyle/>
          <a:p>
            <a:pPr indent="-228600" lvl="0" marL="228600" marR="0" rtl="0" algn="l">
              <a:lnSpc>
                <a:spcPct val="80000"/>
              </a:lnSpc>
              <a:spcBef>
                <a:spcPts val="0"/>
              </a:spcBef>
              <a:spcAft>
                <a:spcPts val="0"/>
              </a:spcAft>
              <a:buClr>
                <a:schemeClr val="dk1"/>
              </a:buClr>
              <a:buSzPts val="2900"/>
              <a:buFont typeface="Arial"/>
              <a:buChar char="•"/>
            </a:pPr>
            <a:r>
              <a:rPr b="0" i="0" lang="en-US" sz="2900" u="none" cap="none" strike="noStrike">
                <a:solidFill>
                  <a:schemeClr val="dk1"/>
                </a:solidFill>
                <a:latin typeface="Calibri"/>
                <a:ea typeface="Calibri"/>
                <a:cs typeface="Calibri"/>
                <a:sym typeface="Calibri"/>
              </a:rPr>
              <a:t>Recursive virtualization is the ability to run a virtual machine manager on top of another virtual machine manager. </a:t>
            </a:r>
            <a:endParaRPr/>
          </a:p>
          <a:p>
            <a:pPr indent="-228600" lvl="0" marL="228600" marR="0" rtl="0" algn="l">
              <a:lnSpc>
                <a:spcPct val="80000"/>
              </a:lnSpc>
              <a:spcBef>
                <a:spcPts val="1000"/>
              </a:spcBef>
              <a:spcAft>
                <a:spcPts val="0"/>
              </a:spcAft>
              <a:buClr>
                <a:schemeClr val="dk1"/>
              </a:buClr>
              <a:buSzPts val="2900"/>
              <a:buFont typeface="Arial"/>
              <a:buChar char="•"/>
            </a:pPr>
            <a:r>
              <a:rPr b="0" i="0" lang="en-US" sz="2900" u="none" cap="none" strike="noStrike">
                <a:solidFill>
                  <a:schemeClr val="dk1"/>
                </a:solidFill>
                <a:latin typeface="Calibri"/>
                <a:ea typeface="Calibri"/>
                <a:cs typeface="Calibri"/>
                <a:sym typeface="Calibri"/>
              </a:rPr>
              <a:t>This allows nesting hypervisors as long as the capacity of the underlying resources can accommodate that. </a:t>
            </a:r>
            <a:endParaRPr/>
          </a:p>
          <a:p>
            <a:pPr indent="-228600" lvl="0" marL="228600" marR="0" rtl="0" algn="l">
              <a:lnSpc>
                <a:spcPct val="80000"/>
              </a:lnSpc>
              <a:spcBef>
                <a:spcPts val="1000"/>
              </a:spcBef>
              <a:spcAft>
                <a:spcPts val="0"/>
              </a:spcAft>
              <a:buClr>
                <a:schemeClr val="dk1"/>
              </a:buClr>
              <a:buSzPts val="2900"/>
              <a:buFont typeface="Arial"/>
              <a:buChar char="•"/>
            </a:pPr>
            <a:r>
              <a:rPr b="0" i="0" lang="en-US" sz="2900" u="none" cap="none" strike="noStrike">
                <a:solidFill>
                  <a:schemeClr val="dk1"/>
                </a:solidFill>
                <a:latin typeface="Calibri"/>
                <a:ea typeface="Calibri"/>
                <a:cs typeface="Calibri"/>
                <a:sym typeface="Calibri"/>
              </a:rPr>
              <a:t>Virtualizable hardware is a prerequisite to recursive virtualization.</a:t>
            </a:r>
            <a:endParaRPr/>
          </a:p>
          <a:p>
            <a:pPr indent="-228600" lvl="0" marL="228600" marR="0" rtl="0" algn="l">
              <a:lnSpc>
                <a:spcPct val="80000"/>
              </a:lnSpc>
              <a:spcBef>
                <a:spcPts val="1000"/>
              </a:spcBef>
              <a:spcAft>
                <a:spcPts val="0"/>
              </a:spcAft>
              <a:buClr>
                <a:schemeClr val="dk1"/>
              </a:buClr>
              <a:buSzPts val="2900"/>
              <a:buFont typeface="Arial"/>
              <a:buChar char="•"/>
            </a:pPr>
            <a:r>
              <a:rPr b="0" i="0" lang="en-US" sz="2900" u="none" cap="none" strike="noStrike">
                <a:solidFill>
                  <a:schemeClr val="dk1"/>
                </a:solidFill>
                <a:latin typeface="Calibri"/>
                <a:ea typeface="Calibri"/>
                <a:cs typeface="Calibri"/>
                <a:sym typeface="Calibri"/>
              </a:rPr>
              <a:t>There is another term, hybrid virtual machine (HVM), which is less efficient than the virtual machine system. </a:t>
            </a:r>
            <a:endParaRPr/>
          </a:p>
          <a:p>
            <a:pPr indent="-228600" lvl="0" marL="228600" marR="0" rtl="0" algn="l">
              <a:lnSpc>
                <a:spcPct val="80000"/>
              </a:lnSpc>
              <a:spcBef>
                <a:spcPts val="1000"/>
              </a:spcBef>
              <a:spcAft>
                <a:spcPts val="0"/>
              </a:spcAft>
              <a:buClr>
                <a:schemeClr val="dk1"/>
              </a:buClr>
              <a:buSzPts val="2900"/>
              <a:buFont typeface="Arial"/>
              <a:buChar char="•"/>
            </a:pPr>
            <a:r>
              <a:rPr b="0" i="0" lang="en-US" sz="2900" u="none" cap="none" strike="noStrike">
                <a:solidFill>
                  <a:schemeClr val="dk1"/>
                </a:solidFill>
                <a:latin typeface="Calibri"/>
                <a:ea typeface="Calibri"/>
                <a:cs typeface="Calibri"/>
                <a:sym typeface="Calibri"/>
              </a:rPr>
              <a:t>In the case of an HVM, more instructions are interpreted rather than being executed directly. </a:t>
            </a:r>
            <a:endParaRPr/>
          </a:p>
          <a:p>
            <a:pPr indent="-228600" lvl="0" marL="228600" marR="0" rtl="0" algn="l">
              <a:lnSpc>
                <a:spcPct val="80000"/>
              </a:lnSpc>
              <a:spcBef>
                <a:spcPts val="1000"/>
              </a:spcBef>
              <a:spcAft>
                <a:spcPts val="0"/>
              </a:spcAft>
              <a:buClr>
                <a:schemeClr val="dk1"/>
              </a:buClr>
              <a:buSzPts val="2900"/>
              <a:buFont typeface="Arial"/>
              <a:buChar char="•"/>
            </a:pPr>
            <a:r>
              <a:rPr b="0" i="0" lang="en-US" sz="2900" u="none" cap="none" strike="noStrike">
                <a:solidFill>
                  <a:schemeClr val="dk1"/>
                </a:solidFill>
                <a:latin typeface="Calibri"/>
                <a:ea typeface="Calibri"/>
                <a:cs typeface="Calibri"/>
                <a:sym typeface="Calibri"/>
              </a:rPr>
              <a:t>All instructions in virtual supervisor mode are interpreted. Whenever there is an attempt to execute a behavior-sensitive or control-sensitive instruction, HVM controls the execution directly or gains the control via a trap. </a:t>
            </a:r>
            <a:endParaRPr/>
          </a:p>
          <a:p>
            <a:pPr indent="-228600" lvl="0" marL="228600" marR="0" rtl="0" algn="l">
              <a:lnSpc>
                <a:spcPct val="80000"/>
              </a:lnSpc>
              <a:spcBef>
                <a:spcPts val="1000"/>
              </a:spcBef>
              <a:spcAft>
                <a:spcPts val="0"/>
              </a:spcAft>
              <a:buClr>
                <a:schemeClr val="dk1"/>
              </a:buClr>
              <a:buSzPts val="2900"/>
              <a:buFont typeface="Arial"/>
              <a:buChar char="•"/>
            </a:pPr>
            <a:r>
              <a:rPr b="0" i="0" lang="en-US" sz="2900" u="none" cap="none" strike="noStrike">
                <a:solidFill>
                  <a:schemeClr val="dk1"/>
                </a:solidFill>
                <a:latin typeface="Calibri"/>
                <a:ea typeface="Calibri"/>
                <a:cs typeface="Calibri"/>
                <a:sym typeface="Calibri"/>
              </a:rPr>
              <a:t>Here all sensitive instructions are caught by HVM that are simulated.</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40"/>
          <p:cNvSpPr txBox="1"/>
          <p:nvPr>
            <p:ph type="title"/>
          </p:nvPr>
        </p:nvSpPr>
        <p:spPr>
          <a:xfrm>
            <a:off x="838200" y="365125"/>
            <a:ext cx="10515600" cy="6032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solidFill>
                  <a:schemeClr val="dk1"/>
                </a:solidFill>
                <a:latin typeface="Calibri"/>
                <a:ea typeface="Calibri"/>
                <a:cs typeface="Calibri"/>
                <a:sym typeface="Calibri"/>
              </a:rPr>
              <a:t>Hardware virtualization techniques</a:t>
            </a:r>
            <a:endParaRPr/>
          </a:p>
        </p:txBody>
      </p:sp>
      <p:sp>
        <p:nvSpPr>
          <p:cNvPr id="311" name="Google Shape;311;p40"/>
          <p:cNvSpPr txBox="1"/>
          <p:nvPr>
            <p:ph idx="1" type="body"/>
          </p:nvPr>
        </p:nvSpPr>
        <p:spPr>
          <a:xfrm>
            <a:off x="838200" y="968375"/>
            <a:ext cx="10847387" cy="5572125"/>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3000"/>
              <a:buFont typeface="Arial"/>
              <a:buChar char="•"/>
            </a:pPr>
            <a:r>
              <a:rPr b="1" i="0" lang="en-US" sz="3000" u="none" cap="none" strike="noStrike">
                <a:solidFill>
                  <a:schemeClr val="dk1"/>
                </a:solidFill>
                <a:latin typeface="Calibri"/>
                <a:ea typeface="Calibri"/>
                <a:cs typeface="Calibri"/>
                <a:sym typeface="Calibri"/>
              </a:rPr>
              <a:t>Hardware-assisted virtualization. </a:t>
            </a:r>
            <a:endParaRPr/>
          </a:p>
          <a:p>
            <a:pPr indent="-228600" lvl="0" marL="228600" marR="0" rtl="0" algn="l">
              <a:lnSpc>
                <a:spcPct val="9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This term refers to a scenario in which the hardware provides architectural support for building a virtual machine manager able to run a guest operating system in complete isolation. </a:t>
            </a:r>
            <a:endParaRPr/>
          </a:p>
          <a:p>
            <a:pPr indent="-38100" lvl="0" marL="228600" marR="0" rtl="0" algn="l">
              <a:lnSpc>
                <a:spcPct val="90000"/>
              </a:lnSpc>
              <a:spcBef>
                <a:spcPts val="1000"/>
              </a:spcBef>
              <a:spcAft>
                <a:spcPts val="0"/>
              </a:spcAft>
              <a:buClr>
                <a:schemeClr val="dk1"/>
              </a:buClr>
              <a:buSzPts val="3000"/>
              <a:buFont typeface="Arial"/>
              <a:buNone/>
            </a:pPr>
            <a:r>
              <a:t/>
            </a:r>
            <a:endParaRPr b="0" i="0" sz="3000" u="none" cap="none" strike="noStrik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This technique was originally introduced in the IBM System/370. </a:t>
            </a:r>
            <a:endParaRPr/>
          </a:p>
          <a:p>
            <a:pPr indent="-38100" lvl="0" marL="228600" marR="0" rtl="0" algn="l">
              <a:lnSpc>
                <a:spcPct val="90000"/>
              </a:lnSpc>
              <a:spcBef>
                <a:spcPts val="1000"/>
              </a:spcBef>
              <a:spcAft>
                <a:spcPts val="0"/>
              </a:spcAft>
              <a:buClr>
                <a:schemeClr val="dk1"/>
              </a:buClr>
              <a:buSzPts val="3000"/>
              <a:buFont typeface="Arial"/>
              <a:buNone/>
            </a:pPr>
            <a:r>
              <a:t/>
            </a:r>
            <a:endParaRPr b="0" i="0" sz="3000" u="none" cap="none" strike="noStrik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At present, examples of hardware-assisted virtualization are the extensions to the x86-64 bit architecture introduced with Intel VT (formerly known as Vanderpool) and AMD V (formerly known as Pacifica).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41"/>
          <p:cNvSpPr txBox="1"/>
          <p:nvPr>
            <p:ph type="title"/>
          </p:nvPr>
        </p:nvSpPr>
        <p:spPr>
          <a:xfrm>
            <a:off x="838200" y="365125"/>
            <a:ext cx="10515600" cy="6032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solidFill>
                  <a:schemeClr val="dk1"/>
                </a:solidFill>
                <a:latin typeface="Calibri"/>
                <a:ea typeface="Calibri"/>
                <a:cs typeface="Calibri"/>
                <a:sym typeface="Calibri"/>
              </a:rPr>
              <a:t>Hardware virtualization techniques</a:t>
            </a:r>
            <a:endParaRPr/>
          </a:p>
        </p:txBody>
      </p:sp>
      <p:sp>
        <p:nvSpPr>
          <p:cNvPr id="317" name="Google Shape;317;p41"/>
          <p:cNvSpPr txBox="1"/>
          <p:nvPr>
            <p:ph idx="1" type="body"/>
          </p:nvPr>
        </p:nvSpPr>
        <p:spPr>
          <a:xfrm>
            <a:off x="838200" y="968375"/>
            <a:ext cx="10847387" cy="5572125"/>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These extensions, which differ between the two vendors, are meant to reduce the performance penalties experienced by emulating x86 hardware with hypervisors. </a:t>
            </a:r>
            <a:endParaRPr/>
          </a:p>
          <a:p>
            <a:pPr indent="-38100" lvl="0" marL="228600" marR="0" rtl="0" algn="l">
              <a:lnSpc>
                <a:spcPct val="90000"/>
              </a:lnSpc>
              <a:spcBef>
                <a:spcPts val="1000"/>
              </a:spcBef>
              <a:spcAft>
                <a:spcPts val="0"/>
              </a:spcAft>
              <a:buClr>
                <a:schemeClr val="dk1"/>
              </a:buClr>
              <a:buSzPts val="3000"/>
              <a:buFont typeface="Arial"/>
              <a:buNone/>
            </a:pPr>
            <a:r>
              <a:t/>
            </a:r>
            <a:endParaRPr b="0" i="0" sz="3000" u="none" cap="none" strike="noStrik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Before the introduction of hardware-assisted virtualization, software emulation of x86 hardware was significantly costly from the performance point of view.</a:t>
            </a:r>
            <a:endParaRPr/>
          </a:p>
          <a:p>
            <a:pPr indent="-38100" lvl="0" marL="228600" marR="0" rtl="0" algn="l">
              <a:lnSpc>
                <a:spcPct val="90000"/>
              </a:lnSpc>
              <a:spcBef>
                <a:spcPts val="1000"/>
              </a:spcBef>
              <a:spcAft>
                <a:spcPts val="0"/>
              </a:spcAft>
              <a:buClr>
                <a:schemeClr val="dk1"/>
              </a:buClr>
              <a:buSzPts val="3000"/>
              <a:buFont typeface="Arial"/>
              <a:buNone/>
            </a:pPr>
            <a:r>
              <a:t/>
            </a:r>
            <a:endParaRPr b="0" i="0" sz="3000" u="none" cap="none" strike="noStrik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The reason for this is that by design the x86 architecture did not meet the formal requirements introduced by Popek and Goldberg, and early products were using binary translation to trap some sensitive instructions and provide an emulated version.</a:t>
            </a:r>
            <a:endParaRPr/>
          </a:p>
          <a:p>
            <a:pPr indent="0" lvl="0" marL="0" marR="0" rtl="0" algn="l">
              <a:lnSpc>
                <a:spcPct val="100000"/>
              </a:lnSpc>
              <a:spcBef>
                <a:spcPts val="0"/>
              </a:spcBef>
              <a:spcAft>
                <a:spcPts val="0"/>
              </a:spcAft>
              <a:buNone/>
            </a:pPr>
            <a:r>
              <a:t/>
            </a:r>
            <a:endParaRPr b="0" i="0" sz="3000" u="none" cap="none" strike="noStrike">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42"/>
          <p:cNvSpPr txBox="1"/>
          <p:nvPr>
            <p:ph type="title"/>
          </p:nvPr>
        </p:nvSpPr>
        <p:spPr>
          <a:xfrm>
            <a:off x="838200" y="365125"/>
            <a:ext cx="10515600" cy="6032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solidFill>
                  <a:schemeClr val="dk1"/>
                </a:solidFill>
                <a:latin typeface="Calibri"/>
                <a:ea typeface="Calibri"/>
                <a:cs typeface="Calibri"/>
                <a:sym typeface="Calibri"/>
              </a:rPr>
              <a:t>Hardware virtualization techniques</a:t>
            </a:r>
            <a:endParaRPr/>
          </a:p>
        </p:txBody>
      </p:sp>
      <p:sp>
        <p:nvSpPr>
          <p:cNvPr id="323" name="Google Shape;323;p42"/>
          <p:cNvSpPr txBox="1"/>
          <p:nvPr>
            <p:ph idx="1" type="body"/>
          </p:nvPr>
        </p:nvSpPr>
        <p:spPr>
          <a:xfrm>
            <a:off x="838200" y="968375"/>
            <a:ext cx="10847387" cy="5572125"/>
          </a:xfrm>
          <a:prstGeom prst="rect">
            <a:avLst/>
          </a:prstGeom>
          <a:noFill/>
          <a:ln>
            <a:noFill/>
          </a:ln>
        </p:spPr>
        <p:txBody>
          <a:bodyPr anchorCtr="0" anchor="t" bIns="45700" lIns="91425" spcFirstLastPara="1" rIns="91425" wrap="square" tIns="45700">
            <a:noAutofit/>
          </a:bodyPr>
          <a:lstStyle/>
          <a:p>
            <a:pPr indent="-228600" lvl="0" marL="228600" marR="0" rtl="0" algn="l">
              <a:lnSpc>
                <a:spcPct val="80000"/>
              </a:lnSpc>
              <a:spcBef>
                <a:spcPts val="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Full virtualization. </a:t>
            </a:r>
            <a:endParaRPr/>
          </a:p>
          <a:p>
            <a:pPr indent="-38100" lvl="0" marL="228600" marR="0" rtl="0" algn="l">
              <a:lnSpc>
                <a:spcPct val="80000"/>
              </a:lnSpc>
              <a:spcBef>
                <a:spcPts val="1000"/>
              </a:spcBef>
              <a:spcAft>
                <a:spcPts val="0"/>
              </a:spcAft>
              <a:buClr>
                <a:schemeClr val="dk1"/>
              </a:buClr>
              <a:buSzPts val="3000"/>
              <a:buFont typeface="Arial"/>
              <a:buNone/>
            </a:pPr>
            <a:r>
              <a:t/>
            </a:r>
            <a:endParaRPr b="0" i="0" sz="3000" u="none" cap="none" strike="noStrik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Full virtualization refers to the ability to run a program, most likely an operating system, directly on top of a virtual machine and without any modification, as though it were run on the raw hardware. </a:t>
            </a:r>
            <a:endParaRPr/>
          </a:p>
          <a:p>
            <a:pPr indent="-38100" lvl="0" marL="228600" marR="0" rtl="0" algn="l">
              <a:lnSpc>
                <a:spcPct val="80000"/>
              </a:lnSpc>
              <a:spcBef>
                <a:spcPts val="1000"/>
              </a:spcBef>
              <a:spcAft>
                <a:spcPts val="0"/>
              </a:spcAft>
              <a:buClr>
                <a:schemeClr val="dk1"/>
              </a:buClr>
              <a:buSzPts val="3000"/>
              <a:buFont typeface="Arial"/>
              <a:buNone/>
            </a:pPr>
            <a:r>
              <a:t/>
            </a:r>
            <a:endParaRPr b="0" i="0" sz="3000" u="none" cap="none" strike="noStrik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To make this possible, virtual machine managers are required to provide a complete emulation of the entire underlying hardware. </a:t>
            </a:r>
            <a:endParaRPr/>
          </a:p>
          <a:p>
            <a:pPr indent="-38100" lvl="0" marL="228600" marR="0" rtl="0" algn="l">
              <a:lnSpc>
                <a:spcPct val="80000"/>
              </a:lnSpc>
              <a:spcBef>
                <a:spcPts val="1000"/>
              </a:spcBef>
              <a:spcAft>
                <a:spcPts val="0"/>
              </a:spcAft>
              <a:buClr>
                <a:schemeClr val="dk1"/>
              </a:buClr>
              <a:buSzPts val="3000"/>
              <a:buFont typeface="Arial"/>
              <a:buNone/>
            </a:pPr>
            <a:r>
              <a:t/>
            </a:r>
            <a:endParaRPr b="0" i="0" sz="3000" u="none" cap="none" strike="noStrik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The principal advantage of full virtualization is complete isolation, which leads to enhanced security, ease of emulation of different architectures, and coexistence of different systems on the same platform.</a:t>
            </a:r>
            <a:endParaRPr/>
          </a:p>
          <a:p>
            <a:pPr indent="-38100" lvl="0" marL="228600" marR="0" rtl="0" algn="l">
              <a:lnSpc>
                <a:spcPct val="80000"/>
              </a:lnSpc>
              <a:spcBef>
                <a:spcPts val="1000"/>
              </a:spcBef>
              <a:spcAft>
                <a:spcPts val="0"/>
              </a:spcAft>
              <a:buClr>
                <a:schemeClr val="dk1"/>
              </a:buClr>
              <a:buSzPts val="3000"/>
              <a:buFont typeface="Arial"/>
              <a:buNone/>
            </a:pPr>
            <a:r>
              <a:t/>
            </a:r>
            <a:endParaRPr b="0" i="0" sz="3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b="0" i="0" sz="3000" u="none" cap="none" strike="noStrike">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3"/>
          <p:cNvSpPr txBox="1"/>
          <p:nvPr>
            <p:ph type="title"/>
          </p:nvPr>
        </p:nvSpPr>
        <p:spPr>
          <a:xfrm>
            <a:off x="838200" y="365125"/>
            <a:ext cx="10515600" cy="6032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solidFill>
                  <a:schemeClr val="dk1"/>
                </a:solidFill>
                <a:latin typeface="Calibri"/>
                <a:ea typeface="Calibri"/>
                <a:cs typeface="Calibri"/>
                <a:sym typeface="Calibri"/>
              </a:rPr>
              <a:t>Hardware virtualization techniques</a:t>
            </a:r>
            <a:endParaRPr/>
          </a:p>
        </p:txBody>
      </p:sp>
      <p:sp>
        <p:nvSpPr>
          <p:cNvPr id="329" name="Google Shape;329;p43"/>
          <p:cNvSpPr txBox="1"/>
          <p:nvPr>
            <p:ph idx="1" type="body"/>
          </p:nvPr>
        </p:nvSpPr>
        <p:spPr>
          <a:xfrm>
            <a:off x="838200" y="968375"/>
            <a:ext cx="10847387" cy="5572125"/>
          </a:xfrm>
          <a:prstGeom prst="rect">
            <a:avLst/>
          </a:prstGeom>
          <a:noFill/>
          <a:ln>
            <a:noFill/>
          </a:ln>
        </p:spPr>
        <p:txBody>
          <a:bodyPr anchorCtr="0" anchor="t" bIns="45700" lIns="91425" spcFirstLastPara="1" rIns="91425" wrap="square" tIns="45700">
            <a:noAutofit/>
          </a:bodyPr>
          <a:lstStyle/>
          <a:p>
            <a:pPr indent="-228600" lvl="0" marL="228600" marR="0" rtl="0" algn="l">
              <a:lnSpc>
                <a:spcPct val="80000"/>
              </a:lnSpc>
              <a:spcBef>
                <a:spcPts val="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full virtualization poses important concerns related to performance and technical implementation. </a:t>
            </a:r>
            <a:endParaRPr/>
          </a:p>
          <a:p>
            <a:pPr indent="-228600" lvl="0" marL="228600" marR="0" rtl="0" algn="l">
              <a:lnSpc>
                <a:spcPct val="8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A key challenge is the interception of privileged instructions such as I/O instructions: Since they change the state of the resources exposed by the host, they have to be contained within the virtual machine manager.</a:t>
            </a:r>
            <a:endParaRPr/>
          </a:p>
          <a:p>
            <a:pPr indent="-228600" lvl="0" marL="228600" marR="0" rtl="0" algn="l">
              <a:lnSpc>
                <a:spcPct val="8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 A simple solution to achieve full virtualization is to provide a virtual environment for all the instructions, thus posing some limits on performance. </a:t>
            </a:r>
            <a:endParaRPr/>
          </a:p>
          <a:p>
            <a:pPr indent="-228600" lvl="0" marL="228600" marR="0" rtl="0" algn="l">
              <a:lnSpc>
                <a:spcPct val="8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A successful and efficient implementation of full virtualization is obtained with a combination of hardware and software, not allowing potentially harmful instructions to be executed directly on the host. </a:t>
            </a:r>
            <a:endParaRPr/>
          </a:p>
          <a:p>
            <a:pPr indent="-228600" lvl="0" marL="228600" marR="0" rtl="0" algn="l">
              <a:lnSpc>
                <a:spcPct val="8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This is what is accomplished through hardware-assisted virtualization.</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44"/>
          <p:cNvSpPr txBox="1"/>
          <p:nvPr>
            <p:ph type="title"/>
          </p:nvPr>
        </p:nvSpPr>
        <p:spPr>
          <a:xfrm>
            <a:off x="838200" y="365125"/>
            <a:ext cx="10515600" cy="6032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solidFill>
                  <a:schemeClr val="dk1"/>
                </a:solidFill>
                <a:latin typeface="Calibri"/>
                <a:ea typeface="Calibri"/>
                <a:cs typeface="Calibri"/>
                <a:sym typeface="Calibri"/>
              </a:rPr>
              <a:t>Hardware virtualization techniques</a:t>
            </a:r>
            <a:endParaRPr/>
          </a:p>
        </p:txBody>
      </p:sp>
      <p:sp>
        <p:nvSpPr>
          <p:cNvPr id="335" name="Google Shape;335;p44"/>
          <p:cNvSpPr txBox="1"/>
          <p:nvPr>
            <p:ph idx="1" type="body"/>
          </p:nvPr>
        </p:nvSpPr>
        <p:spPr>
          <a:xfrm>
            <a:off x="838200" y="968375"/>
            <a:ext cx="10847387" cy="5572125"/>
          </a:xfrm>
          <a:prstGeom prst="rect">
            <a:avLst/>
          </a:prstGeom>
          <a:noFill/>
          <a:ln>
            <a:noFill/>
          </a:ln>
        </p:spPr>
        <p:txBody>
          <a:bodyPr anchorCtr="0" anchor="t" bIns="45700" lIns="91425" spcFirstLastPara="1" rIns="91425" wrap="square" tIns="45700">
            <a:noAutofit/>
          </a:bodyPr>
          <a:lstStyle/>
          <a:p>
            <a:pPr indent="-228600" lvl="0" marL="228600" marR="0" rtl="0" algn="l">
              <a:lnSpc>
                <a:spcPct val="80000"/>
              </a:lnSpc>
              <a:spcBef>
                <a:spcPts val="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Paravirtualization. </a:t>
            </a:r>
            <a:endParaRPr/>
          </a:p>
          <a:p>
            <a:pPr indent="-38100" lvl="0" marL="228600" marR="0" rtl="0" algn="l">
              <a:lnSpc>
                <a:spcPct val="80000"/>
              </a:lnSpc>
              <a:spcBef>
                <a:spcPts val="1000"/>
              </a:spcBef>
              <a:spcAft>
                <a:spcPts val="0"/>
              </a:spcAft>
              <a:buClr>
                <a:schemeClr val="dk1"/>
              </a:buClr>
              <a:buSzPts val="3000"/>
              <a:buFont typeface="Arial"/>
              <a:buNone/>
            </a:pPr>
            <a:r>
              <a:t/>
            </a:r>
            <a:endParaRPr b="0" i="0" sz="3000" u="none" cap="none" strike="noStrik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This is a not-transparent virtualization solution that allows implementing thin virtual machine managers. </a:t>
            </a:r>
            <a:endParaRPr/>
          </a:p>
          <a:p>
            <a:pPr indent="-38100" lvl="0" marL="228600" marR="0" rtl="0" algn="l">
              <a:lnSpc>
                <a:spcPct val="80000"/>
              </a:lnSpc>
              <a:spcBef>
                <a:spcPts val="1000"/>
              </a:spcBef>
              <a:spcAft>
                <a:spcPts val="0"/>
              </a:spcAft>
              <a:buClr>
                <a:schemeClr val="dk1"/>
              </a:buClr>
              <a:buSzPts val="3000"/>
              <a:buFont typeface="Arial"/>
              <a:buNone/>
            </a:pPr>
            <a:r>
              <a:t/>
            </a:r>
            <a:endParaRPr b="0" i="0" sz="3000" u="none" cap="none" strike="noStrik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Paravirtualization techniques expose a software interface to the virtual machine that is slightly modified from the host and, as a consequence, guests need to be modified. </a:t>
            </a:r>
            <a:endParaRPr/>
          </a:p>
          <a:p>
            <a:pPr indent="-38100" lvl="0" marL="228600" marR="0" rtl="0" algn="l">
              <a:lnSpc>
                <a:spcPct val="80000"/>
              </a:lnSpc>
              <a:spcBef>
                <a:spcPts val="1000"/>
              </a:spcBef>
              <a:spcAft>
                <a:spcPts val="0"/>
              </a:spcAft>
              <a:buClr>
                <a:schemeClr val="dk1"/>
              </a:buClr>
              <a:buSzPts val="3000"/>
              <a:buFont typeface="Arial"/>
              <a:buNone/>
            </a:pPr>
            <a:r>
              <a:t/>
            </a:r>
            <a:endParaRPr b="0" i="0" sz="3000" u="none" cap="none" strike="noStrik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The aim of paravirtualization is to provide the capability to demand the execution of performance-critical operations directly on the host, thus preventing performance losses that would otherwise be experienced in managed execution.</a:t>
            </a:r>
            <a:endParaRPr/>
          </a:p>
          <a:p>
            <a:pPr indent="0" lvl="0" marL="0" marR="0" rtl="0" algn="l">
              <a:lnSpc>
                <a:spcPct val="100000"/>
              </a:lnSpc>
              <a:spcBef>
                <a:spcPts val="0"/>
              </a:spcBef>
              <a:spcAft>
                <a:spcPts val="0"/>
              </a:spcAft>
              <a:buNone/>
            </a:pPr>
            <a:r>
              <a:t/>
            </a:r>
            <a:endParaRPr b="0" i="0" sz="3000" u="none" cap="none" strike="noStrike">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45"/>
          <p:cNvSpPr txBox="1"/>
          <p:nvPr>
            <p:ph type="title"/>
          </p:nvPr>
        </p:nvSpPr>
        <p:spPr>
          <a:xfrm>
            <a:off x="838200" y="365125"/>
            <a:ext cx="10515600" cy="6032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solidFill>
                  <a:schemeClr val="dk1"/>
                </a:solidFill>
                <a:latin typeface="Calibri"/>
                <a:ea typeface="Calibri"/>
                <a:cs typeface="Calibri"/>
                <a:sym typeface="Calibri"/>
              </a:rPr>
              <a:t>Hardware virtualization techniques</a:t>
            </a:r>
            <a:endParaRPr/>
          </a:p>
        </p:txBody>
      </p:sp>
      <p:sp>
        <p:nvSpPr>
          <p:cNvPr id="341" name="Google Shape;341;p45"/>
          <p:cNvSpPr txBox="1"/>
          <p:nvPr>
            <p:ph idx="1" type="body"/>
          </p:nvPr>
        </p:nvSpPr>
        <p:spPr>
          <a:xfrm>
            <a:off x="838200" y="968375"/>
            <a:ext cx="10847387" cy="5572125"/>
          </a:xfrm>
          <a:prstGeom prst="rect">
            <a:avLst/>
          </a:prstGeom>
          <a:noFill/>
          <a:ln>
            <a:noFill/>
          </a:ln>
        </p:spPr>
        <p:txBody>
          <a:bodyPr anchorCtr="0" anchor="t" bIns="45700" lIns="91425" spcFirstLastPara="1" rIns="91425" wrap="square" tIns="45700">
            <a:noAutofit/>
          </a:bodyPr>
          <a:lstStyle/>
          <a:p>
            <a:pPr indent="-228600" lvl="0" marL="228600" marR="0" rtl="0" algn="l">
              <a:lnSpc>
                <a:spcPct val="80000"/>
              </a:lnSpc>
              <a:spcBef>
                <a:spcPts val="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This allows a simpler implementation of virtual machine managers that have to simply transfer the execution of these operations, which were hard to virtualize, directly to the host. </a:t>
            </a:r>
            <a:endParaRPr/>
          </a:p>
          <a:p>
            <a:pPr indent="-38100" lvl="0" marL="228600" marR="0" rtl="0" algn="l">
              <a:lnSpc>
                <a:spcPct val="80000"/>
              </a:lnSpc>
              <a:spcBef>
                <a:spcPts val="1000"/>
              </a:spcBef>
              <a:spcAft>
                <a:spcPts val="0"/>
              </a:spcAft>
              <a:buClr>
                <a:schemeClr val="dk1"/>
              </a:buClr>
              <a:buSzPts val="3000"/>
              <a:buFont typeface="Arial"/>
              <a:buNone/>
            </a:pPr>
            <a:r>
              <a:t/>
            </a:r>
            <a:endParaRPr b="0" i="0" sz="3000" u="none" cap="none" strike="noStrik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To take advantage of such an opportunity, guest operating systems need to be modified and explicitly ported by remapping the performance-critical operations through the virtual machine software interface. </a:t>
            </a:r>
            <a:endParaRPr/>
          </a:p>
          <a:p>
            <a:pPr indent="-38100" lvl="0" marL="228600" marR="0" rtl="0" algn="l">
              <a:lnSpc>
                <a:spcPct val="80000"/>
              </a:lnSpc>
              <a:spcBef>
                <a:spcPts val="1000"/>
              </a:spcBef>
              <a:spcAft>
                <a:spcPts val="0"/>
              </a:spcAft>
              <a:buClr>
                <a:schemeClr val="dk1"/>
              </a:buClr>
              <a:buSzPts val="3000"/>
              <a:buFont typeface="Arial"/>
              <a:buNone/>
            </a:pPr>
            <a:r>
              <a:t/>
            </a:r>
            <a:endParaRPr b="0" i="0" sz="3000" u="none" cap="none" strike="noStrik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This is possible when the source code of the operating system is available, and this is the reason that paravirtualization was mostly explored in the opensource and academic environment.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46"/>
          <p:cNvSpPr txBox="1"/>
          <p:nvPr>
            <p:ph type="title"/>
          </p:nvPr>
        </p:nvSpPr>
        <p:spPr>
          <a:xfrm>
            <a:off x="838200" y="365125"/>
            <a:ext cx="10515600" cy="6032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solidFill>
                  <a:schemeClr val="dk1"/>
                </a:solidFill>
                <a:latin typeface="Calibri"/>
                <a:ea typeface="Calibri"/>
                <a:cs typeface="Calibri"/>
                <a:sym typeface="Calibri"/>
              </a:rPr>
              <a:t>Hardware virtualization techniques</a:t>
            </a:r>
            <a:endParaRPr/>
          </a:p>
        </p:txBody>
      </p:sp>
      <p:sp>
        <p:nvSpPr>
          <p:cNvPr id="347" name="Google Shape;347;p46"/>
          <p:cNvSpPr txBox="1"/>
          <p:nvPr>
            <p:ph idx="1" type="body"/>
          </p:nvPr>
        </p:nvSpPr>
        <p:spPr>
          <a:xfrm>
            <a:off x="838200" y="968375"/>
            <a:ext cx="10847387" cy="5572125"/>
          </a:xfrm>
          <a:prstGeom prst="rect">
            <a:avLst/>
          </a:prstGeom>
          <a:noFill/>
          <a:ln>
            <a:noFill/>
          </a:ln>
        </p:spPr>
        <p:txBody>
          <a:bodyPr anchorCtr="0" anchor="t" bIns="45700" lIns="91425" spcFirstLastPara="1" rIns="91425" wrap="square" tIns="45700">
            <a:noAutofit/>
          </a:bodyPr>
          <a:lstStyle/>
          <a:p>
            <a:pPr indent="-228600" lvl="0" marL="228600" marR="0" rtl="0" algn="l">
              <a:lnSpc>
                <a:spcPct val="80000"/>
              </a:lnSpc>
              <a:spcBef>
                <a:spcPts val="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Partial virtualization.</a:t>
            </a:r>
            <a:endParaRPr/>
          </a:p>
          <a:p>
            <a:pPr indent="-228600" lvl="0" marL="228600" marR="0" rtl="0" algn="l">
              <a:lnSpc>
                <a:spcPct val="8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 Partial virtualization provides a partial emulation of the underlying hardware, thus not allowing the complete execution of the guest operating system in complete isolation.</a:t>
            </a:r>
            <a:endParaRPr/>
          </a:p>
          <a:p>
            <a:pPr indent="-38100" lvl="0" marL="228600" marR="0" rtl="0" algn="l">
              <a:lnSpc>
                <a:spcPct val="80000"/>
              </a:lnSpc>
              <a:spcBef>
                <a:spcPts val="1000"/>
              </a:spcBef>
              <a:spcAft>
                <a:spcPts val="0"/>
              </a:spcAft>
              <a:buClr>
                <a:schemeClr val="dk1"/>
              </a:buClr>
              <a:buSzPts val="3000"/>
              <a:buFont typeface="Arial"/>
              <a:buNone/>
            </a:pPr>
            <a:r>
              <a:t/>
            </a:r>
            <a:endParaRPr b="0" i="0" sz="3000" u="none" cap="none" strike="noStrik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Partial virtualization allows many applications to run transparently, but not all the features of the operating system can be supported, as happens with full virtualization. </a:t>
            </a:r>
            <a:endParaRPr/>
          </a:p>
          <a:p>
            <a:pPr indent="-38100" lvl="0" marL="228600" marR="0" rtl="0" algn="l">
              <a:lnSpc>
                <a:spcPct val="80000"/>
              </a:lnSpc>
              <a:spcBef>
                <a:spcPts val="1000"/>
              </a:spcBef>
              <a:spcAft>
                <a:spcPts val="0"/>
              </a:spcAft>
              <a:buClr>
                <a:schemeClr val="dk1"/>
              </a:buClr>
              <a:buSzPts val="3000"/>
              <a:buFont typeface="Arial"/>
              <a:buNone/>
            </a:pPr>
            <a:r>
              <a:t/>
            </a:r>
            <a:endParaRPr b="0" i="0" sz="3000" u="none" cap="none" strike="noStrik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An example of partial virtualization is address space virtualization used in time-sharing systems; this allows multiple applications and users to run concurrently in a separate memory space, but they still share the same hardware resources (disk, processor, and network). </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47"/>
          <p:cNvSpPr txBox="1"/>
          <p:nvPr>
            <p:ph type="title"/>
          </p:nvPr>
        </p:nvSpPr>
        <p:spPr>
          <a:xfrm>
            <a:off x="838200" y="365125"/>
            <a:ext cx="10515600" cy="6032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solidFill>
                  <a:schemeClr val="dk1"/>
                </a:solidFill>
                <a:latin typeface="Calibri"/>
                <a:ea typeface="Calibri"/>
                <a:cs typeface="Calibri"/>
                <a:sym typeface="Calibri"/>
              </a:rPr>
              <a:t>Operating system-level virtualization</a:t>
            </a:r>
            <a:endParaRPr/>
          </a:p>
        </p:txBody>
      </p:sp>
      <p:sp>
        <p:nvSpPr>
          <p:cNvPr id="353" name="Google Shape;353;p47"/>
          <p:cNvSpPr txBox="1"/>
          <p:nvPr>
            <p:ph idx="1" type="body"/>
          </p:nvPr>
        </p:nvSpPr>
        <p:spPr>
          <a:xfrm>
            <a:off x="838200" y="968375"/>
            <a:ext cx="10847387" cy="5572125"/>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600"/>
              <a:buFont typeface="Arial"/>
              <a:buChar char="•"/>
            </a:pPr>
            <a:r>
              <a:rPr b="0" i="0" lang="en-US" sz="2600" u="none" cap="none" strike="noStrike">
                <a:solidFill>
                  <a:schemeClr val="dk1"/>
                </a:solidFill>
                <a:latin typeface="Calibri"/>
                <a:ea typeface="Calibri"/>
                <a:cs typeface="Calibri"/>
                <a:sym typeface="Calibri"/>
              </a:rPr>
              <a:t>Operating system-level virtualization offers the opportunity to create different and separated execution environments for applications that are managed concurrently. </a:t>
            </a:r>
            <a:endParaRPr/>
          </a:p>
          <a:p>
            <a:pPr indent="-228600" lvl="0" marL="228600" marR="0" rtl="0" algn="l">
              <a:lnSpc>
                <a:spcPct val="90000"/>
              </a:lnSpc>
              <a:spcBef>
                <a:spcPts val="1000"/>
              </a:spcBef>
              <a:spcAft>
                <a:spcPts val="0"/>
              </a:spcAft>
              <a:buClr>
                <a:schemeClr val="dk1"/>
              </a:buClr>
              <a:buSzPts val="2600"/>
              <a:buFont typeface="Arial"/>
              <a:buChar char="•"/>
            </a:pPr>
            <a:r>
              <a:rPr b="0" i="0" lang="en-US" sz="2600" u="none" cap="none" strike="noStrike">
                <a:solidFill>
                  <a:schemeClr val="dk1"/>
                </a:solidFill>
                <a:latin typeface="Calibri"/>
                <a:ea typeface="Calibri"/>
                <a:cs typeface="Calibri"/>
                <a:sym typeface="Calibri"/>
              </a:rPr>
              <a:t>Differently from hardware virtualization, there is no virtual machine manager or hypervisor, and the virtualization is done within a single operating system, where the OS kernel allows for multiple isolated user space instances. </a:t>
            </a:r>
            <a:endParaRPr/>
          </a:p>
          <a:p>
            <a:pPr indent="-228600" lvl="0" marL="228600" marR="0" rtl="0" algn="l">
              <a:lnSpc>
                <a:spcPct val="90000"/>
              </a:lnSpc>
              <a:spcBef>
                <a:spcPts val="1000"/>
              </a:spcBef>
              <a:spcAft>
                <a:spcPts val="0"/>
              </a:spcAft>
              <a:buClr>
                <a:schemeClr val="dk1"/>
              </a:buClr>
              <a:buSzPts val="2600"/>
              <a:buFont typeface="Arial"/>
              <a:buChar char="•"/>
            </a:pPr>
            <a:r>
              <a:rPr b="0" i="0" lang="en-US" sz="2600" u="none" cap="none" strike="noStrike">
                <a:solidFill>
                  <a:schemeClr val="dk1"/>
                </a:solidFill>
                <a:latin typeface="Calibri"/>
                <a:ea typeface="Calibri"/>
                <a:cs typeface="Calibri"/>
                <a:sym typeface="Calibri"/>
              </a:rPr>
              <a:t>The kernel is also responsible for sharing the system resources among instances and for limiting the impact of instances on each other. </a:t>
            </a:r>
            <a:endParaRPr/>
          </a:p>
          <a:p>
            <a:pPr indent="-228600" lvl="0" marL="228600" marR="0" rtl="0" algn="l">
              <a:lnSpc>
                <a:spcPct val="90000"/>
              </a:lnSpc>
              <a:spcBef>
                <a:spcPts val="1000"/>
              </a:spcBef>
              <a:spcAft>
                <a:spcPts val="0"/>
              </a:spcAft>
              <a:buClr>
                <a:schemeClr val="dk1"/>
              </a:buClr>
              <a:buSzPts val="2600"/>
              <a:buFont typeface="Arial"/>
              <a:buChar char="•"/>
            </a:pPr>
            <a:r>
              <a:rPr b="0" i="0" lang="en-US" sz="2600" u="none" cap="none" strike="noStrike">
                <a:solidFill>
                  <a:schemeClr val="dk1"/>
                </a:solidFill>
                <a:latin typeface="Calibri"/>
                <a:ea typeface="Calibri"/>
                <a:cs typeface="Calibri"/>
                <a:sym typeface="Calibri"/>
              </a:rPr>
              <a:t>A user space instance in general contains a proper view of the file system, which is completely isolated, and separate IP addresses, software configurations, and access to devices. </a:t>
            </a:r>
            <a:endParaRPr/>
          </a:p>
          <a:p>
            <a:pPr indent="-228600" lvl="0" marL="228600" marR="0" rtl="0" algn="l">
              <a:lnSpc>
                <a:spcPct val="90000"/>
              </a:lnSpc>
              <a:spcBef>
                <a:spcPts val="1000"/>
              </a:spcBef>
              <a:spcAft>
                <a:spcPts val="0"/>
              </a:spcAft>
              <a:buClr>
                <a:schemeClr val="dk1"/>
              </a:buClr>
              <a:buSzPts val="2600"/>
              <a:buFont typeface="Arial"/>
              <a:buChar char="•"/>
            </a:pPr>
            <a:r>
              <a:rPr b="0" i="0" lang="en-US" sz="2600" u="none" cap="none" strike="noStrike">
                <a:solidFill>
                  <a:schemeClr val="dk1"/>
                </a:solidFill>
                <a:latin typeface="Calibri"/>
                <a:ea typeface="Calibri"/>
                <a:cs typeface="Calibri"/>
                <a:sym typeface="Calibri"/>
              </a:rPr>
              <a:t>Operating systems supporting this type of virtualization are general-purpose, timeshared operating systems with the capability to provide stronger namespace and resource isolation.</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48"/>
          <p:cNvSpPr txBox="1"/>
          <p:nvPr>
            <p:ph type="title"/>
          </p:nvPr>
        </p:nvSpPr>
        <p:spPr>
          <a:xfrm>
            <a:off x="838200" y="365125"/>
            <a:ext cx="10515600" cy="6032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solidFill>
                  <a:schemeClr val="dk1"/>
                </a:solidFill>
                <a:latin typeface="Calibri"/>
                <a:ea typeface="Calibri"/>
                <a:cs typeface="Calibri"/>
                <a:sym typeface="Calibri"/>
              </a:rPr>
              <a:t>Virtualization</a:t>
            </a:r>
            <a:endParaRPr/>
          </a:p>
        </p:txBody>
      </p:sp>
      <p:sp>
        <p:nvSpPr>
          <p:cNvPr id="359" name="Google Shape;359;p48"/>
          <p:cNvSpPr txBox="1"/>
          <p:nvPr>
            <p:ph idx="1" type="body"/>
          </p:nvPr>
        </p:nvSpPr>
        <p:spPr>
          <a:xfrm>
            <a:off x="838200" y="968375"/>
            <a:ext cx="10847387" cy="5572125"/>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Examples of operating system-level virtualizations are FreeBSD Jails, IBM Logical Partition (LPAR), SolarisZones and Containers, Parallels Virtuozzo Containers, OpenVZ, iCore Virtual Accounts, Free Virtual Private Server (FreeVPS), and others. </a:t>
            </a:r>
            <a:endParaRPr/>
          </a:p>
          <a:p>
            <a:pPr indent="-228600" lvl="0" marL="228600" marR="0" rtl="0" algn="l">
              <a:lnSpc>
                <a:spcPct val="90000"/>
              </a:lnSpc>
              <a:spcBef>
                <a:spcPts val="1000"/>
              </a:spcBef>
              <a:spcAft>
                <a:spcPts val="0"/>
              </a:spcAft>
              <a:buClr>
                <a:schemeClr val="dk1"/>
              </a:buClr>
              <a:buSzPts val="2600"/>
              <a:buFont typeface="Arial"/>
              <a:buChar char="•"/>
            </a:pPr>
            <a:r>
              <a:rPr b="1" i="0" lang="en-US" sz="2600" u="none" cap="none" strike="noStrike">
                <a:solidFill>
                  <a:schemeClr val="dk1"/>
                </a:solidFill>
                <a:latin typeface="Calibri"/>
                <a:ea typeface="Calibri"/>
                <a:cs typeface="Calibri"/>
                <a:sym typeface="Calibri"/>
              </a:rPr>
              <a:t>Programming language-level virtualization</a:t>
            </a:r>
            <a:endParaRPr/>
          </a:p>
          <a:p>
            <a:pPr indent="-228600" lvl="0" marL="228600" marR="0" rtl="0" algn="l">
              <a:lnSpc>
                <a:spcPct val="90000"/>
              </a:lnSpc>
              <a:spcBef>
                <a:spcPts val="1000"/>
              </a:spcBef>
              <a:spcAft>
                <a:spcPts val="0"/>
              </a:spcAft>
              <a:buClr>
                <a:schemeClr val="dk1"/>
              </a:buClr>
              <a:buSzPts val="2600"/>
              <a:buFont typeface="Arial"/>
              <a:buChar char="•"/>
            </a:pPr>
            <a:r>
              <a:rPr b="0" i="0" lang="en-US" sz="2600" u="none" cap="none" strike="noStrike">
                <a:solidFill>
                  <a:schemeClr val="dk1"/>
                </a:solidFill>
                <a:latin typeface="Calibri"/>
                <a:ea typeface="Calibri"/>
                <a:cs typeface="Calibri"/>
                <a:sym typeface="Calibri"/>
              </a:rPr>
              <a:t>Programming language-level virtualization is mostly used to achieve ease of deployment of applications, managed execution, and portability across different platforms and operating systems.</a:t>
            </a:r>
            <a:endParaRPr/>
          </a:p>
          <a:p>
            <a:pPr indent="-228600" lvl="0" marL="228600" marR="0" rtl="0" algn="l">
              <a:lnSpc>
                <a:spcPct val="90000"/>
              </a:lnSpc>
              <a:spcBef>
                <a:spcPts val="1000"/>
              </a:spcBef>
              <a:spcAft>
                <a:spcPts val="0"/>
              </a:spcAft>
              <a:buClr>
                <a:schemeClr val="dk1"/>
              </a:buClr>
              <a:buSzPts val="2600"/>
              <a:buFont typeface="Arial"/>
              <a:buChar char="•"/>
            </a:pPr>
            <a:r>
              <a:rPr b="0" i="0" lang="en-US" sz="2600" u="none" cap="none" strike="noStrike">
                <a:solidFill>
                  <a:schemeClr val="dk1"/>
                </a:solidFill>
                <a:latin typeface="Calibri"/>
                <a:ea typeface="Calibri"/>
                <a:cs typeface="Calibri"/>
                <a:sym typeface="Calibri"/>
              </a:rPr>
              <a:t> It consists of a virtual machine executing the byte code of a program, which is the result of the compilation process. </a:t>
            </a:r>
            <a:endParaRPr/>
          </a:p>
          <a:p>
            <a:pPr indent="-228600" lvl="0" marL="228600" marR="0" rtl="0" algn="l">
              <a:lnSpc>
                <a:spcPct val="90000"/>
              </a:lnSpc>
              <a:spcBef>
                <a:spcPts val="1000"/>
              </a:spcBef>
              <a:spcAft>
                <a:spcPts val="0"/>
              </a:spcAft>
              <a:buClr>
                <a:schemeClr val="dk1"/>
              </a:buClr>
              <a:buSzPts val="2600"/>
              <a:buFont typeface="Arial"/>
              <a:buChar char="•"/>
            </a:pPr>
            <a:r>
              <a:rPr b="0" i="0" lang="en-US" sz="2600" u="none" cap="none" strike="noStrike">
                <a:solidFill>
                  <a:schemeClr val="dk1"/>
                </a:solidFill>
                <a:latin typeface="Calibri"/>
                <a:ea typeface="Calibri"/>
                <a:cs typeface="Calibri"/>
                <a:sym typeface="Calibri"/>
              </a:rPr>
              <a:t>Compilers implemented and used this technology to produce a binary format representing the machine code for an abstract architecture.</a:t>
            </a:r>
            <a:endParaRPr/>
          </a:p>
          <a:p>
            <a:pPr indent="-228600" lvl="0" marL="228600" marR="0" rtl="0" algn="l">
              <a:lnSpc>
                <a:spcPct val="90000"/>
              </a:lnSpc>
              <a:spcBef>
                <a:spcPts val="1000"/>
              </a:spcBef>
              <a:spcAft>
                <a:spcPts val="0"/>
              </a:spcAft>
              <a:buClr>
                <a:schemeClr val="dk1"/>
              </a:buClr>
              <a:buSzPts val="2600"/>
              <a:buFont typeface="Arial"/>
              <a:buChar char="•"/>
            </a:pPr>
            <a:r>
              <a:rPr b="0" i="0" lang="en-US" sz="2600" u="none" cap="none" strike="noStrike">
                <a:solidFill>
                  <a:schemeClr val="dk1"/>
                </a:solidFill>
                <a:latin typeface="Calibri"/>
                <a:ea typeface="Calibri"/>
                <a:cs typeface="Calibri"/>
                <a:sym typeface="Calibri"/>
              </a:rPr>
              <a:t>At runtime, the byte code can be either interpreted or compiled on the fly/or jitted against the underlying hardware instruction set.</a:t>
            </a:r>
            <a:endParaRPr/>
          </a:p>
          <a:p>
            <a:pPr indent="-63500" lvl="0" marL="228600" marR="0" rtl="0" algn="l">
              <a:lnSpc>
                <a:spcPct val="90000"/>
              </a:lnSpc>
              <a:spcBef>
                <a:spcPts val="1000"/>
              </a:spcBef>
              <a:spcAft>
                <a:spcPts val="0"/>
              </a:spcAft>
              <a:buClr>
                <a:schemeClr val="dk1"/>
              </a:buClr>
              <a:buSzPts val="2600"/>
              <a:buFont typeface="Arial"/>
              <a:buNone/>
            </a:pPr>
            <a:r>
              <a:t/>
            </a:r>
            <a:endParaRPr b="0" i="0" sz="2600" u="none" cap="none" strike="noStrike">
              <a:solidFill>
                <a:schemeClr val="dk1"/>
              </a:solidFill>
              <a:latin typeface="Calibri"/>
              <a:ea typeface="Calibri"/>
              <a:cs typeface="Calibri"/>
              <a:sym typeface="Calibri"/>
            </a:endParaRPr>
          </a:p>
          <a:p>
            <a:pPr indent="-63500" lvl="0" marL="228600" marR="0" rtl="0" algn="l">
              <a:lnSpc>
                <a:spcPct val="90000"/>
              </a:lnSpc>
              <a:spcBef>
                <a:spcPts val="1000"/>
              </a:spcBef>
              <a:spcAft>
                <a:spcPts val="0"/>
              </a:spcAft>
              <a:buClr>
                <a:schemeClr val="dk1"/>
              </a:buClr>
              <a:buSzPts val="2600"/>
              <a:buFont typeface="Arial"/>
              <a:buNone/>
            </a:pPr>
            <a:r>
              <a:t/>
            </a:r>
            <a:endParaRPr b="0" i="0" sz="2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b="0" i="0" sz="2600" u="none" cap="none" strike="noStrike">
              <a:solidFill>
                <a:schemeClr val="dk1"/>
              </a:solidFill>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49"/>
          <p:cNvSpPr txBox="1"/>
          <p:nvPr>
            <p:ph type="title"/>
          </p:nvPr>
        </p:nvSpPr>
        <p:spPr>
          <a:xfrm>
            <a:off x="838200" y="365125"/>
            <a:ext cx="10515600" cy="6032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solidFill>
                  <a:schemeClr val="dk1"/>
                </a:solidFill>
                <a:latin typeface="Calibri"/>
                <a:ea typeface="Calibri"/>
                <a:cs typeface="Calibri"/>
                <a:sym typeface="Calibri"/>
              </a:rPr>
              <a:t>Virtualization</a:t>
            </a:r>
            <a:endParaRPr/>
          </a:p>
        </p:txBody>
      </p:sp>
      <p:sp>
        <p:nvSpPr>
          <p:cNvPr id="365" name="Google Shape;365;p49"/>
          <p:cNvSpPr txBox="1"/>
          <p:nvPr>
            <p:ph idx="1" type="body"/>
          </p:nvPr>
        </p:nvSpPr>
        <p:spPr>
          <a:xfrm>
            <a:off x="838200" y="968375"/>
            <a:ext cx="10847387" cy="5572125"/>
          </a:xfrm>
          <a:prstGeom prst="rect">
            <a:avLst/>
          </a:prstGeom>
          <a:noFill/>
          <a:ln>
            <a:noFill/>
          </a:ln>
        </p:spPr>
        <p:txBody>
          <a:bodyPr anchorCtr="0" anchor="t" bIns="45700" lIns="91425" spcFirstLastPara="1" rIns="91425" wrap="square" tIns="45700">
            <a:noAutofit/>
          </a:bodyPr>
          <a:lstStyle/>
          <a:p>
            <a:pPr indent="-228600" lvl="0" marL="228600" marR="0" rtl="0" algn="l">
              <a:lnSpc>
                <a:spcPct val="80000"/>
              </a:lnSpc>
              <a:spcBef>
                <a:spcPts val="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The main advantage of programming-level virtual machines, also called process virtual machines, is the ability to provide a uniform execution environment across different platforms.</a:t>
            </a:r>
            <a:endParaRPr/>
          </a:p>
          <a:p>
            <a:pPr indent="-38100" lvl="0" marL="228600" marR="0" rtl="0" algn="l">
              <a:lnSpc>
                <a:spcPct val="80000"/>
              </a:lnSpc>
              <a:spcBef>
                <a:spcPts val="1000"/>
              </a:spcBef>
              <a:spcAft>
                <a:spcPts val="0"/>
              </a:spcAft>
              <a:buClr>
                <a:schemeClr val="dk1"/>
              </a:buClr>
              <a:buSzPts val="3000"/>
              <a:buFont typeface="Arial"/>
              <a:buNone/>
            </a:pPr>
            <a:r>
              <a:t/>
            </a:r>
            <a:endParaRPr b="0" i="0" sz="3000" u="none" cap="none" strike="noStrik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Programs compiled into byte code can be executed on any operating system and platform for which a virtual machine able to execute that code has been provided. </a:t>
            </a:r>
            <a:endParaRPr/>
          </a:p>
          <a:p>
            <a:pPr indent="-38100" lvl="0" marL="228600" marR="0" rtl="0" algn="l">
              <a:lnSpc>
                <a:spcPct val="80000"/>
              </a:lnSpc>
              <a:spcBef>
                <a:spcPts val="1000"/>
              </a:spcBef>
              <a:spcAft>
                <a:spcPts val="0"/>
              </a:spcAft>
              <a:buClr>
                <a:schemeClr val="dk1"/>
              </a:buClr>
              <a:buSzPts val="3000"/>
              <a:buFont typeface="Arial"/>
              <a:buNone/>
            </a:pPr>
            <a:r>
              <a:t/>
            </a:r>
            <a:endParaRPr b="0" i="0" sz="3000" u="none" cap="none" strike="noStrik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From a development lifecycle point of view, this simplifies the development and deployment efforts since it is not necessary to provide different versions of the same code. </a:t>
            </a:r>
            <a:endParaRPr/>
          </a:p>
          <a:p>
            <a:pPr indent="-38100" lvl="0" marL="228600" marR="0" rtl="0" algn="l">
              <a:lnSpc>
                <a:spcPct val="80000"/>
              </a:lnSpc>
              <a:spcBef>
                <a:spcPts val="1000"/>
              </a:spcBef>
              <a:spcAft>
                <a:spcPts val="0"/>
              </a:spcAft>
              <a:buClr>
                <a:schemeClr val="dk1"/>
              </a:buClr>
              <a:buSzPts val="3000"/>
              <a:buFont typeface="Arial"/>
              <a:buNone/>
            </a:pPr>
            <a:r>
              <a:t/>
            </a:r>
            <a:endParaRPr b="0" i="0" sz="3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b="0" i="0" sz="3000" u="none" cap="none" strike="noStrike">
              <a:solidFill>
                <a:schemeClr val="dk1"/>
              </a:solidFill>
              <a:latin typeface="Calibri"/>
              <a:ea typeface="Calibri"/>
              <a:cs typeface="Calibri"/>
              <a:sym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50"/>
          <p:cNvSpPr txBox="1"/>
          <p:nvPr>
            <p:ph type="title"/>
          </p:nvPr>
        </p:nvSpPr>
        <p:spPr>
          <a:xfrm>
            <a:off x="838200" y="365125"/>
            <a:ext cx="10515600" cy="6032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solidFill>
                  <a:schemeClr val="dk1"/>
                </a:solidFill>
                <a:latin typeface="Calibri"/>
                <a:ea typeface="Calibri"/>
                <a:cs typeface="Calibri"/>
                <a:sym typeface="Calibri"/>
              </a:rPr>
              <a:t>Application-level virtualization</a:t>
            </a:r>
            <a:endParaRPr/>
          </a:p>
        </p:txBody>
      </p:sp>
      <p:sp>
        <p:nvSpPr>
          <p:cNvPr id="371" name="Google Shape;371;p50"/>
          <p:cNvSpPr txBox="1"/>
          <p:nvPr>
            <p:ph idx="1" type="body"/>
          </p:nvPr>
        </p:nvSpPr>
        <p:spPr>
          <a:xfrm>
            <a:off x="838200" y="968375"/>
            <a:ext cx="10847387" cy="5572125"/>
          </a:xfrm>
          <a:prstGeom prst="rect">
            <a:avLst/>
          </a:prstGeom>
          <a:noFill/>
          <a:ln>
            <a:noFill/>
          </a:ln>
        </p:spPr>
        <p:txBody>
          <a:bodyPr anchorCtr="0" anchor="t" bIns="45700" lIns="91425" spcFirstLastPara="1" rIns="91425" wrap="square" tIns="45700">
            <a:noAutofit/>
          </a:bodyPr>
          <a:lstStyle/>
          <a:p>
            <a:pPr indent="-228600" lvl="0" marL="228600" marR="0" rtl="0" algn="l">
              <a:lnSpc>
                <a:spcPct val="80000"/>
              </a:lnSpc>
              <a:spcBef>
                <a:spcPts val="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Application-level virtualization is a technique allowing applications to be run in runtime environments that do not natively support all the features required by such applications. </a:t>
            </a:r>
            <a:endParaRPr/>
          </a:p>
          <a:p>
            <a:pPr indent="-38100" lvl="0" marL="228600" marR="0" rtl="0" algn="l">
              <a:lnSpc>
                <a:spcPct val="80000"/>
              </a:lnSpc>
              <a:spcBef>
                <a:spcPts val="1000"/>
              </a:spcBef>
              <a:spcAft>
                <a:spcPts val="0"/>
              </a:spcAft>
              <a:buClr>
                <a:schemeClr val="dk1"/>
              </a:buClr>
              <a:buSzPts val="3000"/>
              <a:buFont typeface="Arial"/>
              <a:buNone/>
            </a:pPr>
            <a:r>
              <a:t/>
            </a:r>
            <a:endParaRPr b="0" i="0" sz="3000" u="none" cap="none" strike="noStrik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In this scenario, applications are not installed in the expected runtime environment but are run as though they were.</a:t>
            </a:r>
            <a:endParaRPr/>
          </a:p>
          <a:p>
            <a:pPr indent="-38100" lvl="0" marL="228600" marR="0" rtl="0" algn="l">
              <a:lnSpc>
                <a:spcPct val="80000"/>
              </a:lnSpc>
              <a:spcBef>
                <a:spcPts val="1000"/>
              </a:spcBef>
              <a:spcAft>
                <a:spcPts val="0"/>
              </a:spcAft>
              <a:buClr>
                <a:schemeClr val="dk1"/>
              </a:buClr>
              <a:buSzPts val="3000"/>
              <a:buFont typeface="Arial"/>
              <a:buNone/>
            </a:pPr>
            <a:r>
              <a:t/>
            </a:r>
            <a:endParaRPr b="0" i="0" sz="3000" u="none" cap="none" strike="noStrik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In general, these techniques are mostly concerned with partial file systems, libraries, and operating system component emulation. </a:t>
            </a:r>
            <a:endParaRPr/>
          </a:p>
          <a:p>
            <a:pPr indent="-38100" lvl="0" marL="228600" marR="0" rtl="0" algn="l">
              <a:lnSpc>
                <a:spcPct val="80000"/>
              </a:lnSpc>
              <a:spcBef>
                <a:spcPts val="1000"/>
              </a:spcBef>
              <a:spcAft>
                <a:spcPts val="0"/>
              </a:spcAft>
              <a:buClr>
                <a:schemeClr val="dk1"/>
              </a:buClr>
              <a:buSzPts val="3000"/>
              <a:buFont typeface="Arial"/>
              <a:buNone/>
            </a:pPr>
            <a:r>
              <a:t/>
            </a:r>
            <a:endParaRPr b="0" i="0" sz="3000" u="none" cap="none" strike="noStrik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Such emulation is performed by a thin layer—a program or an operating system component—that is in charge of executing the application. </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51"/>
          <p:cNvSpPr txBox="1"/>
          <p:nvPr>
            <p:ph type="title"/>
          </p:nvPr>
        </p:nvSpPr>
        <p:spPr>
          <a:xfrm>
            <a:off x="838200" y="365125"/>
            <a:ext cx="10515600" cy="6032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solidFill>
                  <a:schemeClr val="dk1"/>
                </a:solidFill>
                <a:latin typeface="Calibri"/>
                <a:ea typeface="Calibri"/>
                <a:cs typeface="Calibri"/>
                <a:sym typeface="Calibri"/>
              </a:rPr>
              <a:t>Application-level virtualization</a:t>
            </a:r>
            <a:endParaRPr/>
          </a:p>
        </p:txBody>
      </p:sp>
      <p:sp>
        <p:nvSpPr>
          <p:cNvPr id="377" name="Google Shape;377;p51"/>
          <p:cNvSpPr txBox="1"/>
          <p:nvPr>
            <p:ph idx="1" type="body"/>
          </p:nvPr>
        </p:nvSpPr>
        <p:spPr>
          <a:xfrm>
            <a:off x="838200" y="968375"/>
            <a:ext cx="10847387" cy="5572125"/>
          </a:xfrm>
          <a:prstGeom prst="rect">
            <a:avLst/>
          </a:prstGeom>
          <a:noFill/>
          <a:ln>
            <a:noFill/>
          </a:ln>
        </p:spPr>
        <p:txBody>
          <a:bodyPr anchorCtr="0" anchor="t" bIns="45700" lIns="91425" spcFirstLastPara="1" rIns="91425" wrap="square" tIns="45700">
            <a:noAutofit/>
          </a:bodyPr>
          <a:lstStyle/>
          <a:p>
            <a:pPr indent="-228600" lvl="0" marL="228600" marR="0" rtl="0" algn="l">
              <a:lnSpc>
                <a:spcPct val="80000"/>
              </a:lnSpc>
              <a:spcBef>
                <a:spcPts val="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Application virtualization is a good solution in the case of missing libraries in the host operating system; in this case a replacement library can be linked with the application, or library calls can be remapped to existing functions available in the host system. </a:t>
            </a:r>
            <a:endParaRPr/>
          </a:p>
          <a:p>
            <a:pPr indent="-38100" lvl="0" marL="228600" marR="0" rtl="0" algn="l">
              <a:lnSpc>
                <a:spcPct val="80000"/>
              </a:lnSpc>
              <a:spcBef>
                <a:spcPts val="1000"/>
              </a:spcBef>
              <a:spcAft>
                <a:spcPts val="0"/>
              </a:spcAft>
              <a:buClr>
                <a:schemeClr val="dk1"/>
              </a:buClr>
              <a:buSzPts val="3000"/>
              <a:buFont typeface="Arial"/>
              <a:buNone/>
            </a:pPr>
            <a:r>
              <a:t/>
            </a:r>
            <a:endParaRPr b="0" i="0" sz="3000" u="none" cap="none" strike="noStrik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Compared to programming-level virtualization, which works across all the applications developed for that virtual machine, application-level virtualization works for a specific environment.</a:t>
            </a:r>
            <a:endParaRPr/>
          </a:p>
          <a:p>
            <a:pPr indent="-38100" lvl="0" marL="228600" marR="0" rtl="0" algn="l">
              <a:lnSpc>
                <a:spcPct val="80000"/>
              </a:lnSpc>
              <a:spcBef>
                <a:spcPts val="1000"/>
              </a:spcBef>
              <a:spcAft>
                <a:spcPts val="0"/>
              </a:spcAft>
              <a:buClr>
                <a:schemeClr val="dk1"/>
              </a:buClr>
              <a:buSzPts val="3000"/>
              <a:buFont typeface="Arial"/>
              <a:buNone/>
            </a:pPr>
            <a:r>
              <a:t/>
            </a:r>
            <a:endParaRPr b="0" i="0" sz="3000" u="none" cap="none" strike="noStrik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It supports all the applications that run on top of a specific environment.</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52"/>
          <p:cNvSpPr txBox="1"/>
          <p:nvPr>
            <p:ph type="title"/>
          </p:nvPr>
        </p:nvSpPr>
        <p:spPr>
          <a:xfrm>
            <a:off x="838200" y="365125"/>
            <a:ext cx="10515600" cy="6032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solidFill>
                  <a:schemeClr val="dk1"/>
                </a:solidFill>
                <a:latin typeface="Calibri"/>
                <a:ea typeface="Calibri"/>
                <a:cs typeface="Calibri"/>
                <a:sym typeface="Calibri"/>
              </a:rPr>
              <a:t>Storage virtualization</a:t>
            </a:r>
            <a:endParaRPr/>
          </a:p>
        </p:txBody>
      </p:sp>
      <p:sp>
        <p:nvSpPr>
          <p:cNvPr id="383" name="Google Shape;383;p52"/>
          <p:cNvSpPr txBox="1"/>
          <p:nvPr>
            <p:ph idx="1" type="body"/>
          </p:nvPr>
        </p:nvSpPr>
        <p:spPr>
          <a:xfrm>
            <a:off x="838200" y="968375"/>
            <a:ext cx="10847387" cy="5572125"/>
          </a:xfrm>
          <a:prstGeom prst="rect">
            <a:avLst/>
          </a:prstGeom>
          <a:noFill/>
          <a:ln>
            <a:noFill/>
          </a:ln>
        </p:spPr>
        <p:txBody>
          <a:bodyPr anchorCtr="0" anchor="t" bIns="45700" lIns="91425" spcFirstLastPara="1" rIns="91425" wrap="square" tIns="45700">
            <a:noAutofit/>
          </a:bodyPr>
          <a:lstStyle/>
          <a:p>
            <a:pPr indent="-228600" lvl="0" marL="228600" marR="0" rtl="0" algn="l">
              <a:lnSpc>
                <a:spcPct val="80000"/>
              </a:lnSpc>
              <a:spcBef>
                <a:spcPts val="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Storage virtualization is a system administration practice that allows decoupling the physical organization of the hardware from its logical representation. </a:t>
            </a:r>
            <a:endParaRPr/>
          </a:p>
          <a:p>
            <a:pPr indent="-50800" lvl="0" marL="228600" marR="0" rtl="0" algn="l">
              <a:lnSpc>
                <a:spcPct val="80000"/>
              </a:lnSpc>
              <a:spcBef>
                <a:spcPts val="100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Using this technique, users do not have to be worried about the specific location of their data, which can be identified using a logical path.</a:t>
            </a:r>
            <a:endParaRPr/>
          </a:p>
          <a:p>
            <a:pPr indent="-50800" lvl="0" marL="228600" marR="0" rtl="0" algn="l">
              <a:lnSpc>
                <a:spcPct val="80000"/>
              </a:lnSpc>
              <a:spcBef>
                <a:spcPts val="100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There are different techniques for storage virtualization.</a:t>
            </a:r>
            <a:endParaRPr/>
          </a:p>
          <a:p>
            <a:pPr indent="-50800" lvl="0" marL="228600" marR="0" rtl="0" algn="l">
              <a:lnSpc>
                <a:spcPct val="80000"/>
              </a:lnSpc>
              <a:spcBef>
                <a:spcPts val="100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Windows dynamic disks and LVM Linux are some of the examples.</a:t>
            </a:r>
            <a:endParaRPr/>
          </a:p>
          <a:p>
            <a:pPr indent="-50800" lvl="0" marL="228600" marR="0" rtl="0" algn="l">
              <a:lnSpc>
                <a:spcPct val="80000"/>
              </a:lnSpc>
              <a:spcBef>
                <a:spcPts val="100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SANs use a network-accessible device through a large bandwidth connection to provide storage facilities.</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53"/>
          <p:cNvSpPr txBox="1"/>
          <p:nvPr>
            <p:ph type="title"/>
          </p:nvPr>
        </p:nvSpPr>
        <p:spPr>
          <a:xfrm>
            <a:off x="838200" y="365125"/>
            <a:ext cx="10515600" cy="6032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solidFill>
                  <a:schemeClr val="dk1"/>
                </a:solidFill>
                <a:latin typeface="Calibri"/>
                <a:ea typeface="Calibri"/>
                <a:cs typeface="Calibri"/>
                <a:sym typeface="Calibri"/>
              </a:rPr>
              <a:t>Network virtualization</a:t>
            </a:r>
            <a:endParaRPr/>
          </a:p>
        </p:txBody>
      </p:sp>
      <p:sp>
        <p:nvSpPr>
          <p:cNvPr id="389" name="Google Shape;389;p53"/>
          <p:cNvSpPr txBox="1"/>
          <p:nvPr>
            <p:ph idx="1" type="body"/>
          </p:nvPr>
        </p:nvSpPr>
        <p:spPr>
          <a:xfrm>
            <a:off x="838200" y="968375"/>
            <a:ext cx="10847387" cy="5572125"/>
          </a:xfrm>
          <a:prstGeom prst="rect">
            <a:avLst/>
          </a:prstGeom>
          <a:noFill/>
          <a:ln>
            <a:noFill/>
          </a:ln>
        </p:spPr>
        <p:txBody>
          <a:bodyPr anchorCtr="0" anchor="t" bIns="45700" lIns="91425" spcFirstLastPara="1" rIns="91425" wrap="square" tIns="45700">
            <a:noAutofit/>
          </a:bodyPr>
          <a:lstStyle/>
          <a:p>
            <a:pPr indent="-228600" lvl="0" marL="228600" marR="0" rtl="0" algn="l">
              <a:lnSpc>
                <a:spcPct val="80000"/>
              </a:lnSpc>
              <a:spcBef>
                <a:spcPts val="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Network virtualization combines hardware appliances and specific software for the creation and management of a virtual network. </a:t>
            </a:r>
            <a:endParaRPr/>
          </a:p>
          <a:p>
            <a:pPr indent="-38100" lvl="0" marL="228600" marR="0" rtl="0" algn="l">
              <a:lnSpc>
                <a:spcPct val="80000"/>
              </a:lnSpc>
              <a:spcBef>
                <a:spcPts val="1000"/>
              </a:spcBef>
              <a:spcAft>
                <a:spcPts val="0"/>
              </a:spcAft>
              <a:buClr>
                <a:schemeClr val="dk1"/>
              </a:buClr>
              <a:buSzPts val="3000"/>
              <a:buFont typeface="Arial"/>
              <a:buNone/>
            </a:pPr>
            <a:r>
              <a:t/>
            </a:r>
            <a:endParaRPr b="0" i="0" sz="3000" u="none" cap="none" strike="noStrik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Network virtualization can aggregate different physical devices into a single logical network (external network virtualization) or provide network-like functionality to an operating system partition (internal network virtualization). </a:t>
            </a:r>
            <a:endParaRPr/>
          </a:p>
          <a:p>
            <a:pPr indent="-38100" lvl="0" marL="228600" marR="0" rtl="0" algn="l">
              <a:lnSpc>
                <a:spcPct val="80000"/>
              </a:lnSpc>
              <a:spcBef>
                <a:spcPts val="1000"/>
              </a:spcBef>
              <a:spcAft>
                <a:spcPts val="0"/>
              </a:spcAft>
              <a:buClr>
                <a:schemeClr val="dk1"/>
              </a:buClr>
              <a:buSzPts val="3000"/>
              <a:buFont typeface="Arial"/>
              <a:buNone/>
            </a:pPr>
            <a:r>
              <a:t/>
            </a:r>
            <a:endParaRPr b="0" i="0" sz="3000" u="none" cap="none" strike="noStrik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The result of external network virtualization is generally a virtual LAN (VLAN).</a:t>
            </a:r>
            <a:endParaRPr/>
          </a:p>
          <a:p>
            <a:pPr indent="-38100" lvl="0" marL="228600" marR="0" rtl="0" algn="l">
              <a:lnSpc>
                <a:spcPct val="80000"/>
              </a:lnSpc>
              <a:spcBef>
                <a:spcPts val="1000"/>
              </a:spcBef>
              <a:spcAft>
                <a:spcPts val="0"/>
              </a:spcAft>
              <a:buClr>
                <a:schemeClr val="dk1"/>
              </a:buClr>
              <a:buSzPts val="3000"/>
              <a:buFont typeface="Arial"/>
              <a:buNone/>
            </a:pPr>
            <a:r>
              <a:t/>
            </a:r>
            <a:endParaRPr b="0" i="0" sz="3000" u="none" cap="none" strike="noStrik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 A VLAN is an aggregation of hosts that communicate with each other as though they were located under the same broadcasting domain.</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54"/>
          <p:cNvSpPr txBox="1"/>
          <p:nvPr>
            <p:ph type="title"/>
          </p:nvPr>
        </p:nvSpPr>
        <p:spPr>
          <a:xfrm>
            <a:off x="838200" y="365125"/>
            <a:ext cx="10515600" cy="6032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solidFill>
                  <a:schemeClr val="dk1"/>
                </a:solidFill>
                <a:latin typeface="Calibri"/>
                <a:ea typeface="Calibri"/>
                <a:cs typeface="Calibri"/>
                <a:sym typeface="Calibri"/>
              </a:rPr>
              <a:t>Network virtualization</a:t>
            </a:r>
            <a:endParaRPr/>
          </a:p>
        </p:txBody>
      </p:sp>
      <p:sp>
        <p:nvSpPr>
          <p:cNvPr id="395" name="Google Shape;395;p54"/>
          <p:cNvSpPr txBox="1"/>
          <p:nvPr>
            <p:ph idx="1" type="body"/>
          </p:nvPr>
        </p:nvSpPr>
        <p:spPr>
          <a:xfrm>
            <a:off x="838200" y="968375"/>
            <a:ext cx="10847387" cy="5572125"/>
          </a:xfrm>
          <a:prstGeom prst="rect">
            <a:avLst/>
          </a:prstGeom>
          <a:noFill/>
          <a:ln>
            <a:noFill/>
          </a:ln>
        </p:spPr>
        <p:txBody>
          <a:bodyPr anchorCtr="0" anchor="t" bIns="45700" lIns="91425" spcFirstLastPara="1" rIns="91425" wrap="square" tIns="45700">
            <a:noAutofit/>
          </a:bodyPr>
          <a:lstStyle/>
          <a:p>
            <a:pPr indent="-228600" lvl="0" marL="228600" marR="0" rtl="0" algn="l">
              <a:lnSpc>
                <a:spcPct val="80000"/>
              </a:lnSpc>
              <a:spcBef>
                <a:spcPts val="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Internal network virtualization is generally applied together with hardware and operating system-level virtualization.</a:t>
            </a:r>
            <a:endParaRPr/>
          </a:p>
          <a:p>
            <a:pPr indent="-38100" lvl="0" marL="228600" marR="0" rtl="0" algn="l">
              <a:lnSpc>
                <a:spcPct val="80000"/>
              </a:lnSpc>
              <a:spcBef>
                <a:spcPts val="1000"/>
              </a:spcBef>
              <a:spcAft>
                <a:spcPts val="0"/>
              </a:spcAft>
              <a:buClr>
                <a:schemeClr val="dk1"/>
              </a:buClr>
              <a:buSzPts val="3000"/>
              <a:buFont typeface="Arial"/>
              <a:buNone/>
            </a:pPr>
            <a:r>
              <a:t/>
            </a:r>
            <a:endParaRPr b="0" i="0" sz="3000" u="none" cap="none" strike="noStrik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In this the guests obtain a virtual network interface to communicate with. </a:t>
            </a:r>
            <a:endParaRPr/>
          </a:p>
          <a:p>
            <a:pPr indent="-38100" lvl="0" marL="228600" marR="0" rtl="0" algn="l">
              <a:lnSpc>
                <a:spcPct val="80000"/>
              </a:lnSpc>
              <a:spcBef>
                <a:spcPts val="1000"/>
              </a:spcBef>
              <a:spcAft>
                <a:spcPts val="0"/>
              </a:spcAft>
              <a:buClr>
                <a:schemeClr val="dk1"/>
              </a:buClr>
              <a:buSzPts val="3000"/>
              <a:buFont typeface="Arial"/>
              <a:buNone/>
            </a:pPr>
            <a:r>
              <a:t/>
            </a:r>
            <a:endParaRPr b="0" i="0" sz="3000" u="none" cap="none" strike="noStrik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There are several options for implementing internal network virtualization.</a:t>
            </a:r>
            <a:endParaRPr/>
          </a:p>
          <a:p>
            <a:pPr indent="-38100" lvl="0" marL="228600" marR="0" rtl="0" algn="l">
              <a:lnSpc>
                <a:spcPct val="80000"/>
              </a:lnSpc>
              <a:spcBef>
                <a:spcPts val="1000"/>
              </a:spcBef>
              <a:spcAft>
                <a:spcPts val="0"/>
              </a:spcAft>
              <a:buClr>
                <a:schemeClr val="dk1"/>
              </a:buClr>
              <a:buSzPts val="3000"/>
              <a:buFont typeface="Arial"/>
              <a:buNone/>
            </a:pPr>
            <a:r>
              <a:t/>
            </a:r>
            <a:endParaRPr b="0" i="0" sz="3000" u="none" cap="none" strike="noStrik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The guest can share the same network interface of the host and use Network Address Translation (NAT) to access the network or can work in bridged mode.</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55"/>
          <p:cNvSpPr txBox="1"/>
          <p:nvPr>
            <p:ph type="title"/>
          </p:nvPr>
        </p:nvSpPr>
        <p:spPr>
          <a:xfrm>
            <a:off x="838200" y="365125"/>
            <a:ext cx="10515600" cy="6032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solidFill>
                  <a:schemeClr val="dk1"/>
                </a:solidFill>
                <a:latin typeface="Calibri"/>
                <a:ea typeface="Calibri"/>
                <a:cs typeface="Calibri"/>
                <a:sym typeface="Calibri"/>
              </a:rPr>
              <a:t>Desktop virtualization</a:t>
            </a:r>
            <a:endParaRPr/>
          </a:p>
        </p:txBody>
      </p:sp>
      <p:sp>
        <p:nvSpPr>
          <p:cNvPr id="401" name="Google Shape;401;p55"/>
          <p:cNvSpPr txBox="1"/>
          <p:nvPr>
            <p:ph idx="1" type="body"/>
          </p:nvPr>
        </p:nvSpPr>
        <p:spPr>
          <a:xfrm>
            <a:off x="838200" y="968375"/>
            <a:ext cx="10847387" cy="5572125"/>
          </a:xfrm>
          <a:prstGeom prst="rect">
            <a:avLst/>
          </a:prstGeom>
          <a:noFill/>
          <a:ln>
            <a:noFill/>
          </a:ln>
        </p:spPr>
        <p:txBody>
          <a:bodyPr anchorCtr="0" anchor="t" bIns="45700" lIns="91425" spcFirstLastPara="1" rIns="91425" wrap="square" tIns="45700">
            <a:noAutofit/>
          </a:bodyPr>
          <a:lstStyle/>
          <a:p>
            <a:pPr indent="-228600" lvl="0" marL="228600" marR="0" rtl="0" algn="l">
              <a:lnSpc>
                <a:spcPct val="80000"/>
              </a:lnSpc>
              <a:spcBef>
                <a:spcPts val="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Desktop virtualization abstracts the desktop environment available on a personal computer in order to provide access to it using a client/server approach.</a:t>
            </a:r>
            <a:endParaRPr/>
          </a:p>
          <a:p>
            <a:pPr indent="-38100" lvl="0" marL="228600" marR="0" rtl="0" algn="l">
              <a:lnSpc>
                <a:spcPct val="80000"/>
              </a:lnSpc>
              <a:spcBef>
                <a:spcPts val="1000"/>
              </a:spcBef>
              <a:spcAft>
                <a:spcPts val="0"/>
              </a:spcAft>
              <a:buClr>
                <a:schemeClr val="dk1"/>
              </a:buClr>
              <a:buSzPts val="3000"/>
              <a:buFont typeface="Arial"/>
              <a:buNone/>
            </a:pPr>
            <a:r>
              <a:t/>
            </a:r>
            <a:endParaRPr b="0" i="0" sz="3000" u="none" cap="none" strike="noStrik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Similarly to hardware virtualization, desktop virtualization makes accessible a different system as though it were natively installed on the host, but this system is remotely stored on a different host and accessed through a network connection. </a:t>
            </a:r>
            <a:endParaRPr/>
          </a:p>
          <a:p>
            <a:pPr indent="-38100" lvl="0" marL="228600" marR="0" rtl="0" algn="l">
              <a:lnSpc>
                <a:spcPct val="80000"/>
              </a:lnSpc>
              <a:spcBef>
                <a:spcPts val="1000"/>
              </a:spcBef>
              <a:spcAft>
                <a:spcPts val="0"/>
              </a:spcAft>
              <a:buClr>
                <a:schemeClr val="dk1"/>
              </a:buClr>
              <a:buSzPts val="3000"/>
              <a:buFont typeface="Arial"/>
              <a:buNone/>
            </a:pPr>
            <a:r>
              <a:t/>
            </a:r>
            <a:endParaRPr b="0" i="0" sz="3000" u="none" cap="none" strike="noStrik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Desktop virtualization addresses the problem of making the same desktop environment accessible from everywhere.</a:t>
            </a:r>
            <a:endParaRPr/>
          </a:p>
          <a:p>
            <a:pPr indent="-38100" lvl="0" marL="228600" marR="0" rtl="0" algn="l">
              <a:lnSpc>
                <a:spcPct val="80000"/>
              </a:lnSpc>
              <a:spcBef>
                <a:spcPts val="1000"/>
              </a:spcBef>
              <a:spcAft>
                <a:spcPts val="0"/>
              </a:spcAft>
              <a:buClr>
                <a:schemeClr val="dk1"/>
              </a:buClr>
              <a:buSzPts val="3000"/>
              <a:buFont typeface="Arial"/>
              <a:buNone/>
            </a:pPr>
            <a:r>
              <a:t/>
            </a:r>
            <a:endParaRPr b="0" i="0" sz="3000" u="none" cap="none" strike="noStrik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The advantages of desktop virtualization are high availability, persistence, accessibility, and ease of management. </a:t>
            </a:r>
            <a:endParaRPr/>
          </a:p>
          <a:p>
            <a:pPr indent="-38100" lvl="0" marL="228600" marR="0" rtl="0" algn="l">
              <a:lnSpc>
                <a:spcPct val="80000"/>
              </a:lnSpc>
              <a:spcBef>
                <a:spcPts val="1000"/>
              </a:spcBef>
              <a:spcAft>
                <a:spcPts val="0"/>
              </a:spcAft>
              <a:buClr>
                <a:schemeClr val="dk1"/>
              </a:buClr>
              <a:buSzPts val="3000"/>
              <a:buFont typeface="Arial"/>
              <a:buNone/>
            </a:pPr>
            <a:r>
              <a:t/>
            </a:r>
            <a:endParaRPr b="0" i="0" sz="3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b="0" i="0" sz="3000" u="none" cap="none" strike="noStrike">
              <a:solidFill>
                <a:schemeClr val="dk1"/>
              </a:solidFill>
              <a:latin typeface="Calibri"/>
              <a:ea typeface="Calibri"/>
              <a:cs typeface="Calibri"/>
              <a:sym typeface="Calibri"/>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56"/>
          <p:cNvSpPr txBox="1"/>
          <p:nvPr>
            <p:ph type="title"/>
          </p:nvPr>
        </p:nvSpPr>
        <p:spPr>
          <a:xfrm>
            <a:off x="838200" y="365125"/>
            <a:ext cx="10515600" cy="6032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solidFill>
                  <a:schemeClr val="dk1"/>
                </a:solidFill>
                <a:latin typeface="Calibri"/>
                <a:ea typeface="Calibri"/>
                <a:cs typeface="Calibri"/>
                <a:sym typeface="Calibri"/>
              </a:rPr>
              <a:t>Virtualization</a:t>
            </a:r>
            <a:endParaRPr/>
          </a:p>
        </p:txBody>
      </p:sp>
      <p:sp>
        <p:nvSpPr>
          <p:cNvPr id="407" name="Google Shape;407;p56"/>
          <p:cNvSpPr txBox="1"/>
          <p:nvPr>
            <p:ph idx="1" type="body"/>
          </p:nvPr>
        </p:nvSpPr>
        <p:spPr>
          <a:xfrm>
            <a:off x="838200" y="968375"/>
            <a:ext cx="10847387" cy="5572125"/>
          </a:xfrm>
          <a:prstGeom prst="rect">
            <a:avLst/>
          </a:prstGeom>
          <a:noFill/>
          <a:ln>
            <a:noFill/>
          </a:ln>
        </p:spPr>
        <p:txBody>
          <a:bodyPr anchorCtr="0" anchor="t" bIns="45700" lIns="91425" spcFirstLastPara="1" rIns="91425" wrap="square" tIns="45700">
            <a:noAutofit/>
          </a:bodyPr>
          <a:lstStyle/>
          <a:p>
            <a:pPr indent="-228600" lvl="0" marL="228600" marR="0" rtl="0" algn="l">
              <a:lnSpc>
                <a:spcPct val="80000"/>
              </a:lnSpc>
              <a:spcBef>
                <a:spcPts val="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The basic services for remotely accessing a desktop environment are implemented in software components such as Windows Remote Services, VNC, and X Server. </a:t>
            </a:r>
            <a:endParaRPr/>
          </a:p>
          <a:p>
            <a:pPr indent="-38100" lvl="0" marL="228600" marR="0" rtl="0" algn="l">
              <a:lnSpc>
                <a:spcPct val="80000"/>
              </a:lnSpc>
              <a:spcBef>
                <a:spcPts val="1000"/>
              </a:spcBef>
              <a:spcAft>
                <a:spcPts val="0"/>
              </a:spcAft>
              <a:buClr>
                <a:schemeClr val="dk1"/>
              </a:buClr>
              <a:buSzPts val="3000"/>
              <a:buFont typeface="Arial"/>
              <a:buNone/>
            </a:pPr>
            <a:r>
              <a:t/>
            </a:r>
            <a:endParaRPr b="0" i="0" sz="3000" u="none" cap="none" strike="noStrik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3200"/>
              <a:buFont typeface="Arial"/>
              <a:buChar char="•"/>
            </a:pPr>
            <a:r>
              <a:rPr b="1" i="0" lang="en-US" sz="3200" u="none" cap="none" strike="noStrike">
                <a:solidFill>
                  <a:schemeClr val="dk1"/>
                </a:solidFill>
                <a:latin typeface="Calibri"/>
                <a:ea typeface="Calibri"/>
                <a:cs typeface="Calibri"/>
                <a:sym typeface="Calibri"/>
              </a:rPr>
              <a:t>Application server virtualization</a:t>
            </a:r>
            <a:endParaRPr/>
          </a:p>
          <a:p>
            <a:pPr indent="-38100" lvl="0" marL="228600" marR="0" rtl="0" algn="l">
              <a:lnSpc>
                <a:spcPct val="80000"/>
              </a:lnSpc>
              <a:spcBef>
                <a:spcPts val="1000"/>
              </a:spcBef>
              <a:spcAft>
                <a:spcPts val="0"/>
              </a:spcAft>
              <a:buClr>
                <a:schemeClr val="dk1"/>
              </a:buClr>
              <a:buSzPts val="3000"/>
              <a:buFont typeface="Arial"/>
              <a:buNone/>
            </a:pPr>
            <a:r>
              <a:t/>
            </a:r>
            <a:endParaRPr b="0" i="0" sz="3000" u="none" cap="none" strike="noStrik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Application server virtualization abstracts a collection of application servers that provide the same services as a single virtual application server by using load-balancing strategies and providing a high-availability infrastructure for the services hosted in the application server. </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57"/>
          <p:cNvSpPr txBox="1"/>
          <p:nvPr>
            <p:ph type="title"/>
          </p:nvPr>
        </p:nvSpPr>
        <p:spPr>
          <a:xfrm>
            <a:off x="838200" y="365125"/>
            <a:ext cx="10515600" cy="6032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solidFill>
                  <a:schemeClr val="dk1"/>
                </a:solidFill>
                <a:latin typeface="Calibri"/>
                <a:ea typeface="Calibri"/>
                <a:cs typeface="Calibri"/>
                <a:sym typeface="Calibri"/>
              </a:rPr>
              <a:t>Virtualization - Disadvantages</a:t>
            </a:r>
            <a:endParaRPr/>
          </a:p>
        </p:txBody>
      </p:sp>
      <p:sp>
        <p:nvSpPr>
          <p:cNvPr id="413" name="Google Shape;413;p57"/>
          <p:cNvSpPr txBox="1"/>
          <p:nvPr>
            <p:ph idx="1" type="body"/>
          </p:nvPr>
        </p:nvSpPr>
        <p:spPr>
          <a:xfrm>
            <a:off x="838200" y="968375"/>
            <a:ext cx="10847387" cy="5572125"/>
          </a:xfrm>
          <a:prstGeom prst="rect">
            <a:avLst/>
          </a:prstGeom>
          <a:noFill/>
          <a:ln>
            <a:noFill/>
          </a:ln>
        </p:spPr>
        <p:txBody>
          <a:bodyPr anchorCtr="0" anchor="t" bIns="45700" lIns="91425" spcFirstLastPara="1" rIns="91425" wrap="square" tIns="45700">
            <a:noAutofit/>
          </a:bodyPr>
          <a:lstStyle/>
          <a:p>
            <a:pPr indent="-228600" lvl="0" marL="228600" marR="0" rtl="0" algn="l">
              <a:lnSpc>
                <a:spcPct val="80000"/>
              </a:lnSpc>
              <a:spcBef>
                <a:spcPts val="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Performance degradation</a:t>
            </a:r>
            <a:endParaRPr/>
          </a:p>
          <a:p>
            <a:pPr indent="-38100" lvl="0" marL="228600" marR="0" rtl="0" algn="l">
              <a:lnSpc>
                <a:spcPct val="80000"/>
              </a:lnSpc>
              <a:spcBef>
                <a:spcPts val="1000"/>
              </a:spcBef>
              <a:spcAft>
                <a:spcPts val="0"/>
              </a:spcAft>
              <a:buClr>
                <a:schemeClr val="dk1"/>
              </a:buClr>
              <a:buSzPts val="3000"/>
              <a:buFont typeface="Arial"/>
              <a:buNone/>
            </a:pPr>
            <a:r>
              <a:t/>
            </a:r>
            <a:endParaRPr b="0" i="0" sz="3000" u="none" cap="none" strike="noStrik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2700"/>
              <a:buFont typeface="Arial"/>
              <a:buChar char="•"/>
            </a:pPr>
            <a:r>
              <a:rPr b="0" i="0" lang="en-US" sz="2700" u="none" cap="none" strike="noStrike">
                <a:solidFill>
                  <a:schemeClr val="dk1"/>
                </a:solidFill>
                <a:latin typeface="Calibri"/>
                <a:ea typeface="Calibri"/>
                <a:cs typeface="Calibri"/>
                <a:sym typeface="Calibri"/>
              </a:rPr>
              <a:t>Performance is definitely one of the major concerns in using virtualization technology. Since virtualization interposes an abstraction layer between the guest and the host, the guest can experience increased latencies.</a:t>
            </a:r>
            <a:endParaRPr/>
          </a:p>
          <a:p>
            <a:pPr indent="-57150" lvl="0" marL="228600" marR="0" rtl="0" algn="l">
              <a:lnSpc>
                <a:spcPct val="80000"/>
              </a:lnSpc>
              <a:spcBef>
                <a:spcPts val="1000"/>
              </a:spcBef>
              <a:spcAft>
                <a:spcPts val="0"/>
              </a:spcAft>
              <a:buClr>
                <a:schemeClr val="dk1"/>
              </a:buClr>
              <a:buSzPts val="2700"/>
              <a:buFont typeface="Arial"/>
              <a:buNone/>
            </a:pPr>
            <a:r>
              <a:t/>
            </a:r>
            <a:endParaRPr b="0" i="0" sz="2700" u="none" cap="none" strike="noStrik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2700"/>
              <a:buFont typeface="Arial"/>
              <a:buChar char="•"/>
            </a:pPr>
            <a:r>
              <a:rPr b="0" i="0" lang="en-US" sz="2700" u="none" cap="none" strike="noStrike">
                <a:solidFill>
                  <a:schemeClr val="dk1"/>
                </a:solidFill>
                <a:latin typeface="Calibri"/>
                <a:ea typeface="Calibri"/>
                <a:cs typeface="Calibri"/>
                <a:sym typeface="Calibri"/>
              </a:rPr>
              <a:t>Hardware virtualization is realized through a program that is installed or executed on top of the host operating systems, a major source of performance degradation is represented by the fact that the virtual machine manager is executed and scheduled together with other applications, thus sharing with them the resources of the host.</a:t>
            </a:r>
            <a:endParaRPr/>
          </a:p>
          <a:p>
            <a:pPr indent="-57150" lvl="0" marL="228600" marR="0" rtl="0" algn="l">
              <a:lnSpc>
                <a:spcPct val="80000"/>
              </a:lnSpc>
              <a:spcBef>
                <a:spcPts val="1000"/>
              </a:spcBef>
              <a:spcAft>
                <a:spcPts val="0"/>
              </a:spcAft>
              <a:buClr>
                <a:schemeClr val="dk1"/>
              </a:buClr>
              <a:buSzPts val="2700"/>
              <a:buFont typeface="Arial"/>
              <a:buNone/>
            </a:pPr>
            <a:r>
              <a:t/>
            </a:r>
            <a:endParaRPr b="0" i="0" sz="2700" u="none" cap="none" strike="noStrik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2700"/>
              <a:buFont typeface="Arial"/>
              <a:buChar char="•"/>
            </a:pPr>
            <a:r>
              <a:rPr b="0" i="0" lang="en-US" sz="2700" u="none" cap="none" strike="noStrike">
                <a:solidFill>
                  <a:schemeClr val="dk1"/>
                </a:solidFill>
                <a:latin typeface="Calibri"/>
                <a:ea typeface="Calibri"/>
                <a:cs typeface="Calibri"/>
                <a:sym typeface="Calibri"/>
              </a:rPr>
              <a:t>Binary translation and interpretation can slow down the execution of managed applications in case of programme level virtualization.</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58"/>
          <p:cNvSpPr txBox="1"/>
          <p:nvPr>
            <p:ph type="title"/>
          </p:nvPr>
        </p:nvSpPr>
        <p:spPr>
          <a:xfrm>
            <a:off x="838200" y="365125"/>
            <a:ext cx="10515600" cy="6032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solidFill>
                  <a:schemeClr val="dk1"/>
                </a:solidFill>
                <a:latin typeface="Calibri"/>
                <a:ea typeface="Calibri"/>
                <a:cs typeface="Calibri"/>
                <a:sym typeface="Calibri"/>
              </a:rPr>
              <a:t>Virtualization - Disadvantages</a:t>
            </a:r>
            <a:endParaRPr/>
          </a:p>
        </p:txBody>
      </p:sp>
      <p:sp>
        <p:nvSpPr>
          <p:cNvPr id="419" name="Google Shape;419;p58"/>
          <p:cNvSpPr txBox="1"/>
          <p:nvPr>
            <p:ph idx="1" type="body"/>
          </p:nvPr>
        </p:nvSpPr>
        <p:spPr>
          <a:xfrm>
            <a:off x="838200" y="968375"/>
            <a:ext cx="10847387" cy="5572125"/>
          </a:xfrm>
          <a:prstGeom prst="rect">
            <a:avLst/>
          </a:prstGeom>
          <a:noFill/>
          <a:ln>
            <a:noFill/>
          </a:ln>
        </p:spPr>
        <p:txBody>
          <a:bodyPr anchorCtr="0" anchor="t" bIns="45700" lIns="91425" spcFirstLastPara="1" rIns="91425" wrap="square" tIns="45700">
            <a:noAutofit/>
          </a:bodyPr>
          <a:lstStyle/>
          <a:p>
            <a:pPr indent="-228600" lvl="0" marL="228600" marR="0" rtl="0" algn="l">
              <a:lnSpc>
                <a:spcPct val="80000"/>
              </a:lnSpc>
              <a:spcBef>
                <a:spcPts val="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Inefficiency and degraded user experience</a:t>
            </a:r>
            <a:endParaRPr/>
          </a:p>
          <a:p>
            <a:pPr indent="-38100" lvl="0" marL="228600" marR="0" rtl="0" algn="l">
              <a:lnSpc>
                <a:spcPct val="80000"/>
              </a:lnSpc>
              <a:spcBef>
                <a:spcPts val="1000"/>
              </a:spcBef>
              <a:spcAft>
                <a:spcPts val="0"/>
              </a:spcAft>
              <a:buClr>
                <a:schemeClr val="dk1"/>
              </a:buClr>
              <a:buSzPts val="3000"/>
              <a:buFont typeface="Arial"/>
              <a:buNone/>
            </a:pPr>
            <a:r>
              <a:t/>
            </a:r>
            <a:endParaRPr b="0" i="0" sz="3000" u="none" cap="none" strike="noStrik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Virtualization can sometime lead to an inefficient use of the host. In particular, some of the specific features of the host cannot be exposed by the abstraction layer and then become inaccessible.</a:t>
            </a:r>
            <a:endParaRPr/>
          </a:p>
          <a:p>
            <a:pPr indent="-38100" lvl="0" marL="228600" marR="0" rtl="0" algn="l">
              <a:lnSpc>
                <a:spcPct val="80000"/>
              </a:lnSpc>
              <a:spcBef>
                <a:spcPts val="1000"/>
              </a:spcBef>
              <a:spcAft>
                <a:spcPts val="0"/>
              </a:spcAft>
              <a:buClr>
                <a:schemeClr val="dk1"/>
              </a:buClr>
              <a:buSzPts val="3000"/>
              <a:buFont typeface="Arial"/>
              <a:buNone/>
            </a:pPr>
            <a:r>
              <a:t/>
            </a:r>
            <a:endParaRPr b="0" i="0" sz="3000" u="none" cap="none" strike="noStrik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 In the case of hardware virtualization, this could happen for device drivers.</a:t>
            </a:r>
            <a:endParaRPr/>
          </a:p>
          <a:p>
            <a:pPr indent="-38100" lvl="0" marL="228600" marR="0" rtl="0" algn="l">
              <a:lnSpc>
                <a:spcPct val="80000"/>
              </a:lnSpc>
              <a:spcBef>
                <a:spcPts val="1000"/>
              </a:spcBef>
              <a:spcAft>
                <a:spcPts val="0"/>
              </a:spcAft>
              <a:buClr>
                <a:schemeClr val="dk1"/>
              </a:buClr>
              <a:buSzPts val="3000"/>
              <a:buFont typeface="Arial"/>
              <a:buNone/>
            </a:pPr>
            <a:r>
              <a:t/>
            </a:r>
            <a:endParaRPr b="0" i="0" sz="3000" u="none" cap="none" strike="noStrik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The virtual machine can sometime simply provide a default graphic card that maps only a subset of the features available in the host.</a:t>
            </a:r>
            <a:endParaRPr/>
          </a:p>
          <a:p>
            <a:pPr indent="0" lvl="0" marL="0" marR="0" rtl="0" algn="l">
              <a:lnSpc>
                <a:spcPct val="100000"/>
              </a:lnSpc>
              <a:spcBef>
                <a:spcPts val="0"/>
              </a:spcBef>
              <a:spcAft>
                <a:spcPts val="0"/>
              </a:spcAft>
              <a:buNone/>
            </a:pPr>
            <a:r>
              <a:t/>
            </a:r>
            <a:endParaRPr b="0" i="0" sz="3000" u="none" cap="none" strike="noStrike">
              <a:solidFill>
                <a:schemeClr val="dk1"/>
              </a:solidFill>
              <a:latin typeface="Calibri"/>
              <a:ea typeface="Calibri"/>
              <a:cs typeface="Calibri"/>
              <a:sym typeface="Calibri"/>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59"/>
          <p:cNvSpPr txBox="1"/>
          <p:nvPr>
            <p:ph type="title"/>
          </p:nvPr>
        </p:nvSpPr>
        <p:spPr>
          <a:xfrm>
            <a:off x="838200" y="365125"/>
            <a:ext cx="10515600" cy="6032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solidFill>
                  <a:schemeClr val="dk1"/>
                </a:solidFill>
                <a:latin typeface="Calibri"/>
                <a:ea typeface="Calibri"/>
                <a:cs typeface="Calibri"/>
                <a:sym typeface="Calibri"/>
              </a:rPr>
              <a:t>Virtualization - Disadvantages</a:t>
            </a:r>
            <a:endParaRPr/>
          </a:p>
        </p:txBody>
      </p:sp>
      <p:sp>
        <p:nvSpPr>
          <p:cNvPr id="425" name="Google Shape;425;p59"/>
          <p:cNvSpPr txBox="1"/>
          <p:nvPr>
            <p:ph idx="1" type="body"/>
          </p:nvPr>
        </p:nvSpPr>
        <p:spPr>
          <a:xfrm>
            <a:off x="838200" y="968375"/>
            <a:ext cx="10847387" cy="5572125"/>
          </a:xfrm>
          <a:prstGeom prst="rect">
            <a:avLst/>
          </a:prstGeom>
          <a:noFill/>
          <a:ln>
            <a:noFill/>
          </a:ln>
        </p:spPr>
        <p:txBody>
          <a:bodyPr anchorCtr="0" anchor="t" bIns="45700" lIns="91425" spcFirstLastPara="1" rIns="91425" wrap="square" tIns="45700">
            <a:noAutofit/>
          </a:bodyPr>
          <a:lstStyle/>
          <a:p>
            <a:pPr indent="-228600" lvl="0" marL="228600" marR="0" rtl="0" algn="l">
              <a:lnSpc>
                <a:spcPct val="80000"/>
              </a:lnSpc>
              <a:spcBef>
                <a:spcPts val="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Security holes and new threats</a:t>
            </a:r>
            <a:endParaRPr/>
          </a:p>
          <a:p>
            <a:pPr indent="-38100" lvl="0" marL="228600" marR="0" rtl="0" algn="l">
              <a:lnSpc>
                <a:spcPct val="80000"/>
              </a:lnSpc>
              <a:spcBef>
                <a:spcPts val="1000"/>
              </a:spcBef>
              <a:spcAft>
                <a:spcPts val="0"/>
              </a:spcAft>
              <a:buClr>
                <a:schemeClr val="dk1"/>
              </a:buClr>
              <a:buSzPts val="3000"/>
              <a:buFont typeface="Arial"/>
              <a:buNone/>
            </a:pPr>
            <a:r>
              <a:t/>
            </a:r>
            <a:endParaRPr b="0" i="0" sz="3000" u="none" cap="none" strike="noStrik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In the case of hardware virtualization, malicious programs can preload themselves before the operating system and act as a thin virtual machine manager toward it. </a:t>
            </a:r>
            <a:endParaRPr/>
          </a:p>
          <a:p>
            <a:pPr indent="-38100" lvl="0" marL="228600" marR="0" rtl="0" algn="l">
              <a:lnSpc>
                <a:spcPct val="80000"/>
              </a:lnSpc>
              <a:spcBef>
                <a:spcPts val="1000"/>
              </a:spcBef>
              <a:spcAft>
                <a:spcPts val="0"/>
              </a:spcAft>
              <a:buClr>
                <a:schemeClr val="dk1"/>
              </a:buClr>
              <a:buSzPts val="3000"/>
              <a:buFont typeface="Arial"/>
              <a:buNone/>
            </a:pPr>
            <a:r>
              <a:t/>
            </a:r>
            <a:endParaRPr b="0" i="0" sz="3000" u="none" cap="none" strike="noStrik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The operating system is then controlled and can be manipulated to extract sensitive information of interest to third parties.</a:t>
            </a:r>
            <a:endParaRPr/>
          </a:p>
          <a:p>
            <a:pPr indent="-38100" lvl="0" marL="228600" marR="0" rtl="0" algn="l">
              <a:lnSpc>
                <a:spcPct val="80000"/>
              </a:lnSpc>
              <a:spcBef>
                <a:spcPts val="1000"/>
              </a:spcBef>
              <a:spcAft>
                <a:spcPts val="0"/>
              </a:spcAft>
              <a:buClr>
                <a:schemeClr val="dk1"/>
              </a:buClr>
              <a:buSzPts val="3000"/>
              <a:buFont typeface="Arial"/>
              <a:buNone/>
            </a:pPr>
            <a:r>
              <a:t/>
            </a:r>
            <a:endParaRPr b="0" i="0" sz="3000" u="none" cap="none" strike="noStrik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Examples of these kinds of malware are BluePill and SubVirt. BluePill, malware targeting the AMD processor family, moves the execution of the installed OS within a virtual machine.</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60"/>
          <p:cNvSpPr txBox="1"/>
          <p:nvPr>
            <p:ph type="title"/>
          </p:nvPr>
        </p:nvSpPr>
        <p:spPr>
          <a:xfrm>
            <a:off x="1408112" y="3349625"/>
            <a:ext cx="10515600" cy="6032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364C6B"/>
              </a:buClr>
              <a:buSzPts val="5900"/>
              <a:buFont typeface="Calibri"/>
              <a:buNone/>
            </a:pPr>
            <a:r>
              <a:rPr b="1" lang="en-US" sz="5900">
                <a:solidFill>
                  <a:srgbClr val="364C6B"/>
                </a:solidFill>
                <a:latin typeface="Calibri"/>
                <a:ea typeface="Calibri"/>
                <a:cs typeface="Calibri"/>
                <a:sym typeface="Calibri"/>
              </a:rPr>
              <a:t>Questions???</a:t>
            </a:r>
            <a:br>
              <a:rPr b="1" lang="en-US" sz="5900" u="none">
                <a:solidFill>
                  <a:srgbClr val="364C6B"/>
                </a:solidFill>
                <a:latin typeface="Calibri"/>
                <a:ea typeface="Calibri"/>
                <a:cs typeface="Calibri"/>
                <a:sym typeface="Calibri"/>
              </a:rPr>
            </a:b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61"/>
          <p:cNvSpPr txBox="1"/>
          <p:nvPr>
            <p:ph type="title"/>
          </p:nvPr>
        </p:nvSpPr>
        <p:spPr>
          <a:xfrm>
            <a:off x="1422400" y="3628390"/>
            <a:ext cx="10515600" cy="60325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FFFFFF"/>
              </a:buClr>
              <a:buSzPct val="100000"/>
              <a:buFont typeface="Calibri"/>
              <a:buNone/>
            </a:pPr>
            <a:r>
              <a:rPr b="1" lang="en-US" strike="noStrike">
                <a:solidFill>
                  <a:srgbClr val="FFFFFF"/>
                </a:solidFill>
              </a:rPr>
              <a:t>THANK YOU</a:t>
            </a:r>
            <a:endParaRPr b="1" strike="noStrike">
              <a:solidFill>
                <a:srgbClr val="FFFFFF"/>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2017-10-01T16:41:02Z</dcterms:created>
  <dc:creator>iuser</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1033-10.2.0.5934</vt:lpwstr>
  </property>
</Properties>
</file>