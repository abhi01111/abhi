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46.xml.rels" ContentType="application/vnd.openxmlformats-package.relationships+xml"/>
  <Override PartName="/ppt/notesSlides/_rels/notesSlide3.xml.rels" ContentType="application/vnd.openxmlformats-package.relationships+xml"/>
  <Override PartName="/ppt/notesSlides/_rels/notesSlide47.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n-IN" sz="4400" spc="-1" strike="noStrike">
                <a:latin typeface="Arial"/>
              </a:rPr>
              <a:t>Click to move the slide</a:t>
            </a:r>
            <a:endParaRPr b="0" lang="en-IN" sz="4400" spc="-1" strike="noStrike">
              <a:latin typeface="Arial"/>
            </a:endParaRPr>
          </a:p>
        </p:txBody>
      </p:sp>
      <p:sp>
        <p:nvSpPr>
          <p:cNvPr id="123" name="PlaceHolder 2"/>
          <p:cNvSpPr>
            <a:spLocks noGrp="1"/>
          </p:cNvSpPr>
          <p:nvPr>
            <p:ph type="body"/>
          </p:nvPr>
        </p:nvSpPr>
        <p:spPr>
          <a:xfrm>
            <a:off x="756000" y="5078520"/>
            <a:ext cx="6047640" cy="4811040"/>
          </a:xfrm>
          <a:prstGeom prst="rect">
            <a:avLst/>
          </a:prstGeom>
        </p:spPr>
        <p:txBody>
          <a:bodyPr lIns="0" rIns="0" tIns="0" bIns="0">
            <a:noAutofit/>
          </a:bodyPr>
          <a:p>
            <a:r>
              <a:rPr b="0" lang="en-IN" sz="2000" spc="-1" strike="noStrike">
                <a:latin typeface="Arial"/>
              </a:rPr>
              <a:t>Click to edit the notes format</a:t>
            </a:r>
            <a:endParaRPr b="0" lang="en-IN" sz="2000" spc="-1" strike="noStrike">
              <a:latin typeface="Arial"/>
            </a:endParaRPr>
          </a:p>
        </p:txBody>
      </p:sp>
      <p:sp>
        <p:nvSpPr>
          <p:cNvPr id="124" name="PlaceHolder 3"/>
          <p:cNvSpPr>
            <a:spLocks noGrp="1"/>
          </p:cNvSpPr>
          <p:nvPr>
            <p:ph type="hdr"/>
          </p:nvPr>
        </p:nvSpPr>
        <p:spPr>
          <a:xfrm>
            <a:off x="0" y="0"/>
            <a:ext cx="3280680" cy="534240"/>
          </a:xfrm>
          <a:prstGeom prst="rect">
            <a:avLst/>
          </a:prstGeom>
        </p:spPr>
        <p:txBody>
          <a:bodyPr lIns="0" rIns="0" tIns="0" bIns="0">
            <a:noAutofit/>
          </a:bodyPr>
          <a:p>
            <a:r>
              <a:rPr b="0" lang="en-IN" sz="1400" spc="-1" strike="noStrike">
                <a:latin typeface="Times New Roman"/>
              </a:rPr>
              <a:t>&lt;header&gt;</a:t>
            </a:r>
            <a:endParaRPr b="0" lang="en-IN" sz="1400" spc="-1" strike="noStrike">
              <a:latin typeface="Times New Roman"/>
            </a:endParaRPr>
          </a:p>
        </p:txBody>
      </p:sp>
      <p:sp>
        <p:nvSpPr>
          <p:cNvPr id="125" name="PlaceHolder 4"/>
          <p:cNvSpPr>
            <a:spLocks noGrp="1"/>
          </p:cNvSpPr>
          <p:nvPr>
            <p:ph type="dt"/>
          </p:nvPr>
        </p:nvSpPr>
        <p:spPr>
          <a:xfrm>
            <a:off x="4278960" y="0"/>
            <a:ext cx="3280680" cy="534240"/>
          </a:xfrm>
          <a:prstGeom prst="rect">
            <a:avLst/>
          </a:prstGeom>
        </p:spPr>
        <p:txBody>
          <a:bodyPr lIns="0" rIns="0" tIns="0" bIns="0">
            <a:noAutofit/>
          </a:bodyPr>
          <a:p>
            <a:pPr algn="r"/>
            <a:r>
              <a:rPr b="0" lang="en-IN" sz="1400" spc="-1" strike="noStrike">
                <a:latin typeface="Times New Roman"/>
              </a:rPr>
              <a:t>&lt;date/time&gt;</a:t>
            </a:r>
            <a:endParaRPr b="0" lang="en-IN" sz="1400" spc="-1" strike="noStrike">
              <a:latin typeface="Times New Roman"/>
            </a:endParaRPr>
          </a:p>
        </p:txBody>
      </p:sp>
      <p:sp>
        <p:nvSpPr>
          <p:cNvPr id="126" name="PlaceHolder 5"/>
          <p:cNvSpPr>
            <a:spLocks noGrp="1"/>
          </p:cNvSpPr>
          <p:nvPr>
            <p:ph type="ftr"/>
          </p:nvPr>
        </p:nvSpPr>
        <p:spPr>
          <a:xfrm>
            <a:off x="0" y="10157400"/>
            <a:ext cx="3280680" cy="534240"/>
          </a:xfrm>
          <a:prstGeom prst="rect">
            <a:avLst/>
          </a:prstGeom>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127"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9E0284F6-7522-4853-BEB0-A537A9F4F1FB}"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1371600" y="1143000"/>
            <a:ext cx="4113720" cy="3085200"/>
          </a:xfrm>
          <a:prstGeom prst="rect">
            <a:avLst/>
          </a:prstGeom>
        </p:spPr>
      </p:sp>
      <p:sp>
        <p:nvSpPr>
          <p:cNvPr id="33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35" name="灯片编号占位符 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371600" y="1143000"/>
            <a:ext cx="4113720" cy="3085200"/>
          </a:xfrm>
          <a:prstGeom prst="rect">
            <a:avLst/>
          </a:prstGeom>
        </p:spPr>
      </p:sp>
      <p:sp>
        <p:nvSpPr>
          <p:cNvPr id="33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38" name="灯片编号占位符 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1371600" y="1143000"/>
            <a:ext cx="4113720" cy="3085200"/>
          </a:xfrm>
          <a:prstGeom prst="rect">
            <a:avLst/>
          </a:prstGeom>
        </p:spPr>
      </p:sp>
      <p:sp>
        <p:nvSpPr>
          <p:cNvPr id="34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41" name="灯片编号占位符 3_1"/>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1371600" y="1143000"/>
            <a:ext cx="4113720" cy="3085200"/>
          </a:xfrm>
          <a:prstGeom prst="rect">
            <a:avLst/>
          </a:prstGeom>
        </p:spPr>
      </p:sp>
      <p:sp>
        <p:nvSpPr>
          <p:cNvPr id="34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44" name="灯片编号占位符 3_2"/>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1371600" y="1143000"/>
            <a:ext cx="4113720" cy="3085200"/>
          </a:xfrm>
          <a:prstGeom prst="rect">
            <a:avLst/>
          </a:prstGeom>
        </p:spPr>
      </p:sp>
      <p:sp>
        <p:nvSpPr>
          <p:cNvPr id="34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47" name="灯片编号占位符 3_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371600" y="1143000"/>
            <a:ext cx="4113720" cy="3085200"/>
          </a:xfrm>
          <a:prstGeom prst="rect">
            <a:avLst/>
          </a:prstGeom>
        </p:spPr>
      </p:sp>
      <p:sp>
        <p:nvSpPr>
          <p:cNvPr id="34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50" name="灯片编号占位符 3_4"/>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1371600" y="1143000"/>
            <a:ext cx="4113720" cy="3085200"/>
          </a:xfrm>
          <a:prstGeom prst="rect">
            <a:avLst/>
          </a:prstGeom>
        </p:spPr>
      </p:sp>
      <p:sp>
        <p:nvSpPr>
          <p:cNvPr id="35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53" name="灯片编号占位符 3_5"/>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1371600" y="1143000"/>
            <a:ext cx="4113720" cy="3085200"/>
          </a:xfrm>
          <a:prstGeom prst="rect">
            <a:avLst/>
          </a:prstGeom>
        </p:spPr>
      </p:sp>
      <p:sp>
        <p:nvSpPr>
          <p:cNvPr id="35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56" name="灯片编号占位符 3_6"/>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1371600" y="1143000"/>
            <a:ext cx="4113720" cy="3085200"/>
          </a:xfrm>
          <a:prstGeom prst="rect">
            <a:avLst/>
          </a:prstGeom>
        </p:spPr>
      </p:sp>
      <p:sp>
        <p:nvSpPr>
          <p:cNvPr id="35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59" name="灯片编号占位符 3_7"/>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1371600" y="1143000"/>
            <a:ext cx="4113720" cy="3085200"/>
          </a:xfrm>
          <a:prstGeom prst="rect">
            <a:avLst/>
          </a:prstGeom>
        </p:spPr>
      </p:sp>
      <p:sp>
        <p:nvSpPr>
          <p:cNvPr id="36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62" name="灯片编号占位符 3_8"/>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1371600" y="1143000"/>
            <a:ext cx="4113720" cy="3085200"/>
          </a:xfrm>
          <a:prstGeom prst="rect">
            <a:avLst/>
          </a:prstGeom>
        </p:spPr>
      </p:sp>
      <p:sp>
        <p:nvSpPr>
          <p:cNvPr id="36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65" name="灯片编号占位符 3_9"/>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1371600" y="1143000"/>
            <a:ext cx="4113720" cy="3085200"/>
          </a:xfrm>
          <a:prstGeom prst="rect">
            <a:avLst/>
          </a:prstGeom>
        </p:spPr>
      </p:sp>
      <p:sp>
        <p:nvSpPr>
          <p:cNvPr id="36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68" name="灯片编号占位符 3_10"/>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1371600" y="1143000"/>
            <a:ext cx="4113720" cy="3085200"/>
          </a:xfrm>
          <a:prstGeom prst="rect">
            <a:avLst/>
          </a:prstGeom>
        </p:spPr>
      </p:sp>
      <p:sp>
        <p:nvSpPr>
          <p:cNvPr id="37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71" name="灯片编号占位符 3_11"/>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1371600" y="1143000"/>
            <a:ext cx="4113720" cy="3085200"/>
          </a:xfrm>
          <a:prstGeom prst="rect">
            <a:avLst/>
          </a:prstGeom>
        </p:spPr>
      </p:sp>
      <p:sp>
        <p:nvSpPr>
          <p:cNvPr id="37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74" name="灯片编号占位符 3_12"/>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1371600" y="1143000"/>
            <a:ext cx="4113720" cy="3085200"/>
          </a:xfrm>
          <a:prstGeom prst="rect">
            <a:avLst/>
          </a:prstGeom>
        </p:spPr>
      </p:sp>
      <p:sp>
        <p:nvSpPr>
          <p:cNvPr id="37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77" name="灯片编号占位符 3_1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1371600" y="1143000"/>
            <a:ext cx="4113720" cy="3085200"/>
          </a:xfrm>
          <a:prstGeom prst="rect">
            <a:avLst/>
          </a:prstGeom>
        </p:spPr>
      </p:sp>
      <p:sp>
        <p:nvSpPr>
          <p:cNvPr id="37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80" name="灯片编号占位符 3_14"/>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1371600" y="1143000"/>
            <a:ext cx="4113720" cy="3085200"/>
          </a:xfrm>
          <a:prstGeom prst="rect">
            <a:avLst/>
          </a:prstGeom>
        </p:spPr>
      </p:sp>
      <p:sp>
        <p:nvSpPr>
          <p:cNvPr id="38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83" name="灯片编号占位符 3_15"/>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1371600" y="1143000"/>
            <a:ext cx="4113720" cy="3085200"/>
          </a:xfrm>
          <a:prstGeom prst="rect">
            <a:avLst/>
          </a:prstGeom>
        </p:spPr>
      </p:sp>
      <p:sp>
        <p:nvSpPr>
          <p:cNvPr id="38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86" name="灯片编号占位符 3_16"/>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1371600" y="1143000"/>
            <a:ext cx="4113720" cy="3085200"/>
          </a:xfrm>
          <a:prstGeom prst="rect">
            <a:avLst/>
          </a:prstGeom>
        </p:spPr>
      </p:sp>
      <p:sp>
        <p:nvSpPr>
          <p:cNvPr id="38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89" name="灯片编号占位符 3_17"/>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1371600" y="1143000"/>
            <a:ext cx="4113720" cy="3085200"/>
          </a:xfrm>
          <a:prstGeom prst="rect">
            <a:avLst/>
          </a:prstGeom>
        </p:spPr>
      </p:sp>
      <p:sp>
        <p:nvSpPr>
          <p:cNvPr id="39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92" name="灯片编号占位符 3_18"/>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1371600" y="1143000"/>
            <a:ext cx="4113720" cy="3085200"/>
          </a:xfrm>
          <a:prstGeom prst="rect">
            <a:avLst/>
          </a:prstGeom>
        </p:spPr>
      </p:sp>
      <p:sp>
        <p:nvSpPr>
          <p:cNvPr id="39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95" name="灯片编号占位符 3_19"/>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1371600" y="1143000"/>
            <a:ext cx="4113720" cy="3085200"/>
          </a:xfrm>
          <a:prstGeom prst="rect">
            <a:avLst/>
          </a:prstGeom>
        </p:spPr>
      </p:sp>
      <p:sp>
        <p:nvSpPr>
          <p:cNvPr id="39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398" name="灯片编号占位符 3_20"/>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1371600" y="1143000"/>
            <a:ext cx="4113720" cy="3085200"/>
          </a:xfrm>
          <a:prstGeom prst="rect">
            <a:avLst/>
          </a:prstGeom>
        </p:spPr>
      </p:sp>
      <p:sp>
        <p:nvSpPr>
          <p:cNvPr id="40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01" name="灯片编号占位符 3_21"/>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1371600" y="1143000"/>
            <a:ext cx="4113720" cy="3085200"/>
          </a:xfrm>
          <a:prstGeom prst="rect">
            <a:avLst/>
          </a:prstGeom>
        </p:spPr>
      </p:sp>
      <p:sp>
        <p:nvSpPr>
          <p:cNvPr id="40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04" name="灯片编号占位符 3_22"/>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1371600" y="1143000"/>
            <a:ext cx="4113720" cy="3085200"/>
          </a:xfrm>
          <a:prstGeom prst="rect">
            <a:avLst/>
          </a:prstGeom>
        </p:spPr>
      </p:sp>
      <p:sp>
        <p:nvSpPr>
          <p:cNvPr id="40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07" name="灯片编号占位符 3_2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1371600" y="1143000"/>
            <a:ext cx="4113720" cy="3085200"/>
          </a:xfrm>
          <a:prstGeom prst="rect">
            <a:avLst/>
          </a:prstGeom>
        </p:spPr>
      </p:sp>
      <p:sp>
        <p:nvSpPr>
          <p:cNvPr id="40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10" name="灯片编号占位符 3_24"/>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1371600" y="1143000"/>
            <a:ext cx="4113720" cy="3085200"/>
          </a:xfrm>
          <a:prstGeom prst="rect">
            <a:avLst/>
          </a:prstGeom>
        </p:spPr>
      </p:sp>
      <p:sp>
        <p:nvSpPr>
          <p:cNvPr id="41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13" name="灯片编号占位符 3_29"/>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1371600" y="1143000"/>
            <a:ext cx="4113720" cy="3085200"/>
          </a:xfrm>
          <a:prstGeom prst="rect">
            <a:avLst/>
          </a:prstGeom>
        </p:spPr>
      </p:sp>
      <p:sp>
        <p:nvSpPr>
          <p:cNvPr id="41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16" name="灯片编号占位符 3_25"/>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1371600" y="1143000"/>
            <a:ext cx="4113720" cy="3085200"/>
          </a:xfrm>
          <a:prstGeom prst="rect">
            <a:avLst/>
          </a:prstGeom>
        </p:spPr>
      </p:sp>
      <p:sp>
        <p:nvSpPr>
          <p:cNvPr id="41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19" name="灯片编号占位符 3_26"/>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1371600" y="1143000"/>
            <a:ext cx="4113720" cy="3085200"/>
          </a:xfrm>
          <a:prstGeom prst="rect">
            <a:avLst/>
          </a:prstGeom>
        </p:spPr>
      </p:sp>
      <p:sp>
        <p:nvSpPr>
          <p:cNvPr id="42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22" name="灯片编号占位符 3_27"/>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1371600" y="1143000"/>
            <a:ext cx="4113720" cy="3085200"/>
          </a:xfrm>
          <a:prstGeom prst="rect">
            <a:avLst/>
          </a:prstGeom>
        </p:spPr>
      </p:sp>
      <p:sp>
        <p:nvSpPr>
          <p:cNvPr id="42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25" name="灯片编号占位符 3_30"/>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1371600" y="1143000"/>
            <a:ext cx="4113720" cy="3085200"/>
          </a:xfrm>
          <a:prstGeom prst="rect">
            <a:avLst/>
          </a:prstGeom>
        </p:spPr>
      </p:sp>
      <p:sp>
        <p:nvSpPr>
          <p:cNvPr id="42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28" name="灯片编号占位符 3_31"/>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1371600" y="1143000"/>
            <a:ext cx="4113720" cy="3085200"/>
          </a:xfrm>
          <a:prstGeom prst="rect">
            <a:avLst/>
          </a:prstGeom>
        </p:spPr>
      </p:sp>
      <p:sp>
        <p:nvSpPr>
          <p:cNvPr id="43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31" name="灯片编号占位符 3_32"/>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1371600" y="1143000"/>
            <a:ext cx="4113720" cy="3085200"/>
          </a:xfrm>
          <a:prstGeom prst="rect">
            <a:avLst/>
          </a:prstGeom>
        </p:spPr>
      </p:sp>
      <p:sp>
        <p:nvSpPr>
          <p:cNvPr id="43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34" name="灯片编号占位符 3_3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1371600" y="1143000"/>
            <a:ext cx="4113720" cy="3085200"/>
          </a:xfrm>
          <a:prstGeom prst="rect">
            <a:avLst/>
          </a:prstGeom>
        </p:spPr>
      </p:sp>
      <p:sp>
        <p:nvSpPr>
          <p:cNvPr id="43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37" name="灯片编号占位符 3_34"/>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1371600" y="1143000"/>
            <a:ext cx="4113720" cy="3085200"/>
          </a:xfrm>
          <a:prstGeom prst="rect">
            <a:avLst/>
          </a:prstGeom>
        </p:spPr>
      </p:sp>
      <p:sp>
        <p:nvSpPr>
          <p:cNvPr id="43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40" name="灯片编号占位符 3_35"/>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1371600" y="1143000"/>
            <a:ext cx="4113720" cy="3085200"/>
          </a:xfrm>
          <a:prstGeom prst="rect">
            <a:avLst/>
          </a:prstGeom>
        </p:spPr>
      </p:sp>
      <p:sp>
        <p:nvSpPr>
          <p:cNvPr id="44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43" name="灯片编号占位符 3_37"/>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1371600" y="1143000"/>
            <a:ext cx="4113720" cy="3085200"/>
          </a:xfrm>
          <a:prstGeom prst="rect">
            <a:avLst/>
          </a:prstGeom>
        </p:spPr>
      </p:sp>
      <p:sp>
        <p:nvSpPr>
          <p:cNvPr id="44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46" name="灯片编号占位符 3_38"/>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1371600" y="1143000"/>
            <a:ext cx="4113720" cy="3085200"/>
          </a:xfrm>
          <a:prstGeom prst="rect">
            <a:avLst/>
          </a:prstGeom>
        </p:spPr>
      </p:sp>
      <p:sp>
        <p:nvSpPr>
          <p:cNvPr id="44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49" name="灯片编号占位符 3_39"/>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1371600" y="1143000"/>
            <a:ext cx="4113720" cy="3085200"/>
          </a:xfrm>
          <a:prstGeom prst="rect">
            <a:avLst/>
          </a:prstGeom>
        </p:spPr>
      </p:sp>
      <p:sp>
        <p:nvSpPr>
          <p:cNvPr id="45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52" name="灯片编号占位符 3_36"/>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1371600" y="1143000"/>
            <a:ext cx="4113720" cy="3085200"/>
          </a:xfrm>
          <a:prstGeom prst="rect">
            <a:avLst/>
          </a:prstGeom>
        </p:spPr>
      </p:sp>
      <p:sp>
        <p:nvSpPr>
          <p:cNvPr id="45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55" name="灯片编号占位符 3_28"/>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1371600" y="1143000"/>
            <a:ext cx="4113720" cy="3085200"/>
          </a:xfrm>
          <a:prstGeom prst="rect">
            <a:avLst/>
          </a:prstGeom>
        </p:spPr>
      </p:sp>
      <p:sp>
        <p:nvSpPr>
          <p:cNvPr id="45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58" name="灯片编号占位符 3_40"/>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1371600" y="1143000"/>
            <a:ext cx="4113720" cy="3085200"/>
          </a:xfrm>
          <a:prstGeom prst="rect">
            <a:avLst/>
          </a:prstGeom>
        </p:spPr>
      </p:sp>
      <p:sp>
        <p:nvSpPr>
          <p:cNvPr id="46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61" name="灯片编号占位符 3_41"/>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1371600" y="1143000"/>
            <a:ext cx="4113720" cy="3085200"/>
          </a:xfrm>
          <a:prstGeom prst="rect">
            <a:avLst/>
          </a:prstGeom>
        </p:spPr>
      </p:sp>
      <p:sp>
        <p:nvSpPr>
          <p:cNvPr id="46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64" name="灯片编号占位符 3_42"/>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1371600" y="1143000"/>
            <a:ext cx="4113720" cy="3085200"/>
          </a:xfrm>
          <a:prstGeom prst="rect">
            <a:avLst/>
          </a:prstGeom>
        </p:spPr>
      </p:sp>
      <p:sp>
        <p:nvSpPr>
          <p:cNvPr id="46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67" name="灯片编号占位符 3_43"/>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1371600" y="1143000"/>
            <a:ext cx="4113720" cy="3085200"/>
          </a:xfrm>
          <a:prstGeom prst="rect">
            <a:avLst/>
          </a:prstGeom>
        </p:spPr>
      </p:sp>
      <p:sp>
        <p:nvSpPr>
          <p:cNvPr id="46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70" name="灯片编号占位符 3_44"/>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1371600" y="1143000"/>
            <a:ext cx="4113720" cy="3085200"/>
          </a:xfrm>
          <a:prstGeom prst="rect">
            <a:avLst/>
          </a:prstGeom>
        </p:spPr>
      </p:sp>
      <p:sp>
        <p:nvSpPr>
          <p:cNvPr id="47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73" name="灯片编号占位符 3_45"/>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1371600" y="1143000"/>
            <a:ext cx="4113720" cy="3085200"/>
          </a:xfrm>
          <a:prstGeom prst="rect">
            <a:avLst/>
          </a:prstGeom>
        </p:spPr>
      </p:sp>
      <p:sp>
        <p:nvSpPr>
          <p:cNvPr id="47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76" name="灯片编号占位符 3_46"/>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1371600" y="1143000"/>
            <a:ext cx="4113720" cy="3085200"/>
          </a:xfrm>
          <a:prstGeom prst="rect">
            <a:avLst/>
          </a:prstGeom>
        </p:spPr>
      </p:sp>
      <p:sp>
        <p:nvSpPr>
          <p:cNvPr id="47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79" name="灯片编号占位符 3_47"/>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1371600" y="1143000"/>
            <a:ext cx="4113720" cy="3085200"/>
          </a:xfrm>
          <a:prstGeom prst="rect">
            <a:avLst/>
          </a:prstGeom>
        </p:spPr>
      </p:sp>
      <p:sp>
        <p:nvSpPr>
          <p:cNvPr id="48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82" name="灯片编号占位符 3_48"/>
          <p:cNvSpPr/>
          <p:nvPr/>
        </p:nvSpPr>
        <p:spPr>
          <a:xfrm>
            <a:off x="3884760" y="8685360"/>
            <a:ext cx="2970720" cy="457560"/>
          </a:xfrm>
          <a:prstGeom prst="rect">
            <a:avLst/>
          </a:prstGeom>
          <a:noFill/>
          <a:ln w="9360">
            <a:noFill/>
          </a:ln>
        </p:spPr>
        <p:style>
          <a:lnRef idx="0"/>
          <a:fillRef idx="0"/>
          <a:effectRef idx="0"/>
          <a:fontRef idx="minor"/>
        </p:style>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1371600" y="1143000"/>
            <a:ext cx="4113720" cy="3085200"/>
          </a:xfrm>
          <a:prstGeom prst="rect">
            <a:avLst/>
          </a:prstGeom>
        </p:spPr>
      </p:sp>
      <p:sp>
        <p:nvSpPr>
          <p:cNvPr id="48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485" name="灯片编号占位符 3_56"/>
          <p:cNvSpPr/>
          <p:nvPr/>
        </p:nvSpPr>
        <p:spPr>
          <a:xfrm>
            <a:off x="3884760" y="8685360"/>
            <a:ext cx="2970720" cy="457560"/>
          </a:xfrm>
          <a:prstGeom prst="rect">
            <a:avLst/>
          </a:prstGeom>
          <a:noFill/>
          <a:ln w="9360">
            <a:noFill/>
          </a:ln>
        </p:spPr>
        <p:style>
          <a:lnRef idx="0"/>
          <a:fillRef idx="0"/>
          <a:effectRef idx="0"/>
          <a:fontRef idx="minor"/>
        </p:style>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1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2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2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3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3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3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3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3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3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3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3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4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4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4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4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5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5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5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5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5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6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6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6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6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6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7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7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7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7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7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7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8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8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8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8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9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9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9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10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0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0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0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10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1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1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11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11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11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11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12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12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图片 6" descr=""/>
          <p:cNvPicPr/>
          <p:nvPr/>
        </p:nvPicPr>
        <p:blipFill>
          <a:blip r:embed="rId2"/>
          <a:srcRect l="0" t="0" r="380" b="1679"/>
          <a:stretch/>
        </p:blipFill>
        <p:spPr>
          <a:xfrm>
            <a:off x="0" y="-3240"/>
            <a:ext cx="9142920" cy="6860160"/>
          </a:xfrm>
          <a:prstGeom prst="rect">
            <a:avLst/>
          </a:prstGeom>
          <a:ln w="9525">
            <a:noFill/>
          </a:ln>
        </p:spPr>
      </p:pic>
      <p:sp>
        <p:nvSpPr>
          <p:cNvPr id="1" name="矩形 7" hidden="1"/>
          <p:cNvSpPr/>
          <p:nvPr/>
        </p:nvSpPr>
        <p:spPr>
          <a:xfrm>
            <a:off x="0" y="487440"/>
            <a:ext cx="103680" cy="40860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pic>
        <p:nvPicPr>
          <p:cNvPr id="2" name="图片 8" descr=""/>
          <p:cNvPicPr/>
          <p:nvPr/>
        </p:nvPicPr>
        <p:blipFill>
          <a:blip r:embed="rId3"/>
          <a:srcRect l="0" t="3322" r="0" b="0"/>
          <a:stretch/>
        </p:blipFill>
        <p:spPr>
          <a:xfrm>
            <a:off x="0" y="0"/>
            <a:ext cx="9142920" cy="6664680"/>
          </a:xfrm>
          <a:prstGeom prst="rect">
            <a:avLst/>
          </a:prstGeom>
          <a:ln w="9525">
            <a:noFill/>
          </a:ln>
        </p:spPr>
      </p:pic>
      <p:sp>
        <p:nvSpPr>
          <p:cNvPr id="3" name="矩形 9"/>
          <p:cNvSpPr/>
          <p:nvPr/>
        </p:nvSpPr>
        <p:spPr>
          <a:xfrm>
            <a:off x="0" y="4989600"/>
            <a:ext cx="9142920" cy="1867320"/>
          </a:xfrm>
          <a:prstGeom prst="rect">
            <a:avLst/>
          </a:prstGeom>
          <a:gradFill rotWithShape="0">
            <a:gsLst>
              <a:gs pos="0">
                <a:srgbClr val="ffffff"/>
              </a:gs>
              <a:gs pos="100000">
                <a:srgbClr val="ffffff">
                  <a:alpha val="0"/>
                </a:srgbClr>
              </a:gs>
            </a:gsLst>
            <a:lin ang="16200000"/>
          </a:gradFill>
          <a:ln>
            <a:noFill/>
          </a:ln>
        </p:spPr>
        <p:style>
          <a:lnRef idx="2">
            <a:schemeClr val="accent1">
              <a:shade val="50000"/>
            </a:schemeClr>
          </a:lnRef>
          <a:fillRef idx="1">
            <a:schemeClr val="accent1"/>
          </a:fillRef>
          <a:effectRef idx="0">
            <a:schemeClr val="accent1"/>
          </a:effectRef>
          <a:fontRef idx="minor"/>
        </p:style>
      </p:sp>
      <p:sp>
        <p:nvSpPr>
          <p:cNvPr id="4" name="PlaceHolder 1"/>
          <p:cNvSpPr>
            <a:spLocks noGrp="1"/>
          </p:cNvSpPr>
          <p:nvPr>
            <p:ph type="title"/>
          </p:nvPr>
        </p:nvSpPr>
        <p:spPr>
          <a:xfrm>
            <a:off x="457200" y="273600"/>
            <a:ext cx="8228880" cy="1144440"/>
          </a:xfrm>
          <a:prstGeom prst="rect">
            <a:avLst/>
          </a:prstGeom>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5" name="PlaceHolder 2"/>
          <p:cNvSpPr>
            <a:spLocks noGrp="1"/>
          </p:cNvSpPr>
          <p:nvPr>
            <p:ph type="body"/>
          </p:nvPr>
        </p:nvSpPr>
        <p:spPr>
          <a:xfrm>
            <a:off x="457200" y="1604520"/>
            <a:ext cx="8228880" cy="397692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图片 6" descr=""/>
          <p:cNvPicPr/>
          <p:nvPr/>
        </p:nvPicPr>
        <p:blipFill>
          <a:blip r:embed="rId2"/>
          <a:srcRect l="0" t="0" r="380" b="1679"/>
          <a:stretch/>
        </p:blipFill>
        <p:spPr>
          <a:xfrm>
            <a:off x="0" y="-3240"/>
            <a:ext cx="9142920" cy="6860160"/>
          </a:xfrm>
          <a:prstGeom prst="rect">
            <a:avLst/>
          </a:prstGeom>
          <a:ln w="9525">
            <a:noFill/>
          </a:ln>
        </p:spPr>
      </p:pic>
      <p:sp>
        <p:nvSpPr>
          <p:cNvPr id="43" name="矩形 7"/>
          <p:cNvSpPr/>
          <p:nvPr/>
        </p:nvSpPr>
        <p:spPr>
          <a:xfrm>
            <a:off x="0" y="487440"/>
            <a:ext cx="103680" cy="40860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sp>
        <p:nvSpPr>
          <p:cNvPr id="44" name="PlaceHolder 1"/>
          <p:cNvSpPr>
            <a:spLocks noGrp="1"/>
          </p:cNvSpPr>
          <p:nvPr>
            <p:ph type="title"/>
          </p:nvPr>
        </p:nvSpPr>
        <p:spPr>
          <a:xfrm>
            <a:off x="457200" y="273600"/>
            <a:ext cx="82292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45" name="PlaceHolder 2"/>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2" name="图片 6" descr=""/>
          <p:cNvPicPr/>
          <p:nvPr/>
        </p:nvPicPr>
        <p:blipFill>
          <a:blip r:embed="rId2"/>
          <a:srcRect l="0" t="0" r="380" b="1679"/>
          <a:stretch/>
        </p:blipFill>
        <p:spPr>
          <a:xfrm>
            <a:off x="0" y="-3240"/>
            <a:ext cx="9142920" cy="6860160"/>
          </a:xfrm>
          <a:prstGeom prst="rect">
            <a:avLst/>
          </a:prstGeom>
          <a:ln w="9525">
            <a:noFill/>
          </a:ln>
        </p:spPr>
      </p:pic>
      <p:sp>
        <p:nvSpPr>
          <p:cNvPr id="83" name="矩形 7"/>
          <p:cNvSpPr/>
          <p:nvPr/>
        </p:nvSpPr>
        <p:spPr>
          <a:xfrm>
            <a:off x="0" y="487440"/>
            <a:ext cx="103680" cy="40860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sp>
        <p:nvSpPr>
          <p:cNvPr id="84" name="PlaceHolder 1"/>
          <p:cNvSpPr>
            <a:spLocks noGrp="1"/>
          </p:cNvSpPr>
          <p:nvPr>
            <p:ph type="title"/>
          </p:nvPr>
        </p:nvSpPr>
        <p:spPr>
          <a:xfrm>
            <a:off x="457200" y="273600"/>
            <a:ext cx="82292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85" name="PlaceHolder 2"/>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5.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5.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标题 1"/>
          <p:cNvSpPr/>
          <p:nvPr/>
        </p:nvSpPr>
        <p:spPr>
          <a:xfrm>
            <a:off x="1096920" y="5005440"/>
            <a:ext cx="6947280" cy="695880"/>
          </a:xfrm>
          <a:prstGeom prst="rect">
            <a:avLst/>
          </a:prstGeom>
          <a:noFill/>
          <a:ln w="9360">
            <a:noFill/>
          </a:ln>
        </p:spPr>
        <p:style>
          <a:lnRef idx="0"/>
          <a:fillRef idx="0"/>
          <a:effectRef idx="0"/>
          <a:fontRef idx="minor"/>
        </p:style>
      </p:sp>
      <p:sp>
        <p:nvSpPr>
          <p:cNvPr id="129" name="副标题 2"/>
          <p:cNvSpPr/>
          <p:nvPr/>
        </p:nvSpPr>
        <p:spPr>
          <a:xfrm>
            <a:off x="1084320" y="5724360"/>
            <a:ext cx="6974280" cy="556200"/>
          </a:xfrm>
          <a:prstGeom prst="rect">
            <a:avLst/>
          </a:prstGeom>
          <a:noFill/>
          <a:ln w="9360">
            <a:noFill/>
          </a:ln>
        </p:spPr>
        <p:style>
          <a:lnRef idx="0"/>
          <a:fillRef idx="0"/>
          <a:effectRef idx="0"/>
          <a:fontRef idx="minor"/>
        </p:style>
      </p:sp>
      <p:sp>
        <p:nvSpPr>
          <p:cNvPr id="130" name=""/>
          <p:cNvSpPr/>
          <p:nvPr/>
        </p:nvSpPr>
        <p:spPr>
          <a:xfrm>
            <a:off x="1389240" y="5224680"/>
            <a:ext cx="6890400" cy="7149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4400" spc="-1" strike="noStrike">
                <a:latin typeface="Arial"/>
              </a:rPr>
              <a:t>Data Center Management</a:t>
            </a:r>
            <a:endParaRPr b="0" lang="en-IN" sz="4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5"/>
          <p:cNvSpPr/>
          <p:nvPr/>
        </p:nvSpPr>
        <p:spPr>
          <a:xfrm>
            <a:off x="444600" y="258840"/>
            <a:ext cx="6660000" cy="697320"/>
          </a:xfrm>
          <a:prstGeom prst="rect">
            <a:avLst/>
          </a:prstGeom>
          <a:noFill/>
          <a:ln w="9360">
            <a:noFill/>
          </a:ln>
        </p:spPr>
        <p:style>
          <a:lnRef idx="0"/>
          <a:fillRef idx="0"/>
          <a:effectRef idx="0"/>
          <a:fontRef idx="minor"/>
        </p:style>
      </p:sp>
      <p:sp>
        <p:nvSpPr>
          <p:cNvPr id="132" name="Rectangle 6"/>
          <p:cNvSpPr/>
          <p:nvPr/>
        </p:nvSpPr>
        <p:spPr>
          <a:xfrm>
            <a:off x="628560" y="1328760"/>
            <a:ext cx="7885800" cy="4748760"/>
          </a:xfrm>
          <a:prstGeom prst="rect">
            <a:avLst/>
          </a:prstGeom>
          <a:noFill/>
          <a:ln w="9360">
            <a:noFill/>
          </a:ln>
        </p:spPr>
        <p:style>
          <a:lnRef idx="0"/>
          <a:fillRef idx="0"/>
          <a:effectRef idx="0"/>
          <a:fontRef idx="minor"/>
        </p:style>
      </p:sp>
      <p:sp>
        <p:nvSpPr>
          <p:cNvPr id="133"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3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solidFill>
                  <a:srgbClr val="000000"/>
                </a:solidFill>
                <a:latin typeface="Arial"/>
                <a:ea typeface="Palatino-Roman"/>
              </a:rPr>
              <a:t>As computers get faster and cheaper, they are being used for more and more critical tasks that require 24-7 uptime.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Hospitals, airlines, online banking services, and other service industries modify customer-related data in real time.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The amount of online data is rapidly expanding. It is estimated that online data will grow more than 75 percent every year for the next several years.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The  rapidly increasing demand for placing more and more data online and the constantly decreasing price of storage media have resulted in an increase of huge amounts of critical information being placed online.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5_0"/>
          <p:cNvSpPr/>
          <p:nvPr/>
        </p:nvSpPr>
        <p:spPr>
          <a:xfrm>
            <a:off x="444600" y="258840"/>
            <a:ext cx="6660000" cy="697320"/>
          </a:xfrm>
          <a:prstGeom prst="rect">
            <a:avLst/>
          </a:prstGeom>
          <a:noFill/>
          <a:ln w="9360">
            <a:noFill/>
          </a:ln>
        </p:spPr>
        <p:style>
          <a:lnRef idx="0"/>
          <a:fillRef idx="0"/>
          <a:effectRef idx="0"/>
          <a:fontRef idx="minor"/>
        </p:style>
      </p:sp>
      <p:sp>
        <p:nvSpPr>
          <p:cNvPr id="136" name="Rectangle 6_1"/>
          <p:cNvSpPr/>
          <p:nvPr/>
        </p:nvSpPr>
        <p:spPr>
          <a:xfrm>
            <a:off x="628560" y="1328760"/>
            <a:ext cx="7885800" cy="4748760"/>
          </a:xfrm>
          <a:prstGeom prst="rect">
            <a:avLst/>
          </a:prstGeom>
          <a:noFill/>
          <a:ln w="9360">
            <a:noFill/>
          </a:ln>
        </p:spPr>
        <p:style>
          <a:lnRef idx="0"/>
          <a:fillRef idx="0"/>
          <a:effectRef idx="0"/>
          <a:fontRef idx="minor"/>
        </p:style>
      </p:sp>
      <p:sp>
        <p:nvSpPr>
          <p:cNvPr id="137"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3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 </a:t>
            </a:r>
            <a:r>
              <a:rPr b="0" lang="en-IN" sz="2200" spc="-1" strike="noStrike">
                <a:solidFill>
                  <a:srgbClr val="000000"/>
                </a:solidFill>
                <a:latin typeface="Arial"/>
                <a:ea typeface="Palatino-Roman"/>
              </a:rPr>
              <a:t>Employees and partners depend on data being available at all times.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Work hours have extended beyond the traditional 9-to-5, five days a week.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Intranet servers such as e-mail, internal applications, and so forth, must be always up and functional for work to continue.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Every company has at least one business critical server that supports the organization’s day-to-day operation and health.</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The unavailability of critical applications translates to lost revenue, reduced customer service and customer loyalty, and well-paid, but idle, workers.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5_1"/>
          <p:cNvSpPr/>
          <p:nvPr/>
        </p:nvSpPr>
        <p:spPr>
          <a:xfrm>
            <a:off x="444600" y="258840"/>
            <a:ext cx="6660000" cy="697320"/>
          </a:xfrm>
          <a:prstGeom prst="rect">
            <a:avLst/>
          </a:prstGeom>
          <a:noFill/>
          <a:ln w="9360">
            <a:noFill/>
          </a:ln>
        </p:spPr>
        <p:style>
          <a:lnRef idx="0"/>
          <a:fillRef idx="0"/>
          <a:effectRef idx="0"/>
          <a:fontRef idx="minor"/>
        </p:style>
      </p:sp>
      <p:sp>
        <p:nvSpPr>
          <p:cNvPr id="140" name="Rectangle 6_2"/>
          <p:cNvSpPr/>
          <p:nvPr/>
        </p:nvSpPr>
        <p:spPr>
          <a:xfrm>
            <a:off x="628560" y="1328760"/>
            <a:ext cx="7885800" cy="4748760"/>
          </a:xfrm>
          <a:prstGeom prst="rect">
            <a:avLst/>
          </a:prstGeom>
          <a:noFill/>
          <a:ln w="9360">
            <a:noFill/>
          </a:ln>
        </p:spPr>
        <p:style>
          <a:lnRef idx="0"/>
          <a:fillRef idx="0"/>
          <a:effectRef idx="0"/>
          <a:fontRef idx="minor"/>
        </p:style>
      </p:sp>
      <p:sp>
        <p:nvSpPr>
          <p:cNvPr id="141"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4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solidFill>
                  <a:srgbClr val="000000"/>
                </a:solidFill>
                <a:latin typeface="Arial"/>
                <a:ea typeface="Palatino-Roman"/>
              </a:rPr>
              <a:t>The requirements for reliability and availability put extreme demands on servers, network, software, and supporting infrastructure.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Corporate and e-commerce sites must be capable of processing large numbers of concurrent transactions and are configured to operate 24-7.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All components, including both the server hardware and software, must be configured to be redundant.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Palatino-Roman"/>
              </a:rPr>
              <a:t>To increase service availability, you must identify and eliminate potential causes of downtime, which could be caused by hardware failures, network glitches, software problems, application bugs, and so forth.</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Rectangle 5_2"/>
          <p:cNvSpPr/>
          <p:nvPr/>
        </p:nvSpPr>
        <p:spPr>
          <a:xfrm>
            <a:off x="444600" y="258840"/>
            <a:ext cx="6660000" cy="697320"/>
          </a:xfrm>
          <a:prstGeom prst="rect">
            <a:avLst/>
          </a:prstGeom>
          <a:noFill/>
          <a:ln w="9360">
            <a:noFill/>
          </a:ln>
        </p:spPr>
        <p:style>
          <a:lnRef idx="0"/>
          <a:fillRef idx="0"/>
          <a:effectRef idx="0"/>
          <a:fontRef idx="minor"/>
        </p:style>
      </p:sp>
      <p:sp>
        <p:nvSpPr>
          <p:cNvPr id="144" name="Rectangle 6_3"/>
          <p:cNvSpPr/>
          <p:nvPr/>
        </p:nvSpPr>
        <p:spPr>
          <a:xfrm>
            <a:off x="628560" y="1328760"/>
            <a:ext cx="7885800" cy="4748760"/>
          </a:xfrm>
          <a:prstGeom prst="rect">
            <a:avLst/>
          </a:prstGeom>
          <a:noFill/>
          <a:ln w="9360">
            <a:noFill/>
          </a:ln>
        </p:spPr>
        <p:style>
          <a:lnRef idx="0"/>
          <a:fillRef idx="0"/>
          <a:effectRef idx="0"/>
          <a:fontRef idx="minor"/>
        </p:style>
      </p:sp>
      <p:sp>
        <p:nvSpPr>
          <p:cNvPr id="145"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4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Businesses everywhere are faced with the challenge of minimizing downtime.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At the same time, plans to enhance service availability have financial and resource-related constraints.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Taking steps to increase data, system, and network availability is a delicate task.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the environment is not carefully designed and implemented, it would cost dearly (in terms of required time, money, and</a:t>
            </a:r>
            <a:endParaRPr b="0" lang="en-IN" sz="2200" spc="-1" strike="noStrike">
              <a:latin typeface="Arial"/>
            </a:endParaRPr>
          </a:p>
          <a:p>
            <a:pPr>
              <a:lnSpc>
                <a:spcPct val="100000"/>
              </a:lnSpc>
            </a:pPr>
            <a:r>
              <a:rPr b="0" lang="en-IN" sz="2200" spc="-1" strike="noStrike">
                <a:latin typeface="Arial"/>
              </a:rPr>
              <a:t>human resources) to build and manage it.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Thus developing and managing a data centres needs a proper planning and designing process.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5_3"/>
          <p:cNvSpPr/>
          <p:nvPr/>
        </p:nvSpPr>
        <p:spPr>
          <a:xfrm>
            <a:off x="444600" y="258840"/>
            <a:ext cx="6660000" cy="697320"/>
          </a:xfrm>
          <a:prstGeom prst="rect">
            <a:avLst/>
          </a:prstGeom>
          <a:noFill/>
          <a:ln w="9360">
            <a:noFill/>
          </a:ln>
        </p:spPr>
        <p:style>
          <a:lnRef idx="0"/>
          <a:fillRef idx="0"/>
          <a:effectRef idx="0"/>
          <a:fontRef idx="minor"/>
        </p:style>
      </p:sp>
      <p:sp>
        <p:nvSpPr>
          <p:cNvPr id="148" name="Rectangle 6_4"/>
          <p:cNvSpPr/>
          <p:nvPr/>
        </p:nvSpPr>
        <p:spPr>
          <a:xfrm>
            <a:off x="628560" y="1328760"/>
            <a:ext cx="7885800" cy="4748760"/>
          </a:xfrm>
          <a:prstGeom prst="rect">
            <a:avLst/>
          </a:prstGeom>
          <a:noFill/>
          <a:ln w="9360">
            <a:noFill/>
          </a:ln>
        </p:spPr>
        <p:style>
          <a:lnRef idx="0"/>
          <a:fillRef idx="0"/>
          <a:effectRef idx="0"/>
          <a:fontRef idx="minor"/>
        </p:style>
      </p:sp>
      <p:sp>
        <p:nvSpPr>
          <p:cNvPr id="149"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5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Understanding of following terms will help to plan and design a better data centre.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Reliability</a:t>
            </a:r>
            <a:r>
              <a:rPr b="0" lang="en-IN" sz="2200" spc="-1" strike="noStrike">
                <a:latin typeface="Arial"/>
              </a:rPr>
              <a:t> — Reliability represents the probability of a component or system not encountering any failures over a time span.</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Resiliency</a:t>
            </a:r>
            <a:r>
              <a:rPr b="0" lang="en-IN" sz="2200" spc="-1" strike="noStrike">
                <a:latin typeface="Arial"/>
              </a:rPr>
              <a:t> — Resiliency is the property of a component that allows it to continue with full or partial functionality after one or more faults. Highly resilient components are able to detect and quickly compensate for faults.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Availability</a:t>
            </a:r>
            <a:r>
              <a:rPr b="0" lang="en-IN" sz="2200" spc="-1" strike="noStrike">
                <a:latin typeface="Arial"/>
              </a:rPr>
              <a:t> — Availability measures the ability of a system or group of systems (cluster) to keep an application or service up and running.</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5_4"/>
          <p:cNvSpPr/>
          <p:nvPr/>
        </p:nvSpPr>
        <p:spPr>
          <a:xfrm>
            <a:off x="444600" y="258840"/>
            <a:ext cx="6660000" cy="697320"/>
          </a:xfrm>
          <a:prstGeom prst="rect">
            <a:avLst/>
          </a:prstGeom>
          <a:noFill/>
          <a:ln w="9360">
            <a:noFill/>
          </a:ln>
        </p:spPr>
        <p:style>
          <a:lnRef idx="0"/>
          <a:fillRef idx="0"/>
          <a:effectRef idx="0"/>
          <a:fontRef idx="minor"/>
        </p:style>
      </p:sp>
      <p:sp>
        <p:nvSpPr>
          <p:cNvPr id="152" name="Rectangle 6_5"/>
          <p:cNvSpPr/>
          <p:nvPr/>
        </p:nvSpPr>
        <p:spPr>
          <a:xfrm>
            <a:off x="628560" y="1328760"/>
            <a:ext cx="7885800" cy="4748760"/>
          </a:xfrm>
          <a:prstGeom prst="rect">
            <a:avLst/>
          </a:prstGeom>
          <a:noFill/>
          <a:ln w="9360">
            <a:noFill/>
          </a:ln>
        </p:spPr>
        <p:style>
          <a:lnRef idx="0"/>
          <a:fillRef idx="0"/>
          <a:effectRef idx="0"/>
          <a:fontRef idx="minor"/>
        </p:style>
      </p:sp>
      <p:sp>
        <p:nvSpPr>
          <p:cNvPr id="153"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54" name=""/>
          <p:cNvSpPr/>
          <p:nvPr/>
        </p:nvSpPr>
        <p:spPr>
          <a:xfrm>
            <a:off x="720000" y="1080000"/>
            <a:ext cx="8099640" cy="5697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Serviceability</a:t>
            </a:r>
            <a:r>
              <a:rPr b="0" lang="en-IN" sz="2200" spc="-1" strike="noStrike">
                <a:latin typeface="Arial"/>
              </a:rPr>
              <a:t> — Serviceability is the probability of a service being completed within a given time window. In an ideal situation, systems can be serviced without any interruption of user support. This is possible by using hot-swappable components such as power supplies, fans, disks, and system boards.</a:t>
            </a:r>
            <a:endParaRPr b="0" lang="en-IN" sz="2200" spc="-1" strike="noStrike">
              <a:latin typeface="Arial"/>
            </a:endParaRPr>
          </a:p>
          <a:p>
            <a:pPr>
              <a:lnSpc>
                <a:spcPct val="100000"/>
              </a:lnSpc>
            </a:pPr>
            <a:r>
              <a:rPr b="1" lang="en-IN" sz="2200" spc="-1" strike="noStrike">
                <a:latin typeface="Arial"/>
              </a:rPr>
              <a:t>Fault-tolerant systems</a:t>
            </a:r>
            <a:r>
              <a:rPr b="0" lang="en-IN" sz="2200" spc="-1" strike="noStrike">
                <a:latin typeface="Arial"/>
              </a:rPr>
              <a:t> — These are systems that have redundant hardware components and can operate in the presence of individual component failures.</a:t>
            </a:r>
            <a:endParaRPr b="0" lang="en-IN" sz="2200" spc="-1" strike="noStrike">
              <a:latin typeface="Arial"/>
            </a:endParaRPr>
          </a:p>
          <a:p>
            <a:pPr>
              <a:lnSpc>
                <a:spcPct val="100000"/>
              </a:lnSpc>
            </a:pPr>
            <a:r>
              <a:rPr b="1" lang="en-IN" sz="2200" spc="-1" strike="noStrike">
                <a:latin typeface="Arial"/>
              </a:rPr>
              <a:t>High availability (HA) clusters</a:t>
            </a:r>
            <a:r>
              <a:rPr b="0" lang="en-IN" sz="2200" spc="-1" strike="noStrike">
                <a:latin typeface="Arial"/>
              </a:rPr>
              <a:t> — These clusters consist of two or more nodes with a number of external interconnections such as shared disks and private heartbeat network and are managed by special software with a goal of providing uninterrupted service despite node failures. If a node running one or more applications fails, one or more of the remaining nodes in the HA cluster take over applications from the failed server.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5_5"/>
          <p:cNvSpPr/>
          <p:nvPr/>
        </p:nvSpPr>
        <p:spPr>
          <a:xfrm>
            <a:off x="444600" y="258840"/>
            <a:ext cx="6660000" cy="697320"/>
          </a:xfrm>
          <a:prstGeom prst="rect">
            <a:avLst/>
          </a:prstGeom>
          <a:noFill/>
          <a:ln w="9360">
            <a:noFill/>
          </a:ln>
        </p:spPr>
        <p:style>
          <a:lnRef idx="0"/>
          <a:fillRef idx="0"/>
          <a:effectRef idx="0"/>
          <a:fontRef idx="minor"/>
        </p:style>
      </p:sp>
      <p:sp>
        <p:nvSpPr>
          <p:cNvPr id="156" name="Rectangle 6_6"/>
          <p:cNvSpPr/>
          <p:nvPr/>
        </p:nvSpPr>
        <p:spPr>
          <a:xfrm>
            <a:off x="628560" y="1328760"/>
            <a:ext cx="7885800" cy="4748760"/>
          </a:xfrm>
          <a:prstGeom prst="rect">
            <a:avLst/>
          </a:prstGeom>
          <a:noFill/>
          <a:ln w="9360">
            <a:noFill/>
          </a:ln>
        </p:spPr>
        <p:style>
          <a:lnRef idx="0"/>
          <a:fillRef idx="0"/>
          <a:effectRef idx="0"/>
          <a:fontRef idx="minor"/>
        </p:style>
      </p:sp>
      <p:sp>
        <p:nvSpPr>
          <p:cNvPr id="157"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5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High-performance clusters (HPC)</a:t>
            </a:r>
            <a:r>
              <a:rPr b="0" lang="en-IN" sz="2200" spc="-1" strike="noStrike">
                <a:latin typeface="Arial"/>
              </a:rPr>
              <a:t> — These are also called parallel computing clusters. Each cluster has a group of computers, tied together to work at the same time on a problem, not as backups to each other.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Disaster recovery (DR)</a:t>
            </a:r>
            <a:r>
              <a:rPr b="0" lang="en-IN" sz="2200" spc="-1" strike="noStrike">
                <a:latin typeface="Arial"/>
              </a:rPr>
              <a:t> — Disaster, in the context of online applications, is an extended period of outage of mission-critical service or data,caused by events such as fire and terrorist attacks that damage the entire facility. A DR solution requires a remote, mirrored site where business and mission-critical applications can be started within a reasonable period of time after the destruction of the primary site.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Rectangle 5_6"/>
          <p:cNvSpPr/>
          <p:nvPr/>
        </p:nvSpPr>
        <p:spPr>
          <a:xfrm>
            <a:off x="444600" y="258840"/>
            <a:ext cx="6660000" cy="697320"/>
          </a:xfrm>
          <a:prstGeom prst="rect">
            <a:avLst/>
          </a:prstGeom>
          <a:noFill/>
          <a:ln w="9360">
            <a:noFill/>
          </a:ln>
        </p:spPr>
        <p:style>
          <a:lnRef idx="0"/>
          <a:fillRef idx="0"/>
          <a:effectRef idx="0"/>
          <a:fontRef idx="minor"/>
        </p:style>
      </p:sp>
      <p:sp>
        <p:nvSpPr>
          <p:cNvPr id="160" name="Rectangle 6_7"/>
          <p:cNvSpPr/>
          <p:nvPr/>
        </p:nvSpPr>
        <p:spPr>
          <a:xfrm>
            <a:off x="628560" y="1328760"/>
            <a:ext cx="7885800" cy="4748760"/>
          </a:xfrm>
          <a:prstGeom prst="rect">
            <a:avLst/>
          </a:prstGeom>
          <a:noFill/>
          <a:ln w="9360">
            <a:noFill/>
          </a:ln>
        </p:spPr>
        <p:style>
          <a:lnRef idx="0"/>
          <a:fillRef idx="0"/>
          <a:effectRef idx="0"/>
          <a:fontRef idx="minor"/>
        </p:style>
      </p:sp>
      <p:sp>
        <p:nvSpPr>
          <p:cNvPr id="161" name=""/>
          <p:cNvSpPr/>
          <p:nvPr/>
        </p:nvSpPr>
        <p:spPr>
          <a:xfrm>
            <a:off x="540000" y="517320"/>
            <a:ext cx="225144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Introduction</a:t>
            </a:r>
            <a:endParaRPr b="0" lang="en-IN" sz="2800" spc="-1" strike="noStrike">
              <a:latin typeface="Arial"/>
            </a:endParaRPr>
          </a:p>
        </p:txBody>
      </p:sp>
      <p:sp>
        <p:nvSpPr>
          <p:cNvPr id="16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High Availability Metrics.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These are some of the major metrics used.</a:t>
            </a:r>
            <a:endParaRPr b="0" lang="en-IN" sz="2200" spc="-1" strike="noStrike">
              <a:latin typeface="Arial"/>
            </a:endParaRPr>
          </a:p>
          <a:p>
            <a:pPr>
              <a:lnSpc>
                <a:spcPct val="100000"/>
              </a:lnSpc>
            </a:pPr>
            <a:r>
              <a:rPr b="1" lang="en-IN" sz="2200" spc="-1" strike="noStrike">
                <a:latin typeface="Arial"/>
              </a:rPr>
              <a:t>Mean time between failures (MTBF)</a:t>
            </a:r>
            <a:r>
              <a:rPr b="0" lang="en-IN" sz="2200" spc="-1" strike="noStrike">
                <a:latin typeface="Arial"/>
              </a:rPr>
              <a:t> — MTBF is an average time interval (usually in hours) between two consecutive failures of a certain component or system.</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Mean time to repair (MTTR)</a:t>
            </a:r>
            <a:r>
              <a:rPr b="0" lang="en-IN" sz="2200" spc="-1" strike="noStrike">
                <a:latin typeface="Arial"/>
              </a:rPr>
              <a:t> — MTTR is the average length of time required to complete a repair action.</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Availability</a:t>
            </a:r>
            <a:r>
              <a:rPr b="0" lang="en-IN" sz="2200" spc="-1" strike="noStrike">
                <a:latin typeface="Arial"/>
              </a:rPr>
              <a:t> — This could be calculated as follows:</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	</a:t>
            </a:r>
            <a:r>
              <a:rPr b="0" lang="en-IN" sz="2200" spc="-1" strike="noStrike">
                <a:latin typeface="Arial"/>
              </a:rPr>
              <a:t>Availability = MTBF/( MTBF + MTTR)</a:t>
            </a:r>
            <a:endParaRPr b="0" lang="en-IN" sz="2200" spc="-1" strike="noStrike">
              <a:latin typeface="Arial"/>
            </a:endParaRPr>
          </a:p>
          <a:p>
            <a:pPr>
              <a:lnSpc>
                <a:spcPct val="100000"/>
              </a:lnSpc>
            </a:pPr>
            <a:r>
              <a:rPr b="0" lang="en-IN" sz="2200" spc="-1" strike="noStrike">
                <a:latin typeface="Arial"/>
              </a:rPr>
              <a:t>Another equation is</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	</a:t>
            </a:r>
            <a:r>
              <a:rPr b="0" lang="en-IN" sz="2200" spc="-1" strike="noStrike">
                <a:latin typeface="Arial"/>
              </a:rPr>
              <a:t> </a:t>
            </a:r>
            <a:r>
              <a:rPr b="0" lang="en-IN" sz="2200" spc="-1" strike="noStrike">
                <a:latin typeface="Arial"/>
              </a:rPr>
              <a:t>Availability = Uptime/(Uptime + Downtime)</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	</a:t>
            </a: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Rectangle 5_7"/>
          <p:cNvSpPr/>
          <p:nvPr/>
        </p:nvSpPr>
        <p:spPr>
          <a:xfrm>
            <a:off x="444600" y="258840"/>
            <a:ext cx="6660000" cy="697320"/>
          </a:xfrm>
          <a:prstGeom prst="rect">
            <a:avLst/>
          </a:prstGeom>
          <a:noFill/>
          <a:ln w="9360">
            <a:noFill/>
          </a:ln>
        </p:spPr>
        <p:style>
          <a:lnRef idx="0"/>
          <a:fillRef idx="0"/>
          <a:effectRef idx="0"/>
          <a:fontRef idx="minor"/>
        </p:style>
      </p:sp>
      <p:sp>
        <p:nvSpPr>
          <p:cNvPr id="164" name="Rectangle 6_8"/>
          <p:cNvSpPr/>
          <p:nvPr/>
        </p:nvSpPr>
        <p:spPr>
          <a:xfrm>
            <a:off x="628560" y="1328760"/>
            <a:ext cx="7885800" cy="4748760"/>
          </a:xfrm>
          <a:prstGeom prst="rect">
            <a:avLst/>
          </a:prstGeom>
          <a:noFill/>
          <a:ln w="9360">
            <a:noFill/>
          </a:ln>
        </p:spPr>
        <p:style>
          <a:lnRef idx="0"/>
          <a:fillRef idx="0"/>
          <a:effectRef idx="0"/>
          <a:fontRef idx="minor"/>
        </p:style>
      </p:sp>
      <p:sp>
        <p:nvSpPr>
          <p:cNvPr id="16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6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Requirements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purpose of any data center building is to provide a set of services. The data center’s primary service is to provide care and feeding for all equipment housed within it.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practical requirements of a data center are as follows:</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Provide a physically secure location for servers, storage, and network equipment.</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Provide 24 × 7 network connectivity for equipment within the data center to devices outside the data center.</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Provide necessary power to operate all equipment.</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Provide an environment where the temperature and humidity are controlled within a narrow range and air is exchanged at an adequate rate.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Rectangle 5_8"/>
          <p:cNvSpPr/>
          <p:nvPr/>
        </p:nvSpPr>
        <p:spPr>
          <a:xfrm>
            <a:off x="444600" y="258840"/>
            <a:ext cx="6660000" cy="697320"/>
          </a:xfrm>
          <a:prstGeom prst="rect">
            <a:avLst/>
          </a:prstGeom>
          <a:noFill/>
          <a:ln w="9360">
            <a:noFill/>
          </a:ln>
        </p:spPr>
        <p:style>
          <a:lnRef idx="0"/>
          <a:fillRef idx="0"/>
          <a:effectRef idx="0"/>
          <a:fontRef idx="minor"/>
        </p:style>
      </p:sp>
      <p:sp>
        <p:nvSpPr>
          <p:cNvPr id="168" name="Rectangle 6_9"/>
          <p:cNvSpPr/>
          <p:nvPr/>
        </p:nvSpPr>
        <p:spPr>
          <a:xfrm>
            <a:off x="628560" y="1328760"/>
            <a:ext cx="7885800" cy="4748760"/>
          </a:xfrm>
          <a:prstGeom prst="rect">
            <a:avLst/>
          </a:prstGeom>
          <a:noFill/>
          <a:ln w="9360">
            <a:noFill/>
          </a:ln>
        </p:spPr>
        <p:style>
          <a:lnRef idx="0"/>
          <a:fillRef idx="0"/>
          <a:effectRef idx="0"/>
          <a:fontRef idx="minor"/>
        </p:style>
      </p:sp>
      <p:sp>
        <p:nvSpPr>
          <p:cNvPr id="16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7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Required Physical Area for Equipment and Unoccupied Space.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Physical capacity is defined as available space for servers, storage, network devices, HVAC (heating, ventilation, and air conditioning), power panels, breakers, and floor to support the weight of the equipment.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Some equipment such as small servers and storage devices are placed in racks. However some server are not designed to fit within racks but rather are kept stand alone on the floor.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Rack dimensions vary in size.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5_9"/>
          <p:cNvSpPr/>
          <p:nvPr/>
        </p:nvSpPr>
        <p:spPr>
          <a:xfrm>
            <a:off x="444600" y="258840"/>
            <a:ext cx="6660000" cy="697320"/>
          </a:xfrm>
          <a:prstGeom prst="rect">
            <a:avLst/>
          </a:prstGeom>
          <a:noFill/>
          <a:ln w="9360">
            <a:noFill/>
          </a:ln>
        </p:spPr>
        <p:style>
          <a:lnRef idx="0"/>
          <a:fillRef idx="0"/>
          <a:effectRef idx="0"/>
          <a:fontRef idx="minor"/>
        </p:style>
      </p:sp>
      <p:sp>
        <p:nvSpPr>
          <p:cNvPr id="172" name="Rectangle 6_10"/>
          <p:cNvSpPr/>
          <p:nvPr/>
        </p:nvSpPr>
        <p:spPr>
          <a:xfrm>
            <a:off x="628560" y="1328760"/>
            <a:ext cx="7885800" cy="4748760"/>
          </a:xfrm>
          <a:prstGeom prst="rect">
            <a:avLst/>
          </a:prstGeom>
          <a:noFill/>
          <a:ln w="9360">
            <a:noFill/>
          </a:ln>
        </p:spPr>
        <p:style>
          <a:lnRef idx="0"/>
          <a:fillRef idx="0"/>
          <a:effectRef idx="0"/>
          <a:fontRef idx="minor"/>
        </p:style>
      </p:sp>
      <p:sp>
        <p:nvSpPr>
          <p:cNvPr id="17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7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external height,width, and depth of a typical full-height rack are 84, 22, and 30 inches. However the internal dimensions are 78, 19, and 28 inches.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height of equipment placed in racks is measured in ‘U’ s, with 1 U being 1.75 inches.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usable height of 78 inches translates to 45 Us.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When you are calculating how many devices fit in a rack, you must know the height of each device in Us.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Different devices like switches, routers, firewalls and servers are of different sizes in U’ 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Rectangle 5_10"/>
          <p:cNvSpPr/>
          <p:nvPr/>
        </p:nvSpPr>
        <p:spPr>
          <a:xfrm>
            <a:off x="444600" y="258840"/>
            <a:ext cx="6660000" cy="697320"/>
          </a:xfrm>
          <a:prstGeom prst="rect">
            <a:avLst/>
          </a:prstGeom>
          <a:noFill/>
          <a:ln w="9360">
            <a:noFill/>
          </a:ln>
        </p:spPr>
        <p:style>
          <a:lnRef idx="0"/>
          <a:fillRef idx="0"/>
          <a:effectRef idx="0"/>
          <a:fontRef idx="minor"/>
        </p:style>
      </p:sp>
      <p:sp>
        <p:nvSpPr>
          <p:cNvPr id="176" name="Rectangle 6_11"/>
          <p:cNvSpPr/>
          <p:nvPr/>
        </p:nvSpPr>
        <p:spPr>
          <a:xfrm>
            <a:off x="628560" y="1328760"/>
            <a:ext cx="7885800" cy="4748760"/>
          </a:xfrm>
          <a:prstGeom prst="rect">
            <a:avLst/>
          </a:prstGeom>
          <a:noFill/>
          <a:ln w="9360">
            <a:noFill/>
          </a:ln>
        </p:spPr>
        <p:style>
          <a:lnRef idx="0"/>
          <a:fillRef idx="0"/>
          <a:effectRef idx="0"/>
          <a:fontRef idx="minor"/>
        </p:style>
      </p:sp>
      <p:sp>
        <p:nvSpPr>
          <p:cNvPr id="17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7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Note that approximately 50 percent of the space is occupied by racks or stand-alone hardware.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remaining physical area is used for aisles, ramp, space next to walls, breaks between rows of racks, perforated tile spaces to let cold air from subfloor plenum to the racks, and open space to let exhaust air from racks to the HVAC plenum.</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Space required for new servers and storage in the coming years must also be accounted for in the initial plan.</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It is very difficult to add more space to a live data center.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Rectangle 5_11"/>
          <p:cNvSpPr/>
          <p:nvPr/>
        </p:nvSpPr>
        <p:spPr>
          <a:xfrm>
            <a:off x="444600" y="258840"/>
            <a:ext cx="6660000" cy="697320"/>
          </a:xfrm>
          <a:prstGeom prst="rect">
            <a:avLst/>
          </a:prstGeom>
          <a:noFill/>
          <a:ln w="9360">
            <a:noFill/>
          </a:ln>
        </p:spPr>
        <p:style>
          <a:lnRef idx="0"/>
          <a:fillRef idx="0"/>
          <a:effectRef idx="0"/>
          <a:fontRef idx="minor"/>
        </p:style>
      </p:sp>
      <p:sp>
        <p:nvSpPr>
          <p:cNvPr id="180" name="Rectangle 6_12"/>
          <p:cNvSpPr/>
          <p:nvPr/>
        </p:nvSpPr>
        <p:spPr>
          <a:xfrm>
            <a:off x="628560" y="1328760"/>
            <a:ext cx="7885800" cy="4748760"/>
          </a:xfrm>
          <a:prstGeom prst="rect">
            <a:avLst/>
          </a:prstGeom>
          <a:noFill/>
          <a:ln w="9360">
            <a:noFill/>
          </a:ln>
        </p:spPr>
        <p:style>
          <a:lnRef idx="0"/>
          <a:fillRef idx="0"/>
          <a:effectRef idx="0"/>
          <a:fontRef idx="minor"/>
        </p:style>
      </p:sp>
      <p:sp>
        <p:nvSpPr>
          <p:cNvPr id="181"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82"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Required Power to Run All the Devices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To protect against power failures, uninterruptible power supplies (UPS’s) must be present in every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Generators are required for frequent long-duration power outages.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first thing you must know is the power requirement of the devices. That will, in turn, help decide your power needs: the number of breakers, outlet types, single-phase or three-phase, layout of data-center wiring, and watts per rack.</a:t>
            </a:r>
            <a:endParaRPr b="0" lang="en-IN" sz="2200" spc="-1" strike="noStrike">
              <a:latin typeface="Arial"/>
            </a:endParaRPr>
          </a:p>
          <a:p>
            <a:pPr>
              <a:lnSpc>
                <a:spcPct val="100000"/>
              </a:lnSpc>
            </a:pPr>
            <a:r>
              <a:rPr b="0" lang="en-IN" sz="2200" spc="-1" strike="noStrike">
                <a:latin typeface="Arial"/>
              </a:rPr>
              <a:t> </a:t>
            </a:r>
            <a:endParaRPr b="0" lang="en-IN" sz="2200" spc="-1" strike="noStrike">
              <a:latin typeface="Arial"/>
            </a:endParaRPr>
          </a:p>
          <a:p>
            <a:pPr>
              <a:lnSpc>
                <a:spcPct val="100000"/>
              </a:lnSpc>
            </a:pPr>
            <a:r>
              <a:rPr b="0" lang="en-IN" sz="2200" spc="-1" strike="noStrike">
                <a:latin typeface="Arial"/>
              </a:rPr>
              <a:t>Since power conduits and wiring are difficult to retrofit, you must install with future requirements in mind.</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Rectangle 5_12"/>
          <p:cNvSpPr/>
          <p:nvPr/>
        </p:nvSpPr>
        <p:spPr>
          <a:xfrm>
            <a:off x="444600" y="258840"/>
            <a:ext cx="6660000" cy="697320"/>
          </a:xfrm>
          <a:prstGeom prst="rect">
            <a:avLst/>
          </a:prstGeom>
          <a:noFill/>
          <a:ln w="9360">
            <a:noFill/>
          </a:ln>
        </p:spPr>
        <p:style>
          <a:lnRef idx="0"/>
          <a:fillRef idx="0"/>
          <a:effectRef idx="0"/>
          <a:fontRef idx="minor"/>
        </p:style>
      </p:sp>
      <p:sp>
        <p:nvSpPr>
          <p:cNvPr id="184" name="Rectangle 6_13"/>
          <p:cNvSpPr/>
          <p:nvPr/>
        </p:nvSpPr>
        <p:spPr>
          <a:xfrm>
            <a:off x="628560" y="1328760"/>
            <a:ext cx="7885800" cy="4748760"/>
          </a:xfrm>
          <a:prstGeom prst="rect">
            <a:avLst/>
          </a:prstGeom>
          <a:noFill/>
          <a:ln w="9360">
            <a:noFill/>
          </a:ln>
        </p:spPr>
        <p:style>
          <a:lnRef idx="0"/>
          <a:fillRef idx="0"/>
          <a:effectRef idx="0"/>
          <a:fontRef idx="minor"/>
        </p:style>
      </p:sp>
      <p:sp>
        <p:nvSpPr>
          <p:cNvPr id="18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86"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r>
              <a:rPr b="1" lang="en-IN" sz="2200" spc="-1" strike="noStrike">
                <a:latin typeface="Arial"/>
              </a:rPr>
              <a:t>Required Cooling and HVAC</a:t>
            </a:r>
            <a:endParaRPr b="0" lang="en-IN" sz="2200" spc="-1" strike="noStrike">
              <a:latin typeface="Arial"/>
            </a:endParaRPr>
          </a:p>
          <a:p>
            <a:pPr>
              <a:lnSpc>
                <a:spcPct val="100000"/>
              </a:lnSpc>
            </a:pPr>
            <a:r>
              <a:rPr b="0" lang="en-IN" sz="2200" spc="-1" strike="noStrike">
                <a:latin typeface="Arial"/>
              </a:rPr>
              <a:t>HVAC is required to keep the devices cool and maintain low humidity within the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Like power, the HVAC system is very difficult to retrofit.</a:t>
            </a:r>
            <a:endParaRPr b="0" lang="en-IN" sz="2200" spc="-1" strike="noStrike">
              <a:latin typeface="Arial"/>
            </a:endParaRPr>
          </a:p>
          <a:p>
            <a:pPr>
              <a:lnSpc>
                <a:spcPct val="100000"/>
              </a:lnSpc>
            </a:pPr>
            <a:r>
              <a:rPr b="0" lang="en-IN" sz="2200" spc="-1" strike="noStrike">
                <a:latin typeface="Arial"/>
              </a:rPr>
              <a:t>Therefore, the HVAC system must have enough cooling capacity to meet present and future needs.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Cooling requirements are measured in British thermal units (BTUs) per hour. What you must know is the combined BTU-per-hour requirement for all of the equipment in the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air-flow pattern is very important in cooling the equipment. It is controlled by the under-floor pressure, which, in turn, depends on the HVAC unit and relative placement of solid and perforated tiles on the raised floor.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Rectangle 5_13"/>
          <p:cNvSpPr/>
          <p:nvPr/>
        </p:nvSpPr>
        <p:spPr>
          <a:xfrm>
            <a:off x="444600" y="258840"/>
            <a:ext cx="6660000" cy="697320"/>
          </a:xfrm>
          <a:prstGeom prst="rect">
            <a:avLst/>
          </a:prstGeom>
          <a:noFill/>
          <a:ln w="9360">
            <a:noFill/>
          </a:ln>
        </p:spPr>
        <p:style>
          <a:lnRef idx="0"/>
          <a:fillRef idx="0"/>
          <a:effectRef idx="0"/>
          <a:fontRef idx="minor"/>
        </p:style>
      </p:sp>
      <p:sp>
        <p:nvSpPr>
          <p:cNvPr id="188" name="Rectangle 6_14"/>
          <p:cNvSpPr/>
          <p:nvPr/>
        </p:nvSpPr>
        <p:spPr>
          <a:xfrm>
            <a:off x="628560" y="1328760"/>
            <a:ext cx="7885800" cy="4748760"/>
          </a:xfrm>
          <a:prstGeom prst="rect">
            <a:avLst/>
          </a:prstGeom>
          <a:noFill/>
          <a:ln w="9360">
            <a:noFill/>
          </a:ln>
        </p:spPr>
        <p:style>
          <a:lnRef idx="0"/>
          <a:fillRef idx="0"/>
          <a:effectRef idx="0"/>
          <a:fontRef idx="minor"/>
        </p:style>
      </p:sp>
      <p:sp>
        <p:nvSpPr>
          <p:cNvPr id="18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9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r>
              <a:rPr b="1" lang="en-IN" sz="2200" spc="-1" strike="noStrike">
                <a:latin typeface="Arial"/>
              </a:rPr>
              <a:t>Required Weight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It is critical to know the weight of each rack without any content (server, storage device) inside it and the combined weight of all the racks. Add the weight of all devices (approximate estimate) that will be placed in the racks.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That will give you an idea of the weight that the data-center floor will be subjected to.</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can estimate if the existing floor is strong enough for the weight.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it is not, you must change the tile quality or support grid.</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Rectangle 5_14"/>
          <p:cNvSpPr/>
          <p:nvPr/>
        </p:nvSpPr>
        <p:spPr>
          <a:xfrm>
            <a:off x="444600" y="258840"/>
            <a:ext cx="6660000" cy="697320"/>
          </a:xfrm>
          <a:prstGeom prst="rect">
            <a:avLst/>
          </a:prstGeom>
          <a:noFill/>
          <a:ln w="9360">
            <a:noFill/>
          </a:ln>
        </p:spPr>
        <p:style>
          <a:lnRef idx="0"/>
          <a:fillRef idx="0"/>
          <a:effectRef idx="0"/>
          <a:fontRef idx="minor"/>
        </p:style>
      </p:sp>
      <p:sp>
        <p:nvSpPr>
          <p:cNvPr id="192" name="Rectangle 6_15"/>
          <p:cNvSpPr/>
          <p:nvPr/>
        </p:nvSpPr>
        <p:spPr>
          <a:xfrm>
            <a:off x="628560" y="1328760"/>
            <a:ext cx="7885800" cy="4748760"/>
          </a:xfrm>
          <a:prstGeom prst="rect">
            <a:avLst/>
          </a:prstGeom>
          <a:noFill/>
          <a:ln w="9360">
            <a:noFill/>
          </a:ln>
        </p:spPr>
        <p:style>
          <a:lnRef idx="0"/>
          <a:fillRef idx="0"/>
          <a:effectRef idx="0"/>
          <a:fontRef idx="minor"/>
        </p:style>
      </p:sp>
      <p:sp>
        <p:nvSpPr>
          <p:cNvPr id="19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94" name=""/>
          <p:cNvSpPr/>
          <p:nvPr/>
        </p:nvSpPr>
        <p:spPr>
          <a:xfrm>
            <a:off x="492840" y="1186920"/>
            <a:ext cx="827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There are a few different types of loads that the floor must be able to support:</a:t>
            </a:r>
            <a:endParaRPr b="0" lang="en-IN" sz="2200" spc="-1" strike="noStrike">
              <a:latin typeface="Arial"/>
            </a:endParaRPr>
          </a:p>
          <a:p>
            <a:pPr>
              <a:lnSpc>
                <a:spcPct val="100000"/>
              </a:lnSpc>
            </a:pPr>
            <a:r>
              <a:rPr b="1" lang="en-IN" sz="2200" spc="-1" strike="noStrike">
                <a:latin typeface="Arial"/>
              </a:rPr>
              <a:t>Maximum weight that the entire data-center floor can support</a:t>
            </a:r>
            <a:r>
              <a:rPr b="0" lang="en-IN" sz="2200" spc="-1" strike="noStrike">
                <a:latin typeface="Arial"/>
              </a:rPr>
              <a:t> — This data helps decide if the raised floor is strong enough for the present and future loads.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Maximum weight that a single tile can support</a:t>
            </a:r>
            <a:r>
              <a:rPr b="0" lang="en-IN" sz="2200" spc="-1" strike="noStrike">
                <a:latin typeface="Arial"/>
              </a:rPr>
              <a:t> — The maximum weight that a tile can support depends on the tile material (concrete, aluminum, and so forth) and whether the tile is solid, perforated, or grated.</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Maximum point load that a tile can support</a:t>
            </a:r>
            <a:r>
              <a:rPr b="0" lang="en-IN" sz="2200" spc="-1" strike="noStrike">
                <a:latin typeface="Arial"/>
              </a:rPr>
              <a:t> — Standalone equipment or racks are usually supported on four casters or rollers. Each tile supports either one or two casters from two different racks or from the same rack. The maximum-point strength of any tile should be half the weight of the heaviest equipment or rack in the data center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5_15"/>
          <p:cNvSpPr/>
          <p:nvPr/>
        </p:nvSpPr>
        <p:spPr>
          <a:xfrm>
            <a:off x="444600" y="258840"/>
            <a:ext cx="6660000" cy="697320"/>
          </a:xfrm>
          <a:prstGeom prst="rect">
            <a:avLst/>
          </a:prstGeom>
          <a:noFill/>
          <a:ln w="9360">
            <a:noFill/>
          </a:ln>
        </p:spPr>
        <p:style>
          <a:lnRef idx="0"/>
          <a:fillRef idx="0"/>
          <a:effectRef idx="0"/>
          <a:fontRef idx="minor"/>
        </p:style>
      </p:sp>
      <p:sp>
        <p:nvSpPr>
          <p:cNvPr id="196" name="Rectangle 6_16"/>
          <p:cNvSpPr/>
          <p:nvPr/>
        </p:nvSpPr>
        <p:spPr>
          <a:xfrm>
            <a:off x="628560" y="1328760"/>
            <a:ext cx="7885800" cy="4748760"/>
          </a:xfrm>
          <a:prstGeom prst="rect">
            <a:avLst/>
          </a:prstGeom>
          <a:noFill/>
          <a:ln w="9360">
            <a:noFill/>
          </a:ln>
        </p:spPr>
        <p:style>
          <a:lnRef idx="0"/>
          <a:fillRef idx="0"/>
          <a:effectRef idx="0"/>
          <a:fontRef idx="minor"/>
        </p:style>
      </p:sp>
      <p:sp>
        <p:nvSpPr>
          <p:cNvPr id="19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198"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r>
              <a:rPr b="0" lang="en-IN" sz="2200" spc="-1" strike="noStrike">
                <a:latin typeface="Arial"/>
              </a:rPr>
              <a:t>It is common for data centers to have the same strength tiles throughout. If there is not enough money and some areas must have low-rated floor (for lighter racks of low-end servers and PCs), these must not be placed close to the entrance.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low-rated floor is between the entrance and the high-rated floor, they would be damaged when heavy equipment is rolled over them.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Low rated floor and light racks must be placed further from the entrance.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Load capacity of the floor tiles must be accounted for before rolling equipment into the data center. It is impractical to replace floor tiles in a live data center.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5_16"/>
          <p:cNvSpPr/>
          <p:nvPr/>
        </p:nvSpPr>
        <p:spPr>
          <a:xfrm>
            <a:off x="444600" y="258840"/>
            <a:ext cx="6660000" cy="697320"/>
          </a:xfrm>
          <a:prstGeom prst="rect">
            <a:avLst/>
          </a:prstGeom>
          <a:noFill/>
          <a:ln w="9360">
            <a:noFill/>
          </a:ln>
        </p:spPr>
        <p:style>
          <a:lnRef idx="0"/>
          <a:fillRef idx="0"/>
          <a:effectRef idx="0"/>
          <a:fontRef idx="minor"/>
        </p:style>
      </p:sp>
      <p:sp>
        <p:nvSpPr>
          <p:cNvPr id="200" name="Rectangle 6_17"/>
          <p:cNvSpPr/>
          <p:nvPr/>
        </p:nvSpPr>
        <p:spPr>
          <a:xfrm>
            <a:off x="628560" y="1328760"/>
            <a:ext cx="7885800" cy="4748760"/>
          </a:xfrm>
          <a:prstGeom prst="rect">
            <a:avLst/>
          </a:prstGeom>
          <a:noFill/>
          <a:ln w="9360">
            <a:noFill/>
          </a:ln>
        </p:spPr>
        <p:style>
          <a:lnRef idx="0"/>
          <a:fillRef idx="0"/>
          <a:effectRef idx="0"/>
          <a:fontRef idx="minor"/>
        </p:style>
      </p:sp>
      <p:sp>
        <p:nvSpPr>
          <p:cNvPr id="201"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0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Required Network Bandwidth</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bandwidth offered by the Internet service provider (ISP) should at least be equal to the data center’s inbound and outbound bandwidth specifications.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Since the cost of bandwidth, network switches, and ports goes down over time, it is worthwhile to provision only the amount required and add more if and when needed.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business-critical servers must be connected to the Internet, reliable and redundant ISP links to the Internet are mandatory.</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Rectangle 5_17"/>
          <p:cNvSpPr/>
          <p:nvPr/>
        </p:nvSpPr>
        <p:spPr>
          <a:xfrm>
            <a:off x="444600" y="258840"/>
            <a:ext cx="6660000" cy="697320"/>
          </a:xfrm>
          <a:prstGeom prst="rect">
            <a:avLst/>
          </a:prstGeom>
          <a:noFill/>
          <a:ln w="9360">
            <a:noFill/>
          </a:ln>
        </p:spPr>
        <p:style>
          <a:lnRef idx="0"/>
          <a:fillRef idx="0"/>
          <a:effectRef idx="0"/>
          <a:fontRef idx="minor"/>
        </p:style>
      </p:sp>
      <p:sp>
        <p:nvSpPr>
          <p:cNvPr id="204" name="Rectangle 6_18"/>
          <p:cNvSpPr/>
          <p:nvPr/>
        </p:nvSpPr>
        <p:spPr>
          <a:xfrm>
            <a:off x="628560" y="1328760"/>
            <a:ext cx="7885800" cy="4748760"/>
          </a:xfrm>
          <a:prstGeom prst="rect">
            <a:avLst/>
          </a:prstGeom>
          <a:noFill/>
          <a:ln w="9360">
            <a:noFill/>
          </a:ln>
        </p:spPr>
        <p:style>
          <a:lnRef idx="0"/>
          <a:fillRef idx="0"/>
          <a:effectRef idx="0"/>
          <a:fontRef idx="minor"/>
        </p:style>
      </p:sp>
      <p:sp>
        <p:nvSpPr>
          <p:cNvPr id="20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0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Most of the requirements can be met using Category 6/6e/7 copper or multimode fiber.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Single-mode fiber links may be needed for WAN connections,</a:t>
            </a:r>
            <a:endParaRPr b="0" lang="en-IN" sz="2200" spc="-1" strike="noStrike">
              <a:latin typeface="Arial"/>
            </a:endParaRPr>
          </a:p>
          <a:p>
            <a:pPr>
              <a:lnSpc>
                <a:spcPct val="100000"/>
              </a:lnSpc>
            </a:pPr>
            <a:r>
              <a:rPr b="0" lang="en-IN" sz="2200" spc="-1" strike="noStrike">
                <a:latin typeface="Arial"/>
              </a:rPr>
              <a:t>network attached storage (NAS) heads, and network-IO bound servers.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must calculate the number of copper and fiber connections needed for all the equipment in the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Most data centers have mission-critical servers and need 24 × 7 service uptime.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connection to the Internet must be redundant with two or more feeds from different ISPs.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Rectangle 5_18"/>
          <p:cNvSpPr/>
          <p:nvPr/>
        </p:nvSpPr>
        <p:spPr>
          <a:xfrm>
            <a:off x="444600" y="258840"/>
            <a:ext cx="6660000" cy="697320"/>
          </a:xfrm>
          <a:prstGeom prst="rect">
            <a:avLst/>
          </a:prstGeom>
          <a:noFill/>
          <a:ln w="9360">
            <a:noFill/>
          </a:ln>
        </p:spPr>
        <p:style>
          <a:lnRef idx="0"/>
          <a:fillRef idx="0"/>
          <a:effectRef idx="0"/>
          <a:fontRef idx="minor"/>
        </p:style>
      </p:sp>
      <p:sp>
        <p:nvSpPr>
          <p:cNvPr id="208" name="Rectangle 6_19"/>
          <p:cNvSpPr/>
          <p:nvPr/>
        </p:nvSpPr>
        <p:spPr>
          <a:xfrm>
            <a:off x="628560" y="1328760"/>
            <a:ext cx="7885800" cy="4748760"/>
          </a:xfrm>
          <a:prstGeom prst="rect">
            <a:avLst/>
          </a:prstGeom>
          <a:noFill/>
          <a:ln w="9360">
            <a:noFill/>
          </a:ln>
        </p:spPr>
        <p:style>
          <a:lnRef idx="0"/>
          <a:fillRef idx="0"/>
          <a:effectRef idx="0"/>
          <a:fontRef idx="minor"/>
        </p:style>
      </p:sp>
      <p:sp>
        <p:nvSpPr>
          <p:cNvPr id="20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1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Budget Constraints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In theory, you can get more than enough money for constructing a data center, but in practice, this rarely or never happens.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will find that the toughest thing about designing and constructing a data center is staying within the allocated budget.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amount of money allocated for designing, building, and initial deployment of a new data center is called its build budget.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5_19"/>
          <p:cNvSpPr/>
          <p:nvPr/>
        </p:nvSpPr>
        <p:spPr>
          <a:xfrm>
            <a:off x="444600" y="258840"/>
            <a:ext cx="6660000" cy="697320"/>
          </a:xfrm>
          <a:prstGeom prst="rect">
            <a:avLst/>
          </a:prstGeom>
          <a:noFill/>
          <a:ln w="9360">
            <a:noFill/>
          </a:ln>
        </p:spPr>
        <p:style>
          <a:lnRef idx="0"/>
          <a:fillRef idx="0"/>
          <a:effectRef idx="0"/>
          <a:fontRef idx="minor"/>
        </p:style>
      </p:sp>
      <p:sp>
        <p:nvSpPr>
          <p:cNvPr id="212" name="Rectangle 6_20"/>
          <p:cNvSpPr/>
          <p:nvPr/>
        </p:nvSpPr>
        <p:spPr>
          <a:xfrm>
            <a:off x="628560" y="1328760"/>
            <a:ext cx="7885800" cy="4748760"/>
          </a:xfrm>
          <a:prstGeom prst="rect">
            <a:avLst/>
          </a:prstGeom>
          <a:noFill/>
          <a:ln w="9360">
            <a:noFill/>
          </a:ln>
        </p:spPr>
        <p:style>
          <a:lnRef idx="0"/>
          <a:fillRef idx="0"/>
          <a:effectRef idx="0"/>
          <a:fontRef idx="minor"/>
        </p:style>
      </p:sp>
      <p:sp>
        <p:nvSpPr>
          <p:cNvPr id="21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1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Here is a list of budgetrelated considerations:</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What is the budget amount?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Is the amount adequate to design and construct a data center, given the set of expectations such as capacity, uptime requirements, building codes, and so forth?</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Is there enough money to set up all mandatory elements? Should the UPS, generators, HVAC, and Internet connectivity have built-in redundancy?</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Do you need redundant links to the Internet via different ISPs?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At what stages will the funds be released to pay for incurred expenses?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Rectangle 5_20"/>
          <p:cNvSpPr/>
          <p:nvPr/>
        </p:nvSpPr>
        <p:spPr>
          <a:xfrm>
            <a:off x="444600" y="258840"/>
            <a:ext cx="6660000" cy="697320"/>
          </a:xfrm>
          <a:prstGeom prst="rect">
            <a:avLst/>
          </a:prstGeom>
          <a:noFill/>
          <a:ln w="9360">
            <a:noFill/>
          </a:ln>
        </p:spPr>
        <p:style>
          <a:lnRef idx="0"/>
          <a:fillRef idx="0"/>
          <a:effectRef idx="0"/>
          <a:fontRef idx="minor"/>
        </p:style>
      </p:sp>
      <p:sp>
        <p:nvSpPr>
          <p:cNvPr id="216" name="Rectangle 6_21"/>
          <p:cNvSpPr/>
          <p:nvPr/>
        </p:nvSpPr>
        <p:spPr>
          <a:xfrm>
            <a:off x="628560" y="1328760"/>
            <a:ext cx="7885800" cy="4748760"/>
          </a:xfrm>
          <a:prstGeom prst="rect">
            <a:avLst/>
          </a:prstGeom>
          <a:noFill/>
          <a:ln w="9360">
            <a:noFill/>
          </a:ln>
        </p:spPr>
        <p:style>
          <a:lnRef idx="0"/>
          <a:fillRef idx="0"/>
          <a:effectRef idx="0"/>
          <a:fontRef idx="minor"/>
        </p:style>
      </p:sp>
      <p:sp>
        <p:nvSpPr>
          <p:cNvPr id="21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1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You will have to make certain compromises, such as not having generators or redundant HVAC units.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Each compromise reduces the cost but adds some risk, and you must weigh the risk of each decision.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can also look for features or areas that can be added or upgraded later.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 </a:t>
            </a:r>
            <a:r>
              <a:rPr b="0" i="1" lang="en-IN" sz="2200" spc="-1" strike="noStrike">
                <a:latin typeface="Arial"/>
              </a:rPr>
              <a:t>run budget</a:t>
            </a:r>
            <a:r>
              <a:rPr b="0" lang="en-IN" sz="2200" spc="-1" strike="noStrike">
                <a:latin typeface="Arial"/>
              </a:rPr>
              <a:t> is the allocated amount for on-going operations, maintenance, and upkeep of the data center. It is money used for recurring expenses such as hardware and software supplies, expenses for cleaning and upkeep of the data</a:t>
            </a:r>
            <a:endParaRPr b="0" lang="en-IN" sz="2200" spc="-1" strike="noStrike">
              <a:latin typeface="Arial"/>
            </a:endParaRPr>
          </a:p>
          <a:p>
            <a:pPr>
              <a:lnSpc>
                <a:spcPct val="100000"/>
              </a:lnSpc>
            </a:pPr>
            <a:r>
              <a:rPr b="0" lang="en-IN" sz="2200" spc="-1" strike="noStrike">
                <a:latin typeface="Arial"/>
              </a:rPr>
              <a:t>center, and utility costs such as phone, electricity, and network connectivity charges.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Rectangle 5_21"/>
          <p:cNvSpPr/>
          <p:nvPr/>
        </p:nvSpPr>
        <p:spPr>
          <a:xfrm>
            <a:off x="444600" y="258840"/>
            <a:ext cx="6660000" cy="697320"/>
          </a:xfrm>
          <a:prstGeom prst="rect">
            <a:avLst/>
          </a:prstGeom>
          <a:noFill/>
          <a:ln w="9360">
            <a:noFill/>
          </a:ln>
        </p:spPr>
        <p:style>
          <a:lnRef idx="0"/>
          <a:fillRef idx="0"/>
          <a:effectRef idx="0"/>
          <a:fontRef idx="minor"/>
        </p:style>
      </p:sp>
      <p:sp>
        <p:nvSpPr>
          <p:cNvPr id="220" name="Rectangle 6_22"/>
          <p:cNvSpPr/>
          <p:nvPr/>
        </p:nvSpPr>
        <p:spPr>
          <a:xfrm>
            <a:off x="628560" y="1328760"/>
            <a:ext cx="7885800" cy="4748760"/>
          </a:xfrm>
          <a:prstGeom prst="rect">
            <a:avLst/>
          </a:prstGeom>
          <a:noFill/>
          <a:ln w="9360">
            <a:noFill/>
          </a:ln>
        </p:spPr>
        <p:style>
          <a:lnRef idx="0"/>
          <a:fillRef idx="0"/>
          <a:effectRef idx="0"/>
          <a:fontRef idx="minor"/>
        </p:style>
      </p:sp>
      <p:sp>
        <p:nvSpPr>
          <p:cNvPr id="221"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2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Data Centre Prerequisites</a:t>
            </a:r>
            <a:r>
              <a:rPr b="0" lang="en-IN" sz="2200" spc="-1" strike="noStrike">
                <a:latin typeface="Arial"/>
              </a:rPr>
              <a: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Selecting a Geographic Location</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When deciding on a geographic location, several factors must be weighed.</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After selecting a site, the next question is whether to build a data center in an existing building or buy suitable land and construct a building and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you must buy a building, ensure that it has adequate space for equipment, HVAC, and generators, preferably on the first or second floor.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However, the build-to-suit option has more flexibility.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Rectangle 5_22"/>
          <p:cNvSpPr/>
          <p:nvPr/>
        </p:nvSpPr>
        <p:spPr>
          <a:xfrm>
            <a:off x="444600" y="258840"/>
            <a:ext cx="6660000" cy="697320"/>
          </a:xfrm>
          <a:prstGeom prst="rect">
            <a:avLst/>
          </a:prstGeom>
          <a:noFill/>
          <a:ln w="9360">
            <a:noFill/>
          </a:ln>
        </p:spPr>
        <p:style>
          <a:lnRef idx="0"/>
          <a:fillRef idx="0"/>
          <a:effectRef idx="0"/>
          <a:fontRef idx="minor"/>
        </p:style>
      </p:sp>
      <p:sp>
        <p:nvSpPr>
          <p:cNvPr id="224" name="Rectangle 6_23"/>
          <p:cNvSpPr/>
          <p:nvPr/>
        </p:nvSpPr>
        <p:spPr>
          <a:xfrm>
            <a:off x="628560" y="1328760"/>
            <a:ext cx="7885800" cy="4748760"/>
          </a:xfrm>
          <a:prstGeom prst="rect">
            <a:avLst/>
          </a:prstGeom>
          <a:noFill/>
          <a:ln w="9360">
            <a:noFill/>
          </a:ln>
        </p:spPr>
        <p:style>
          <a:lnRef idx="0"/>
          <a:fillRef idx="0"/>
          <a:effectRef idx="0"/>
          <a:fontRef idx="minor"/>
        </p:style>
      </p:sp>
      <p:sp>
        <p:nvSpPr>
          <p:cNvPr id="22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2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Safe from Natural Hazards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Ideally a data center must be located in an area with no possibility of floods, fire, tornadoes, strong winds, or earthquakes.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Since it is impossible to find such an area, you must identify the hazards that are most likely to occur within the data-center lifetime (10, 20, or even 30 years) and make provisions to mitigate their impact.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Areas near a river, in a valley, or at the bottom of a hill are prone to floods.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In an earthquake prone zone, the entire building should be built so that it will gently rock but will not get warped or cracked.</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Rectangle 5_23"/>
          <p:cNvSpPr/>
          <p:nvPr/>
        </p:nvSpPr>
        <p:spPr>
          <a:xfrm>
            <a:off x="444600" y="258840"/>
            <a:ext cx="6660000" cy="697320"/>
          </a:xfrm>
          <a:prstGeom prst="rect">
            <a:avLst/>
          </a:prstGeom>
          <a:noFill/>
          <a:ln w="9360">
            <a:noFill/>
          </a:ln>
        </p:spPr>
        <p:style>
          <a:lnRef idx="0"/>
          <a:fillRef idx="0"/>
          <a:effectRef idx="0"/>
          <a:fontRef idx="minor"/>
        </p:style>
      </p:sp>
      <p:sp>
        <p:nvSpPr>
          <p:cNvPr id="228" name="Rectangle 6_24"/>
          <p:cNvSpPr/>
          <p:nvPr/>
        </p:nvSpPr>
        <p:spPr>
          <a:xfrm>
            <a:off x="628560" y="1328760"/>
            <a:ext cx="7885800" cy="4748760"/>
          </a:xfrm>
          <a:prstGeom prst="rect">
            <a:avLst/>
          </a:prstGeom>
          <a:noFill/>
          <a:ln w="9360">
            <a:noFill/>
          </a:ln>
        </p:spPr>
        <p:style>
          <a:lnRef idx="0"/>
          <a:fillRef idx="0"/>
          <a:effectRef idx="0"/>
          <a:fontRef idx="minor"/>
        </p:style>
      </p:sp>
      <p:sp>
        <p:nvSpPr>
          <p:cNvPr id="22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30"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Fires can be caused deliberately by humans. Dry areas aided by strong and hot winds, can ignite and spread a fire.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fire suppression agent used over equipment should not leave behind any oily residues, particulates, water, or corrosive materials, or cause any collateral damage in the event it is activated.</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Safe from Man-Made Disasters</a:t>
            </a:r>
            <a:endParaRPr b="0" lang="en-IN" sz="2200" spc="-1" strike="noStrike">
              <a:latin typeface="Arial"/>
            </a:endParaRPr>
          </a:p>
          <a:p>
            <a:pPr>
              <a:lnSpc>
                <a:spcPct val="100000"/>
              </a:lnSpc>
            </a:pPr>
            <a:r>
              <a:rPr b="0" lang="en-IN" sz="2200" spc="-1" strike="noStrike">
                <a:latin typeface="Arial"/>
              </a:rPr>
              <a:t>Nature is not the only cause of an ill-suited site for a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Many humancaused hazards are equally liable.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 data center should not be located very close to an airport, electrical railways, or telecommunications signal center.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Rectangle 5_28"/>
          <p:cNvSpPr/>
          <p:nvPr/>
        </p:nvSpPr>
        <p:spPr>
          <a:xfrm>
            <a:off x="444600" y="258840"/>
            <a:ext cx="6660000" cy="697320"/>
          </a:xfrm>
          <a:prstGeom prst="rect">
            <a:avLst/>
          </a:prstGeom>
          <a:noFill/>
          <a:ln w="9360">
            <a:noFill/>
          </a:ln>
        </p:spPr>
        <p:style>
          <a:lnRef idx="0"/>
          <a:fillRef idx="0"/>
          <a:effectRef idx="0"/>
          <a:fontRef idx="minor"/>
        </p:style>
      </p:sp>
      <p:sp>
        <p:nvSpPr>
          <p:cNvPr id="232" name="Rectangle 6_29"/>
          <p:cNvSpPr/>
          <p:nvPr/>
        </p:nvSpPr>
        <p:spPr>
          <a:xfrm>
            <a:off x="628560" y="1328760"/>
            <a:ext cx="7885800" cy="4748760"/>
          </a:xfrm>
          <a:prstGeom prst="rect">
            <a:avLst/>
          </a:prstGeom>
          <a:noFill/>
          <a:ln w="9360">
            <a:noFill/>
          </a:ln>
        </p:spPr>
        <p:style>
          <a:lnRef idx="0"/>
          <a:fillRef idx="0"/>
          <a:effectRef idx="0"/>
          <a:fontRef idx="minor"/>
        </p:style>
      </p:sp>
      <p:sp>
        <p:nvSpPr>
          <p:cNvPr id="23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3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They create a high level of radio frequency interference (RFI) and electromagnetic interference (EMI) that hamper computer network and hardware operations.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Avoid selecting a site too close to a mine, quarry, highway, or heavy industrial plant whose vibrations may disrupt racks and servers within the data center or utilities outside the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Keep away from locations that are close to sources of industrial pollution such as farms, sewage treatment plants, and chemical factories.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Their chemical waste, dust, and so forth can get inside the controlled areas of the data center and adversely impact equipment and health of data-center employees.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Rectangle 5_24"/>
          <p:cNvSpPr/>
          <p:nvPr/>
        </p:nvSpPr>
        <p:spPr>
          <a:xfrm>
            <a:off x="444600" y="258840"/>
            <a:ext cx="6660000" cy="697320"/>
          </a:xfrm>
          <a:prstGeom prst="rect">
            <a:avLst/>
          </a:prstGeom>
          <a:noFill/>
          <a:ln w="9360">
            <a:noFill/>
          </a:ln>
        </p:spPr>
        <p:style>
          <a:lnRef idx="0"/>
          <a:fillRef idx="0"/>
          <a:effectRef idx="0"/>
          <a:fontRef idx="minor"/>
        </p:style>
      </p:sp>
      <p:sp>
        <p:nvSpPr>
          <p:cNvPr id="236" name="Rectangle 6_25"/>
          <p:cNvSpPr/>
          <p:nvPr/>
        </p:nvSpPr>
        <p:spPr>
          <a:xfrm>
            <a:off x="628560" y="1328760"/>
            <a:ext cx="7885800" cy="4748760"/>
          </a:xfrm>
          <a:prstGeom prst="rect">
            <a:avLst/>
          </a:prstGeom>
          <a:noFill/>
          <a:ln w="9360">
            <a:noFill/>
          </a:ln>
        </p:spPr>
        <p:style>
          <a:lnRef idx="0"/>
          <a:fillRef idx="0"/>
          <a:effectRef idx="0"/>
          <a:fontRef idx="minor"/>
        </p:style>
      </p:sp>
      <p:sp>
        <p:nvSpPr>
          <p:cNvPr id="23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3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Other factors that need to considered are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Political stability in the region – As the government changes the policies may change and it may affect the data center operations.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Too much political interference can increase the cost of operations as they may force the organization to take solutions from their contractors.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 </a:t>
            </a:r>
            <a:endParaRPr b="0" lang="en-IN" sz="2200" spc="-1" strike="noStrike">
              <a:latin typeface="Arial"/>
            </a:endParaRPr>
          </a:p>
          <a:p>
            <a:pPr>
              <a:lnSpc>
                <a:spcPct val="100000"/>
              </a:lnSpc>
            </a:pPr>
            <a:r>
              <a:rPr b="1" lang="en-IN" sz="2200" spc="-1" strike="noStrike">
                <a:latin typeface="Arial"/>
              </a:rPr>
              <a:t>Availability of Local Technical Talent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Ideally your location or city should be attractive enough for new hires to relocate and live there for several years to come.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Rectangle 5_25"/>
          <p:cNvSpPr/>
          <p:nvPr/>
        </p:nvSpPr>
        <p:spPr>
          <a:xfrm>
            <a:off x="444600" y="258840"/>
            <a:ext cx="6660000" cy="697320"/>
          </a:xfrm>
          <a:prstGeom prst="rect">
            <a:avLst/>
          </a:prstGeom>
          <a:noFill/>
          <a:ln w="9360">
            <a:noFill/>
          </a:ln>
        </p:spPr>
        <p:style>
          <a:lnRef idx="0"/>
          <a:fillRef idx="0"/>
          <a:effectRef idx="0"/>
          <a:fontRef idx="minor"/>
        </p:style>
      </p:sp>
      <p:sp>
        <p:nvSpPr>
          <p:cNvPr id="240" name="Rectangle 6_26"/>
          <p:cNvSpPr/>
          <p:nvPr/>
        </p:nvSpPr>
        <p:spPr>
          <a:xfrm>
            <a:off x="628560" y="1328760"/>
            <a:ext cx="7885800" cy="4748760"/>
          </a:xfrm>
          <a:prstGeom prst="rect">
            <a:avLst/>
          </a:prstGeom>
          <a:noFill/>
          <a:ln w="9360">
            <a:noFill/>
          </a:ln>
        </p:spPr>
        <p:style>
          <a:lnRef idx="0"/>
          <a:fillRef idx="0"/>
          <a:effectRef idx="0"/>
          <a:fontRef idx="minor"/>
        </p:style>
      </p:sp>
      <p:sp>
        <p:nvSpPr>
          <p:cNvPr id="241"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4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 cost of living should be low.</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Good accommodation and transport should be available at fair cost.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It is better if local population is technically skilled. These local people are ready to work at a lower remuneration as their expenses are low.</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Abundant and Inexpensive Utilities Such as Power and Water</a:t>
            </a:r>
            <a:endParaRPr b="0" lang="en-IN" sz="2200" spc="-1" strike="noStrike">
              <a:latin typeface="Arial"/>
            </a:endParaRPr>
          </a:p>
          <a:p>
            <a:pPr>
              <a:lnSpc>
                <a:spcPct val="100000"/>
              </a:lnSpc>
            </a:pPr>
            <a:r>
              <a:rPr b="0" lang="en-IN" sz="2200" spc="-1" strike="noStrike">
                <a:latin typeface="Arial"/>
              </a:rPr>
              <a:t>This is an important consideration if you wish to pick a site in a rural area.</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Redundant feeds for electrical supply and Internet connection from ISPs are expensive to install and operate.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Rectangle 5_26"/>
          <p:cNvSpPr/>
          <p:nvPr/>
        </p:nvSpPr>
        <p:spPr>
          <a:xfrm>
            <a:off x="444600" y="258840"/>
            <a:ext cx="6660000" cy="697320"/>
          </a:xfrm>
          <a:prstGeom prst="rect">
            <a:avLst/>
          </a:prstGeom>
          <a:noFill/>
          <a:ln w="9360">
            <a:noFill/>
          </a:ln>
        </p:spPr>
        <p:style>
          <a:lnRef idx="0"/>
          <a:fillRef idx="0"/>
          <a:effectRef idx="0"/>
          <a:fontRef idx="minor"/>
        </p:style>
      </p:sp>
      <p:sp>
        <p:nvSpPr>
          <p:cNvPr id="244" name="Rectangle 6_27"/>
          <p:cNvSpPr/>
          <p:nvPr/>
        </p:nvSpPr>
        <p:spPr>
          <a:xfrm>
            <a:off x="628560" y="1328760"/>
            <a:ext cx="7885800" cy="4748760"/>
          </a:xfrm>
          <a:prstGeom prst="rect">
            <a:avLst/>
          </a:prstGeom>
          <a:noFill/>
          <a:ln w="9360">
            <a:noFill/>
          </a:ln>
        </p:spPr>
        <p:style>
          <a:lnRef idx="0"/>
          <a:fillRef idx="0"/>
          <a:effectRef idx="0"/>
          <a:fontRef idx="minor"/>
        </p:style>
      </p:sp>
      <p:sp>
        <p:nvSpPr>
          <p:cNvPr id="24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4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Also sufficient fuel like diesel or petrol should be available as you need to operate generators.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Selecting an Existing Building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luxury of constructing a new building is not always an option. </a:t>
            </a:r>
            <a:endParaRPr b="0" lang="en-IN" sz="2200" spc="-1" strike="noStrike">
              <a:latin typeface="Arial"/>
            </a:endParaRPr>
          </a:p>
          <a:p>
            <a:pPr>
              <a:lnSpc>
                <a:spcPct val="100000"/>
              </a:lnSpc>
            </a:pPr>
            <a:r>
              <a:rPr b="0" lang="en-IN" sz="2200" spc="-1" strike="noStrike">
                <a:latin typeface="Arial"/>
              </a:rPr>
              <a:t>Sometimes you have no choice but to select and rent a floor in an existing building.</a:t>
            </a:r>
            <a:endParaRPr b="0" lang="en-IN" sz="2200" spc="-1" strike="noStrike">
              <a:latin typeface="Arial"/>
            </a:endParaRPr>
          </a:p>
          <a:p>
            <a:pPr>
              <a:lnSpc>
                <a:spcPct val="100000"/>
              </a:lnSpc>
            </a:pPr>
            <a:r>
              <a:rPr b="0" lang="en-IN" sz="2200" spc="-1" strike="noStrike">
                <a:latin typeface="Arial"/>
              </a:rPr>
              <a:t>Although you have to make necessary internal modifications required for data-center operations, there are some conditions that make a floor or building an outright impossibility. </a:t>
            </a:r>
            <a:endParaRPr b="0" lang="en-IN" sz="2200" spc="-1" strike="noStrike">
              <a:latin typeface="Arial"/>
            </a:endParaRPr>
          </a:p>
          <a:p>
            <a:pPr>
              <a:lnSpc>
                <a:spcPct val="100000"/>
              </a:lnSpc>
            </a:pPr>
            <a:r>
              <a:rPr b="0" lang="en-IN" sz="2200" spc="-1" strike="noStrike">
                <a:latin typeface="Arial"/>
              </a:rPr>
              <a:t>Such conditions are overhead water or gas pipes, no</a:t>
            </a:r>
            <a:endParaRPr b="0" lang="en-IN" sz="2200" spc="-1" strike="noStrike">
              <a:latin typeface="Arial"/>
            </a:endParaRPr>
          </a:p>
          <a:p>
            <a:pPr>
              <a:lnSpc>
                <a:spcPct val="100000"/>
              </a:lnSpc>
            </a:pPr>
            <a:r>
              <a:rPr b="0" lang="en-IN" sz="2200" spc="-1" strike="noStrike">
                <a:latin typeface="Arial"/>
              </a:rPr>
              <a:t>access for large trucks and equipment, and security problems (that is, no control of who enters or leaves the floor).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5_29"/>
          <p:cNvSpPr/>
          <p:nvPr/>
        </p:nvSpPr>
        <p:spPr>
          <a:xfrm>
            <a:off x="444600" y="258840"/>
            <a:ext cx="6660000" cy="697320"/>
          </a:xfrm>
          <a:prstGeom prst="rect">
            <a:avLst/>
          </a:prstGeom>
          <a:noFill/>
          <a:ln w="9360">
            <a:noFill/>
          </a:ln>
        </p:spPr>
        <p:style>
          <a:lnRef idx="0"/>
          <a:fillRef idx="0"/>
          <a:effectRef idx="0"/>
          <a:fontRef idx="minor"/>
        </p:style>
      </p:sp>
      <p:sp>
        <p:nvSpPr>
          <p:cNvPr id="248" name="Rectangle 6_30"/>
          <p:cNvSpPr/>
          <p:nvPr/>
        </p:nvSpPr>
        <p:spPr>
          <a:xfrm>
            <a:off x="628560" y="1328760"/>
            <a:ext cx="7885800" cy="4748760"/>
          </a:xfrm>
          <a:prstGeom prst="rect">
            <a:avLst/>
          </a:prstGeom>
          <a:noFill/>
          <a:ln w="9360">
            <a:noFill/>
          </a:ln>
        </p:spPr>
        <p:style>
          <a:lnRef idx="0"/>
          <a:fillRef idx="0"/>
          <a:effectRef idx="0"/>
          <a:fontRef idx="minor"/>
        </p:style>
      </p:sp>
      <p:sp>
        <p:nvSpPr>
          <p:cNvPr id="24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50"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There must be enough space for a raised floor. The height between the floor and ceiling must be adequate so that after constructing a ceiling plenum and at least a 2-foot subfloor plenum (the area below the datacenter tiles), you have enough remaining height for 7- or 8-foot racks or equipment and space above the equipment for hot air to return to the HVAC units.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space in the subfloor plenum must be just enough to</a:t>
            </a:r>
            <a:endParaRPr b="0" lang="en-IN" sz="2200" spc="-1" strike="noStrike">
              <a:latin typeface="Arial"/>
            </a:endParaRPr>
          </a:p>
          <a:p>
            <a:pPr>
              <a:lnSpc>
                <a:spcPct val="100000"/>
              </a:lnSpc>
            </a:pPr>
            <a:r>
              <a:rPr b="0" lang="en-IN" sz="2200" spc="-1" strike="noStrike">
                <a:latin typeface="Arial"/>
              </a:rPr>
              <a:t>channel cold air.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Too little space cannot carry enough cold air for the entire data center. Too large of a space will make it inefficient.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network and electrical cables will be run in the subfloor plenum, they must not obstruct the flow of cold air.</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Rectangle 5_30"/>
          <p:cNvSpPr/>
          <p:nvPr/>
        </p:nvSpPr>
        <p:spPr>
          <a:xfrm>
            <a:off x="444600" y="258840"/>
            <a:ext cx="6660000" cy="697320"/>
          </a:xfrm>
          <a:prstGeom prst="rect">
            <a:avLst/>
          </a:prstGeom>
          <a:noFill/>
          <a:ln w="9360">
            <a:noFill/>
          </a:ln>
        </p:spPr>
        <p:style>
          <a:lnRef idx="0"/>
          <a:fillRef idx="0"/>
          <a:effectRef idx="0"/>
          <a:fontRef idx="minor"/>
        </p:style>
      </p:sp>
      <p:sp>
        <p:nvSpPr>
          <p:cNvPr id="252" name="Rectangle 6_31"/>
          <p:cNvSpPr/>
          <p:nvPr/>
        </p:nvSpPr>
        <p:spPr>
          <a:xfrm>
            <a:off x="628560" y="1328760"/>
            <a:ext cx="7885800" cy="4748760"/>
          </a:xfrm>
          <a:prstGeom prst="rect">
            <a:avLst/>
          </a:prstGeom>
          <a:noFill/>
          <a:ln w="9360">
            <a:noFill/>
          </a:ln>
        </p:spPr>
        <p:style>
          <a:lnRef idx="0"/>
          <a:fillRef idx="0"/>
          <a:effectRef idx="0"/>
          <a:fontRef idx="minor"/>
        </p:style>
      </p:sp>
      <p:sp>
        <p:nvSpPr>
          <p:cNvPr id="25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54" name=""/>
          <p:cNvSpPr/>
          <p:nvPr/>
        </p:nvSpPr>
        <p:spPr>
          <a:xfrm>
            <a:off x="360000" y="1375200"/>
            <a:ext cx="845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It must be easy to set up redundant T1, DS3, fiber-optic, and other highbandwidth network links.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building must have adequate power and redundant electrical grids to guarantee high 24 × 7 operations. Power outages must not be more than a few (three or four) times a year.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room or floor must be large enough for present and future equipment. Think of needs 15 or at least 10 years from now.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data center must be isolated form contaminant-producing areas within the building. The exhaust from generators and other sources should not be allowed to enter the data-center air intakes. The gas and water pipes must be safe and leak-free. Pipes or mains can leak or burst and, therefore, should not be running above the equipment.</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Rectangle 5_31"/>
          <p:cNvSpPr/>
          <p:nvPr/>
        </p:nvSpPr>
        <p:spPr>
          <a:xfrm>
            <a:off x="444600" y="258840"/>
            <a:ext cx="6660000" cy="697320"/>
          </a:xfrm>
          <a:prstGeom prst="rect">
            <a:avLst/>
          </a:prstGeom>
          <a:noFill/>
          <a:ln w="9360">
            <a:noFill/>
          </a:ln>
        </p:spPr>
        <p:style>
          <a:lnRef idx="0"/>
          <a:fillRef idx="0"/>
          <a:effectRef idx="0"/>
          <a:fontRef idx="minor"/>
        </p:style>
      </p:sp>
      <p:sp>
        <p:nvSpPr>
          <p:cNvPr id="256" name="Rectangle 6_32"/>
          <p:cNvSpPr/>
          <p:nvPr/>
        </p:nvSpPr>
        <p:spPr>
          <a:xfrm>
            <a:off x="628560" y="1260000"/>
            <a:ext cx="7885800" cy="4817520"/>
          </a:xfrm>
          <a:prstGeom prst="rect">
            <a:avLst/>
          </a:prstGeom>
          <a:noFill/>
          <a:ln w="9360">
            <a:noFill/>
          </a:ln>
        </p:spPr>
        <p:style>
          <a:lnRef idx="0"/>
          <a:fillRef idx="0"/>
          <a:effectRef idx="0"/>
          <a:fontRef idx="minor"/>
        </p:style>
      </p:sp>
      <p:sp>
        <p:nvSpPr>
          <p:cNvPr id="25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58"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u="sng">
                <a:uFillTx/>
                <a:latin typeface="Arial"/>
              </a:rPr>
              <a:t>Characteristics of an Outstanding Design</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following are some features for design of an outstanding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Design must be simple</a:t>
            </a:r>
            <a:r>
              <a:rPr b="0" lang="en-IN" sz="2200" spc="-1" strike="noStrike">
                <a:latin typeface="Arial"/>
              </a:rPr>
              <a:t> — Simplicity makes it difficult to err. To make the work simpler for those using the facility, all cables, circuit breakers, servers, storage devices, network ports, and power outlets must be labelled.</a:t>
            </a:r>
            <a:endParaRPr b="0" lang="en-IN" sz="2200" spc="-1" strike="noStrike">
              <a:latin typeface="Arial"/>
            </a:endParaRPr>
          </a:p>
          <a:p>
            <a:pPr>
              <a:lnSpc>
                <a:spcPct val="100000"/>
              </a:lnSpc>
            </a:pPr>
            <a:r>
              <a:rPr b="1" lang="en-IN" sz="2200" spc="-1" strike="noStrike">
                <a:latin typeface="Arial"/>
              </a:rPr>
              <a:t>Design must be scalable</a:t>
            </a:r>
            <a:r>
              <a:rPr b="0" lang="en-IN" sz="2200" spc="-1" strike="noStrike">
                <a:latin typeface="Arial"/>
              </a:rPr>
              <a:t> — The design, once finalized, must work for any size of data center — 50,000, 5,000, or even 500 square feet.</a:t>
            </a:r>
            <a:endParaRPr b="0" lang="en-IN" sz="2200" spc="-1" strike="noStrike">
              <a:latin typeface="Arial"/>
            </a:endParaRPr>
          </a:p>
          <a:p>
            <a:pPr>
              <a:lnSpc>
                <a:spcPct val="100000"/>
              </a:lnSpc>
            </a:pPr>
            <a:r>
              <a:rPr b="1" lang="en-IN" sz="2200" spc="-1" strike="noStrike">
                <a:latin typeface="Arial"/>
              </a:rPr>
              <a:t>Design must be modular</a:t>
            </a:r>
            <a:r>
              <a:rPr b="0" lang="en-IN" sz="2200" spc="-1" strike="noStrike">
                <a:latin typeface="Arial"/>
              </a:rPr>
              <a:t> —Data centers must also be constructed with small building blocks that can further be divided into smaller blocks for higher granularity.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Rectangle 5_32"/>
          <p:cNvSpPr/>
          <p:nvPr/>
        </p:nvSpPr>
        <p:spPr>
          <a:xfrm>
            <a:off x="444600" y="258840"/>
            <a:ext cx="6660000" cy="697320"/>
          </a:xfrm>
          <a:prstGeom prst="rect">
            <a:avLst/>
          </a:prstGeom>
          <a:noFill/>
          <a:ln w="9360">
            <a:noFill/>
          </a:ln>
        </p:spPr>
        <p:style>
          <a:lnRef idx="0"/>
          <a:fillRef idx="0"/>
          <a:effectRef idx="0"/>
          <a:fontRef idx="minor"/>
        </p:style>
      </p:sp>
      <p:sp>
        <p:nvSpPr>
          <p:cNvPr id="260" name="Rectangle 6_33"/>
          <p:cNvSpPr/>
          <p:nvPr/>
        </p:nvSpPr>
        <p:spPr>
          <a:xfrm>
            <a:off x="628560" y="1328760"/>
            <a:ext cx="7885800" cy="4748760"/>
          </a:xfrm>
          <a:prstGeom prst="rect">
            <a:avLst/>
          </a:prstGeom>
          <a:noFill/>
          <a:ln w="9360">
            <a:noFill/>
          </a:ln>
        </p:spPr>
        <p:style>
          <a:lnRef idx="0"/>
          <a:fillRef idx="0"/>
          <a:effectRef idx="0"/>
          <a:fontRef idx="minor"/>
        </p:style>
      </p:sp>
      <p:sp>
        <p:nvSpPr>
          <p:cNvPr id="261"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6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Design must be flexible</a:t>
            </a:r>
            <a:r>
              <a:rPr b="0" lang="en-IN" sz="2200" spc="-1" strike="noStrike">
                <a:latin typeface="Arial"/>
              </a:rPr>
              <a:t> — It is impossible to predict the technical requirements for the data center 10 (or even more) years out. To build a successful data center for long-term use, it must be easy to upgrade and to change layout or components.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Guidelines for Planning a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Following is a list of the key guidelines for design, construction, and deployment of a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Plan in advance</a:t>
            </a:r>
            <a:r>
              <a:rPr b="0" lang="en-IN" sz="2200" spc="-1" strike="noStrike">
                <a:latin typeface="Arial"/>
              </a:rPr>
              <a:t> — The sooner you start planning, the quicker you will discover potential problems and have time to think of and implement solutions.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Plan for the worst</a:t>
            </a:r>
            <a:r>
              <a:rPr b="0" lang="en-IN" sz="2200" spc="-1" strike="noStrike">
                <a:latin typeface="Arial"/>
              </a:rPr>
              <a:t> — At least you will have thought of solutions to any impending problems.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Rectangle 5_33"/>
          <p:cNvSpPr/>
          <p:nvPr/>
        </p:nvSpPr>
        <p:spPr>
          <a:xfrm>
            <a:off x="444600" y="258840"/>
            <a:ext cx="6660000" cy="697320"/>
          </a:xfrm>
          <a:prstGeom prst="rect">
            <a:avLst/>
          </a:prstGeom>
          <a:noFill/>
          <a:ln w="9360">
            <a:noFill/>
          </a:ln>
        </p:spPr>
        <p:style>
          <a:lnRef idx="0"/>
          <a:fillRef idx="0"/>
          <a:effectRef idx="0"/>
          <a:fontRef idx="minor"/>
        </p:style>
      </p:sp>
      <p:sp>
        <p:nvSpPr>
          <p:cNvPr id="264" name="Rectangle 6_34"/>
          <p:cNvSpPr/>
          <p:nvPr/>
        </p:nvSpPr>
        <p:spPr>
          <a:xfrm>
            <a:off x="628560" y="1328760"/>
            <a:ext cx="7885800" cy="4748760"/>
          </a:xfrm>
          <a:prstGeom prst="rect">
            <a:avLst/>
          </a:prstGeom>
          <a:noFill/>
          <a:ln w="9360">
            <a:noFill/>
          </a:ln>
        </p:spPr>
        <p:style>
          <a:lnRef idx="0"/>
          <a:fillRef idx="0"/>
          <a:effectRef idx="0"/>
          <a:fontRef idx="minor"/>
        </p:style>
      </p:sp>
      <p:sp>
        <p:nvSpPr>
          <p:cNvPr id="265"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66" name=""/>
          <p:cNvSpPr/>
          <p:nvPr/>
        </p:nvSpPr>
        <p:spPr>
          <a:xfrm>
            <a:off x="720000" y="1375200"/>
            <a:ext cx="8099640" cy="5402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Plan for growth</a:t>
            </a:r>
            <a:r>
              <a:rPr b="0" lang="en-IN" sz="2200" spc="-1" strike="noStrike">
                <a:latin typeface="Arial"/>
              </a:rPr>
              <a:t> — The data center most probably will be in use longer than originally planned. Relocation is cumbersome and companies do not relocate unless absolutely necessary.</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Simplify your design</a:t>
            </a:r>
            <a:r>
              <a:rPr b="0" lang="en-IN" sz="2200" spc="-1" strike="noStrike">
                <a:latin typeface="Arial"/>
              </a:rPr>
              <a:t> — If it is complicated, changes will take more time and money and cause financial losses and emotional upheaval.</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Plan for changes</a:t>
            </a:r>
            <a:r>
              <a:rPr b="0" lang="en-IN" sz="2200" spc="-1" strike="noStrike">
                <a:latin typeface="Arial"/>
              </a:rPr>
              <a:t> — Design must be modular and flexible to accommodate changes and growth.</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Label all equipment, especially cables and ports</a:t>
            </a:r>
            <a:r>
              <a:rPr b="0" lang="en-IN" sz="2200" spc="-1" strike="noStrike">
                <a:latin typeface="Arial"/>
              </a:rPr>
              <a:t> — Maintenance and adding servers or devices will take less time. More importantly, they will be less likely to create unwarranted problems.</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Rectangle 5_34"/>
          <p:cNvSpPr/>
          <p:nvPr/>
        </p:nvSpPr>
        <p:spPr>
          <a:xfrm>
            <a:off x="444600" y="258840"/>
            <a:ext cx="6660000" cy="697320"/>
          </a:xfrm>
          <a:prstGeom prst="rect">
            <a:avLst/>
          </a:prstGeom>
          <a:noFill/>
          <a:ln w="9360">
            <a:noFill/>
          </a:ln>
        </p:spPr>
        <p:style>
          <a:lnRef idx="0"/>
          <a:fillRef idx="0"/>
          <a:effectRef idx="0"/>
          <a:fontRef idx="minor"/>
        </p:style>
      </p:sp>
      <p:sp>
        <p:nvSpPr>
          <p:cNvPr id="268" name="Rectangle 6_35"/>
          <p:cNvSpPr/>
          <p:nvPr/>
        </p:nvSpPr>
        <p:spPr>
          <a:xfrm>
            <a:off x="628560" y="1328760"/>
            <a:ext cx="7885800" cy="4748760"/>
          </a:xfrm>
          <a:prstGeom prst="rect">
            <a:avLst/>
          </a:prstGeom>
          <a:noFill/>
          <a:ln w="9360">
            <a:noFill/>
          </a:ln>
        </p:spPr>
        <p:style>
          <a:lnRef idx="0"/>
          <a:fillRef idx="0"/>
          <a:effectRef idx="0"/>
          <a:fontRef idx="minor"/>
        </p:style>
      </p:sp>
      <p:sp>
        <p:nvSpPr>
          <p:cNvPr id="26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7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u="sng">
                <a:uFillTx/>
                <a:latin typeface="Arial"/>
              </a:rPr>
              <a:t>Data Center Structures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No-Raised</a:t>
            </a:r>
            <a:r>
              <a:rPr b="0" lang="en-IN" sz="2200" spc="-1" strike="noStrike">
                <a:latin typeface="Arial"/>
              </a:rPr>
              <a:t> </a:t>
            </a:r>
            <a:r>
              <a:rPr b="1" lang="en-IN" sz="2200" spc="-1" strike="noStrike">
                <a:latin typeface="Arial"/>
              </a:rPr>
              <a:t>Floor</a:t>
            </a:r>
            <a:endParaRPr b="0" lang="en-IN" sz="2200" spc="-1" strike="noStrike">
              <a:latin typeface="Arial"/>
            </a:endParaRPr>
          </a:p>
          <a:p>
            <a:pPr>
              <a:lnSpc>
                <a:spcPct val="100000"/>
              </a:lnSpc>
            </a:pPr>
            <a:r>
              <a:rPr b="0" lang="en-IN" sz="2200" spc="-1" strike="noStrike">
                <a:latin typeface="Arial"/>
              </a:rPr>
              <a:t>No-raised floors are common in ISP and co-location (CoLo) data centers that have cages for different customers. These have no subfloor space for cables or air conditioning, but they have certain advantages. The wire-fenced cages go from floor to ceiling and each cage is rented to a customer. </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pic>
        <p:nvPicPr>
          <p:cNvPr id="271" name="" descr=""/>
          <p:cNvPicPr/>
          <p:nvPr/>
        </p:nvPicPr>
        <p:blipFill>
          <a:blip r:embed="rId1"/>
          <a:stretch/>
        </p:blipFill>
        <p:spPr>
          <a:xfrm>
            <a:off x="770760" y="4140000"/>
            <a:ext cx="7743600" cy="259236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Rectangle 5_36"/>
          <p:cNvSpPr/>
          <p:nvPr/>
        </p:nvSpPr>
        <p:spPr>
          <a:xfrm>
            <a:off x="444600" y="258840"/>
            <a:ext cx="6660000" cy="697320"/>
          </a:xfrm>
          <a:prstGeom prst="rect">
            <a:avLst/>
          </a:prstGeom>
          <a:noFill/>
          <a:ln w="9360">
            <a:noFill/>
          </a:ln>
        </p:spPr>
        <p:style>
          <a:lnRef idx="0"/>
          <a:fillRef idx="0"/>
          <a:effectRef idx="0"/>
          <a:fontRef idx="minor"/>
        </p:style>
      </p:sp>
      <p:sp>
        <p:nvSpPr>
          <p:cNvPr id="273" name="Rectangle 6_37"/>
          <p:cNvSpPr/>
          <p:nvPr/>
        </p:nvSpPr>
        <p:spPr>
          <a:xfrm>
            <a:off x="628560" y="1328760"/>
            <a:ext cx="7885800" cy="4748760"/>
          </a:xfrm>
          <a:prstGeom prst="rect">
            <a:avLst/>
          </a:prstGeom>
          <a:noFill/>
          <a:ln w="9360">
            <a:noFill/>
          </a:ln>
        </p:spPr>
        <p:style>
          <a:lnRef idx="0"/>
          <a:fillRef idx="0"/>
          <a:effectRef idx="0"/>
          <a:fontRef idx="minor"/>
        </p:style>
      </p:sp>
      <p:sp>
        <p:nvSpPr>
          <p:cNvPr id="274"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75"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Raised Floor </a:t>
            </a:r>
            <a:endParaRPr b="0" lang="en-IN" sz="2200" spc="-1" strike="noStrike">
              <a:latin typeface="Arial"/>
            </a:endParaRPr>
          </a:p>
          <a:p>
            <a:pPr>
              <a:lnSpc>
                <a:spcPct val="100000"/>
              </a:lnSpc>
            </a:pPr>
            <a:r>
              <a:rPr b="0" lang="en-IN" sz="2200" spc="-1" strike="noStrike">
                <a:latin typeface="Arial"/>
              </a:rPr>
              <a:t>A raised floor has about 2 feet of space (called plenum) below the tiles. The space provides a good mechanism for network cabling, power distribution,and air conditioning. All cables are neatly arranged along wireways and cable trays in the subfloor plenum. For these advantages, a number of modern ISP</a:t>
            </a:r>
            <a:endParaRPr b="0" lang="en-IN" sz="2200" spc="-1" strike="noStrike">
              <a:latin typeface="Arial"/>
            </a:endParaRPr>
          </a:p>
          <a:p>
            <a:pPr>
              <a:lnSpc>
                <a:spcPct val="100000"/>
              </a:lnSpc>
            </a:pPr>
            <a:r>
              <a:rPr b="0" lang="en-IN" sz="2200" spc="-1" strike="noStrike">
                <a:latin typeface="Arial"/>
              </a:rPr>
              <a:t>and CoLo data centers have raised floors.</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pic>
        <p:nvPicPr>
          <p:cNvPr id="276" name="" descr=""/>
          <p:cNvPicPr/>
          <p:nvPr/>
        </p:nvPicPr>
        <p:blipFill>
          <a:blip r:embed="rId1"/>
          <a:stretch/>
        </p:blipFill>
        <p:spPr>
          <a:xfrm>
            <a:off x="1800000" y="4150800"/>
            <a:ext cx="5940000" cy="250920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Rectangle 5_37"/>
          <p:cNvSpPr/>
          <p:nvPr/>
        </p:nvSpPr>
        <p:spPr>
          <a:xfrm>
            <a:off x="444600" y="258840"/>
            <a:ext cx="6660000" cy="697320"/>
          </a:xfrm>
          <a:prstGeom prst="rect">
            <a:avLst/>
          </a:prstGeom>
          <a:noFill/>
          <a:ln w="9360">
            <a:noFill/>
          </a:ln>
        </p:spPr>
        <p:style>
          <a:lnRef idx="0"/>
          <a:fillRef idx="0"/>
          <a:effectRef idx="0"/>
          <a:fontRef idx="minor"/>
        </p:style>
      </p:sp>
      <p:sp>
        <p:nvSpPr>
          <p:cNvPr id="278" name="Rectangle 6_38"/>
          <p:cNvSpPr/>
          <p:nvPr/>
        </p:nvSpPr>
        <p:spPr>
          <a:xfrm>
            <a:off x="628560" y="1328760"/>
            <a:ext cx="7885800" cy="4748760"/>
          </a:xfrm>
          <a:prstGeom prst="rect">
            <a:avLst/>
          </a:prstGeom>
          <a:noFill/>
          <a:ln w="9360">
            <a:noFill/>
          </a:ln>
        </p:spPr>
        <p:style>
          <a:lnRef idx="0"/>
          <a:fillRef idx="0"/>
          <a:effectRef idx="0"/>
          <a:fontRef idx="minor"/>
        </p:style>
      </p:sp>
      <p:sp>
        <p:nvSpPr>
          <p:cNvPr id="279"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8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Aisles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Aisles refer to the space between two rows of racks. Aisles and open spacearound corners and walls must be wide enough for moving racks and large,heavy equipment.</a:t>
            </a:r>
            <a:endParaRPr b="0" lang="en-IN" sz="2200" spc="-1" strike="noStrike">
              <a:latin typeface="Arial"/>
            </a:endParaRPr>
          </a:p>
          <a:p>
            <a:pPr>
              <a:lnSpc>
                <a:spcPct val="100000"/>
              </a:lnSpc>
            </a:pPr>
            <a:r>
              <a:rPr b="0" lang="en-IN" sz="2200" spc="-1" strike="noStrike">
                <a:latin typeface="Arial"/>
              </a:rPr>
              <a:t>There must be enough space to remove and roll out a broken rack and roll in a new rack.</a:t>
            </a:r>
            <a:endParaRPr b="0" lang="en-IN" sz="2200" spc="-1" strike="noStrike">
              <a:latin typeface="Arial"/>
            </a:endParaRPr>
          </a:p>
          <a:p>
            <a:pPr>
              <a:lnSpc>
                <a:spcPct val="100000"/>
              </a:lnSpc>
            </a:pPr>
            <a:r>
              <a:rPr b="0" lang="en-IN" sz="2200" spc="-1" strike="noStrike">
                <a:latin typeface="Arial"/>
              </a:rPr>
              <a:t>Also, a large number of racks should not be placed in a continuous manner. </a:t>
            </a:r>
            <a:endParaRPr b="0" lang="en-IN" sz="2200" spc="-1" strike="noStrike">
              <a:latin typeface="Arial"/>
            </a:endParaRPr>
          </a:p>
          <a:p>
            <a:pPr>
              <a:lnSpc>
                <a:spcPct val="100000"/>
              </a:lnSpc>
            </a:pPr>
            <a:r>
              <a:rPr b="0" lang="en-IN" sz="2200" spc="-1" strike="noStrike">
                <a:latin typeface="Arial"/>
              </a:rPr>
              <a:t>There must be gaps after a set of continuous racks. Long rows of continuous racks make maneuvering from aisle to aisle, as well as from front to back of a rack, a time-consuming process.</a:t>
            </a:r>
            <a:endParaRPr b="0" lang="en-IN" sz="2200" spc="-1" strike="noStrike">
              <a:latin typeface="Arial"/>
            </a:endParaRPr>
          </a:p>
          <a:p>
            <a:pPr>
              <a:lnSpc>
                <a:spcPct val="100000"/>
              </a:lnSpc>
            </a:pPr>
            <a:r>
              <a:rPr b="0" lang="en-IN" sz="2200" spc="-1" strike="noStrike">
                <a:latin typeface="Arial"/>
              </a:rPr>
              <a:t>An optimally populated data center will have slightly more than half its area used by racks and stand-alone equipment.</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Rectangle 5_38"/>
          <p:cNvSpPr/>
          <p:nvPr/>
        </p:nvSpPr>
        <p:spPr>
          <a:xfrm>
            <a:off x="444600" y="258840"/>
            <a:ext cx="6660000" cy="697320"/>
          </a:xfrm>
          <a:prstGeom prst="rect">
            <a:avLst/>
          </a:prstGeom>
          <a:noFill/>
          <a:ln w="9360">
            <a:noFill/>
          </a:ln>
        </p:spPr>
        <p:style>
          <a:lnRef idx="0"/>
          <a:fillRef idx="0"/>
          <a:effectRef idx="0"/>
          <a:fontRef idx="minor"/>
        </p:style>
      </p:sp>
      <p:sp>
        <p:nvSpPr>
          <p:cNvPr id="282" name="Rectangle 6_39"/>
          <p:cNvSpPr/>
          <p:nvPr/>
        </p:nvSpPr>
        <p:spPr>
          <a:xfrm>
            <a:off x="628560" y="1328760"/>
            <a:ext cx="7885800" cy="4748760"/>
          </a:xfrm>
          <a:prstGeom prst="rect">
            <a:avLst/>
          </a:prstGeom>
          <a:noFill/>
          <a:ln w="9360">
            <a:noFill/>
          </a:ln>
        </p:spPr>
        <p:style>
          <a:lnRef idx="0"/>
          <a:fillRef idx="0"/>
          <a:effectRef idx="0"/>
          <a:fontRef idx="minor"/>
        </p:style>
      </p:sp>
      <p:sp>
        <p:nvSpPr>
          <p:cNvPr id="283"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8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Ramp</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Constructing a ramp is the most common and practical way to get equipment in or out of a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ramp must support the weight of the equipment,people, and mechanical devices used to lift the equipment.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Ramps that must support heavy weight are made of</a:t>
            </a:r>
            <a:endParaRPr b="0" lang="en-IN" sz="2200" spc="-1" strike="noStrike">
              <a:latin typeface="Arial"/>
            </a:endParaRPr>
          </a:p>
          <a:p>
            <a:pPr>
              <a:lnSpc>
                <a:spcPct val="100000"/>
              </a:lnSpc>
            </a:pPr>
            <a:r>
              <a:rPr b="0" lang="en-IN" sz="2200" spc="-1" strike="noStrike">
                <a:latin typeface="Arial"/>
              </a:rPr>
              <a:t>poured concrete.</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gradient or slope of ramps must be gradual.</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Rectangle 5_35"/>
          <p:cNvSpPr/>
          <p:nvPr/>
        </p:nvSpPr>
        <p:spPr>
          <a:xfrm>
            <a:off x="444600" y="258840"/>
            <a:ext cx="6660000" cy="697320"/>
          </a:xfrm>
          <a:prstGeom prst="rect">
            <a:avLst/>
          </a:prstGeom>
          <a:noFill/>
          <a:ln w="9360">
            <a:noFill/>
          </a:ln>
        </p:spPr>
        <p:style>
          <a:lnRef idx="0"/>
          <a:fillRef idx="0"/>
          <a:effectRef idx="0"/>
          <a:fontRef idx="minor"/>
        </p:style>
      </p:sp>
      <p:sp>
        <p:nvSpPr>
          <p:cNvPr id="286" name="Rectangle 6_36"/>
          <p:cNvSpPr/>
          <p:nvPr/>
        </p:nvSpPr>
        <p:spPr>
          <a:xfrm>
            <a:off x="616680" y="1222920"/>
            <a:ext cx="8383320" cy="5977080"/>
          </a:xfrm>
          <a:prstGeom prst="rect">
            <a:avLst/>
          </a:prstGeom>
          <a:noFill/>
          <a:ln w="9360">
            <a:noFill/>
          </a:ln>
        </p:spPr>
        <p:style>
          <a:lnRef idx="0"/>
          <a:fillRef idx="0"/>
          <a:effectRef idx="0"/>
          <a:fontRef idx="minor"/>
        </p:style>
      </p:sp>
      <p:sp>
        <p:nvSpPr>
          <p:cNvPr id="287" name=""/>
          <p:cNvSpPr/>
          <p:nvPr/>
        </p:nvSpPr>
        <p:spPr>
          <a:xfrm>
            <a:off x="540000" y="517320"/>
            <a:ext cx="43578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88" name=""/>
          <p:cNvSpPr/>
          <p:nvPr/>
        </p:nvSpPr>
        <p:spPr>
          <a:xfrm>
            <a:off x="336600" y="1234080"/>
            <a:ext cx="845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Raised Floor Design and Deployment</a:t>
            </a:r>
            <a:endParaRPr b="0" lang="en-IN" sz="2200" spc="-1" strike="noStrike">
              <a:latin typeface="Arial"/>
            </a:endParaRPr>
          </a:p>
          <a:p>
            <a:pPr>
              <a:lnSpc>
                <a:spcPct val="100000"/>
              </a:lnSpc>
            </a:pPr>
            <a:r>
              <a:rPr b="0" lang="en-IN" sz="2200" spc="-1" strike="noStrike">
                <a:latin typeface="Arial"/>
              </a:rPr>
              <a:t>A raised floor is constructed on a grounded framework of vertical pedestals and stretchers that support floor tiles (2 feet × 2 feet in size). The space below the tiles is called the plenum. </a:t>
            </a:r>
            <a:endParaRPr b="0" lang="en-IN" sz="2200" spc="-1" strike="noStrike">
              <a:latin typeface="Arial"/>
            </a:endParaRPr>
          </a:p>
          <a:p>
            <a:pPr>
              <a:lnSpc>
                <a:spcPct val="100000"/>
              </a:lnSpc>
            </a:pPr>
            <a:r>
              <a:rPr b="1" lang="en-IN" sz="2200" spc="-1" strike="noStrike">
                <a:latin typeface="Arial"/>
              </a:rPr>
              <a:t>The raised floor provides for the following:</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A place for the equipment to sit. The tiles must be strong enough to support the weight of the equipment.</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Grounding for the equipment.</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A means to channel cold air from the HVAC units throughout the plenum in an optimal manner and direct it up to the data center to cool the equipment.</a:t>
            </a:r>
            <a:endParaRPr b="0" lang="en-IN" sz="2200" spc="-1" strike="noStrike">
              <a:latin typeface="Arial"/>
            </a:endParaRPr>
          </a:p>
          <a:p>
            <a:pPr>
              <a:lnSpc>
                <a:spcPct val="100000"/>
              </a:lnSpc>
            </a:pPr>
            <a:r>
              <a:rPr b="0" lang="en-IN" sz="2200" spc="-1" strike="noStrike">
                <a:latin typeface="Arial"/>
              </a:rPr>
              <a:t>■ </a:t>
            </a:r>
            <a:r>
              <a:rPr b="0" lang="en-IN" sz="2200" spc="-1" strike="noStrike">
                <a:latin typeface="Arial"/>
              </a:rPr>
              <a:t>A place to route network cables and power outlets and cables for equipment on the tiles. Since they are under the floor tiles, the data center looks less congested. The cables are also safe from being accidentally unplugged or kicked around by data-center people.</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Rectangle 5_27"/>
          <p:cNvSpPr/>
          <p:nvPr/>
        </p:nvSpPr>
        <p:spPr>
          <a:xfrm>
            <a:off x="444600" y="258840"/>
            <a:ext cx="6660000" cy="697320"/>
          </a:xfrm>
          <a:prstGeom prst="rect">
            <a:avLst/>
          </a:prstGeom>
          <a:noFill/>
          <a:ln w="9360">
            <a:noFill/>
          </a:ln>
        </p:spPr>
        <p:style>
          <a:lnRef idx="0"/>
          <a:fillRef idx="0"/>
          <a:effectRef idx="0"/>
          <a:fontRef idx="minor"/>
        </p:style>
      </p:sp>
      <p:sp>
        <p:nvSpPr>
          <p:cNvPr id="290" name="Rectangle 6_28"/>
          <p:cNvSpPr/>
          <p:nvPr/>
        </p:nvSpPr>
        <p:spPr>
          <a:xfrm>
            <a:off x="628560" y="1328760"/>
            <a:ext cx="7885800" cy="4748760"/>
          </a:xfrm>
          <a:prstGeom prst="rect">
            <a:avLst/>
          </a:prstGeom>
          <a:noFill/>
          <a:ln w="9360">
            <a:noFill/>
          </a:ln>
        </p:spPr>
        <p:style>
          <a:lnRef idx="0"/>
          <a:fillRef idx="0"/>
          <a:effectRef idx="0"/>
          <a:fontRef idx="minor"/>
        </p:style>
      </p:sp>
      <p:sp>
        <p:nvSpPr>
          <p:cNvPr id="291" name=""/>
          <p:cNvSpPr/>
          <p:nvPr/>
        </p:nvSpPr>
        <p:spPr>
          <a:xfrm>
            <a:off x="540000" y="517320"/>
            <a:ext cx="468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9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Plenum</a:t>
            </a:r>
            <a:endParaRPr b="0" lang="en-IN" sz="2200" spc="-1" strike="noStrike">
              <a:latin typeface="Arial"/>
            </a:endParaRPr>
          </a:p>
          <a:p>
            <a:pPr>
              <a:lnSpc>
                <a:spcPct val="100000"/>
              </a:lnSpc>
            </a:pPr>
            <a:r>
              <a:rPr b="0" lang="en-IN" sz="2200" spc="-1" strike="noStrike">
                <a:latin typeface="Arial"/>
              </a:rPr>
              <a:t>It is the space between the data center subfloor and the floor tiles and is usually between 11⁄2 to 2 feet in height.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HVAC must be capable of pressurizing the plenum.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open structure in the plenum contains a floor grid system (pedestals and stringers) that must be strong enough to support the tiles and maximum expected weight on the tiles (such as equipment-filled racks), HVAC units, dollies, forklifts, and people in the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plenum contains the power outlets and network cables for equipment in the racks.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Rectangle 5_39"/>
          <p:cNvSpPr/>
          <p:nvPr/>
        </p:nvSpPr>
        <p:spPr>
          <a:xfrm>
            <a:off x="444600" y="258840"/>
            <a:ext cx="6660000" cy="697320"/>
          </a:xfrm>
          <a:prstGeom prst="rect">
            <a:avLst/>
          </a:prstGeom>
          <a:noFill/>
          <a:ln w="9360">
            <a:noFill/>
          </a:ln>
        </p:spPr>
        <p:style>
          <a:lnRef idx="0"/>
          <a:fillRef idx="0"/>
          <a:effectRef idx="0"/>
          <a:fontRef idx="minor"/>
        </p:style>
      </p:sp>
      <p:sp>
        <p:nvSpPr>
          <p:cNvPr id="294" name="Rectangle 6_40"/>
          <p:cNvSpPr/>
          <p:nvPr/>
        </p:nvSpPr>
        <p:spPr>
          <a:xfrm>
            <a:off x="628560" y="1328760"/>
            <a:ext cx="7885800" cy="4748760"/>
          </a:xfrm>
          <a:prstGeom prst="rect">
            <a:avLst/>
          </a:prstGeom>
          <a:noFill/>
          <a:ln w="9360">
            <a:noFill/>
          </a:ln>
        </p:spPr>
        <p:style>
          <a:lnRef idx="0"/>
          <a:fillRef idx="0"/>
          <a:effectRef idx="0"/>
          <a:fontRef idx="minor"/>
        </p:style>
      </p:sp>
      <p:sp>
        <p:nvSpPr>
          <p:cNvPr id="295" name=""/>
          <p:cNvSpPr/>
          <p:nvPr/>
        </p:nvSpPr>
        <p:spPr>
          <a:xfrm>
            <a:off x="540000" y="517320"/>
            <a:ext cx="522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29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Floor Tiles</a:t>
            </a:r>
            <a:endParaRPr b="0" lang="en-IN" sz="2200" spc="-1" strike="noStrike">
              <a:latin typeface="Arial"/>
            </a:endParaRPr>
          </a:p>
          <a:p>
            <a:pPr>
              <a:lnSpc>
                <a:spcPct val="100000"/>
              </a:lnSpc>
            </a:pPr>
            <a:r>
              <a:rPr b="0" lang="en-IN" sz="2200" spc="-1" strike="noStrike">
                <a:latin typeface="Arial"/>
              </a:rPr>
              <a:t>The raised floor consists of tiles or floor panels that provide a supporting base for the racks and equipment.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They are generally 2-feet squares.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Tiles are usually made of metal such as cast aluminum.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must choose tiles whose maximum load specifications exceed your requirements.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Cast aluminum tiles can support more load than tiles made of concrete or compressed wood.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Tiles with inadequate strength or ill-fitting size warp or crack under the load and then pose a risk to equipment and people.</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Rectangle 5_40"/>
          <p:cNvSpPr/>
          <p:nvPr/>
        </p:nvSpPr>
        <p:spPr>
          <a:xfrm>
            <a:off x="444600" y="258840"/>
            <a:ext cx="6660000" cy="697320"/>
          </a:xfrm>
          <a:prstGeom prst="rect">
            <a:avLst/>
          </a:prstGeom>
          <a:noFill/>
          <a:ln w="9360">
            <a:noFill/>
          </a:ln>
        </p:spPr>
        <p:style>
          <a:lnRef idx="0"/>
          <a:fillRef idx="0"/>
          <a:effectRef idx="0"/>
          <a:fontRef idx="minor"/>
        </p:style>
      </p:sp>
      <p:sp>
        <p:nvSpPr>
          <p:cNvPr id="298" name="Rectangle 6_41"/>
          <p:cNvSpPr/>
          <p:nvPr/>
        </p:nvSpPr>
        <p:spPr>
          <a:xfrm>
            <a:off x="628560" y="1328760"/>
            <a:ext cx="7885800" cy="4748760"/>
          </a:xfrm>
          <a:prstGeom prst="rect">
            <a:avLst/>
          </a:prstGeom>
          <a:noFill/>
          <a:ln w="9360">
            <a:noFill/>
          </a:ln>
        </p:spPr>
        <p:style>
          <a:lnRef idx="0"/>
          <a:fillRef idx="0"/>
          <a:effectRef idx="0"/>
          <a:fontRef idx="minor"/>
        </p:style>
      </p:sp>
      <p:sp>
        <p:nvSpPr>
          <p:cNvPr id="299" name=""/>
          <p:cNvSpPr/>
          <p:nvPr/>
        </p:nvSpPr>
        <p:spPr>
          <a:xfrm>
            <a:off x="540000" y="517320"/>
            <a:ext cx="468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0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Tiles can be solid (that is, with no holes) or perforated (with holes for cold air to enter the data center).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Tiles provide a great deal of flexibility in controlling air-flow patterns between the plenum and equipment.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Solid tiles redirect air flow and help preserve pressure in the plenum or subfloor.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Perforated tiles are used next to equipment racks and below bottom-cooled heavy equipment to redirect some cold air into the room or directly to equipment racks.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Sometimes it is necessary to cut and modify tiles to accommodate odd shapes of the room, edges of the floor, and around columns. </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Rectangle 5_41"/>
          <p:cNvSpPr/>
          <p:nvPr/>
        </p:nvSpPr>
        <p:spPr>
          <a:xfrm>
            <a:off x="444600" y="258840"/>
            <a:ext cx="6660000" cy="697320"/>
          </a:xfrm>
          <a:prstGeom prst="rect">
            <a:avLst/>
          </a:prstGeom>
          <a:noFill/>
          <a:ln w="9360">
            <a:noFill/>
          </a:ln>
        </p:spPr>
        <p:style>
          <a:lnRef idx="0"/>
          <a:fillRef idx="0"/>
          <a:effectRef idx="0"/>
          <a:fontRef idx="minor"/>
        </p:style>
      </p:sp>
      <p:sp>
        <p:nvSpPr>
          <p:cNvPr id="302" name="Rectangle 6_42"/>
          <p:cNvSpPr/>
          <p:nvPr/>
        </p:nvSpPr>
        <p:spPr>
          <a:xfrm>
            <a:off x="628560" y="1328760"/>
            <a:ext cx="7885800" cy="4748760"/>
          </a:xfrm>
          <a:prstGeom prst="rect">
            <a:avLst/>
          </a:prstGeom>
          <a:noFill/>
          <a:ln w="9360">
            <a:noFill/>
          </a:ln>
        </p:spPr>
        <p:style>
          <a:lnRef idx="0"/>
          <a:fillRef idx="0"/>
          <a:effectRef idx="0"/>
          <a:fontRef idx="minor"/>
        </p:style>
      </p:sp>
      <p:sp>
        <p:nvSpPr>
          <p:cNvPr id="303"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0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 exposed cut edges of the tiles must be capped with protective trims to avoid particles entering the air stream.</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Exposed edges can damage cables and injure people lifting and repositioning tiles in their slots.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Equipment Weight and Tile Strength</a:t>
            </a:r>
            <a:endParaRPr b="0" lang="en-IN" sz="2200" spc="-1" strike="noStrike">
              <a:latin typeface="Arial"/>
            </a:endParaRPr>
          </a:p>
          <a:p>
            <a:pPr>
              <a:lnSpc>
                <a:spcPct val="100000"/>
              </a:lnSpc>
            </a:pPr>
            <a:r>
              <a:rPr b="0" lang="en-IN" sz="2200" spc="-1" strike="noStrike">
                <a:latin typeface="Arial"/>
              </a:rPr>
              <a:t>One of the central issues impacting data center design is the weight, power, and cooling requirements of the equipment located therein.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First, it is important to assess the present and future load on the raised floor.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Once the data center is functional, changing the raised floor is close to impossible and rarely done in practice.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Rectangle 5_42"/>
          <p:cNvSpPr/>
          <p:nvPr/>
        </p:nvSpPr>
        <p:spPr>
          <a:xfrm>
            <a:off x="444600" y="258840"/>
            <a:ext cx="6660000" cy="697320"/>
          </a:xfrm>
          <a:prstGeom prst="rect">
            <a:avLst/>
          </a:prstGeom>
          <a:noFill/>
          <a:ln w="9360">
            <a:noFill/>
          </a:ln>
        </p:spPr>
        <p:style>
          <a:lnRef idx="0"/>
          <a:fillRef idx="0"/>
          <a:effectRef idx="0"/>
          <a:fontRef idx="minor"/>
        </p:style>
      </p:sp>
      <p:sp>
        <p:nvSpPr>
          <p:cNvPr id="306" name="Rectangle 6_43"/>
          <p:cNvSpPr/>
          <p:nvPr/>
        </p:nvSpPr>
        <p:spPr>
          <a:xfrm>
            <a:off x="628560" y="1328760"/>
            <a:ext cx="7885800" cy="4748760"/>
          </a:xfrm>
          <a:prstGeom prst="rect">
            <a:avLst/>
          </a:prstGeom>
          <a:noFill/>
          <a:ln w="9360">
            <a:noFill/>
          </a:ln>
        </p:spPr>
        <p:style>
          <a:lnRef idx="0"/>
          <a:fillRef idx="0"/>
          <a:effectRef idx="0"/>
          <a:fontRef idx="minor"/>
        </p:style>
      </p:sp>
      <p:sp>
        <p:nvSpPr>
          <p:cNvPr id="307" name=""/>
          <p:cNvSpPr/>
          <p:nvPr/>
        </p:nvSpPr>
        <p:spPr>
          <a:xfrm>
            <a:off x="540000" y="517320"/>
            <a:ext cx="468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0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It is an arduous and expensive task in terms of both time and money. </a:t>
            </a:r>
            <a:endParaRPr b="0" lang="en-IN" sz="2200" spc="-1" strike="noStrike">
              <a:latin typeface="Arial"/>
            </a:endParaRPr>
          </a:p>
          <a:p>
            <a:pPr>
              <a:lnSpc>
                <a:spcPct val="100000"/>
              </a:lnSpc>
            </a:pPr>
            <a:r>
              <a:rPr b="0" lang="en-IN" sz="2200" spc="-1" strike="noStrike">
                <a:latin typeface="Arial"/>
              </a:rPr>
              <a:t>Knowing the approximate weight of equipment is a</a:t>
            </a:r>
            <a:endParaRPr b="0" lang="en-IN" sz="2200" spc="-1" strike="noStrike">
              <a:latin typeface="Arial"/>
            </a:endParaRPr>
          </a:p>
          <a:p>
            <a:pPr>
              <a:lnSpc>
                <a:spcPct val="100000"/>
              </a:lnSpc>
            </a:pPr>
            <a:r>
              <a:rPr b="1" lang="en-IN" sz="2200" spc="-1" strike="noStrike">
                <a:latin typeface="Arial"/>
              </a:rPr>
              <a:t>prerequisite to a good design.</a:t>
            </a:r>
            <a:endParaRPr b="0" lang="en-IN" sz="2200" spc="-1" strike="noStrike">
              <a:latin typeface="Arial"/>
            </a:endParaRPr>
          </a:p>
          <a:p>
            <a:pPr>
              <a:lnSpc>
                <a:spcPct val="100000"/>
              </a:lnSpc>
            </a:pPr>
            <a:r>
              <a:rPr b="0" lang="en-IN" sz="2200" spc="-1" strike="noStrike">
                <a:latin typeface="Arial"/>
              </a:rPr>
              <a:t>There are two types of load:</a:t>
            </a:r>
            <a:endParaRPr b="0" lang="en-IN" sz="2200" spc="-1" strike="noStrike">
              <a:latin typeface="Arial"/>
            </a:endParaRPr>
          </a:p>
          <a:p>
            <a:pPr>
              <a:lnSpc>
                <a:spcPct val="100000"/>
              </a:lnSpc>
            </a:pPr>
            <a:r>
              <a:rPr b="0" lang="en-IN" sz="2200" spc="-1" strike="noStrike">
                <a:latin typeface="Arial"/>
              </a:rPr>
              <a:t>■</a:t>
            </a:r>
            <a:r>
              <a:rPr b="0" lang="en-IN" sz="2200" spc="-1" strike="noStrike">
                <a:latin typeface="Arial"/>
              </a:rPr>
              <a:t>Point load — Most equipment or racks sit on four rollers, casters, or feet. The load on any one of these four feet is called point load. For example, a server weighing 2,600 kg has a point load of 650 kg on each of its feet. If its feet rest on 1 square inch, the tile must be capable of bearing 650 kg on 1 square inch without deflection of more than 1 or 2 mm.</a:t>
            </a:r>
            <a:endParaRPr b="0" lang="en-IN" sz="2200" spc="-1" strike="noStrike">
              <a:latin typeface="Arial"/>
            </a:endParaRPr>
          </a:p>
          <a:p>
            <a:pPr>
              <a:lnSpc>
                <a:spcPct val="100000"/>
              </a:lnSpc>
            </a:pPr>
            <a:r>
              <a:rPr b="0" lang="en-IN" sz="2200" spc="-1" strike="noStrike">
                <a:latin typeface="Arial"/>
              </a:rPr>
              <a:t>■</a:t>
            </a:r>
            <a:r>
              <a:rPr b="0" lang="en-IN" sz="2200" spc="-1" strike="noStrike">
                <a:latin typeface="Arial"/>
              </a:rPr>
              <a:t>Static load — The sum of all point loads on the tile. If each of two racks (or stand-alone equipment) with point loads of 700 kg per feet have one foot on a particular tile, that tile will be subjected to a total of 1,400 kg. The tile must therefore be rated for 1,400 kg of static load.</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Rectangle 5_43"/>
          <p:cNvSpPr/>
          <p:nvPr/>
        </p:nvSpPr>
        <p:spPr>
          <a:xfrm>
            <a:off x="444600" y="258840"/>
            <a:ext cx="6660000" cy="697320"/>
          </a:xfrm>
          <a:prstGeom prst="rect">
            <a:avLst/>
          </a:prstGeom>
          <a:noFill/>
          <a:ln w="9360">
            <a:noFill/>
          </a:ln>
        </p:spPr>
        <p:style>
          <a:lnRef idx="0"/>
          <a:fillRef idx="0"/>
          <a:effectRef idx="0"/>
          <a:fontRef idx="minor"/>
        </p:style>
      </p:sp>
      <p:sp>
        <p:nvSpPr>
          <p:cNvPr id="310" name="Rectangle 6_44"/>
          <p:cNvSpPr/>
          <p:nvPr/>
        </p:nvSpPr>
        <p:spPr>
          <a:xfrm>
            <a:off x="628560" y="1328760"/>
            <a:ext cx="7885800" cy="4748760"/>
          </a:xfrm>
          <a:prstGeom prst="rect">
            <a:avLst/>
          </a:prstGeom>
          <a:noFill/>
          <a:ln w="9360">
            <a:noFill/>
          </a:ln>
        </p:spPr>
        <p:style>
          <a:lnRef idx="0"/>
          <a:fillRef idx="0"/>
          <a:effectRef idx="0"/>
          <a:fontRef idx="minor"/>
        </p:style>
      </p:sp>
      <p:sp>
        <p:nvSpPr>
          <p:cNvPr id="311"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1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Most tiles are made of concrete with a steel shell. Perforations in the concrete weaken the tile.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When equipment is rolled along the aisle, the perforated tiles are temporarily subjected to static load and, therefore, must have adequate static load rating.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Strength of cast aluminum tiles are not undermined by perforations and are, therefore, preferable to concrete tiles.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Electrical Wireways</a:t>
            </a:r>
            <a:endParaRPr b="0" lang="en-IN" sz="2200" spc="-1" strike="noStrike">
              <a:latin typeface="Arial"/>
            </a:endParaRPr>
          </a:p>
          <a:p>
            <a:pPr>
              <a:lnSpc>
                <a:spcPct val="100000"/>
              </a:lnSpc>
            </a:pPr>
            <a:r>
              <a:rPr b="0" lang="en-IN" sz="2200" spc="-1" strike="noStrike">
                <a:latin typeface="Arial"/>
              </a:rPr>
              <a:t>A wireway is a long metal box containing electrical wiring and power outlets for equipment. It is usually located below the tiles. The power cords from servers and devices in the data center are routed through cutouts in the tiles to these power outlets.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Rectangle 5_44"/>
          <p:cNvSpPr/>
          <p:nvPr/>
        </p:nvSpPr>
        <p:spPr>
          <a:xfrm>
            <a:off x="444600" y="258840"/>
            <a:ext cx="6660000" cy="697320"/>
          </a:xfrm>
          <a:prstGeom prst="rect">
            <a:avLst/>
          </a:prstGeom>
          <a:noFill/>
          <a:ln w="9360">
            <a:noFill/>
          </a:ln>
        </p:spPr>
        <p:style>
          <a:lnRef idx="0"/>
          <a:fillRef idx="0"/>
          <a:effectRef idx="0"/>
          <a:fontRef idx="minor"/>
        </p:style>
      </p:sp>
      <p:sp>
        <p:nvSpPr>
          <p:cNvPr id="314" name="Rectangle 6_45"/>
          <p:cNvSpPr/>
          <p:nvPr/>
        </p:nvSpPr>
        <p:spPr>
          <a:xfrm>
            <a:off x="628560" y="1328760"/>
            <a:ext cx="7885800" cy="4748760"/>
          </a:xfrm>
          <a:prstGeom prst="rect">
            <a:avLst/>
          </a:prstGeom>
          <a:noFill/>
          <a:ln w="9360">
            <a:noFill/>
          </a:ln>
        </p:spPr>
        <p:style>
          <a:lnRef idx="0"/>
          <a:fillRef idx="0"/>
          <a:effectRef idx="0"/>
          <a:fontRef idx="minor"/>
        </p:style>
      </p:sp>
      <p:sp>
        <p:nvSpPr>
          <p:cNvPr id="315"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16"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The outlets are, in turn, connected by electrical wiring to circuit breakers and subpanels.</a:t>
            </a:r>
            <a:endParaRPr b="0" lang="en-IN" sz="2200" spc="-1" strike="noStrike">
              <a:latin typeface="Arial"/>
            </a:endParaRPr>
          </a:p>
          <a:p>
            <a:pPr>
              <a:lnSpc>
                <a:spcPct val="100000"/>
              </a:lnSpc>
            </a:pPr>
            <a:r>
              <a:rPr b="0" lang="en-IN" sz="2200" spc="-1" strike="noStrike">
                <a:latin typeface="Arial"/>
              </a:rPr>
              <a:t>Electrical wireways help centralize power distribution to few areas. </a:t>
            </a:r>
            <a:endParaRPr b="0" lang="en-IN" sz="2200" spc="-1" strike="noStrike">
              <a:latin typeface="Arial"/>
            </a:endParaRPr>
          </a:p>
          <a:p>
            <a:pPr>
              <a:lnSpc>
                <a:spcPct val="100000"/>
              </a:lnSpc>
            </a:pPr>
            <a:r>
              <a:rPr b="0" lang="en-IN" sz="2200" spc="-1" strike="noStrike">
                <a:latin typeface="Arial"/>
              </a:rPr>
              <a:t>Additionally they help secure power outlets.</a:t>
            </a:r>
            <a:endParaRPr b="0" lang="en-IN" sz="2200" spc="-1" strike="noStrike">
              <a:latin typeface="Arial"/>
            </a:endParaRPr>
          </a:p>
          <a:p>
            <a:pPr>
              <a:lnSpc>
                <a:spcPct val="100000"/>
              </a:lnSpc>
            </a:pPr>
            <a:r>
              <a:rPr b="0" lang="en-IN" sz="2200" spc="-1" strike="noStrike">
                <a:latin typeface="Arial"/>
              </a:rPr>
              <a:t>The smaller the electrical wireway, the less is its blockage to</a:t>
            </a:r>
            <a:endParaRPr b="0" lang="en-IN" sz="2200" spc="-1" strike="noStrike">
              <a:latin typeface="Arial"/>
            </a:endParaRPr>
          </a:p>
          <a:p>
            <a:pPr>
              <a:lnSpc>
                <a:spcPct val="100000"/>
              </a:lnSpc>
            </a:pPr>
            <a:r>
              <a:rPr b="0" lang="en-IN" sz="2200" spc="-1" strike="noStrike">
                <a:latin typeface="Arial"/>
              </a:rPr>
              <a:t>air flow. But electrical wireways must also meet electrical specifications.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1" lang="en-IN" sz="2200" spc="-1" strike="noStrike">
                <a:latin typeface="Arial"/>
              </a:rPr>
              <a:t>Cable Trays</a:t>
            </a:r>
            <a:endParaRPr b="0" lang="en-IN" sz="2200" spc="-1" strike="noStrike">
              <a:latin typeface="Arial"/>
            </a:endParaRPr>
          </a:p>
          <a:p>
            <a:pPr>
              <a:lnSpc>
                <a:spcPct val="100000"/>
              </a:lnSpc>
            </a:pPr>
            <a:r>
              <a:rPr b="0" lang="en-IN" sz="2200" spc="-1" strike="noStrike">
                <a:latin typeface="Arial"/>
              </a:rPr>
              <a:t>It is common practice to route the power cables from equipment in the data center through cutouts in the tiles to outlets in the under-floor plenum. </a:t>
            </a:r>
            <a:endParaRPr b="0" lang="en-IN" sz="2200" spc="-1" strike="noStrike">
              <a:latin typeface="Arial"/>
            </a:endParaRPr>
          </a:p>
          <a:p>
            <a:pPr>
              <a:lnSpc>
                <a:spcPct val="100000"/>
              </a:lnSpc>
            </a:pPr>
            <a:r>
              <a:rPr b="0" lang="en-IN" sz="2200" spc="-1" strike="noStrike">
                <a:latin typeface="Arial"/>
              </a:rPr>
              <a:t>A large number of such cables create disarray. </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Rectangle 5_45"/>
          <p:cNvSpPr/>
          <p:nvPr/>
        </p:nvSpPr>
        <p:spPr>
          <a:xfrm>
            <a:off x="444600" y="258840"/>
            <a:ext cx="6660000" cy="697320"/>
          </a:xfrm>
          <a:prstGeom prst="rect">
            <a:avLst/>
          </a:prstGeom>
          <a:noFill/>
          <a:ln w="9360">
            <a:noFill/>
          </a:ln>
        </p:spPr>
        <p:style>
          <a:lnRef idx="0"/>
          <a:fillRef idx="0"/>
          <a:effectRef idx="0"/>
          <a:fontRef idx="minor"/>
        </p:style>
      </p:sp>
      <p:sp>
        <p:nvSpPr>
          <p:cNvPr id="318" name="Rectangle 6_46"/>
          <p:cNvSpPr/>
          <p:nvPr/>
        </p:nvSpPr>
        <p:spPr>
          <a:xfrm>
            <a:off x="628560" y="1328760"/>
            <a:ext cx="7885800" cy="4748760"/>
          </a:xfrm>
          <a:prstGeom prst="rect">
            <a:avLst/>
          </a:prstGeom>
          <a:noFill/>
          <a:ln w="9360">
            <a:noFill/>
          </a:ln>
        </p:spPr>
        <p:style>
          <a:lnRef idx="0"/>
          <a:fillRef idx="0"/>
          <a:effectRef idx="0"/>
          <a:fontRef idx="minor"/>
        </p:style>
      </p:sp>
      <p:sp>
        <p:nvSpPr>
          <p:cNvPr id="319"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20"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It is difficult and time-consuming to trace bad cables. </a:t>
            </a:r>
            <a:endParaRPr b="0" lang="en-IN" sz="2200" spc="-1" strike="noStrike">
              <a:latin typeface="Arial"/>
            </a:endParaRPr>
          </a:p>
          <a:p>
            <a:pPr>
              <a:lnSpc>
                <a:spcPct val="100000"/>
              </a:lnSpc>
            </a:pPr>
            <a:r>
              <a:rPr b="0" lang="en-IN" sz="2200" spc="-1" strike="noStrike">
                <a:latin typeface="Arial"/>
              </a:rPr>
              <a:t>The pandemonium of cables obstructs air flow and decreases</a:t>
            </a:r>
            <a:endParaRPr b="0" lang="en-IN" sz="2200" spc="-1" strike="noStrike">
              <a:latin typeface="Arial"/>
            </a:endParaRPr>
          </a:p>
          <a:p>
            <a:pPr>
              <a:lnSpc>
                <a:spcPct val="100000"/>
              </a:lnSpc>
            </a:pPr>
            <a:r>
              <a:rPr b="0" lang="en-IN" sz="2200" spc="-1" strike="noStrike">
                <a:latin typeface="Arial"/>
              </a:rPr>
              <a:t>air pressure in the plenum.</a:t>
            </a:r>
            <a:endParaRPr b="0" lang="en-IN" sz="2200" spc="-1" strike="noStrike">
              <a:latin typeface="Arial"/>
            </a:endParaRPr>
          </a:p>
          <a:p>
            <a:pPr>
              <a:lnSpc>
                <a:spcPct val="100000"/>
              </a:lnSpc>
            </a:pPr>
            <a:r>
              <a:rPr b="0" lang="en-IN" sz="2200" spc="-1" strike="noStrike">
                <a:latin typeface="Arial"/>
              </a:rPr>
              <a:t>Cable trays help reduce the cable mess. </a:t>
            </a:r>
            <a:endParaRPr b="0" lang="en-IN" sz="2200" spc="-1" strike="noStrike">
              <a:latin typeface="Arial"/>
            </a:endParaRPr>
          </a:p>
          <a:p>
            <a:pPr>
              <a:lnSpc>
                <a:spcPct val="100000"/>
              </a:lnSpc>
            </a:pPr>
            <a:r>
              <a:rPr b="0" lang="en-IN" sz="2200" spc="-1" strike="noStrike">
                <a:latin typeface="Arial"/>
              </a:rPr>
              <a:t>They are U-shaped wire baskets that usually run parallel to the wireways and contain the length of the cables.</a:t>
            </a:r>
            <a:endParaRPr b="0" lang="en-IN" sz="2200" spc="-1" strike="noStrike">
              <a:latin typeface="Arial"/>
            </a:endParaRPr>
          </a:p>
          <a:p>
            <a:pPr>
              <a:lnSpc>
                <a:spcPct val="100000"/>
              </a:lnSpc>
            </a:pPr>
            <a:r>
              <a:rPr b="0" lang="en-IN" sz="2200" spc="-1" strike="noStrike">
                <a:latin typeface="Arial"/>
              </a:rPr>
              <a:t>The cable tray should not be placed very close to the bottom of the raised floor tile. </a:t>
            </a:r>
            <a:endParaRPr b="0" lang="en-IN" sz="2200" spc="-1" strike="noStrike">
              <a:latin typeface="Arial"/>
            </a:endParaRPr>
          </a:p>
          <a:p>
            <a:pPr>
              <a:lnSpc>
                <a:spcPct val="100000"/>
              </a:lnSpc>
            </a:pPr>
            <a:r>
              <a:rPr b="0" lang="en-IN" sz="2200" spc="-1" strike="noStrike">
                <a:latin typeface="Arial"/>
              </a:rPr>
              <a:t>Optimally cable trays must be at least 2 inches below the bottom of the tile. </a:t>
            </a:r>
            <a:endParaRPr b="0" lang="en-IN" sz="2200" spc="-1" strike="noStrike">
              <a:latin typeface="Arial"/>
            </a:endParaRPr>
          </a:p>
          <a:p>
            <a:pPr>
              <a:lnSpc>
                <a:spcPct val="100000"/>
              </a:lnSpc>
            </a:pPr>
            <a:r>
              <a:rPr b="0" lang="en-IN" sz="2200" spc="-1" strike="noStrike">
                <a:latin typeface="Arial"/>
              </a:rPr>
              <a:t>It is also important that the wireway and outlets be accessed by removing only one or two tiles.</a:t>
            </a:r>
            <a:endParaRPr b="0" lang="en-IN" sz="2200" spc="-1" strike="noStrike">
              <a:latin typeface="Arial"/>
            </a:endParaRPr>
          </a:p>
          <a:p>
            <a:pPr>
              <a:lnSpc>
                <a:spcPct val="100000"/>
              </a:lnSpc>
            </a:pP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Rectangle 5_46"/>
          <p:cNvSpPr/>
          <p:nvPr/>
        </p:nvSpPr>
        <p:spPr>
          <a:xfrm>
            <a:off x="444600" y="258840"/>
            <a:ext cx="6660000" cy="697320"/>
          </a:xfrm>
          <a:prstGeom prst="rect">
            <a:avLst/>
          </a:prstGeom>
          <a:noFill/>
          <a:ln w="9360">
            <a:noFill/>
          </a:ln>
        </p:spPr>
        <p:style>
          <a:lnRef idx="0"/>
          <a:fillRef idx="0"/>
          <a:effectRef idx="0"/>
          <a:fontRef idx="minor"/>
        </p:style>
      </p:sp>
      <p:sp>
        <p:nvSpPr>
          <p:cNvPr id="322" name="Rectangle 6_47"/>
          <p:cNvSpPr/>
          <p:nvPr/>
        </p:nvSpPr>
        <p:spPr>
          <a:xfrm>
            <a:off x="628560" y="1328760"/>
            <a:ext cx="7885800" cy="4748760"/>
          </a:xfrm>
          <a:prstGeom prst="rect">
            <a:avLst/>
          </a:prstGeom>
          <a:noFill/>
          <a:ln w="9360">
            <a:noFill/>
          </a:ln>
        </p:spPr>
        <p:style>
          <a:lnRef idx="0"/>
          <a:fillRef idx="0"/>
          <a:effectRef idx="0"/>
          <a:fontRef idx="minor"/>
        </p:style>
      </p:sp>
      <p:sp>
        <p:nvSpPr>
          <p:cNvPr id="323"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24"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a:latin typeface="Arial"/>
              </a:rPr>
              <a:t>Design and Plan against Vandalism</a:t>
            </a:r>
            <a:endParaRPr b="0" lang="en-IN" sz="2200" spc="-1" strike="noStrike">
              <a:latin typeface="Arial"/>
            </a:endParaRPr>
          </a:p>
          <a:p>
            <a:pPr>
              <a:lnSpc>
                <a:spcPct val="100000"/>
              </a:lnSpc>
            </a:pPr>
            <a:r>
              <a:rPr b="0" lang="en-IN" sz="2200" spc="-1" strike="noStrike">
                <a:latin typeface="Arial"/>
              </a:rPr>
              <a:t>For most organizations, online data is one of their most expensive assets. </a:t>
            </a:r>
            <a:endParaRPr b="0" lang="en-IN" sz="2200" spc="-1" strike="noStrike">
              <a:latin typeface="Arial"/>
            </a:endParaRPr>
          </a:p>
          <a:p>
            <a:pPr>
              <a:lnSpc>
                <a:spcPct val="100000"/>
              </a:lnSpc>
            </a:pPr>
            <a:r>
              <a:rPr b="0" lang="en-IN" sz="2200" spc="-1" strike="noStrike">
                <a:latin typeface="Arial"/>
              </a:rPr>
              <a:t>All business-critical information is stored online and must be protected from sabotage, vandalism, and so forth.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data center must be selected in a building or neighbor hood where it is easy to control access.</a:t>
            </a:r>
            <a:endParaRPr b="0" lang="en-IN" sz="2200" spc="-1" strike="noStrike">
              <a:latin typeface="Arial"/>
            </a:endParaRPr>
          </a:p>
          <a:p>
            <a:pPr>
              <a:lnSpc>
                <a:spcPct val="100000"/>
              </a:lnSpc>
            </a:pPr>
            <a:r>
              <a:rPr b="0" lang="en-IN" sz="2200" spc="-1" strike="noStrike">
                <a:latin typeface="Arial"/>
              </a:rPr>
              <a:t>Check for existing doors, windows, or ventilators that open to the outside and uncontrolled areas. </a:t>
            </a:r>
            <a:endParaRPr b="0" lang="en-IN" sz="2200" spc="-1" strike="noStrike">
              <a:latin typeface="Arial"/>
            </a:endParaRPr>
          </a:p>
          <a:p>
            <a:pPr>
              <a:lnSpc>
                <a:spcPct val="100000"/>
              </a:lnSpc>
            </a:pPr>
            <a:r>
              <a:rPr b="0" lang="en-IN" sz="2200" spc="-1" strike="noStrike">
                <a:latin typeface="Arial"/>
              </a:rPr>
              <a:t>If they are not necessary, replace them with walls. </a:t>
            </a:r>
            <a:endParaRPr b="0" lang="en-IN" sz="2200" spc="-1" strike="noStrike">
              <a:latin typeface="Arial"/>
            </a:endParaRPr>
          </a:p>
          <a:p>
            <a:pPr>
              <a:lnSpc>
                <a:spcPct val="100000"/>
              </a:lnSpc>
            </a:pPr>
            <a:r>
              <a:rPr b="0" lang="en-IN" sz="2200" spc="-1" strike="noStrike">
                <a:latin typeface="Arial"/>
              </a:rPr>
              <a:t>If they are necessary, you must install alarm systems and motion detectors. </a:t>
            </a:r>
            <a:endParaRPr b="0" lang="en-IN" sz="2200" spc="-1" strike="noStrike">
              <a:latin typeface="Arial"/>
            </a:endParaRPr>
          </a:p>
          <a:p>
            <a:pPr>
              <a:lnSpc>
                <a:spcPct val="100000"/>
              </a:lnSpc>
            </a:pPr>
            <a:r>
              <a:rPr b="0" lang="en-IN" sz="2200" spc="-1" strike="noStrike">
                <a:latin typeface="Arial"/>
              </a:rPr>
              <a:t>However, it is best to locate the data center in the interior of a building so that it has no exterior doors or windows.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Rectangle 5_47"/>
          <p:cNvSpPr/>
          <p:nvPr/>
        </p:nvSpPr>
        <p:spPr>
          <a:xfrm>
            <a:off x="444600" y="258840"/>
            <a:ext cx="6660000" cy="697320"/>
          </a:xfrm>
          <a:prstGeom prst="rect">
            <a:avLst/>
          </a:prstGeom>
          <a:noFill/>
          <a:ln w="9360">
            <a:noFill/>
          </a:ln>
        </p:spPr>
        <p:style>
          <a:lnRef idx="0"/>
          <a:fillRef idx="0"/>
          <a:effectRef idx="0"/>
          <a:fontRef idx="minor"/>
        </p:style>
      </p:sp>
      <p:sp>
        <p:nvSpPr>
          <p:cNvPr id="326" name="Rectangle 6_48"/>
          <p:cNvSpPr/>
          <p:nvPr/>
        </p:nvSpPr>
        <p:spPr>
          <a:xfrm>
            <a:off x="628560" y="1328760"/>
            <a:ext cx="7885800" cy="4748760"/>
          </a:xfrm>
          <a:prstGeom prst="rect">
            <a:avLst/>
          </a:prstGeom>
          <a:noFill/>
          <a:ln w="9360">
            <a:noFill/>
          </a:ln>
        </p:spPr>
        <p:style>
          <a:lnRef idx="0"/>
          <a:fillRef idx="0"/>
          <a:effectRef idx="0"/>
          <a:fontRef idx="minor"/>
        </p:style>
      </p:sp>
      <p:sp>
        <p:nvSpPr>
          <p:cNvPr id="327"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28"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When designing a new area, plan for one (or, at most, two) entrances to the data center.</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The design must include various monitoring devices. Install surveillance cameras at various locations, especially at entrances, such that they record the facial view of those entering the area.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Motion detectors and alarms must be installed at various locations.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If data-center space is shared with other companies, each company must have separate areas with physical barriers.</a:t>
            </a:r>
            <a:endParaRPr b="0" lang="en-IN" sz="2200" spc="-1" strike="noStrike">
              <a:latin typeface="Arial"/>
            </a:endParaRPr>
          </a:p>
          <a:p>
            <a:pPr>
              <a:lnSpc>
                <a:spcPct val="100000"/>
              </a:lnSpc>
            </a:pPr>
            <a:r>
              <a:rPr b="0" lang="en-IN" sz="2200" spc="-1" strike="noStrike">
                <a:latin typeface="Arial"/>
              </a:rPr>
              <a:t>Make provisions for emergencies. </a:t>
            </a:r>
            <a:endParaRPr b="0" lang="en-IN" sz="2200" spc="-1" strike="noStrike">
              <a:latin typeface="Arial"/>
            </a:endParaRPr>
          </a:p>
          <a:p>
            <a:pPr>
              <a:lnSpc>
                <a:spcPct val="100000"/>
              </a:lnSpc>
            </a:pP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Rectangle 5_55"/>
          <p:cNvSpPr/>
          <p:nvPr/>
        </p:nvSpPr>
        <p:spPr>
          <a:xfrm>
            <a:off x="444600" y="258840"/>
            <a:ext cx="6660000" cy="697320"/>
          </a:xfrm>
          <a:prstGeom prst="rect">
            <a:avLst/>
          </a:prstGeom>
          <a:noFill/>
          <a:ln w="9360">
            <a:noFill/>
          </a:ln>
        </p:spPr>
        <p:style>
          <a:lnRef idx="0"/>
          <a:fillRef idx="0"/>
          <a:effectRef idx="0"/>
          <a:fontRef idx="minor"/>
        </p:style>
      </p:sp>
      <p:sp>
        <p:nvSpPr>
          <p:cNvPr id="330" name="Rectangle 6_56"/>
          <p:cNvSpPr/>
          <p:nvPr/>
        </p:nvSpPr>
        <p:spPr>
          <a:xfrm>
            <a:off x="628560" y="1328760"/>
            <a:ext cx="7885800" cy="4748760"/>
          </a:xfrm>
          <a:prstGeom prst="rect">
            <a:avLst/>
          </a:prstGeom>
          <a:noFill/>
          <a:ln w="9360">
            <a:noFill/>
          </a:ln>
        </p:spPr>
        <p:style>
          <a:lnRef idx="0"/>
          <a:fillRef idx="0"/>
          <a:effectRef idx="0"/>
          <a:fontRef idx="minor"/>
        </p:style>
      </p:sp>
      <p:sp>
        <p:nvSpPr>
          <p:cNvPr id="331" name=""/>
          <p:cNvSpPr/>
          <p:nvPr/>
        </p:nvSpPr>
        <p:spPr>
          <a:xfrm>
            <a:off x="540000" y="517320"/>
            <a:ext cx="4500000" cy="4863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latin typeface="Arial"/>
              </a:rPr>
              <a:t>Data Centre Architecture</a:t>
            </a:r>
            <a:endParaRPr b="0" lang="en-IN" sz="2800" spc="-1" strike="noStrike">
              <a:latin typeface="Arial"/>
            </a:endParaRPr>
          </a:p>
        </p:txBody>
      </p:sp>
      <p:sp>
        <p:nvSpPr>
          <p:cNvPr id="332" name=""/>
          <p:cNvSpPr/>
          <p:nvPr/>
        </p:nvSpPr>
        <p:spPr>
          <a:xfrm>
            <a:off x="720000" y="1375200"/>
            <a:ext cx="8099640" cy="51044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IN" sz="2200" spc="-1" strike="noStrike">
                <a:latin typeface="Arial"/>
              </a:rPr>
              <a:t>Keep equipment-safe fire extinguishers at a few locations.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You must protect the equipment and data not only from external intrusions but also from internal elements.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Disgruntled employees are a common cause of vandalism.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Only employees who need access must be granted it.</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latin typeface="Arial"/>
              </a:rPr>
              <a:t>Untrained personnel can create security risks, and they must be kept away from critical areas of the data center.</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A000120140530A90PPBG</Template>
  <TotalTime>64</TotalTime>
  <Application>LibreOffice/7.1.2.2$Windows_X86_64 LibreOffice_project/8a45595d069ef5570103caea1b71cc9d82b2aae4</Application>
  <AppVersion>15.0000</AppVersion>
  <Words>0</Words>
  <Paragraphs>0</Paragraphs>
  <Company>Microsoft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2014-06-03T02:52:00Z</dcterms:created>
  <dc:creator>admin</dc:creator>
  <dc:description/>
  <dc:language>en-IN</dc:language>
  <cp:lastModifiedBy/>
  <dcterms:modified xsi:type="dcterms:W3CDTF">2021-08-31T12:00:13Z</dcterms:modified>
  <cp:revision>46</cp:revision>
  <dc:subject/>
  <dc:title>fdsa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
    <vt:lpwstr>ÉÌÎñ½¨ÖþÍ¼¸å_A000120140530A90PPBG</vt:lpwstr>
  </property>
  <property fmtid="{D5CDD505-2E9C-101B-9397-08002B2CF9AE}" pid="3" name="???">
    <vt:lpwstr>ÉÌÒµ¿Æ¼¼ 4:3 »Ò »ÒÉ« ÉÌÎñ ½¨Öþ Í¼¸å ¹æ»® À¶Í¼ V1 ¶àÉ«</vt:lpwstr>
  </property>
  <property fmtid="{D5CDD505-2E9C-101B-9397-08002B2CF9AE}" pid="4" name="????">
    <vt:lpwstr/>
  </property>
  <property fmtid="{D5CDD505-2E9C-101B-9397-08002B2CF9AE}" pid="5" name="KSOProductBuildVer">
    <vt:lpwstr>1033-10.1.0.5656</vt:lpwstr>
  </property>
  <property fmtid="{D5CDD505-2E9C-101B-9397-08002B2CF9AE}" pid="6" name="Notes">
    <vt:i4>2</vt:i4>
  </property>
  <property fmtid="{D5CDD505-2E9C-101B-9397-08002B2CF9AE}" pid="7" name="PresentationFormat">
    <vt:lpwstr>On-screen Show (4:3)</vt:lpwstr>
  </property>
  <property fmtid="{D5CDD505-2E9C-101B-9397-08002B2CF9AE}" pid="8" name="Slides">
    <vt:i4>2</vt:i4>
  </property>
</Properties>
</file>