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53.xml" ContentType="application/vnd.openxmlformats-officedocument.presentationml.notesSlide+xml"/>
  <Override PartName="/ppt/notesSlides/notesSlide1.xml" ContentType="application/vnd.openxmlformats-officedocument.presentationml.notesSlide+xml"/>
  <Override PartName="/ppt/notesSlides/notesSlide54.xml" ContentType="application/vnd.openxmlformats-officedocument.presentationml.notesSlide+xml"/>
  <Override PartName="/ppt/notesSlides/notesSlide2.xml" ContentType="application/vnd.openxmlformats-officedocument.presentationml.notesSlide+xml"/>
  <Override PartName="/ppt/notesSlides/notesSlide55.xml" ContentType="application/vnd.openxmlformats-officedocument.presentationml.notesSlide+xml"/>
  <Override PartName="/ppt/notesSlides/notesSlide3.xml" ContentType="application/vnd.openxmlformats-officedocument.presentationml.notesSlide+xml"/>
  <Override PartName="/ppt/notesSlides/notesSlide5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5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53.xml.rels" ContentType="application/vnd.openxmlformats-package.relationships+xml"/>
  <Override PartName="/ppt/notesSlides/_rels/notesSlide44.xml.rels" ContentType="application/vnd.openxmlformats-package.relationships+xml"/>
  <Override PartName="/ppt/notesSlides/_rels/notesSlide1.xml.rels" ContentType="application/vnd.openxmlformats-package.relationships+xml"/>
  <Override PartName="/ppt/notesSlides/_rels/notesSlide54.xml.rels" ContentType="application/vnd.openxmlformats-package.relationships+xml"/>
  <Override PartName="/ppt/notesSlides/_rels/notesSlide45.xml.rels" ContentType="application/vnd.openxmlformats-package.relationships+xml"/>
  <Override PartName="/ppt/notesSlides/_rels/notesSlide2.xml.rels" ContentType="application/vnd.openxmlformats-package.relationships+xml"/>
  <Override PartName="/ppt/notesSlides/_rels/notesSlide55.xml.rels" ContentType="application/vnd.openxmlformats-package.relationships+xml"/>
  <Override PartName="/ppt/notesSlides/_rels/notesSlide3.xml.rels" ContentType="application/vnd.openxmlformats-package.relationships+xml"/>
  <Override PartName="/ppt/notesSlides/_rels/notesSlide46.xml.rels" ContentType="application/vnd.openxmlformats-package.relationships+xml"/>
  <Override PartName="/ppt/notesSlides/_rels/notesSlide56.xml.rels" ContentType="application/vnd.openxmlformats-package.relationships+xml"/>
  <Override PartName="/ppt/notesSlides/_rels/notesSlide4.xml.rels" ContentType="application/vnd.openxmlformats-package.relationships+xml"/>
  <Override PartName="/ppt/notesSlides/_rels/notesSlide47.xml.rels" ContentType="application/vnd.openxmlformats-package.relationships+xml"/>
  <Override PartName="/ppt/notesSlides/_rels/notesSlide57.xml.rels" ContentType="application/vnd.openxmlformats-package.relationships+xml"/>
  <Override PartName="/ppt/notesSlides/_rels/notesSlide5.xml.rels" ContentType="application/vnd.openxmlformats-package.relationships+xml"/>
  <Override PartName="/ppt/notesSlides/_rels/notesSlide48.xml.rels" ContentType="application/vnd.openxmlformats-package.relationships+xml"/>
  <Override PartName="/ppt/notesSlides/_rels/notesSlide58.xml.rels" ContentType="application/vnd.openxmlformats-package.relationships+xml"/>
  <Override PartName="/ppt/notesSlides/_rels/notesSlide6.xml.rels" ContentType="application/vnd.openxmlformats-package.relationships+xml"/>
  <Override PartName="/ppt/notesSlides/_rels/notesSlide49.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8.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50.xml.rels" ContentType="application/vnd.openxmlformats-package.relationships+xml"/>
  <Override PartName="/ppt/notesSlides/_rels/notesSlide51.xml.rels" ContentType="application/vnd.openxmlformats-package.relationships+xml"/>
  <Override PartName="/ppt/notesSlides/_rels/notesSlide52.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32.xml" ContentType="application/vnd.openxmlformats-officedocument.presentationml.slideLayout+xml"/>
  <Override PartName="/ppt/slideLayouts/slideLayout2.xml" ContentType="application/vnd.openxmlformats-officedocument.presentationml.slideLayout+xml"/>
  <Override PartName="/ppt/slideLayouts/slideLayout33.xml" ContentType="application/vnd.openxmlformats-officedocument.presentationml.slideLayout+xml"/>
  <Override PartName="/ppt/slideLayouts/slideLayout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35.xml" ContentType="application/vnd.openxmlformats-officedocument.presentationml.slideLayout+xml"/>
  <Override PartName="/ppt/slideLayouts/slideLayout6.xml" ContentType="application/vnd.openxmlformats-officedocument.presentationml.slideLayout+xml"/>
  <Override PartName="/ppt/slideLayouts/slideLayout3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_rels/slideLayout31.xml.rels" ContentType="application/vnd.openxmlformats-package.relationships+xml"/>
  <Override PartName="/ppt/slideLayouts/_rels/slideLayout1.xml.rels" ContentType="application/vnd.openxmlformats-package.relationships+xml"/>
  <Override PartName="/ppt/slideLayouts/_rels/slideLayout32.xml.rels" ContentType="application/vnd.openxmlformats-package.relationships+xml"/>
  <Override PartName="/ppt/slideLayouts/_rels/slideLayout2.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34.xml.rels" ContentType="application/vnd.openxmlformats-package.relationships+xml"/>
  <Override PartName="/ppt/slideLayouts/_rels/slideLayout4.xml.rels" ContentType="application/vnd.openxmlformats-package.relationships+xml"/>
  <Override PartName="/ppt/slideLayouts/_rels/slideLayout35.xml.rels" ContentType="application/vnd.openxmlformats-package.relationships+xml"/>
  <Override PartName="/ppt/slideLayouts/_rels/slideLayout5.xml.rels" ContentType="application/vnd.openxmlformats-package.relationships+xml"/>
  <Override PartName="/ppt/slideLayouts/_rels/slideLayout36.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slideLayouts/_rels/slideLayout25.xml.rels" ContentType="application/vnd.openxmlformats-package.relationships+xml"/>
  <Override PartName="/ppt/slideLayouts/_rels/slideLayout26.xml.rels" ContentType="application/vnd.openxmlformats-package.relationships+xml"/>
  <Override PartName="/ppt/slideLayouts/_rels/slideLayout27.xml.rels" ContentType="application/vnd.openxmlformats-package.relationships+xml"/>
  <Override PartName="/ppt/slideLayouts/_rels/slideLayout28.xml.rels" ContentType="application/vnd.openxmlformats-package.relationships+xml"/>
  <Override PartName="/ppt/slideLayouts/_rels/slideLayout29.xml.rels" ContentType="application/vnd.openxmlformats-package.relationships+xml"/>
  <Override PartName="/ppt/slideLayouts/_rels/slideLayout30.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50.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51.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52.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53.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46.xml.rels" ContentType="application/vnd.openxmlformats-package.relationships+xml"/>
  <Override PartName="/ppt/slides/_rels/slide47.xml.rels" ContentType="application/vnd.openxmlformats-package.relationships+xml"/>
  <Override PartName="/ppt/slides/_rels/slide48.xml.rels" ContentType="application/vnd.openxmlformats-package.relationships+xml"/>
  <Override PartName="/ppt/slides/_rels/slide49.xml.rels" ContentType="application/vnd.openxmlformats-package.relationships+xml"/>
  <Override PartName="/ppt/slides/_rels/slide54.xml.rels" ContentType="application/vnd.openxmlformats-package.relationships+xml"/>
  <Override PartName="/ppt/slides/_rels/slide55.xml.rels" ContentType="application/vnd.openxmlformats-package.relationships+xml"/>
  <Override PartName="/ppt/slides/_rels/slide56.xml.rels" ContentType="application/vnd.openxmlformats-package.relationships+xml"/>
  <Override PartName="/ppt/slides/_rels/slide57.xml.rels" ContentType="application/vnd.openxmlformats-package.relationships+xml"/>
  <Override PartName="/ppt/slides/_rels/slide58.xml.rels" ContentType="application/vnd.openxmlformats-package.relationshi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x="9144000" cy="6858000"/>
  <p:notesSz cx="6858000" cy="9144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sldImg"/>
          </p:nvPr>
        </p:nvSpPr>
        <p:spPr>
          <a:xfrm>
            <a:off x="216000" y="812520"/>
            <a:ext cx="7127280" cy="4008960"/>
          </a:xfrm>
          <a:prstGeom prst="rect">
            <a:avLst/>
          </a:prstGeom>
        </p:spPr>
        <p:txBody>
          <a:bodyPr lIns="0" rIns="0" tIns="0" bIns="0" anchor="ctr">
            <a:noAutofit/>
          </a:bodyPr>
          <a:p>
            <a:pPr algn="ctr"/>
            <a:r>
              <a:rPr b="0" lang="en-IN" sz="4400" spc="-1" strike="noStrike">
                <a:latin typeface="Arial"/>
              </a:rPr>
              <a:t>Click to move the slide</a:t>
            </a:r>
            <a:endParaRPr b="0" lang="en-IN" sz="4400" spc="-1" strike="noStrike">
              <a:latin typeface="Arial"/>
            </a:endParaRPr>
          </a:p>
        </p:txBody>
      </p:sp>
      <p:sp>
        <p:nvSpPr>
          <p:cNvPr id="123" name="PlaceHolder 2"/>
          <p:cNvSpPr>
            <a:spLocks noGrp="1"/>
          </p:cNvSpPr>
          <p:nvPr>
            <p:ph type="body"/>
          </p:nvPr>
        </p:nvSpPr>
        <p:spPr>
          <a:xfrm>
            <a:off x="756000" y="5078520"/>
            <a:ext cx="6047640" cy="4811040"/>
          </a:xfrm>
          <a:prstGeom prst="rect">
            <a:avLst/>
          </a:prstGeom>
        </p:spPr>
        <p:txBody>
          <a:bodyPr lIns="0" rIns="0" tIns="0" bIns="0">
            <a:noAutofit/>
          </a:bodyPr>
          <a:p>
            <a:r>
              <a:rPr b="0" lang="en-IN" sz="2000" spc="-1" strike="noStrike">
                <a:latin typeface="Arial"/>
              </a:rPr>
              <a:t>Click to edit the notes format</a:t>
            </a:r>
            <a:endParaRPr b="0" lang="en-IN" sz="2000" spc="-1" strike="noStrike">
              <a:latin typeface="Arial"/>
            </a:endParaRPr>
          </a:p>
        </p:txBody>
      </p:sp>
      <p:sp>
        <p:nvSpPr>
          <p:cNvPr id="124" name="PlaceHolder 3"/>
          <p:cNvSpPr>
            <a:spLocks noGrp="1"/>
          </p:cNvSpPr>
          <p:nvPr>
            <p:ph type="hdr"/>
          </p:nvPr>
        </p:nvSpPr>
        <p:spPr>
          <a:xfrm>
            <a:off x="0" y="0"/>
            <a:ext cx="3280680" cy="534240"/>
          </a:xfrm>
          <a:prstGeom prst="rect">
            <a:avLst/>
          </a:prstGeom>
        </p:spPr>
        <p:txBody>
          <a:bodyPr lIns="0" rIns="0" tIns="0" bIns="0">
            <a:noAutofit/>
          </a:bodyPr>
          <a:p>
            <a:r>
              <a:rPr b="0" lang="en-IN" sz="1400" spc="-1" strike="noStrike">
                <a:latin typeface="Times New Roman"/>
              </a:rPr>
              <a:t>&lt;header&gt;</a:t>
            </a:r>
            <a:endParaRPr b="0" lang="en-IN" sz="1400" spc="-1" strike="noStrike">
              <a:latin typeface="Times New Roman"/>
            </a:endParaRPr>
          </a:p>
        </p:txBody>
      </p:sp>
      <p:sp>
        <p:nvSpPr>
          <p:cNvPr id="125" name="PlaceHolder 4"/>
          <p:cNvSpPr>
            <a:spLocks noGrp="1"/>
          </p:cNvSpPr>
          <p:nvPr>
            <p:ph type="dt"/>
          </p:nvPr>
        </p:nvSpPr>
        <p:spPr>
          <a:xfrm>
            <a:off x="4278960" y="0"/>
            <a:ext cx="3280680" cy="534240"/>
          </a:xfrm>
          <a:prstGeom prst="rect">
            <a:avLst/>
          </a:prstGeom>
        </p:spPr>
        <p:txBody>
          <a:bodyPr lIns="0" rIns="0" tIns="0" bIns="0">
            <a:noAutofit/>
          </a:bodyPr>
          <a:p>
            <a:pPr algn="r"/>
            <a:r>
              <a:rPr b="0" lang="en-IN" sz="1400" spc="-1" strike="noStrike">
                <a:latin typeface="Times New Roman"/>
              </a:rPr>
              <a:t>&lt;date/time&gt;</a:t>
            </a:r>
            <a:endParaRPr b="0" lang="en-IN" sz="1400" spc="-1" strike="noStrike">
              <a:latin typeface="Times New Roman"/>
            </a:endParaRPr>
          </a:p>
        </p:txBody>
      </p:sp>
      <p:sp>
        <p:nvSpPr>
          <p:cNvPr id="126" name="PlaceHolder 5"/>
          <p:cNvSpPr>
            <a:spLocks noGrp="1"/>
          </p:cNvSpPr>
          <p:nvPr>
            <p:ph type="ftr"/>
          </p:nvPr>
        </p:nvSpPr>
        <p:spPr>
          <a:xfrm>
            <a:off x="0" y="10157400"/>
            <a:ext cx="3280680" cy="534240"/>
          </a:xfrm>
          <a:prstGeom prst="rect">
            <a:avLst/>
          </a:prstGeom>
        </p:spPr>
        <p:txBody>
          <a:bodyPr lIns="0" rIns="0" tIns="0" bIns="0" anchor="b">
            <a:noAutofit/>
          </a:bodyPr>
          <a:p>
            <a:r>
              <a:rPr b="0" lang="en-IN" sz="1400" spc="-1" strike="noStrike">
                <a:latin typeface="Times New Roman"/>
              </a:rPr>
              <a:t>&lt;footer&gt;</a:t>
            </a:r>
            <a:endParaRPr b="0" lang="en-IN" sz="1400" spc="-1" strike="noStrike">
              <a:latin typeface="Times New Roman"/>
            </a:endParaRPr>
          </a:p>
        </p:txBody>
      </p:sp>
      <p:sp>
        <p:nvSpPr>
          <p:cNvPr id="127" name="PlaceHolder 6"/>
          <p:cNvSpPr>
            <a:spLocks noGrp="1"/>
          </p:cNvSpPr>
          <p:nvPr>
            <p:ph type="sldNum"/>
          </p:nvPr>
        </p:nvSpPr>
        <p:spPr>
          <a:xfrm>
            <a:off x="4278960" y="10157400"/>
            <a:ext cx="3280680" cy="534240"/>
          </a:xfrm>
          <a:prstGeom prst="rect">
            <a:avLst/>
          </a:prstGeom>
        </p:spPr>
        <p:txBody>
          <a:bodyPr lIns="0" rIns="0" tIns="0" bIns="0" anchor="b">
            <a:noAutofit/>
          </a:bodyPr>
          <a:p>
            <a:pPr algn="r"/>
            <a:fld id="{A7399659-BCD4-4DD7-B155-0AFC10B0DCCD}"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1371600" y="1143000"/>
            <a:ext cx="4113360" cy="3084840"/>
          </a:xfrm>
          <a:prstGeom prst="rect">
            <a:avLst/>
          </a:prstGeom>
        </p:spPr>
      </p:sp>
      <p:sp>
        <p:nvSpPr>
          <p:cNvPr id="360"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61" name="灯片编号占位符 3"/>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1371600" y="1143000"/>
            <a:ext cx="4113360" cy="3084840"/>
          </a:xfrm>
          <a:prstGeom prst="rect">
            <a:avLst/>
          </a:prstGeom>
        </p:spPr>
      </p:sp>
      <p:sp>
        <p:nvSpPr>
          <p:cNvPr id="363"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64" name="灯片编号占位符 3"/>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1371600" y="1143000"/>
            <a:ext cx="4113360" cy="3084840"/>
          </a:xfrm>
          <a:prstGeom prst="rect">
            <a:avLst/>
          </a:prstGeom>
        </p:spPr>
      </p:sp>
      <p:sp>
        <p:nvSpPr>
          <p:cNvPr id="366"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67" name="灯片编号占位符 3_1"/>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1371600" y="1143000"/>
            <a:ext cx="4113360" cy="3084840"/>
          </a:xfrm>
          <a:prstGeom prst="rect">
            <a:avLst/>
          </a:prstGeom>
        </p:spPr>
      </p:sp>
      <p:sp>
        <p:nvSpPr>
          <p:cNvPr id="369"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70" name="灯片编号占位符 3_2"/>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1371600" y="1143000"/>
            <a:ext cx="4113360" cy="3084840"/>
          </a:xfrm>
          <a:prstGeom prst="rect">
            <a:avLst/>
          </a:prstGeom>
        </p:spPr>
      </p:sp>
      <p:sp>
        <p:nvSpPr>
          <p:cNvPr id="372"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73" name="灯片编号占位符 3_3"/>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1371600" y="1143000"/>
            <a:ext cx="4113360" cy="3084840"/>
          </a:xfrm>
          <a:prstGeom prst="rect">
            <a:avLst/>
          </a:prstGeom>
        </p:spPr>
      </p:sp>
      <p:sp>
        <p:nvSpPr>
          <p:cNvPr id="375"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76" name="灯片编号占位符 3_15"/>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1371600" y="1143000"/>
            <a:ext cx="4113360" cy="3084840"/>
          </a:xfrm>
          <a:prstGeom prst="rect">
            <a:avLst/>
          </a:prstGeom>
        </p:spPr>
      </p:sp>
      <p:sp>
        <p:nvSpPr>
          <p:cNvPr id="378"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79" name="灯片编号占位符 3_4"/>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1371600" y="1143000"/>
            <a:ext cx="4113360" cy="3084840"/>
          </a:xfrm>
          <a:prstGeom prst="rect">
            <a:avLst/>
          </a:prstGeom>
        </p:spPr>
      </p:sp>
      <p:sp>
        <p:nvSpPr>
          <p:cNvPr id="381"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82" name="灯片编号占位符 3_16"/>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1371600" y="1143000"/>
            <a:ext cx="4113360" cy="3084840"/>
          </a:xfrm>
          <a:prstGeom prst="rect">
            <a:avLst/>
          </a:prstGeom>
        </p:spPr>
      </p:sp>
      <p:sp>
        <p:nvSpPr>
          <p:cNvPr id="384"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85" name="灯片编号占位符 3_5"/>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1371600" y="1143000"/>
            <a:ext cx="4113360" cy="3084840"/>
          </a:xfrm>
          <a:prstGeom prst="rect">
            <a:avLst/>
          </a:prstGeom>
        </p:spPr>
      </p:sp>
      <p:sp>
        <p:nvSpPr>
          <p:cNvPr id="387"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88" name="灯片编号占位符 3_6"/>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1371600" y="1143000"/>
            <a:ext cx="4113360" cy="3084840"/>
          </a:xfrm>
          <a:prstGeom prst="rect">
            <a:avLst/>
          </a:prstGeom>
        </p:spPr>
      </p:sp>
      <p:sp>
        <p:nvSpPr>
          <p:cNvPr id="390"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91" name="灯片编号占位符 3_7"/>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1371600" y="1143000"/>
            <a:ext cx="4113360" cy="3084840"/>
          </a:xfrm>
          <a:prstGeom prst="rect">
            <a:avLst/>
          </a:prstGeom>
        </p:spPr>
      </p:sp>
      <p:sp>
        <p:nvSpPr>
          <p:cNvPr id="393"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94" name="灯片编号占位符 3_30"/>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1371600" y="1143000"/>
            <a:ext cx="4113360" cy="3084840"/>
          </a:xfrm>
          <a:prstGeom prst="rect">
            <a:avLst/>
          </a:prstGeom>
        </p:spPr>
      </p:sp>
      <p:sp>
        <p:nvSpPr>
          <p:cNvPr id="396"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397" name="灯片编号占位符 3_8"/>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1371600" y="1143000"/>
            <a:ext cx="4113360" cy="3084840"/>
          </a:xfrm>
          <a:prstGeom prst="rect">
            <a:avLst/>
          </a:prstGeom>
        </p:spPr>
      </p:sp>
      <p:sp>
        <p:nvSpPr>
          <p:cNvPr id="399"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00" name="灯片编号占位符 3_31"/>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1371600" y="1143000"/>
            <a:ext cx="4113360" cy="3084840"/>
          </a:xfrm>
          <a:prstGeom prst="rect">
            <a:avLst/>
          </a:prstGeom>
        </p:spPr>
      </p:sp>
      <p:sp>
        <p:nvSpPr>
          <p:cNvPr id="402"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03" name="灯片编号占位符 3_9"/>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1371600" y="1143000"/>
            <a:ext cx="4113360" cy="3084840"/>
          </a:xfrm>
          <a:prstGeom prst="rect">
            <a:avLst/>
          </a:prstGeom>
        </p:spPr>
      </p:sp>
      <p:sp>
        <p:nvSpPr>
          <p:cNvPr id="405"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06" name="灯片编号占位符 3_10"/>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sldImg"/>
          </p:nvPr>
        </p:nvSpPr>
        <p:spPr>
          <a:xfrm>
            <a:off x="1371600" y="1143000"/>
            <a:ext cx="4113360" cy="3084840"/>
          </a:xfrm>
          <a:prstGeom prst="rect">
            <a:avLst/>
          </a:prstGeom>
        </p:spPr>
      </p:sp>
      <p:sp>
        <p:nvSpPr>
          <p:cNvPr id="408"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09" name="灯片编号占位符 3_11"/>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sldImg"/>
          </p:nvPr>
        </p:nvSpPr>
        <p:spPr>
          <a:xfrm>
            <a:off x="1371600" y="1143000"/>
            <a:ext cx="4113360" cy="3084840"/>
          </a:xfrm>
          <a:prstGeom prst="rect">
            <a:avLst/>
          </a:prstGeom>
        </p:spPr>
      </p:sp>
      <p:sp>
        <p:nvSpPr>
          <p:cNvPr id="411"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12" name="灯片编号占位符 3_32"/>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3" name="PlaceHolder 1"/>
          <p:cNvSpPr>
            <a:spLocks noGrp="1"/>
          </p:cNvSpPr>
          <p:nvPr>
            <p:ph type="sldImg"/>
          </p:nvPr>
        </p:nvSpPr>
        <p:spPr>
          <a:xfrm>
            <a:off x="1371600" y="1143000"/>
            <a:ext cx="4113360" cy="3084840"/>
          </a:xfrm>
          <a:prstGeom prst="rect">
            <a:avLst/>
          </a:prstGeom>
        </p:spPr>
      </p:sp>
      <p:sp>
        <p:nvSpPr>
          <p:cNvPr id="414"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15" name="灯片编号占位符 3_12"/>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PlaceHolder 1"/>
          <p:cNvSpPr>
            <a:spLocks noGrp="1"/>
          </p:cNvSpPr>
          <p:nvPr>
            <p:ph type="sldImg"/>
          </p:nvPr>
        </p:nvSpPr>
        <p:spPr>
          <a:xfrm>
            <a:off x="1371600" y="1143000"/>
            <a:ext cx="4113360" cy="3084840"/>
          </a:xfrm>
          <a:prstGeom prst="rect">
            <a:avLst/>
          </a:prstGeom>
        </p:spPr>
      </p:sp>
      <p:sp>
        <p:nvSpPr>
          <p:cNvPr id="417"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18" name="灯片编号占位符 3_13"/>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9" name="PlaceHolder 1"/>
          <p:cNvSpPr>
            <a:spLocks noGrp="1"/>
          </p:cNvSpPr>
          <p:nvPr>
            <p:ph type="sldImg"/>
          </p:nvPr>
        </p:nvSpPr>
        <p:spPr>
          <a:xfrm>
            <a:off x="1371600" y="1143000"/>
            <a:ext cx="4113360" cy="3084840"/>
          </a:xfrm>
          <a:prstGeom prst="rect">
            <a:avLst/>
          </a:prstGeom>
        </p:spPr>
      </p:sp>
      <p:sp>
        <p:nvSpPr>
          <p:cNvPr id="420"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21" name="灯片编号占位符 3_14"/>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2" name="PlaceHolder 1"/>
          <p:cNvSpPr>
            <a:spLocks noGrp="1"/>
          </p:cNvSpPr>
          <p:nvPr>
            <p:ph type="sldImg"/>
          </p:nvPr>
        </p:nvSpPr>
        <p:spPr>
          <a:xfrm>
            <a:off x="1371600" y="1143000"/>
            <a:ext cx="4113360" cy="3084840"/>
          </a:xfrm>
          <a:prstGeom prst="rect">
            <a:avLst/>
          </a:prstGeom>
        </p:spPr>
      </p:sp>
      <p:sp>
        <p:nvSpPr>
          <p:cNvPr id="423"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24" name="灯片编号占位符 3_33"/>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PlaceHolder 1"/>
          <p:cNvSpPr>
            <a:spLocks noGrp="1"/>
          </p:cNvSpPr>
          <p:nvPr>
            <p:ph type="sldImg"/>
          </p:nvPr>
        </p:nvSpPr>
        <p:spPr>
          <a:xfrm>
            <a:off x="1371600" y="1143000"/>
            <a:ext cx="4113360" cy="3084840"/>
          </a:xfrm>
          <a:prstGeom prst="rect">
            <a:avLst/>
          </a:prstGeom>
        </p:spPr>
      </p:sp>
      <p:sp>
        <p:nvSpPr>
          <p:cNvPr id="426"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27" name="灯片编号占位符 3_17"/>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sldImg"/>
          </p:nvPr>
        </p:nvSpPr>
        <p:spPr>
          <a:xfrm>
            <a:off x="1371600" y="1143000"/>
            <a:ext cx="4113360" cy="3084840"/>
          </a:xfrm>
          <a:prstGeom prst="rect">
            <a:avLst/>
          </a:prstGeom>
        </p:spPr>
      </p:sp>
      <p:sp>
        <p:nvSpPr>
          <p:cNvPr id="429"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30" name="灯片编号占位符 3_18"/>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PlaceHolder 1"/>
          <p:cNvSpPr>
            <a:spLocks noGrp="1"/>
          </p:cNvSpPr>
          <p:nvPr>
            <p:ph type="sldImg"/>
          </p:nvPr>
        </p:nvSpPr>
        <p:spPr>
          <a:xfrm>
            <a:off x="1371600" y="1143000"/>
            <a:ext cx="4113360" cy="3084840"/>
          </a:xfrm>
          <a:prstGeom prst="rect">
            <a:avLst/>
          </a:prstGeom>
        </p:spPr>
      </p:sp>
      <p:sp>
        <p:nvSpPr>
          <p:cNvPr id="432"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33" name="灯片编号占位符 3_19"/>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4" name="PlaceHolder 1"/>
          <p:cNvSpPr>
            <a:spLocks noGrp="1"/>
          </p:cNvSpPr>
          <p:nvPr>
            <p:ph type="sldImg"/>
          </p:nvPr>
        </p:nvSpPr>
        <p:spPr>
          <a:xfrm>
            <a:off x="1371600" y="1143000"/>
            <a:ext cx="4113360" cy="3084840"/>
          </a:xfrm>
          <a:prstGeom prst="rect">
            <a:avLst/>
          </a:prstGeom>
        </p:spPr>
      </p:sp>
      <p:sp>
        <p:nvSpPr>
          <p:cNvPr id="435"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36" name="灯片编号占位符 3_20"/>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7" name="PlaceHolder 1"/>
          <p:cNvSpPr>
            <a:spLocks noGrp="1"/>
          </p:cNvSpPr>
          <p:nvPr>
            <p:ph type="sldImg"/>
          </p:nvPr>
        </p:nvSpPr>
        <p:spPr>
          <a:xfrm>
            <a:off x="1371600" y="1143000"/>
            <a:ext cx="4113360" cy="3084840"/>
          </a:xfrm>
          <a:prstGeom prst="rect">
            <a:avLst/>
          </a:prstGeom>
        </p:spPr>
      </p:sp>
      <p:sp>
        <p:nvSpPr>
          <p:cNvPr id="438"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39" name="灯片编号占位符 3_34"/>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0" name="PlaceHolder 1"/>
          <p:cNvSpPr>
            <a:spLocks noGrp="1"/>
          </p:cNvSpPr>
          <p:nvPr>
            <p:ph type="sldImg"/>
          </p:nvPr>
        </p:nvSpPr>
        <p:spPr>
          <a:xfrm>
            <a:off x="1371600" y="1143000"/>
            <a:ext cx="4113360" cy="3084840"/>
          </a:xfrm>
          <a:prstGeom prst="rect">
            <a:avLst/>
          </a:prstGeom>
        </p:spPr>
      </p:sp>
      <p:sp>
        <p:nvSpPr>
          <p:cNvPr id="441"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42" name="灯片编号占位符 3_21"/>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3" name="PlaceHolder 1"/>
          <p:cNvSpPr>
            <a:spLocks noGrp="1"/>
          </p:cNvSpPr>
          <p:nvPr>
            <p:ph type="sldImg"/>
          </p:nvPr>
        </p:nvSpPr>
        <p:spPr>
          <a:xfrm>
            <a:off x="1371600" y="1143000"/>
            <a:ext cx="4113360" cy="3084840"/>
          </a:xfrm>
          <a:prstGeom prst="rect">
            <a:avLst/>
          </a:prstGeom>
        </p:spPr>
      </p:sp>
      <p:sp>
        <p:nvSpPr>
          <p:cNvPr id="444"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45" name="灯片编号占位符 3_22"/>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PlaceHolder 1"/>
          <p:cNvSpPr>
            <a:spLocks noGrp="1"/>
          </p:cNvSpPr>
          <p:nvPr>
            <p:ph type="sldImg"/>
          </p:nvPr>
        </p:nvSpPr>
        <p:spPr>
          <a:xfrm>
            <a:off x="1371600" y="1143000"/>
            <a:ext cx="4113360" cy="3084840"/>
          </a:xfrm>
          <a:prstGeom prst="rect">
            <a:avLst/>
          </a:prstGeom>
        </p:spPr>
      </p:sp>
      <p:sp>
        <p:nvSpPr>
          <p:cNvPr id="447"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48" name="灯片编号占位符 3_23"/>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9" name="PlaceHolder 1"/>
          <p:cNvSpPr>
            <a:spLocks noGrp="1"/>
          </p:cNvSpPr>
          <p:nvPr>
            <p:ph type="sldImg"/>
          </p:nvPr>
        </p:nvSpPr>
        <p:spPr>
          <a:xfrm>
            <a:off x="1371600" y="1143000"/>
            <a:ext cx="4113360" cy="3084840"/>
          </a:xfrm>
          <a:prstGeom prst="rect">
            <a:avLst/>
          </a:prstGeom>
        </p:spPr>
      </p:sp>
      <p:sp>
        <p:nvSpPr>
          <p:cNvPr id="450"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51" name="灯片编号占位符 3_35"/>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PlaceHolder 1"/>
          <p:cNvSpPr>
            <a:spLocks noGrp="1"/>
          </p:cNvSpPr>
          <p:nvPr>
            <p:ph type="sldImg"/>
          </p:nvPr>
        </p:nvSpPr>
        <p:spPr>
          <a:xfrm>
            <a:off x="1371600" y="1143000"/>
            <a:ext cx="4113360" cy="3084840"/>
          </a:xfrm>
          <a:prstGeom prst="rect">
            <a:avLst/>
          </a:prstGeom>
        </p:spPr>
      </p:sp>
      <p:sp>
        <p:nvSpPr>
          <p:cNvPr id="453"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54" name="灯片编号占位符 3_24"/>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PlaceHolder 1"/>
          <p:cNvSpPr>
            <a:spLocks noGrp="1"/>
          </p:cNvSpPr>
          <p:nvPr>
            <p:ph type="sldImg"/>
          </p:nvPr>
        </p:nvSpPr>
        <p:spPr>
          <a:xfrm>
            <a:off x="1371600" y="1143000"/>
            <a:ext cx="4113360" cy="3084840"/>
          </a:xfrm>
          <a:prstGeom prst="rect">
            <a:avLst/>
          </a:prstGeom>
        </p:spPr>
      </p:sp>
      <p:sp>
        <p:nvSpPr>
          <p:cNvPr id="456"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57" name="灯片编号占位符 3_36"/>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8" name="PlaceHolder 1"/>
          <p:cNvSpPr>
            <a:spLocks noGrp="1"/>
          </p:cNvSpPr>
          <p:nvPr>
            <p:ph type="sldImg"/>
          </p:nvPr>
        </p:nvSpPr>
        <p:spPr>
          <a:xfrm>
            <a:off x="1371600" y="1143000"/>
            <a:ext cx="4113360" cy="3084840"/>
          </a:xfrm>
          <a:prstGeom prst="rect">
            <a:avLst/>
          </a:prstGeom>
        </p:spPr>
      </p:sp>
      <p:sp>
        <p:nvSpPr>
          <p:cNvPr id="459"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60" name="灯片编号占位符 3_25"/>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sldImg"/>
          </p:nvPr>
        </p:nvSpPr>
        <p:spPr>
          <a:xfrm>
            <a:off x="1371600" y="1143000"/>
            <a:ext cx="4113360" cy="3084840"/>
          </a:xfrm>
          <a:prstGeom prst="rect">
            <a:avLst/>
          </a:prstGeom>
        </p:spPr>
      </p:sp>
      <p:sp>
        <p:nvSpPr>
          <p:cNvPr id="462"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63" name="灯片编号占位符 3_26"/>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4" name="PlaceHolder 1"/>
          <p:cNvSpPr>
            <a:spLocks noGrp="1"/>
          </p:cNvSpPr>
          <p:nvPr>
            <p:ph type="sldImg"/>
          </p:nvPr>
        </p:nvSpPr>
        <p:spPr>
          <a:xfrm>
            <a:off x="1371600" y="1143000"/>
            <a:ext cx="4113360" cy="3084840"/>
          </a:xfrm>
          <a:prstGeom prst="rect">
            <a:avLst/>
          </a:prstGeom>
        </p:spPr>
      </p:sp>
      <p:sp>
        <p:nvSpPr>
          <p:cNvPr id="465"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66" name="灯片编号占位符 3_27"/>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1371600" y="1143000"/>
            <a:ext cx="4113360" cy="3084840"/>
          </a:xfrm>
          <a:prstGeom prst="rect">
            <a:avLst/>
          </a:prstGeom>
        </p:spPr>
      </p:sp>
      <p:sp>
        <p:nvSpPr>
          <p:cNvPr id="468"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69" name="灯片编号占位符 3_28"/>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1371600" y="1143000"/>
            <a:ext cx="4113360" cy="3084840"/>
          </a:xfrm>
          <a:prstGeom prst="rect">
            <a:avLst/>
          </a:prstGeom>
        </p:spPr>
      </p:sp>
      <p:sp>
        <p:nvSpPr>
          <p:cNvPr id="471"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72" name="灯片编号占位符 3_29"/>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1371600" y="1143000"/>
            <a:ext cx="4113360" cy="3084840"/>
          </a:xfrm>
          <a:prstGeom prst="rect">
            <a:avLst/>
          </a:prstGeom>
        </p:spPr>
      </p:sp>
      <p:sp>
        <p:nvSpPr>
          <p:cNvPr id="474"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75" name="灯片编号占位符 3_46"/>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1371600" y="1143000"/>
            <a:ext cx="4113360" cy="3084840"/>
          </a:xfrm>
          <a:prstGeom prst="rect">
            <a:avLst/>
          </a:prstGeom>
        </p:spPr>
      </p:sp>
      <p:sp>
        <p:nvSpPr>
          <p:cNvPr id="477"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78" name="灯片编号占位符 3_37"/>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1371600" y="1143000"/>
            <a:ext cx="4113360" cy="3084840"/>
          </a:xfrm>
          <a:prstGeom prst="rect">
            <a:avLst/>
          </a:prstGeom>
        </p:spPr>
      </p:sp>
      <p:sp>
        <p:nvSpPr>
          <p:cNvPr id="480"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81" name="灯片编号占位符 3_38"/>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1371600" y="1143000"/>
            <a:ext cx="4113360" cy="3084840"/>
          </a:xfrm>
          <a:prstGeom prst="rect">
            <a:avLst/>
          </a:prstGeom>
        </p:spPr>
      </p:sp>
      <p:sp>
        <p:nvSpPr>
          <p:cNvPr id="483"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84" name="灯片编号占位符 3_39"/>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1371600" y="1143000"/>
            <a:ext cx="4113360" cy="3084840"/>
          </a:xfrm>
          <a:prstGeom prst="rect">
            <a:avLst/>
          </a:prstGeom>
        </p:spPr>
      </p:sp>
      <p:sp>
        <p:nvSpPr>
          <p:cNvPr id="486"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87" name="灯片编号占位符 3_40"/>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1371600" y="1143000"/>
            <a:ext cx="4113360" cy="3084840"/>
          </a:xfrm>
          <a:prstGeom prst="rect">
            <a:avLst/>
          </a:prstGeom>
        </p:spPr>
      </p:sp>
      <p:sp>
        <p:nvSpPr>
          <p:cNvPr id="489"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90" name="灯片编号占位符 3_41"/>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1371600" y="1143000"/>
            <a:ext cx="4113360" cy="3084840"/>
          </a:xfrm>
          <a:prstGeom prst="rect">
            <a:avLst/>
          </a:prstGeom>
        </p:spPr>
      </p:sp>
      <p:sp>
        <p:nvSpPr>
          <p:cNvPr id="492"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93" name="灯片编号占位符 3_42"/>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1371600" y="1143000"/>
            <a:ext cx="4113360" cy="3084840"/>
          </a:xfrm>
          <a:prstGeom prst="rect">
            <a:avLst/>
          </a:prstGeom>
        </p:spPr>
      </p:sp>
      <p:sp>
        <p:nvSpPr>
          <p:cNvPr id="495"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96" name="灯片编号占位符 3_43"/>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1371600" y="1143000"/>
            <a:ext cx="4113360" cy="3084840"/>
          </a:xfrm>
          <a:prstGeom prst="rect">
            <a:avLst/>
          </a:prstGeom>
        </p:spPr>
      </p:sp>
      <p:sp>
        <p:nvSpPr>
          <p:cNvPr id="498"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499" name="灯片编号占位符 3_44"/>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1371600" y="1143000"/>
            <a:ext cx="4113360" cy="3084840"/>
          </a:xfrm>
          <a:prstGeom prst="rect">
            <a:avLst/>
          </a:prstGeom>
        </p:spPr>
      </p:sp>
      <p:sp>
        <p:nvSpPr>
          <p:cNvPr id="501"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02" name="灯片编号占位符 3_45"/>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1371600" y="1143000"/>
            <a:ext cx="4113360" cy="3084840"/>
          </a:xfrm>
          <a:prstGeom prst="rect">
            <a:avLst/>
          </a:prstGeom>
        </p:spPr>
      </p:sp>
      <p:sp>
        <p:nvSpPr>
          <p:cNvPr id="504"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05" name="灯片编号占位符 3_47"/>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1371600" y="1143000"/>
            <a:ext cx="4113360" cy="3084840"/>
          </a:xfrm>
          <a:prstGeom prst="rect">
            <a:avLst/>
          </a:prstGeom>
        </p:spPr>
      </p:sp>
      <p:sp>
        <p:nvSpPr>
          <p:cNvPr id="507"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08" name="灯片编号占位符 3_48"/>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1371600" y="1143000"/>
            <a:ext cx="4113360" cy="3084840"/>
          </a:xfrm>
          <a:prstGeom prst="rect">
            <a:avLst/>
          </a:prstGeom>
        </p:spPr>
      </p:sp>
      <p:sp>
        <p:nvSpPr>
          <p:cNvPr id="510"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11" name="灯片编号占位符 3_49"/>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1371600" y="1143000"/>
            <a:ext cx="4113360" cy="3084840"/>
          </a:xfrm>
          <a:prstGeom prst="rect">
            <a:avLst/>
          </a:prstGeom>
        </p:spPr>
      </p:sp>
      <p:sp>
        <p:nvSpPr>
          <p:cNvPr id="513"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14" name="灯片编号占位符 3_50"/>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1371600" y="1143000"/>
            <a:ext cx="4113360" cy="3084840"/>
          </a:xfrm>
          <a:prstGeom prst="rect">
            <a:avLst/>
          </a:prstGeom>
        </p:spPr>
      </p:sp>
      <p:sp>
        <p:nvSpPr>
          <p:cNvPr id="516"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17" name="灯片编号占位符 3_51"/>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1371600" y="1143000"/>
            <a:ext cx="4113360" cy="3084840"/>
          </a:xfrm>
          <a:prstGeom prst="rect">
            <a:avLst/>
          </a:prstGeom>
        </p:spPr>
      </p:sp>
      <p:sp>
        <p:nvSpPr>
          <p:cNvPr id="519"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20" name="灯片编号占位符 3_52"/>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1371600" y="1143000"/>
            <a:ext cx="4113360" cy="3084840"/>
          </a:xfrm>
          <a:prstGeom prst="rect">
            <a:avLst/>
          </a:prstGeom>
        </p:spPr>
      </p:sp>
      <p:sp>
        <p:nvSpPr>
          <p:cNvPr id="522"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23" name="灯片编号占位符 3_53"/>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1371600" y="1143000"/>
            <a:ext cx="4113360" cy="3084840"/>
          </a:xfrm>
          <a:prstGeom prst="rect">
            <a:avLst/>
          </a:prstGeom>
        </p:spPr>
      </p:sp>
      <p:sp>
        <p:nvSpPr>
          <p:cNvPr id="525"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26" name="灯片编号占位符 3_54"/>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1371600" y="1143000"/>
            <a:ext cx="4113360" cy="3084840"/>
          </a:xfrm>
          <a:prstGeom prst="rect">
            <a:avLst/>
          </a:prstGeom>
        </p:spPr>
      </p:sp>
      <p:sp>
        <p:nvSpPr>
          <p:cNvPr id="528"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29" name="灯片编号占位符 3_55"/>
          <p:cNvSpPr/>
          <p:nvPr/>
        </p:nvSpPr>
        <p:spPr>
          <a:xfrm>
            <a:off x="3884760" y="8685360"/>
            <a:ext cx="2970360" cy="457200"/>
          </a:xfrm>
          <a:prstGeom prst="rect">
            <a:avLst/>
          </a:prstGeom>
          <a:noFill/>
          <a:ln w="9360">
            <a:noFill/>
          </a:ln>
        </p:spPr>
        <p:style>
          <a:lnRef idx="0"/>
          <a:fillRef idx="0"/>
          <a:effectRef idx="0"/>
          <a:fontRef idx="minor"/>
        </p:style>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1371600" y="1143000"/>
            <a:ext cx="4113360" cy="3084840"/>
          </a:xfrm>
          <a:prstGeom prst="rect">
            <a:avLst/>
          </a:prstGeom>
        </p:spPr>
      </p:sp>
      <p:sp>
        <p:nvSpPr>
          <p:cNvPr id="531" name="PlaceHolder 2"/>
          <p:cNvSpPr>
            <a:spLocks noGrp="1"/>
          </p:cNvSpPr>
          <p:nvPr>
            <p:ph type="body"/>
          </p:nvPr>
        </p:nvSpPr>
        <p:spPr>
          <a:xfrm>
            <a:off x="685800" y="4400640"/>
            <a:ext cx="5484960" cy="3598920"/>
          </a:xfrm>
          <a:prstGeom prst="rect">
            <a:avLst/>
          </a:prstGeom>
        </p:spPr>
        <p:txBody>
          <a:bodyPr lIns="0" rIns="0" tIns="0" bIns="0">
            <a:noAutofit/>
          </a:bodyPr>
          <a:p>
            <a:endParaRPr b="0" lang="en-IN" sz="2000" spc="-1" strike="noStrike">
              <a:latin typeface="Arial"/>
            </a:endParaRPr>
          </a:p>
        </p:txBody>
      </p:sp>
      <p:sp>
        <p:nvSpPr>
          <p:cNvPr id="532" name="灯片编号占位符 3_56"/>
          <p:cNvSpPr/>
          <p:nvPr/>
        </p:nvSpPr>
        <p:spPr>
          <a:xfrm>
            <a:off x="3884760" y="8685360"/>
            <a:ext cx="2970360" cy="457200"/>
          </a:xfrm>
          <a:prstGeom prst="rect">
            <a:avLst/>
          </a:prstGeom>
          <a:noFill/>
          <a:ln w="9360">
            <a:noFill/>
          </a:ln>
        </p:spPr>
        <p:style>
          <a:lnRef idx="0"/>
          <a:fillRef idx="0"/>
          <a:effectRef idx="0"/>
          <a:fontRef idx="minor"/>
        </p:style>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7" name="PlaceHolder 2"/>
          <p:cNvSpPr>
            <a:spLocks noGrp="1"/>
          </p:cNvSpPr>
          <p:nvPr>
            <p:ph type="subTitle"/>
          </p:nvPr>
        </p:nvSpPr>
        <p:spPr>
          <a:xfrm>
            <a:off x="457200" y="1604520"/>
            <a:ext cx="82292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9" name="PlaceHolder 2"/>
          <p:cNvSpPr>
            <a:spLocks noGrp="1"/>
          </p:cNvSpPr>
          <p:nvPr>
            <p:ph type="body"/>
          </p:nvPr>
        </p:nvSpPr>
        <p:spPr>
          <a:xfrm>
            <a:off x="457200" y="1604520"/>
            <a:ext cx="82292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1"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12"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457200" y="273600"/>
            <a:ext cx="82292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6"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17"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
        <p:nvSpPr>
          <p:cNvPr id="18"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20"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22" name="PlaceHolder 4"/>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24"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25"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26" name="PlaceHolder 4"/>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28" name="PlaceHolder 2"/>
          <p:cNvSpPr>
            <a:spLocks noGrp="1"/>
          </p:cNvSpPr>
          <p:nvPr>
            <p:ph type="body"/>
          </p:nvPr>
        </p:nvSpPr>
        <p:spPr>
          <a:xfrm>
            <a:off x="457200" y="1604520"/>
            <a:ext cx="8229240" cy="1896840"/>
          </a:xfrm>
          <a:prstGeom prst="rect">
            <a:avLst/>
          </a:prstGeom>
        </p:spPr>
        <p:txBody>
          <a:bodyPr lIns="0" rIns="0" tIns="0" bIns="0">
            <a:normAutofit/>
          </a:bodyPr>
          <a:p>
            <a:endParaRPr b="0" lang="en-IN" sz="3200" spc="-1" strike="noStrike">
              <a:latin typeface="Arial"/>
            </a:endParaRPr>
          </a:p>
        </p:txBody>
      </p:sp>
      <p:sp>
        <p:nvSpPr>
          <p:cNvPr id="29" name="PlaceHolder 3"/>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31"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32"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33"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
        <p:nvSpPr>
          <p:cNvPr id="34" name="PlaceHolder 5"/>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36" name="PlaceHolder 2"/>
          <p:cNvSpPr>
            <a:spLocks noGrp="1"/>
          </p:cNvSpPr>
          <p:nvPr>
            <p:ph type="body"/>
          </p:nvPr>
        </p:nvSpPr>
        <p:spPr>
          <a:xfrm>
            <a:off x="457200" y="1604520"/>
            <a:ext cx="2649600" cy="1896840"/>
          </a:xfrm>
          <a:prstGeom prst="rect">
            <a:avLst/>
          </a:prstGeom>
        </p:spPr>
        <p:txBody>
          <a:bodyPr lIns="0" rIns="0" tIns="0" bIns="0">
            <a:normAutofit/>
          </a:bodyPr>
          <a:p>
            <a:endParaRPr b="0" lang="en-IN" sz="3200" spc="-1" strike="noStrike">
              <a:latin typeface="Arial"/>
            </a:endParaRPr>
          </a:p>
        </p:txBody>
      </p:sp>
      <p:sp>
        <p:nvSpPr>
          <p:cNvPr id="37" name="PlaceHolder 3"/>
          <p:cNvSpPr>
            <a:spLocks noGrp="1"/>
          </p:cNvSpPr>
          <p:nvPr>
            <p:ph type="body"/>
          </p:nvPr>
        </p:nvSpPr>
        <p:spPr>
          <a:xfrm>
            <a:off x="3239640" y="1604520"/>
            <a:ext cx="2649600" cy="1896840"/>
          </a:xfrm>
          <a:prstGeom prst="rect">
            <a:avLst/>
          </a:prstGeom>
        </p:spPr>
        <p:txBody>
          <a:bodyPr lIns="0" rIns="0" tIns="0" bIns="0">
            <a:normAutofit/>
          </a:bodyPr>
          <a:p>
            <a:endParaRPr b="0" lang="en-IN" sz="3200" spc="-1" strike="noStrike">
              <a:latin typeface="Arial"/>
            </a:endParaRPr>
          </a:p>
        </p:txBody>
      </p:sp>
      <p:sp>
        <p:nvSpPr>
          <p:cNvPr id="38" name="PlaceHolder 4"/>
          <p:cNvSpPr>
            <a:spLocks noGrp="1"/>
          </p:cNvSpPr>
          <p:nvPr>
            <p:ph type="body"/>
          </p:nvPr>
        </p:nvSpPr>
        <p:spPr>
          <a:xfrm>
            <a:off x="6022080" y="1604520"/>
            <a:ext cx="2649600" cy="1896840"/>
          </a:xfrm>
          <a:prstGeom prst="rect">
            <a:avLst/>
          </a:prstGeom>
        </p:spPr>
        <p:txBody>
          <a:bodyPr lIns="0" rIns="0" tIns="0" bIns="0">
            <a:normAutofit/>
          </a:bodyPr>
          <a:p>
            <a:endParaRPr b="0" lang="en-IN" sz="3200" spc="-1" strike="noStrike">
              <a:latin typeface="Arial"/>
            </a:endParaRPr>
          </a:p>
        </p:txBody>
      </p:sp>
      <p:sp>
        <p:nvSpPr>
          <p:cNvPr id="39" name="PlaceHolder 5"/>
          <p:cNvSpPr>
            <a:spLocks noGrp="1"/>
          </p:cNvSpPr>
          <p:nvPr>
            <p:ph type="body"/>
          </p:nvPr>
        </p:nvSpPr>
        <p:spPr>
          <a:xfrm>
            <a:off x="457200" y="3682080"/>
            <a:ext cx="2649600" cy="1896840"/>
          </a:xfrm>
          <a:prstGeom prst="rect">
            <a:avLst/>
          </a:prstGeom>
        </p:spPr>
        <p:txBody>
          <a:bodyPr lIns="0" rIns="0" tIns="0" bIns="0">
            <a:normAutofit/>
          </a:bodyPr>
          <a:p>
            <a:endParaRPr b="0" lang="en-IN" sz="3200" spc="-1" strike="noStrike">
              <a:latin typeface="Arial"/>
            </a:endParaRPr>
          </a:p>
        </p:txBody>
      </p:sp>
      <p:sp>
        <p:nvSpPr>
          <p:cNvPr id="40" name="PlaceHolder 6"/>
          <p:cNvSpPr>
            <a:spLocks noGrp="1"/>
          </p:cNvSpPr>
          <p:nvPr>
            <p:ph type="body"/>
          </p:nvPr>
        </p:nvSpPr>
        <p:spPr>
          <a:xfrm>
            <a:off x="3239640" y="3682080"/>
            <a:ext cx="2649600" cy="1896840"/>
          </a:xfrm>
          <a:prstGeom prst="rect">
            <a:avLst/>
          </a:prstGeom>
        </p:spPr>
        <p:txBody>
          <a:bodyPr lIns="0" rIns="0" tIns="0" bIns="0">
            <a:normAutofit/>
          </a:bodyPr>
          <a:p>
            <a:endParaRPr b="0" lang="en-IN" sz="3200" spc="-1" strike="noStrike">
              <a:latin typeface="Arial"/>
            </a:endParaRPr>
          </a:p>
        </p:txBody>
      </p:sp>
      <p:sp>
        <p:nvSpPr>
          <p:cNvPr id="41" name="PlaceHolder 7"/>
          <p:cNvSpPr>
            <a:spLocks noGrp="1"/>
          </p:cNvSpPr>
          <p:nvPr>
            <p:ph type="body"/>
          </p:nvPr>
        </p:nvSpPr>
        <p:spPr>
          <a:xfrm>
            <a:off x="6022080" y="3682080"/>
            <a:ext cx="26496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47" name="PlaceHolder 2"/>
          <p:cNvSpPr>
            <a:spLocks noGrp="1"/>
          </p:cNvSpPr>
          <p:nvPr>
            <p:ph type="subTitle"/>
          </p:nvPr>
        </p:nvSpPr>
        <p:spPr>
          <a:xfrm>
            <a:off x="457200" y="1604520"/>
            <a:ext cx="82292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49" name="PlaceHolder 2"/>
          <p:cNvSpPr>
            <a:spLocks noGrp="1"/>
          </p:cNvSpPr>
          <p:nvPr>
            <p:ph type="body"/>
          </p:nvPr>
        </p:nvSpPr>
        <p:spPr>
          <a:xfrm>
            <a:off x="457200" y="1604520"/>
            <a:ext cx="82292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51"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52"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457200" y="273600"/>
            <a:ext cx="82292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56"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57"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
        <p:nvSpPr>
          <p:cNvPr id="58"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60"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6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62" name="PlaceHolder 4"/>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64"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65"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66" name="PlaceHolder 4"/>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68" name="PlaceHolder 2"/>
          <p:cNvSpPr>
            <a:spLocks noGrp="1"/>
          </p:cNvSpPr>
          <p:nvPr>
            <p:ph type="body"/>
          </p:nvPr>
        </p:nvSpPr>
        <p:spPr>
          <a:xfrm>
            <a:off x="457200" y="1604520"/>
            <a:ext cx="8229240" cy="1896840"/>
          </a:xfrm>
          <a:prstGeom prst="rect">
            <a:avLst/>
          </a:prstGeom>
        </p:spPr>
        <p:txBody>
          <a:bodyPr lIns="0" rIns="0" tIns="0" bIns="0">
            <a:normAutofit/>
          </a:bodyPr>
          <a:p>
            <a:endParaRPr b="0" lang="en-IN" sz="3200" spc="-1" strike="noStrike">
              <a:latin typeface="Arial"/>
            </a:endParaRPr>
          </a:p>
        </p:txBody>
      </p:sp>
      <p:sp>
        <p:nvSpPr>
          <p:cNvPr id="69" name="PlaceHolder 3"/>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71"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72"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73"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
        <p:nvSpPr>
          <p:cNvPr id="74" name="PlaceHolder 5"/>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76" name="PlaceHolder 2"/>
          <p:cNvSpPr>
            <a:spLocks noGrp="1"/>
          </p:cNvSpPr>
          <p:nvPr>
            <p:ph type="body"/>
          </p:nvPr>
        </p:nvSpPr>
        <p:spPr>
          <a:xfrm>
            <a:off x="457200" y="1604520"/>
            <a:ext cx="2649600" cy="1896840"/>
          </a:xfrm>
          <a:prstGeom prst="rect">
            <a:avLst/>
          </a:prstGeom>
        </p:spPr>
        <p:txBody>
          <a:bodyPr lIns="0" rIns="0" tIns="0" bIns="0">
            <a:normAutofit/>
          </a:bodyPr>
          <a:p>
            <a:endParaRPr b="0" lang="en-IN" sz="3200" spc="-1" strike="noStrike">
              <a:latin typeface="Arial"/>
            </a:endParaRPr>
          </a:p>
        </p:txBody>
      </p:sp>
      <p:sp>
        <p:nvSpPr>
          <p:cNvPr id="77" name="PlaceHolder 3"/>
          <p:cNvSpPr>
            <a:spLocks noGrp="1"/>
          </p:cNvSpPr>
          <p:nvPr>
            <p:ph type="body"/>
          </p:nvPr>
        </p:nvSpPr>
        <p:spPr>
          <a:xfrm>
            <a:off x="3239640" y="1604520"/>
            <a:ext cx="2649600" cy="1896840"/>
          </a:xfrm>
          <a:prstGeom prst="rect">
            <a:avLst/>
          </a:prstGeom>
        </p:spPr>
        <p:txBody>
          <a:bodyPr lIns="0" rIns="0" tIns="0" bIns="0">
            <a:normAutofit/>
          </a:bodyPr>
          <a:p>
            <a:endParaRPr b="0" lang="en-IN" sz="3200" spc="-1" strike="noStrike">
              <a:latin typeface="Arial"/>
            </a:endParaRPr>
          </a:p>
        </p:txBody>
      </p:sp>
      <p:sp>
        <p:nvSpPr>
          <p:cNvPr id="78" name="PlaceHolder 4"/>
          <p:cNvSpPr>
            <a:spLocks noGrp="1"/>
          </p:cNvSpPr>
          <p:nvPr>
            <p:ph type="body"/>
          </p:nvPr>
        </p:nvSpPr>
        <p:spPr>
          <a:xfrm>
            <a:off x="6022080" y="1604520"/>
            <a:ext cx="2649600" cy="1896840"/>
          </a:xfrm>
          <a:prstGeom prst="rect">
            <a:avLst/>
          </a:prstGeom>
        </p:spPr>
        <p:txBody>
          <a:bodyPr lIns="0" rIns="0" tIns="0" bIns="0">
            <a:normAutofit/>
          </a:bodyPr>
          <a:p>
            <a:endParaRPr b="0" lang="en-IN" sz="3200" spc="-1" strike="noStrike">
              <a:latin typeface="Arial"/>
            </a:endParaRPr>
          </a:p>
        </p:txBody>
      </p:sp>
      <p:sp>
        <p:nvSpPr>
          <p:cNvPr id="79" name="PlaceHolder 5"/>
          <p:cNvSpPr>
            <a:spLocks noGrp="1"/>
          </p:cNvSpPr>
          <p:nvPr>
            <p:ph type="body"/>
          </p:nvPr>
        </p:nvSpPr>
        <p:spPr>
          <a:xfrm>
            <a:off x="457200" y="3682080"/>
            <a:ext cx="2649600" cy="1896840"/>
          </a:xfrm>
          <a:prstGeom prst="rect">
            <a:avLst/>
          </a:prstGeom>
        </p:spPr>
        <p:txBody>
          <a:bodyPr lIns="0" rIns="0" tIns="0" bIns="0">
            <a:normAutofit/>
          </a:bodyPr>
          <a:p>
            <a:endParaRPr b="0" lang="en-IN" sz="3200" spc="-1" strike="noStrike">
              <a:latin typeface="Arial"/>
            </a:endParaRPr>
          </a:p>
        </p:txBody>
      </p:sp>
      <p:sp>
        <p:nvSpPr>
          <p:cNvPr id="80" name="PlaceHolder 6"/>
          <p:cNvSpPr>
            <a:spLocks noGrp="1"/>
          </p:cNvSpPr>
          <p:nvPr>
            <p:ph type="body"/>
          </p:nvPr>
        </p:nvSpPr>
        <p:spPr>
          <a:xfrm>
            <a:off x="3239640" y="3682080"/>
            <a:ext cx="2649600" cy="1896840"/>
          </a:xfrm>
          <a:prstGeom prst="rect">
            <a:avLst/>
          </a:prstGeom>
        </p:spPr>
        <p:txBody>
          <a:bodyPr lIns="0" rIns="0" tIns="0" bIns="0">
            <a:normAutofit/>
          </a:bodyPr>
          <a:p>
            <a:endParaRPr b="0" lang="en-IN" sz="3200" spc="-1" strike="noStrike">
              <a:latin typeface="Arial"/>
            </a:endParaRPr>
          </a:p>
        </p:txBody>
      </p:sp>
      <p:sp>
        <p:nvSpPr>
          <p:cNvPr id="81" name="PlaceHolder 7"/>
          <p:cNvSpPr>
            <a:spLocks noGrp="1"/>
          </p:cNvSpPr>
          <p:nvPr>
            <p:ph type="body"/>
          </p:nvPr>
        </p:nvSpPr>
        <p:spPr>
          <a:xfrm>
            <a:off x="6022080" y="3682080"/>
            <a:ext cx="26496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87" name="PlaceHolder 2"/>
          <p:cNvSpPr>
            <a:spLocks noGrp="1"/>
          </p:cNvSpPr>
          <p:nvPr>
            <p:ph type="subTitle"/>
          </p:nvPr>
        </p:nvSpPr>
        <p:spPr>
          <a:xfrm>
            <a:off x="457200" y="1604520"/>
            <a:ext cx="8229240" cy="397728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89" name="PlaceHolder 2"/>
          <p:cNvSpPr>
            <a:spLocks noGrp="1"/>
          </p:cNvSpPr>
          <p:nvPr>
            <p:ph type="body"/>
          </p:nvPr>
        </p:nvSpPr>
        <p:spPr>
          <a:xfrm>
            <a:off x="457200" y="1604520"/>
            <a:ext cx="822924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91"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92"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4" name="PlaceHolder 1"/>
          <p:cNvSpPr>
            <a:spLocks noGrp="1"/>
          </p:cNvSpPr>
          <p:nvPr>
            <p:ph type="subTitle"/>
          </p:nvPr>
        </p:nvSpPr>
        <p:spPr>
          <a:xfrm>
            <a:off x="457200" y="273600"/>
            <a:ext cx="8229240" cy="530784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96"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97" name="PlaceHolder 3"/>
          <p:cNvSpPr>
            <a:spLocks noGrp="1"/>
          </p:cNvSpPr>
          <p:nvPr>
            <p:ph type="body"/>
          </p:nvPr>
        </p:nvSpPr>
        <p:spPr>
          <a:xfrm>
            <a:off x="4674240" y="1604520"/>
            <a:ext cx="4015800" cy="3977280"/>
          </a:xfrm>
          <a:prstGeom prst="rect">
            <a:avLst/>
          </a:prstGeom>
        </p:spPr>
        <p:txBody>
          <a:bodyPr lIns="0" rIns="0" tIns="0" bIns="0">
            <a:normAutofit/>
          </a:bodyPr>
          <a:p>
            <a:endParaRPr b="0" lang="en-IN" sz="3200" spc="-1" strike="noStrike">
              <a:latin typeface="Arial"/>
            </a:endParaRPr>
          </a:p>
        </p:txBody>
      </p:sp>
      <p:sp>
        <p:nvSpPr>
          <p:cNvPr id="98"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00" name="PlaceHolder 2"/>
          <p:cNvSpPr>
            <a:spLocks noGrp="1"/>
          </p:cNvSpPr>
          <p:nvPr>
            <p:ph type="body"/>
          </p:nvPr>
        </p:nvSpPr>
        <p:spPr>
          <a:xfrm>
            <a:off x="457200" y="1604520"/>
            <a:ext cx="4015800" cy="3977280"/>
          </a:xfrm>
          <a:prstGeom prst="rect">
            <a:avLst/>
          </a:prstGeom>
        </p:spPr>
        <p:txBody>
          <a:bodyPr lIns="0" rIns="0" tIns="0" bIns="0">
            <a:normAutofit/>
          </a:bodyPr>
          <a:p>
            <a:endParaRPr b="0" lang="en-IN" sz="3200" spc="-1" strike="noStrike">
              <a:latin typeface="Arial"/>
            </a:endParaRPr>
          </a:p>
        </p:txBody>
      </p:sp>
      <p:sp>
        <p:nvSpPr>
          <p:cNvPr id="101"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102" name="PlaceHolder 4"/>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04"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105"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106" name="PlaceHolder 4"/>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08" name="PlaceHolder 2"/>
          <p:cNvSpPr>
            <a:spLocks noGrp="1"/>
          </p:cNvSpPr>
          <p:nvPr>
            <p:ph type="body"/>
          </p:nvPr>
        </p:nvSpPr>
        <p:spPr>
          <a:xfrm>
            <a:off x="457200" y="1604520"/>
            <a:ext cx="8229240" cy="1896840"/>
          </a:xfrm>
          <a:prstGeom prst="rect">
            <a:avLst/>
          </a:prstGeom>
        </p:spPr>
        <p:txBody>
          <a:bodyPr lIns="0" rIns="0" tIns="0" bIns="0">
            <a:normAutofit/>
          </a:bodyPr>
          <a:p>
            <a:endParaRPr b="0" lang="en-IN" sz="3200" spc="-1" strike="noStrike">
              <a:latin typeface="Arial"/>
            </a:endParaRPr>
          </a:p>
        </p:txBody>
      </p:sp>
      <p:sp>
        <p:nvSpPr>
          <p:cNvPr id="109" name="PlaceHolder 3"/>
          <p:cNvSpPr>
            <a:spLocks noGrp="1"/>
          </p:cNvSpPr>
          <p:nvPr>
            <p:ph type="body"/>
          </p:nvPr>
        </p:nvSpPr>
        <p:spPr>
          <a:xfrm>
            <a:off x="457200" y="3682080"/>
            <a:ext cx="822924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11" name="PlaceHolder 2"/>
          <p:cNvSpPr>
            <a:spLocks noGrp="1"/>
          </p:cNvSpPr>
          <p:nvPr>
            <p:ph type="body"/>
          </p:nvPr>
        </p:nvSpPr>
        <p:spPr>
          <a:xfrm>
            <a:off x="457200" y="1604520"/>
            <a:ext cx="4015800" cy="1896840"/>
          </a:xfrm>
          <a:prstGeom prst="rect">
            <a:avLst/>
          </a:prstGeom>
        </p:spPr>
        <p:txBody>
          <a:bodyPr lIns="0" rIns="0" tIns="0" bIns="0">
            <a:normAutofit/>
          </a:bodyPr>
          <a:p>
            <a:endParaRPr b="0" lang="en-IN" sz="3200" spc="-1" strike="noStrike">
              <a:latin typeface="Arial"/>
            </a:endParaRPr>
          </a:p>
        </p:txBody>
      </p:sp>
      <p:sp>
        <p:nvSpPr>
          <p:cNvPr id="112" name="PlaceHolder 3"/>
          <p:cNvSpPr>
            <a:spLocks noGrp="1"/>
          </p:cNvSpPr>
          <p:nvPr>
            <p:ph type="body"/>
          </p:nvPr>
        </p:nvSpPr>
        <p:spPr>
          <a:xfrm>
            <a:off x="4674240" y="1604520"/>
            <a:ext cx="4015800" cy="1896840"/>
          </a:xfrm>
          <a:prstGeom prst="rect">
            <a:avLst/>
          </a:prstGeom>
        </p:spPr>
        <p:txBody>
          <a:bodyPr lIns="0" rIns="0" tIns="0" bIns="0">
            <a:normAutofit/>
          </a:bodyPr>
          <a:p>
            <a:endParaRPr b="0" lang="en-IN" sz="3200" spc="-1" strike="noStrike">
              <a:latin typeface="Arial"/>
            </a:endParaRPr>
          </a:p>
        </p:txBody>
      </p:sp>
      <p:sp>
        <p:nvSpPr>
          <p:cNvPr id="113" name="PlaceHolder 4"/>
          <p:cNvSpPr>
            <a:spLocks noGrp="1"/>
          </p:cNvSpPr>
          <p:nvPr>
            <p:ph type="body"/>
          </p:nvPr>
        </p:nvSpPr>
        <p:spPr>
          <a:xfrm>
            <a:off x="457200" y="3682080"/>
            <a:ext cx="4015800" cy="1896840"/>
          </a:xfrm>
          <a:prstGeom prst="rect">
            <a:avLst/>
          </a:prstGeom>
        </p:spPr>
        <p:txBody>
          <a:bodyPr lIns="0" rIns="0" tIns="0" bIns="0">
            <a:normAutofit/>
          </a:bodyPr>
          <a:p>
            <a:endParaRPr b="0" lang="en-IN" sz="3200" spc="-1" strike="noStrike">
              <a:latin typeface="Arial"/>
            </a:endParaRPr>
          </a:p>
        </p:txBody>
      </p:sp>
      <p:sp>
        <p:nvSpPr>
          <p:cNvPr id="114" name="PlaceHolder 5"/>
          <p:cNvSpPr>
            <a:spLocks noGrp="1"/>
          </p:cNvSpPr>
          <p:nvPr>
            <p:ph type="body"/>
          </p:nvPr>
        </p:nvSpPr>
        <p:spPr>
          <a:xfrm>
            <a:off x="4674240" y="3682080"/>
            <a:ext cx="4015800" cy="1896840"/>
          </a:xfrm>
          <a:prstGeom prst="rect">
            <a:avLst/>
          </a:prstGeom>
        </p:spPr>
        <p:txBody>
          <a:bodyPr lIns="0" rIns="0" tIns="0" bIns="0">
            <a:normAutofit/>
          </a:bodyPr>
          <a:p>
            <a:endParaRPr b="0" lang="en-IN" sz="3200" spc="-1" strike="noStrike">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5" name="PlaceHolder 1"/>
          <p:cNvSpPr>
            <a:spLocks noGrp="1"/>
          </p:cNvSpPr>
          <p:nvPr>
            <p:ph type="title"/>
          </p:nvPr>
        </p:nvSpPr>
        <p:spPr>
          <a:xfrm>
            <a:off x="457200" y="273600"/>
            <a:ext cx="8229240" cy="1144800"/>
          </a:xfrm>
          <a:prstGeom prst="rect">
            <a:avLst/>
          </a:prstGeom>
        </p:spPr>
        <p:txBody>
          <a:bodyPr lIns="0" rIns="0" tIns="0" bIns="0" anchor="ctr">
            <a:noAutofit/>
          </a:bodyPr>
          <a:p>
            <a:pPr algn="ctr"/>
            <a:endParaRPr b="0" lang="en-IN" sz="4400" spc="-1" strike="noStrike">
              <a:latin typeface="Arial"/>
            </a:endParaRPr>
          </a:p>
        </p:txBody>
      </p:sp>
      <p:sp>
        <p:nvSpPr>
          <p:cNvPr id="116" name="PlaceHolder 2"/>
          <p:cNvSpPr>
            <a:spLocks noGrp="1"/>
          </p:cNvSpPr>
          <p:nvPr>
            <p:ph type="body"/>
          </p:nvPr>
        </p:nvSpPr>
        <p:spPr>
          <a:xfrm>
            <a:off x="457200" y="1604520"/>
            <a:ext cx="2649600" cy="1896840"/>
          </a:xfrm>
          <a:prstGeom prst="rect">
            <a:avLst/>
          </a:prstGeom>
        </p:spPr>
        <p:txBody>
          <a:bodyPr lIns="0" rIns="0" tIns="0" bIns="0">
            <a:normAutofit/>
          </a:bodyPr>
          <a:p>
            <a:endParaRPr b="0" lang="en-IN" sz="3200" spc="-1" strike="noStrike">
              <a:latin typeface="Arial"/>
            </a:endParaRPr>
          </a:p>
        </p:txBody>
      </p:sp>
      <p:sp>
        <p:nvSpPr>
          <p:cNvPr id="117" name="PlaceHolder 3"/>
          <p:cNvSpPr>
            <a:spLocks noGrp="1"/>
          </p:cNvSpPr>
          <p:nvPr>
            <p:ph type="body"/>
          </p:nvPr>
        </p:nvSpPr>
        <p:spPr>
          <a:xfrm>
            <a:off x="3239640" y="1604520"/>
            <a:ext cx="2649600" cy="1896840"/>
          </a:xfrm>
          <a:prstGeom prst="rect">
            <a:avLst/>
          </a:prstGeom>
        </p:spPr>
        <p:txBody>
          <a:bodyPr lIns="0" rIns="0" tIns="0" bIns="0">
            <a:normAutofit/>
          </a:bodyPr>
          <a:p>
            <a:endParaRPr b="0" lang="en-IN" sz="3200" spc="-1" strike="noStrike">
              <a:latin typeface="Arial"/>
            </a:endParaRPr>
          </a:p>
        </p:txBody>
      </p:sp>
      <p:sp>
        <p:nvSpPr>
          <p:cNvPr id="118" name="PlaceHolder 4"/>
          <p:cNvSpPr>
            <a:spLocks noGrp="1"/>
          </p:cNvSpPr>
          <p:nvPr>
            <p:ph type="body"/>
          </p:nvPr>
        </p:nvSpPr>
        <p:spPr>
          <a:xfrm>
            <a:off x="6022080" y="1604520"/>
            <a:ext cx="2649600" cy="1896840"/>
          </a:xfrm>
          <a:prstGeom prst="rect">
            <a:avLst/>
          </a:prstGeom>
        </p:spPr>
        <p:txBody>
          <a:bodyPr lIns="0" rIns="0" tIns="0" bIns="0">
            <a:normAutofit/>
          </a:bodyPr>
          <a:p>
            <a:endParaRPr b="0" lang="en-IN" sz="3200" spc="-1" strike="noStrike">
              <a:latin typeface="Arial"/>
            </a:endParaRPr>
          </a:p>
        </p:txBody>
      </p:sp>
      <p:sp>
        <p:nvSpPr>
          <p:cNvPr id="119" name="PlaceHolder 5"/>
          <p:cNvSpPr>
            <a:spLocks noGrp="1"/>
          </p:cNvSpPr>
          <p:nvPr>
            <p:ph type="body"/>
          </p:nvPr>
        </p:nvSpPr>
        <p:spPr>
          <a:xfrm>
            <a:off x="457200" y="3682080"/>
            <a:ext cx="2649600" cy="1896840"/>
          </a:xfrm>
          <a:prstGeom prst="rect">
            <a:avLst/>
          </a:prstGeom>
        </p:spPr>
        <p:txBody>
          <a:bodyPr lIns="0" rIns="0" tIns="0" bIns="0">
            <a:normAutofit/>
          </a:bodyPr>
          <a:p>
            <a:endParaRPr b="0" lang="en-IN" sz="3200" spc="-1" strike="noStrike">
              <a:latin typeface="Arial"/>
            </a:endParaRPr>
          </a:p>
        </p:txBody>
      </p:sp>
      <p:sp>
        <p:nvSpPr>
          <p:cNvPr id="120" name="PlaceHolder 6"/>
          <p:cNvSpPr>
            <a:spLocks noGrp="1"/>
          </p:cNvSpPr>
          <p:nvPr>
            <p:ph type="body"/>
          </p:nvPr>
        </p:nvSpPr>
        <p:spPr>
          <a:xfrm>
            <a:off x="3239640" y="3682080"/>
            <a:ext cx="2649600" cy="1896840"/>
          </a:xfrm>
          <a:prstGeom prst="rect">
            <a:avLst/>
          </a:prstGeom>
        </p:spPr>
        <p:txBody>
          <a:bodyPr lIns="0" rIns="0" tIns="0" bIns="0">
            <a:normAutofit/>
          </a:bodyPr>
          <a:p>
            <a:endParaRPr b="0" lang="en-IN" sz="3200" spc="-1" strike="noStrike">
              <a:latin typeface="Arial"/>
            </a:endParaRPr>
          </a:p>
        </p:txBody>
      </p:sp>
      <p:sp>
        <p:nvSpPr>
          <p:cNvPr id="121" name="PlaceHolder 7"/>
          <p:cNvSpPr>
            <a:spLocks noGrp="1"/>
          </p:cNvSpPr>
          <p:nvPr>
            <p:ph type="body"/>
          </p:nvPr>
        </p:nvSpPr>
        <p:spPr>
          <a:xfrm>
            <a:off x="6022080" y="3682080"/>
            <a:ext cx="2649600" cy="1896840"/>
          </a:xfrm>
          <a:prstGeom prst="rect">
            <a:avLst/>
          </a:prstGeom>
        </p:spPr>
        <p:txBody>
          <a:bodyPr lIns="0" rIns="0" tIns="0" bIns="0">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 Id="rId10" Type="http://schemas.openxmlformats.org/officeDocument/2006/relationships/slideLayout" Target="../slideLayouts/slideLayout7.xml"/><Relationship Id="rId11" Type="http://schemas.openxmlformats.org/officeDocument/2006/relationships/slideLayout" Target="../slideLayouts/slideLayout8.xml"/><Relationship Id="rId12" Type="http://schemas.openxmlformats.org/officeDocument/2006/relationships/slideLayout" Target="../slideLayouts/slideLayout9.xml"/><Relationship Id="rId13" Type="http://schemas.openxmlformats.org/officeDocument/2006/relationships/slideLayout" Target="../slideLayouts/slideLayout10.xml"/><Relationship Id="rId14" Type="http://schemas.openxmlformats.org/officeDocument/2006/relationships/slideLayout" Target="../slideLayouts/slideLayout11.xml"/><Relationship Id="rId15"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4.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0" name="图片 6" descr=""/>
          <p:cNvPicPr/>
          <p:nvPr/>
        </p:nvPicPr>
        <p:blipFill>
          <a:blip r:embed="rId2"/>
          <a:srcRect l="0" t="0" r="380" b="1679"/>
          <a:stretch/>
        </p:blipFill>
        <p:spPr>
          <a:xfrm>
            <a:off x="0" y="-3240"/>
            <a:ext cx="9142560" cy="6859800"/>
          </a:xfrm>
          <a:prstGeom prst="rect">
            <a:avLst/>
          </a:prstGeom>
          <a:ln w="9525">
            <a:noFill/>
          </a:ln>
        </p:spPr>
      </p:pic>
      <p:sp>
        <p:nvSpPr>
          <p:cNvPr id="1" name="矩形 7" hidden="1"/>
          <p:cNvSpPr/>
          <p:nvPr/>
        </p:nvSpPr>
        <p:spPr>
          <a:xfrm>
            <a:off x="0" y="487440"/>
            <a:ext cx="103320" cy="408240"/>
          </a:xfrm>
          <a:prstGeom prst="rect">
            <a:avLst/>
          </a:prstGeom>
          <a:solidFill>
            <a:srgbClr val="5d80b3"/>
          </a:solidFill>
          <a:ln>
            <a:noFill/>
          </a:ln>
        </p:spPr>
        <p:style>
          <a:lnRef idx="2">
            <a:schemeClr val="accent1">
              <a:shade val="50000"/>
            </a:schemeClr>
          </a:lnRef>
          <a:fillRef idx="1">
            <a:schemeClr val="accent1"/>
          </a:fillRef>
          <a:effectRef idx="0">
            <a:schemeClr val="accent1"/>
          </a:effectRef>
          <a:fontRef idx="minor"/>
        </p:style>
      </p:sp>
      <p:pic>
        <p:nvPicPr>
          <p:cNvPr id="2" name="图片 8" descr=""/>
          <p:cNvPicPr/>
          <p:nvPr/>
        </p:nvPicPr>
        <p:blipFill>
          <a:blip r:embed="rId3"/>
          <a:srcRect l="0" t="3322" r="0" b="0"/>
          <a:stretch/>
        </p:blipFill>
        <p:spPr>
          <a:xfrm>
            <a:off x="0" y="0"/>
            <a:ext cx="9142560" cy="6664320"/>
          </a:xfrm>
          <a:prstGeom prst="rect">
            <a:avLst/>
          </a:prstGeom>
          <a:ln w="9525">
            <a:noFill/>
          </a:ln>
        </p:spPr>
      </p:pic>
      <p:sp>
        <p:nvSpPr>
          <p:cNvPr id="3" name="矩形 9"/>
          <p:cNvSpPr/>
          <p:nvPr/>
        </p:nvSpPr>
        <p:spPr>
          <a:xfrm>
            <a:off x="0" y="4989600"/>
            <a:ext cx="9142560" cy="1866960"/>
          </a:xfrm>
          <a:prstGeom prst="rect">
            <a:avLst/>
          </a:prstGeom>
          <a:gradFill rotWithShape="0">
            <a:gsLst>
              <a:gs pos="0">
                <a:srgbClr val="ffffff"/>
              </a:gs>
              <a:gs pos="100000">
                <a:srgbClr val="ffffff">
                  <a:alpha val="0"/>
                </a:srgbClr>
              </a:gs>
            </a:gsLst>
            <a:lin ang="16200000"/>
          </a:gradFill>
          <a:ln>
            <a:noFill/>
          </a:ln>
        </p:spPr>
        <p:style>
          <a:lnRef idx="2">
            <a:schemeClr val="accent1">
              <a:shade val="50000"/>
            </a:schemeClr>
          </a:lnRef>
          <a:fillRef idx="1">
            <a:schemeClr val="accent1"/>
          </a:fillRef>
          <a:effectRef idx="0">
            <a:schemeClr val="accent1"/>
          </a:effectRef>
          <a:fontRef idx="minor"/>
        </p:style>
      </p:sp>
      <p:sp>
        <p:nvSpPr>
          <p:cNvPr id="4" name="PlaceHolder 1"/>
          <p:cNvSpPr>
            <a:spLocks noGrp="1"/>
          </p:cNvSpPr>
          <p:nvPr>
            <p:ph type="title"/>
          </p:nvPr>
        </p:nvSpPr>
        <p:spPr>
          <a:xfrm>
            <a:off x="457200" y="273600"/>
            <a:ext cx="8229240" cy="1144800"/>
          </a:xfrm>
          <a:prstGeom prst="rect">
            <a:avLst/>
          </a:prstGeom>
        </p:spPr>
        <p:txBody>
          <a:bodyPr lIns="0" rIns="0" tIns="0" bIns="0" anchor="ctr">
            <a:noAutofit/>
          </a:bodyPr>
          <a:p>
            <a:pPr algn="ctr"/>
            <a:r>
              <a:rPr b="0" lang="en-IN" sz="4400" spc="-1" strike="noStrike">
                <a:latin typeface="Arial"/>
              </a:rPr>
              <a:t>Click to edit the title text format</a:t>
            </a:r>
            <a:endParaRPr b="0" lang="en-IN" sz="4400" spc="-1" strike="noStrike">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2" name="图片 6" descr=""/>
          <p:cNvPicPr/>
          <p:nvPr/>
        </p:nvPicPr>
        <p:blipFill>
          <a:blip r:embed="rId2"/>
          <a:srcRect l="0" t="0" r="380" b="1679"/>
          <a:stretch/>
        </p:blipFill>
        <p:spPr>
          <a:xfrm>
            <a:off x="0" y="-3240"/>
            <a:ext cx="9142560" cy="6859800"/>
          </a:xfrm>
          <a:prstGeom prst="rect">
            <a:avLst/>
          </a:prstGeom>
          <a:ln w="9525">
            <a:noFill/>
          </a:ln>
        </p:spPr>
      </p:pic>
      <p:sp>
        <p:nvSpPr>
          <p:cNvPr id="43" name="矩形 7"/>
          <p:cNvSpPr/>
          <p:nvPr/>
        </p:nvSpPr>
        <p:spPr>
          <a:xfrm>
            <a:off x="0" y="487440"/>
            <a:ext cx="103320" cy="408240"/>
          </a:xfrm>
          <a:prstGeom prst="rect">
            <a:avLst/>
          </a:prstGeom>
          <a:solidFill>
            <a:srgbClr val="5d80b3"/>
          </a:solidFill>
          <a:ln>
            <a:noFill/>
          </a:ln>
        </p:spPr>
        <p:style>
          <a:lnRef idx="2">
            <a:schemeClr val="accent1">
              <a:shade val="50000"/>
            </a:schemeClr>
          </a:lnRef>
          <a:fillRef idx="1">
            <a:schemeClr val="accent1"/>
          </a:fillRef>
          <a:effectRef idx="0">
            <a:schemeClr val="accent1"/>
          </a:effectRef>
          <a:fontRef idx="minor"/>
        </p:style>
      </p:sp>
      <p:sp>
        <p:nvSpPr>
          <p:cNvPr id="44" name="PlaceHolder 1"/>
          <p:cNvSpPr>
            <a:spLocks noGrp="1"/>
          </p:cNvSpPr>
          <p:nvPr>
            <p:ph type="title"/>
          </p:nvPr>
        </p:nvSpPr>
        <p:spPr>
          <a:xfrm>
            <a:off x="457200" y="273600"/>
            <a:ext cx="8229240" cy="1144800"/>
          </a:xfrm>
          <a:prstGeom prst="rect">
            <a:avLst/>
          </a:prstGeom>
        </p:spPr>
        <p:txBody>
          <a:bodyPr lIns="0" rIns="0" tIns="0" bIns="0" anchor="ctr">
            <a:noAutofit/>
          </a:bodyPr>
          <a:p>
            <a:pPr algn="ctr"/>
            <a:r>
              <a:rPr b="0" lang="en-IN" sz="4400" spc="-1" strike="noStrike">
                <a:latin typeface="Arial"/>
              </a:rPr>
              <a:t>Click to edit the title text format</a:t>
            </a:r>
            <a:endParaRPr b="0" lang="en-IN" sz="4400" spc="-1" strike="noStrike">
              <a:latin typeface="Arial"/>
            </a:endParaRPr>
          </a:p>
        </p:txBody>
      </p:sp>
      <p:sp>
        <p:nvSpPr>
          <p:cNvPr id="45" name="PlaceHolder 2"/>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2" name="图片 6" descr=""/>
          <p:cNvPicPr/>
          <p:nvPr/>
        </p:nvPicPr>
        <p:blipFill>
          <a:blip r:embed="rId2"/>
          <a:srcRect l="0" t="0" r="380" b="1679"/>
          <a:stretch/>
        </p:blipFill>
        <p:spPr>
          <a:xfrm>
            <a:off x="0" y="-3240"/>
            <a:ext cx="9142560" cy="6859800"/>
          </a:xfrm>
          <a:prstGeom prst="rect">
            <a:avLst/>
          </a:prstGeom>
          <a:ln w="9525">
            <a:noFill/>
          </a:ln>
        </p:spPr>
      </p:pic>
      <p:sp>
        <p:nvSpPr>
          <p:cNvPr id="83" name="矩形 7"/>
          <p:cNvSpPr/>
          <p:nvPr/>
        </p:nvSpPr>
        <p:spPr>
          <a:xfrm>
            <a:off x="0" y="487440"/>
            <a:ext cx="103320" cy="408240"/>
          </a:xfrm>
          <a:prstGeom prst="rect">
            <a:avLst/>
          </a:prstGeom>
          <a:solidFill>
            <a:srgbClr val="5d80b3"/>
          </a:solidFill>
          <a:ln>
            <a:noFill/>
          </a:ln>
        </p:spPr>
        <p:style>
          <a:lnRef idx="2">
            <a:schemeClr val="accent1">
              <a:shade val="50000"/>
            </a:schemeClr>
          </a:lnRef>
          <a:fillRef idx="1">
            <a:schemeClr val="accent1"/>
          </a:fillRef>
          <a:effectRef idx="0">
            <a:schemeClr val="accent1"/>
          </a:effectRef>
          <a:fontRef idx="minor"/>
        </p:style>
      </p:sp>
      <p:sp>
        <p:nvSpPr>
          <p:cNvPr id="84" name="PlaceHolder 1"/>
          <p:cNvSpPr>
            <a:spLocks noGrp="1"/>
          </p:cNvSpPr>
          <p:nvPr>
            <p:ph type="title"/>
          </p:nvPr>
        </p:nvSpPr>
        <p:spPr>
          <a:xfrm>
            <a:off x="457200" y="273600"/>
            <a:ext cx="8229240" cy="1144800"/>
          </a:xfrm>
          <a:prstGeom prst="rect">
            <a:avLst/>
          </a:prstGeom>
        </p:spPr>
        <p:txBody>
          <a:bodyPr lIns="0" rIns="0" tIns="0" bIns="0" anchor="ctr">
            <a:noAutofit/>
          </a:bodyPr>
          <a:p>
            <a:pPr algn="ctr"/>
            <a:r>
              <a:rPr b="0" lang="en-IN" sz="4400" spc="-1" strike="noStrike">
                <a:latin typeface="Arial"/>
              </a:rPr>
              <a:t>Click to edit the title text format</a:t>
            </a:r>
            <a:endParaRPr b="0" lang="en-IN" sz="4400" spc="-1" strike="noStrike">
              <a:latin typeface="Arial"/>
            </a:endParaRPr>
          </a:p>
        </p:txBody>
      </p:sp>
      <p:sp>
        <p:nvSpPr>
          <p:cNvPr id="85" name="PlaceHolder 2"/>
          <p:cNvSpPr>
            <a:spLocks noGrp="1"/>
          </p:cNvSpPr>
          <p:nvPr>
            <p:ph type="body"/>
          </p:nvPr>
        </p:nvSpPr>
        <p:spPr>
          <a:xfrm>
            <a:off x="457200" y="1604520"/>
            <a:ext cx="82292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Relationship Id="rId3"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8.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标题 1"/>
          <p:cNvSpPr/>
          <p:nvPr/>
        </p:nvSpPr>
        <p:spPr>
          <a:xfrm>
            <a:off x="1096920" y="5005440"/>
            <a:ext cx="6946920" cy="695520"/>
          </a:xfrm>
          <a:prstGeom prst="rect">
            <a:avLst/>
          </a:prstGeom>
          <a:noFill/>
          <a:ln w="9360">
            <a:noFill/>
          </a:ln>
        </p:spPr>
        <p:style>
          <a:lnRef idx="0"/>
          <a:fillRef idx="0"/>
          <a:effectRef idx="0"/>
          <a:fontRef idx="minor"/>
        </p:style>
      </p:sp>
      <p:sp>
        <p:nvSpPr>
          <p:cNvPr id="129" name="副标题 2"/>
          <p:cNvSpPr/>
          <p:nvPr/>
        </p:nvSpPr>
        <p:spPr>
          <a:xfrm>
            <a:off x="1084320" y="5724360"/>
            <a:ext cx="6973920" cy="555840"/>
          </a:xfrm>
          <a:prstGeom prst="rect">
            <a:avLst/>
          </a:prstGeom>
          <a:noFill/>
          <a:ln w="9360">
            <a:noFill/>
          </a:ln>
        </p:spPr>
        <p:style>
          <a:lnRef idx="0"/>
          <a:fillRef idx="0"/>
          <a:effectRef idx="0"/>
          <a:fontRef idx="minor"/>
        </p:style>
      </p:sp>
      <p:sp>
        <p:nvSpPr>
          <p:cNvPr id="130" name=""/>
          <p:cNvSpPr/>
          <p:nvPr/>
        </p:nvSpPr>
        <p:spPr>
          <a:xfrm>
            <a:off x="1389240" y="5224680"/>
            <a:ext cx="6890040" cy="7146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4400" spc="-1" strike="noStrike">
                <a:solidFill>
                  <a:srgbClr val="000000"/>
                </a:solidFill>
                <a:latin typeface="Arial"/>
                <a:ea typeface="DejaVu Sans"/>
              </a:rPr>
              <a:t>Data Center Management</a:t>
            </a:r>
            <a:endParaRPr b="0" lang="en-IN" sz="44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Rectangle 5"/>
          <p:cNvSpPr/>
          <p:nvPr/>
        </p:nvSpPr>
        <p:spPr>
          <a:xfrm>
            <a:off x="444600" y="258840"/>
            <a:ext cx="6659640" cy="696960"/>
          </a:xfrm>
          <a:prstGeom prst="rect">
            <a:avLst/>
          </a:prstGeom>
          <a:noFill/>
          <a:ln w="9360">
            <a:noFill/>
          </a:ln>
        </p:spPr>
        <p:style>
          <a:lnRef idx="0"/>
          <a:fillRef idx="0"/>
          <a:effectRef idx="0"/>
          <a:fontRef idx="minor"/>
        </p:style>
      </p:sp>
      <p:sp>
        <p:nvSpPr>
          <p:cNvPr id="132" name="Rectangle 6"/>
          <p:cNvSpPr/>
          <p:nvPr/>
        </p:nvSpPr>
        <p:spPr>
          <a:xfrm>
            <a:off x="628560" y="1328760"/>
            <a:ext cx="7885440" cy="4748400"/>
          </a:xfrm>
          <a:prstGeom prst="rect">
            <a:avLst/>
          </a:prstGeom>
          <a:noFill/>
          <a:ln w="9360">
            <a:noFill/>
          </a:ln>
        </p:spPr>
        <p:style>
          <a:lnRef idx="0"/>
          <a:fillRef idx="0"/>
          <a:effectRef idx="0"/>
          <a:fontRef idx="minor"/>
        </p:style>
      </p:sp>
      <p:sp>
        <p:nvSpPr>
          <p:cNvPr id="133"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34" name=""/>
          <p:cNvSpPr/>
          <p:nvPr/>
        </p:nvSpPr>
        <p:spPr>
          <a:xfrm>
            <a:off x="720000" y="1375200"/>
            <a:ext cx="8099280" cy="510408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200" spc="-1" strike="noStrike" u="sng">
                <a:solidFill>
                  <a:srgbClr val="000000"/>
                </a:solidFill>
                <a:uFillTx/>
                <a:latin typeface="Arial"/>
                <a:ea typeface="Palatino-Roman"/>
              </a:rPr>
              <a:t>Modular Cabling Design</a:t>
            </a:r>
            <a:endParaRPr b="1" lang="en-IN" sz="2200" spc="-1" strike="noStrike">
              <a:latin typeface="Arial"/>
            </a:endParaRPr>
          </a:p>
          <a:p>
            <a:pPr>
              <a:lnSpc>
                <a:spcPct val="100000"/>
              </a:lnSpc>
            </a:pPr>
            <a:r>
              <a:rPr b="0" lang="en-IN" sz="2200" spc="-1" strike="noStrike">
                <a:solidFill>
                  <a:srgbClr val="000000"/>
                </a:solidFill>
                <a:latin typeface="Arial"/>
                <a:ea typeface="Palatino-Roman"/>
              </a:rPr>
              <a:t>A set of racks contains servers, terminal servers, and so forth that need Cat5/6/7 or fiber cable connections. </a:t>
            </a:r>
            <a:endParaRPr b="1" lang="en-IN" sz="2200" spc="-1" strike="noStrike">
              <a:latin typeface="Arial"/>
            </a:endParaRPr>
          </a:p>
          <a:p>
            <a:pPr>
              <a:lnSpc>
                <a:spcPct val="100000"/>
              </a:lnSpc>
            </a:pPr>
            <a:r>
              <a:rPr b="0" lang="en-IN" sz="2200" spc="-1" strike="noStrike">
                <a:solidFill>
                  <a:srgbClr val="000000"/>
                </a:solidFill>
                <a:latin typeface="Arial"/>
                <a:ea typeface="Palatino-Roman"/>
              </a:rPr>
              <a:t>There are two ways to do this:</a:t>
            </a:r>
            <a:endParaRPr b="1" lang="en-IN" sz="2200" spc="-1" strike="noStrike">
              <a:latin typeface="Arial"/>
            </a:endParaRPr>
          </a:p>
          <a:p>
            <a:pPr>
              <a:lnSpc>
                <a:spcPct val="100000"/>
              </a:lnSpc>
            </a:pPr>
            <a:r>
              <a:rPr b="0" lang="en-IN" sz="2200" spc="-1" strike="noStrike">
                <a:solidFill>
                  <a:srgbClr val="000000"/>
                </a:solidFill>
                <a:latin typeface="Arial"/>
                <a:ea typeface="Palatino-Roman"/>
              </a:rPr>
              <a:t>■ </a:t>
            </a:r>
            <a:r>
              <a:rPr b="0" lang="en-IN" sz="2200" spc="-1" strike="noStrike">
                <a:solidFill>
                  <a:srgbClr val="000000"/>
                </a:solidFill>
                <a:latin typeface="Arial"/>
                <a:ea typeface="Palatino-Roman"/>
              </a:rPr>
              <a:t>Cable hosts directly to the switch ports.</a:t>
            </a:r>
            <a:endParaRPr b="1" lang="en-IN" sz="2200" spc="-1" strike="noStrike">
              <a:latin typeface="Arial"/>
            </a:endParaRPr>
          </a:p>
          <a:p>
            <a:pPr>
              <a:lnSpc>
                <a:spcPct val="100000"/>
              </a:lnSpc>
            </a:pPr>
            <a:r>
              <a:rPr b="0" lang="en-IN" sz="2200" spc="-1" strike="noStrike">
                <a:solidFill>
                  <a:srgbClr val="000000"/>
                </a:solidFill>
                <a:latin typeface="Arial"/>
                <a:ea typeface="Palatino-Roman"/>
              </a:rPr>
              <a:t>■ </a:t>
            </a:r>
            <a:r>
              <a:rPr b="0" lang="en-IN" sz="2200" spc="-1" strike="noStrike">
                <a:solidFill>
                  <a:srgbClr val="000000"/>
                </a:solidFill>
                <a:latin typeface="Arial"/>
                <a:ea typeface="Palatino-Roman"/>
              </a:rPr>
              <a:t>Use patch panels.</a:t>
            </a:r>
            <a:endParaRPr b="1" lang="en-IN" sz="2200" spc="-1" strike="noStrike">
              <a:latin typeface="Arial"/>
            </a:endParaRPr>
          </a:p>
          <a:p>
            <a:pPr>
              <a:lnSpc>
                <a:spcPct val="100000"/>
              </a:lnSpc>
            </a:pPr>
            <a:r>
              <a:rPr b="0" lang="en-IN" sz="2200" spc="-1" strike="noStrike">
                <a:solidFill>
                  <a:srgbClr val="000000"/>
                </a:solidFill>
                <a:latin typeface="Arial"/>
                <a:ea typeface="Palatino-Roman"/>
              </a:rPr>
              <a:t>If you use patch panels, all hosts and other devices that need network connections are cabled to ports in a patch panel located close by in the data center.</a:t>
            </a:r>
            <a:endParaRPr b="1" lang="en-IN" sz="2200" spc="-1" strike="noStrike">
              <a:latin typeface="Arial"/>
            </a:endParaRPr>
          </a:p>
          <a:p>
            <a:pPr>
              <a:lnSpc>
                <a:spcPct val="100000"/>
              </a:lnSpc>
            </a:pPr>
            <a:r>
              <a:rPr b="1" lang="en-IN" sz="2200" spc="-1" strike="noStrike">
                <a:solidFill>
                  <a:srgbClr val="000000"/>
                </a:solidFill>
                <a:latin typeface="Arial"/>
                <a:ea typeface="Palatino-Roman"/>
              </a:rPr>
              <a:t>Patch Panel</a:t>
            </a:r>
            <a:endParaRPr b="1" lang="en-IN" sz="2200" spc="-1" strike="noStrike">
              <a:latin typeface="Arial"/>
            </a:endParaRPr>
          </a:p>
          <a:p>
            <a:pPr>
              <a:lnSpc>
                <a:spcPct val="100000"/>
              </a:lnSpc>
            </a:pPr>
            <a:r>
              <a:rPr b="0" lang="en-IN" sz="2200" spc="-1" strike="noStrike">
                <a:solidFill>
                  <a:srgbClr val="000000"/>
                </a:solidFill>
                <a:latin typeface="Arial"/>
                <a:ea typeface="Palatino-Roman"/>
              </a:rPr>
              <a:t>Patch panels offer several advantages. They keep connections and cables localized within each physical area. However, you must determine the number of Cat5 and fiber ports needed in each section of the data center and install appropriately sized patch panels. Since patch panels are very difficult to replace,</a:t>
            </a:r>
            <a:endParaRPr b="1" lang="en-IN" sz="2200" spc="-1" strike="noStrike">
              <a:latin typeface="Arial"/>
            </a:endParaRPr>
          </a:p>
          <a:p>
            <a:pPr>
              <a:lnSpc>
                <a:spcPct val="100000"/>
              </a:lnSpc>
            </a:pPr>
            <a:r>
              <a:rPr b="0" lang="en-IN" sz="2200" spc="-1" strike="noStrike">
                <a:solidFill>
                  <a:srgbClr val="000000"/>
                </a:solidFill>
                <a:latin typeface="Arial"/>
                <a:ea typeface="Palatino-Roman"/>
              </a:rPr>
              <a:t>you must also have extra, unused ports for future use.</a:t>
            </a:r>
            <a:endParaRPr b="1" lang="en-IN" sz="22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Rectangle 5_0"/>
          <p:cNvSpPr/>
          <p:nvPr/>
        </p:nvSpPr>
        <p:spPr>
          <a:xfrm>
            <a:off x="444600" y="258840"/>
            <a:ext cx="6659640" cy="696960"/>
          </a:xfrm>
          <a:prstGeom prst="rect">
            <a:avLst/>
          </a:prstGeom>
          <a:noFill/>
          <a:ln w="9360">
            <a:noFill/>
          </a:ln>
        </p:spPr>
        <p:style>
          <a:lnRef idx="0"/>
          <a:fillRef idx="0"/>
          <a:effectRef idx="0"/>
          <a:fontRef idx="minor"/>
        </p:style>
      </p:sp>
      <p:sp>
        <p:nvSpPr>
          <p:cNvPr id="13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37" name=""/>
          <p:cNvSpPr/>
          <p:nvPr/>
        </p:nvSpPr>
        <p:spPr>
          <a:xfrm>
            <a:off x="567000" y="1307160"/>
            <a:ext cx="80992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Points of Distribution (PODs)</a:t>
            </a:r>
            <a:endParaRPr b="0" lang="en-IN" sz="2200" spc="-1" strike="noStrike">
              <a:latin typeface="Arial"/>
            </a:endParaRPr>
          </a:p>
          <a:p>
            <a:endParaRPr b="0" lang="en-IN" sz="2200" spc="-1" strike="noStrike">
              <a:latin typeface="Arial"/>
            </a:endParaRPr>
          </a:p>
          <a:p>
            <a:r>
              <a:rPr b="0" lang="en-IN" sz="2200" spc="-1" strike="noStrike">
                <a:latin typeface="Arial"/>
              </a:rPr>
              <a:t>A point of distribution (POD) is a rack with devices, network switches, terminal servers, and patch panels that together provide the infrastructure required</a:t>
            </a:r>
            <a:endParaRPr b="0" lang="en-IN" sz="2200" spc="-1" strike="noStrike">
              <a:latin typeface="Arial"/>
            </a:endParaRPr>
          </a:p>
          <a:p>
            <a:r>
              <a:rPr b="0" lang="en-IN" sz="2200" spc="-1" strike="noStrike">
                <a:latin typeface="Arial"/>
              </a:rPr>
              <a:t>for a number of racks filled with servers and storage. </a:t>
            </a:r>
            <a:endParaRPr b="0" lang="en-IN" sz="2200" spc="-1" strike="noStrike">
              <a:latin typeface="Arial"/>
            </a:endParaRPr>
          </a:p>
          <a:p>
            <a:endParaRPr b="0" lang="en-IN" sz="2200" spc="-1" strike="noStrike">
              <a:latin typeface="Arial"/>
            </a:endParaRPr>
          </a:p>
          <a:p>
            <a:r>
              <a:rPr b="0" lang="en-IN" sz="2200" spc="-1" strike="noStrike">
                <a:latin typeface="Arial"/>
              </a:rPr>
              <a:t>PODs allow you to group cables and networking equipment required for a set of racks into a single manageable location.</a:t>
            </a:r>
            <a:endParaRPr b="0" lang="en-IN" sz="2200" spc="-1" strike="noStrike">
              <a:latin typeface="Arial"/>
            </a:endParaRPr>
          </a:p>
          <a:p>
            <a:r>
              <a:rPr b="0" lang="en-IN" sz="2200" spc="-1" strike="noStrike">
                <a:latin typeface="Arial"/>
              </a:rPr>
              <a:t>A POD rack contains the following three items:</a:t>
            </a:r>
            <a:endParaRPr b="0" lang="en-IN" sz="2200" spc="-1" strike="noStrike">
              <a:latin typeface="Arial"/>
            </a:endParaRPr>
          </a:p>
          <a:p>
            <a:r>
              <a:rPr b="0" lang="en-IN" sz="2200" spc="-1" strike="noStrike">
                <a:latin typeface="Arial"/>
              </a:rPr>
              <a:t>■</a:t>
            </a:r>
            <a:r>
              <a:rPr b="0" lang="en-IN" sz="2200" spc="-1" strike="noStrike">
                <a:latin typeface="Arial"/>
              </a:rPr>
              <a:t>Cross-patch ports — Cat5 and fiber connections can be cross-patched. The POD has several ports that are wired to ports in the network room. Each port in a POD must be labeled with the same identifier as its corresponding port in the network room. The wires connecting the POD ports to the ports in the network room must be bundled and run in separate cable trays.</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Rectangle 5_1"/>
          <p:cNvSpPr/>
          <p:nvPr/>
        </p:nvSpPr>
        <p:spPr>
          <a:xfrm>
            <a:off x="444600" y="258840"/>
            <a:ext cx="6659640" cy="696960"/>
          </a:xfrm>
          <a:prstGeom prst="rect">
            <a:avLst/>
          </a:prstGeom>
          <a:noFill/>
          <a:ln w="9360">
            <a:noFill/>
          </a:ln>
        </p:spPr>
        <p:style>
          <a:lnRef idx="0"/>
          <a:fillRef idx="0"/>
          <a:effectRef idx="0"/>
          <a:fontRef idx="minor"/>
        </p:style>
      </p:sp>
      <p:sp>
        <p:nvSpPr>
          <p:cNvPr id="139" name="Rectangle 6_2"/>
          <p:cNvSpPr/>
          <p:nvPr/>
        </p:nvSpPr>
        <p:spPr>
          <a:xfrm>
            <a:off x="628560" y="1328760"/>
            <a:ext cx="7885440" cy="4748400"/>
          </a:xfrm>
          <a:prstGeom prst="rect">
            <a:avLst/>
          </a:prstGeom>
          <a:noFill/>
          <a:ln w="9360">
            <a:noFill/>
          </a:ln>
        </p:spPr>
        <p:style>
          <a:lnRef idx="0"/>
          <a:fillRef idx="0"/>
          <a:effectRef idx="0"/>
          <a:fontRef idx="minor"/>
        </p:style>
      </p:sp>
      <p:sp>
        <p:nvSpPr>
          <p:cNvPr id="14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41" name=""/>
          <p:cNvSpPr/>
          <p:nvPr/>
        </p:nvSpPr>
        <p:spPr>
          <a:xfrm>
            <a:off x="720000" y="1375200"/>
            <a:ext cx="80992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Network terminal servers</a:t>
            </a:r>
            <a:endParaRPr b="0" lang="en-IN" sz="2200" spc="-1" strike="noStrike">
              <a:latin typeface="Arial"/>
            </a:endParaRPr>
          </a:p>
          <a:p>
            <a:endParaRPr b="0" lang="en-IN" sz="2200" spc="-1" strike="noStrike">
              <a:latin typeface="Arial"/>
            </a:endParaRPr>
          </a:p>
          <a:p>
            <a:r>
              <a:rPr b="0" lang="en-IN" sz="2200" spc="-1" strike="noStrike">
                <a:latin typeface="Arial"/>
              </a:rPr>
              <a:t>A terminal server is a device on the network that allows you to log in to a server’s console port, which is usually a serial port.</a:t>
            </a:r>
            <a:endParaRPr b="0" lang="en-IN" sz="2200" spc="-1" strike="noStrike">
              <a:latin typeface="Arial"/>
            </a:endParaRPr>
          </a:p>
          <a:p>
            <a:endParaRPr b="0" lang="en-IN" sz="2200" spc="-1" strike="noStrike">
              <a:latin typeface="Arial"/>
            </a:endParaRPr>
          </a:p>
          <a:p>
            <a:r>
              <a:rPr b="0" lang="en-IN" sz="2200" spc="-1" strike="noStrike">
                <a:latin typeface="Arial"/>
              </a:rPr>
              <a:t>The terminal server is sometimes known as a portmaster and contains up to 100 or so ports. It can be accessed over the LAN.</a:t>
            </a:r>
            <a:endParaRPr b="0" lang="en-IN" sz="2200" spc="-1" strike="noStrike">
              <a:latin typeface="Arial"/>
            </a:endParaRPr>
          </a:p>
          <a:p>
            <a:endParaRPr b="0" lang="en-IN" sz="2200" spc="-1" strike="noStrike">
              <a:latin typeface="Arial"/>
            </a:endParaRPr>
          </a:p>
          <a:p>
            <a:r>
              <a:rPr b="0" lang="en-IN" sz="2200" spc="-1" strike="noStrike">
                <a:latin typeface="Arial"/>
              </a:rPr>
              <a:t>Each port within the terminal server is cabled via patch panels to console ports in racked servers.</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Rectangle 5_2"/>
          <p:cNvSpPr/>
          <p:nvPr/>
        </p:nvSpPr>
        <p:spPr>
          <a:xfrm>
            <a:off x="444600" y="258840"/>
            <a:ext cx="6659640" cy="696960"/>
          </a:xfrm>
          <a:prstGeom prst="rect">
            <a:avLst/>
          </a:prstGeom>
          <a:noFill/>
          <a:ln w="9360">
            <a:noFill/>
          </a:ln>
        </p:spPr>
        <p:style>
          <a:lnRef idx="0"/>
          <a:fillRef idx="0"/>
          <a:effectRef idx="0"/>
          <a:fontRef idx="minor"/>
        </p:style>
      </p:sp>
      <p:sp>
        <p:nvSpPr>
          <p:cNvPr id="143" name="Rectangle 6_3"/>
          <p:cNvSpPr/>
          <p:nvPr/>
        </p:nvSpPr>
        <p:spPr>
          <a:xfrm>
            <a:off x="628560" y="1328760"/>
            <a:ext cx="7885440" cy="4748400"/>
          </a:xfrm>
          <a:prstGeom prst="rect">
            <a:avLst/>
          </a:prstGeom>
          <a:noFill/>
          <a:ln w="9360">
            <a:noFill/>
          </a:ln>
        </p:spPr>
        <p:style>
          <a:lnRef idx="0"/>
          <a:fillRef idx="0"/>
          <a:effectRef idx="0"/>
          <a:fontRef idx="minor"/>
        </p:style>
      </p:sp>
      <p:sp>
        <p:nvSpPr>
          <p:cNvPr id="14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45" name=""/>
          <p:cNvSpPr/>
          <p:nvPr/>
        </p:nvSpPr>
        <p:spPr>
          <a:xfrm>
            <a:off x="720000" y="1375200"/>
            <a:ext cx="80992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Network subswitches</a:t>
            </a:r>
            <a:endParaRPr b="0" lang="en-IN" sz="2200" spc="-1" strike="noStrike">
              <a:latin typeface="Arial"/>
            </a:endParaRPr>
          </a:p>
          <a:p>
            <a:endParaRPr b="0" lang="en-IN" sz="2200" spc="-1" strike="noStrike">
              <a:latin typeface="Arial"/>
            </a:endParaRPr>
          </a:p>
          <a:p>
            <a:r>
              <a:rPr b="0" lang="en-IN" sz="2200" spc="-1" strike="noStrike">
                <a:latin typeface="Arial"/>
              </a:rPr>
              <a:t>Small switches used to connect servers to a certain network, such as the administrative or backup network, can be</a:t>
            </a:r>
            <a:endParaRPr b="0" lang="en-IN" sz="2200" spc="-1" strike="noStrike">
              <a:latin typeface="Arial"/>
            </a:endParaRPr>
          </a:p>
          <a:p>
            <a:r>
              <a:rPr b="0" lang="en-IN" sz="2200" spc="-1" strike="noStrike">
                <a:latin typeface="Arial"/>
              </a:rPr>
              <a:t>located inside a POD. </a:t>
            </a:r>
            <a:endParaRPr b="0" lang="en-IN" sz="2200" spc="-1" strike="noStrike">
              <a:latin typeface="Arial"/>
            </a:endParaRPr>
          </a:p>
          <a:p>
            <a:endParaRPr b="0" lang="en-IN" sz="2200" spc="-1" strike="noStrike">
              <a:latin typeface="Arial"/>
            </a:endParaRPr>
          </a:p>
          <a:p>
            <a:r>
              <a:rPr b="0" lang="en-IN" sz="2200" spc="-1" strike="noStrike">
                <a:latin typeface="Arial"/>
              </a:rPr>
              <a:t>These switches must be connected to the master switch via a link with higher bandwidth than the subswitch-to-host links.</a:t>
            </a:r>
            <a:endParaRPr b="0" lang="en-IN" sz="2200" spc="-1" strike="noStrike">
              <a:latin typeface="Arial"/>
            </a:endParaRPr>
          </a:p>
          <a:p>
            <a:endParaRPr b="0" lang="en-IN" sz="2200" spc="-1" strike="noStrike">
              <a:latin typeface="Arial"/>
            </a:endParaRPr>
          </a:p>
          <a:p>
            <a:r>
              <a:rPr b="1" lang="en-IN" sz="2200" spc="-1" strike="noStrike">
                <a:latin typeface="Arial"/>
              </a:rPr>
              <a:t>ISP Network Infrastructure</a:t>
            </a:r>
            <a:endParaRPr b="0" lang="en-IN" sz="2200" spc="-1" strike="noStrike">
              <a:latin typeface="Arial"/>
            </a:endParaRPr>
          </a:p>
          <a:p>
            <a:r>
              <a:rPr b="0" lang="en-IN" sz="2200" spc="-1" strike="noStrike">
                <a:latin typeface="Arial"/>
              </a:rPr>
              <a:t>There are several reliable vendors for network equipment, and Cisco is the undisputed market leader. </a:t>
            </a:r>
            <a:endParaRPr b="0" lang="en-IN" sz="2200" spc="-1" strike="noStrike">
              <a:latin typeface="Arial"/>
            </a:endParaRPr>
          </a:p>
          <a:p>
            <a:r>
              <a:rPr b="0" lang="en-IN" sz="2200" spc="-1" strike="noStrike">
                <a:latin typeface="Arial"/>
              </a:rPr>
              <a:t>If the ISP uses equipment from several vendors, it must verify interoperability.</a:t>
            </a:r>
            <a:endParaRPr b="0" lang="en-IN" sz="2200" spc="-1" strike="noStrike">
              <a:latin typeface="Arial"/>
            </a:endParaRPr>
          </a:p>
          <a:p>
            <a:r>
              <a:rPr b="0" lang="en-IN" sz="2200" spc="-1" strike="noStrike">
                <a:latin typeface="Arial"/>
              </a:rPr>
              <a:t>A router may have very high reliability, but its performance may suffer when connected to a switch from another vendor.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Rectangle 5_14"/>
          <p:cNvSpPr/>
          <p:nvPr/>
        </p:nvSpPr>
        <p:spPr>
          <a:xfrm>
            <a:off x="444600" y="258840"/>
            <a:ext cx="6659640" cy="696960"/>
          </a:xfrm>
          <a:prstGeom prst="rect">
            <a:avLst/>
          </a:prstGeom>
          <a:noFill/>
          <a:ln w="9360">
            <a:noFill/>
          </a:ln>
        </p:spPr>
        <p:style>
          <a:lnRef idx="0"/>
          <a:fillRef idx="0"/>
          <a:effectRef idx="0"/>
          <a:fontRef idx="minor"/>
        </p:style>
      </p:sp>
      <p:sp>
        <p:nvSpPr>
          <p:cNvPr id="147" name="Rectangle 6_1"/>
          <p:cNvSpPr/>
          <p:nvPr/>
        </p:nvSpPr>
        <p:spPr>
          <a:xfrm>
            <a:off x="628560" y="1328760"/>
            <a:ext cx="7885440" cy="4748400"/>
          </a:xfrm>
          <a:prstGeom prst="rect">
            <a:avLst/>
          </a:prstGeom>
          <a:noFill/>
          <a:ln w="9360">
            <a:noFill/>
          </a:ln>
        </p:spPr>
        <p:style>
          <a:lnRef idx="0"/>
          <a:fillRef idx="0"/>
          <a:effectRef idx="0"/>
          <a:fontRef idx="minor"/>
        </p:style>
      </p:sp>
      <p:sp>
        <p:nvSpPr>
          <p:cNvPr id="14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49" name=""/>
          <p:cNvSpPr/>
          <p:nvPr/>
        </p:nvSpPr>
        <p:spPr>
          <a:xfrm>
            <a:off x="720000" y="1375200"/>
            <a:ext cx="80992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The ISP must have a test lab to verify inter-vendor compatibility</a:t>
            </a:r>
            <a:endParaRPr b="0" lang="en-IN" sz="2200" spc="-1" strike="noStrike">
              <a:latin typeface="Arial"/>
            </a:endParaRPr>
          </a:p>
          <a:p>
            <a:r>
              <a:rPr b="0" lang="en-IN" sz="2200" spc="-1" strike="noStrike">
                <a:latin typeface="Arial"/>
              </a:rPr>
              <a:t>before deploying a production architecture, to recreate field problems, and to plan maintenance and upgrade windows with no service disruption.</a:t>
            </a:r>
            <a:endParaRPr b="0" lang="en-IN" sz="2200" spc="-1" strike="noStrike">
              <a:latin typeface="Arial"/>
            </a:endParaRPr>
          </a:p>
          <a:p>
            <a:r>
              <a:rPr b="0" lang="en-IN" sz="2200" spc="-1" strike="noStrike">
                <a:latin typeface="Arial"/>
              </a:rPr>
              <a:t>Other important features of an ISP infrastructure are reliability and tolerance to hardware failures. </a:t>
            </a:r>
            <a:endParaRPr b="0" lang="en-IN" sz="2200" spc="-1" strike="noStrike">
              <a:latin typeface="Arial"/>
            </a:endParaRPr>
          </a:p>
          <a:p>
            <a:r>
              <a:rPr b="0" lang="en-IN" sz="2200" spc="-1" strike="noStrike">
                <a:latin typeface="Arial"/>
              </a:rPr>
              <a:t>Providers should have redundant switches and routers at every network layer. </a:t>
            </a:r>
            <a:endParaRPr b="0" lang="en-IN" sz="2200" spc="-1" strike="noStrike">
              <a:latin typeface="Arial"/>
            </a:endParaRPr>
          </a:p>
          <a:p>
            <a:r>
              <a:rPr b="0" lang="en-IN" sz="2200" spc="-1" strike="noStrike">
                <a:latin typeface="Arial"/>
              </a:rPr>
              <a:t>The network should withstand at least one failure in each layer and continue to function at full performance. </a:t>
            </a:r>
            <a:endParaRPr b="0" lang="en-IN" sz="2200" spc="-1" strike="noStrike">
              <a:latin typeface="Arial"/>
            </a:endParaRPr>
          </a:p>
          <a:p>
            <a:r>
              <a:rPr b="0" lang="en-IN" sz="2200" spc="-1" strike="noStrike">
                <a:latin typeface="Arial"/>
              </a:rPr>
              <a:t>The backup systems should not consist of inferior-capacity hardware. </a:t>
            </a:r>
            <a:endParaRPr b="0" lang="en-IN" sz="2200" spc="-1" strike="noStrike">
              <a:latin typeface="Arial"/>
            </a:endParaRPr>
          </a:p>
          <a:p>
            <a:r>
              <a:rPr b="0" lang="en-IN" sz="2200" spc="-1" strike="noStrike">
                <a:latin typeface="Arial"/>
              </a:rPr>
              <a:t>If it is so, a failure at peak times will cause perceptible performance degradation.</a:t>
            </a:r>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Rectangle 5_3"/>
          <p:cNvSpPr/>
          <p:nvPr/>
        </p:nvSpPr>
        <p:spPr>
          <a:xfrm>
            <a:off x="444600" y="258840"/>
            <a:ext cx="6659640" cy="696960"/>
          </a:xfrm>
          <a:prstGeom prst="rect">
            <a:avLst/>
          </a:prstGeom>
          <a:noFill/>
          <a:ln w="9360">
            <a:noFill/>
          </a:ln>
        </p:spPr>
        <p:style>
          <a:lnRef idx="0"/>
          <a:fillRef idx="0"/>
          <a:effectRef idx="0"/>
          <a:fontRef idx="minor"/>
        </p:style>
      </p:sp>
      <p:sp>
        <p:nvSpPr>
          <p:cNvPr id="151" name="Rectangle 6_4"/>
          <p:cNvSpPr/>
          <p:nvPr/>
        </p:nvSpPr>
        <p:spPr>
          <a:xfrm>
            <a:off x="628560" y="1328760"/>
            <a:ext cx="7885440" cy="4748400"/>
          </a:xfrm>
          <a:prstGeom prst="rect">
            <a:avLst/>
          </a:prstGeom>
          <a:noFill/>
          <a:ln w="9360">
            <a:noFill/>
          </a:ln>
        </p:spPr>
        <p:style>
          <a:lnRef idx="0"/>
          <a:fillRef idx="0"/>
          <a:effectRef idx="0"/>
          <a:fontRef idx="minor"/>
        </p:style>
      </p:sp>
      <p:sp>
        <p:nvSpPr>
          <p:cNvPr id="15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53" name=""/>
          <p:cNvSpPr/>
          <p:nvPr/>
        </p:nvSpPr>
        <p:spPr>
          <a:xfrm>
            <a:off x="720000" y="1375200"/>
            <a:ext cx="80992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ISP WAN Links</a:t>
            </a:r>
            <a:endParaRPr b="0" lang="en-IN" sz="2200" spc="-1" strike="noStrike">
              <a:latin typeface="Arial"/>
            </a:endParaRPr>
          </a:p>
          <a:p>
            <a:endParaRPr b="0" lang="en-IN" sz="2200" spc="-1" strike="noStrike">
              <a:latin typeface="Arial"/>
            </a:endParaRPr>
          </a:p>
          <a:p>
            <a:r>
              <a:rPr b="0" lang="en-IN" sz="2200" spc="-1" strike="noStrike">
                <a:latin typeface="Arial"/>
              </a:rPr>
              <a:t>The second part of the network is the ISP’s wide area network (WAN) connection. </a:t>
            </a:r>
            <a:endParaRPr b="0" lang="en-IN" sz="2200" spc="-1" strike="noStrike">
              <a:latin typeface="Arial"/>
            </a:endParaRPr>
          </a:p>
          <a:p>
            <a:r>
              <a:rPr b="0" lang="en-IN" sz="2200" spc="-1" strike="noStrike">
                <a:latin typeface="Arial"/>
              </a:rPr>
              <a:t>The WAN link is composed of two aspects: “transport” and “transit.”</a:t>
            </a:r>
            <a:endParaRPr b="0" lang="en-IN" sz="2200" spc="-1" strike="noStrike">
              <a:latin typeface="Arial"/>
            </a:endParaRPr>
          </a:p>
          <a:p>
            <a:r>
              <a:rPr b="0" lang="en-IN" sz="2200" spc="-1" strike="noStrike">
                <a:latin typeface="Arial"/>
              </a:rPr>
              <a:t>Network “transport” is the path that carries the data and has a certain maximum bandwidth, while the “transit” is the actual data.</a:t>
            </a:r>
            <a:endParaRPr b="0" lang="en-IN" sz="2200" spc="-1" strike="noStrike">
              <a:latin typeface="Arial"/>
            </a:endParaRPr>
          </a:p>
          <a:p>
            <a:r>
              <a:rPr b="0" lang="en-IN" sz="2200" spc="-1" strike="noStrike">
                <a:latin typeface="Arial"/>
              </a:rPr>
              <a:t>But these fast, high bandwidth circuits are a waste without adequate transit.</a:t>
            </a:r>
            <a:endParaRPr b="0" lang="en-IN" sz="2200" spc="-1" strike="noStrike">
              <a:latin typeface="Arial"/>
            </a:endParaRPr>
          </a:p>
          <a:p>
            <a:r>
              <a:rPr b="0" lang="en-IN" sz="2200" spc="-1" strike="noStrike">
                <a:latin typeface="Arial"/>
              </a:rPr>
              <a:t>The ISP must also have reliable and redundant circuits. </a:t>
            </a:r>
            <a:endParaRPr b="0" lang="en-IN" sz="2200" spc="-1" strike="noStrike">
              <a:latin typeface="Arial"/>
            </a:endParaRPr>
          </a:p>
          <a:p>
            <a:r>
              <a:rPr b="0" lang="en-IN" sz="2200" spc="-1" strike="noStrike">
                <a:latin typeface="Arial"/>
              </a:rPr>
              <a:t>Having all the transit on a single pipe is not reliable. </a:t>
            </a:r>
            <a:endParaRPr b="0" lang="en-IN" sz="2200" spc="-1" strike="noStrike">
              <a:latin typeface="Arial"/>
            </a:endParaRPr>
          </a:p>
          <a:p>
            <a:r>
              <a:rPr b="0" lang="en-IN" sz="2200" spc="-1" strike="noStrike">
                <a:latin typeface="Arial"/>
              </a:rPr>
              <a:t>A circuit can have many problems such as a misconfiguration at the central office (CO) or a physically cut fiber in the street. </a:t>
            </a:r>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Rectangle 5_15"/>
          <p:cNvSpPr/>
          <p:nvPr/>
        </p:nvSpPr>
        <p:spPr>
          <a:xfrm>
            <a:off x="444600" y="258840"/>
            <a:ext cx="6659640" cy="696960"/>
          </a:xfrm>
          <a:prstGeom prst="rect">
            <a:avLst/>
          </a:prstGeom>
          <a:noFill/>
          <a:ln w="9360">
            <a:noFill/>
          </a:ln>
        </p:spPr>
        <p:style>
          <a:lnRef idx="0"/>
          <a:fillRef idx="0"/>
          <a:effectRef idx="0"/>
          <a:fontRef idx="minor"/>
        </p:style>
      </p:sp>
      <p:sp>
        <p:nvSpPr>
          <p:cNvPr id="155" name="Rectangle 6_15"/>
          <p:cNvSpPr/>
          <p:nvPr/>
        </p:nvSpPr>
        <p:spPr>
          <a:xfrm>
            <a:off x="628560" y="1328760"/>
            <a:ext cx="7885440" cy="4748400"/>
          </a:xfrm>
          <a:prstGeom prst="rect">
            <a:avLst/>
          </a:prstGeom>
          <a:noFill/>
          <a:ln w="9360">
            <a:noFill/>
          </a:ln>
        </p:spPr>
        <p:style>
          <a:lnRef idx="0"/>
          <a:fillRef idx="0"/>
          <a:effectRef idx="0"/>
          <a:fontRef idx="minor"/>
        </p:style>
      </p:sp>
      <p:sp>
        <p:nvSpPr>
          <p:cNvPr id="15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5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Therefore, an ISP must have several fiber providers and several transit providers.  </a:t>
            </a:r>
            <a:endParaRPr b="0" lang="en-IN" sz="2200" spc="-1" strike="noStrike">
              <a:latin typeface="Arial"/>
            </a:endParaRPr>
          </a:p>
          <a:p>
            <a:r>
              <a:rPr b="0" lang="en-IN" sz="2200" spc="-1" strike="noStrike">
                <a:latin typeface="Arial"/>
              </a:rPr>
              <a:t>There must be a minimum of three of each, and any two should</a:t>
            </a:r>
            <a:endParaRPr b="0" lang="en-IN" sz="2200" spc="-1" strike="noStrike">
              <a:latin typeface="Arial"/>
            </a:endParaRPr>
          </a:p>
          <a:p>
            <a:r>
              <a:rPr b="0" lang="en-IN" sz="2200" spc="-1" strike="noStrike">
                <a:latin typeface="Arial"/>
              </a:rPr>
              <a:t>be able to handle the maximum network traffic. </a:t>
            </a:r>
            <a:endParaRPr b="0" lang="en-IN" sz="2200" spc="-1" strike="noStrike">
              <a:latin typeface="Arial"/>
            </a:endParaRPr>
          </a:p>
          <a:p>
            <a:r>
              <a:rPr b="0" lang="en-IN" sz="2200" spc="-1" strike="noStrike">
                <a:latin typeface="Arial"/>
              </a:rPr>
              <a:t>An ISP with three T1s (at 1.5 Mbits/second) and one T3 (at 45 Mbits/second) does not have redundant circuits, because if the T3 fails, the provider loses more than 90 percent of its capacity.</a:t>
            </a:r>
            <a:endParaRPr b="0" lang="en-IN" sz="2200" spc="-1" strike="noStrike">
              <a:latin typeface="Arial"/>
            </a:endParaRPr>
          </a:p>
          <a:p>
            <a:endParaRPr b="0" lang="en-IN" sz="2200" spc="-1" strike="noStrike">
              <a:latin typeface="Arial"/>
            </a:endParaRPr>
          </a:p>
          <a:p>
            <a:r>
              <a:rPr b="0" lang="en-IN" sz="2200" spc="-1" strike="noStrike">
                <a:latin typeface="Arial"/>
              </a:rPr>
              <a:t>Several best practices must be followed to ease configuration and maintenance:</a:t>
            </a:r>
            <a:endParaRPr b="0" lang="en-IN" sz="2200" spc="-1" strike="noStrike">
              <a:latin typeface="Arial"/>
            </a:endParaRPr>
          </a:p>
          <a:p>
            <a:r>
              <a:rPr b="0" lang="en-IN" sz="2200" spc="-1" strike="noStrike">
                <a:latin typeface="Arial"/>
              </a:rPr>
              <a:t>■</a:t>
            </a:r>
            <a:r>
              <a:rPr b="0" lang="en-IN" sz="2200" spc="-1" strike="noStrike">
                <a:latin typeface="Arial"/>
              </a:rPr>
              <a:t>Label your equipment — Label both cable ends and all devices such as switches, routers, and electric breakers. It takes the least effort and time when done during installation. Thereafter, it is a cumbersome task to trace a cable inside a wireway or under the tiles. If a device is having network problems, it is easy to substitute a cable if both cable ends have similar labels.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Rectangle 5_4"/>
          <p:cNvSpPr/>
          <p:nvPr/>
        </p:nvSpPr>
        <p:spPr>
          <a:xfrm>
            <a:off x="444600" y="258840"/>
            <a:ext cx="6659640" cy="696960"/>
          </a:xfrm>
          <a:prstGeom prst="rect">
            <a:avLst/>
          </a:prstGeom>
          <a:noFill/>
          <a:ln w="9360">
            <a:noFill/>
          </a:ln>
        </p:spPr>
        <p:style>
          <a:lnRef idx="0"/>
          <a:fillRef idx="0"/>
          <a:effectRef idx="0"/>
          <a:fontRef idx="minor"/>
        </p:style>
      </p:sp>
      <p:sp>
        <p:nvSpPr>
          <p:cNvPr id="159" name="Rectangle 6_5"/>
          <p:cNvSpPr/>
          <p:nvPr/>
        </p:nvSpPr>
        <p:spPr>
          <a:xfrm>
            <a:off x="628560" y="1328760"/>
            <a:ext cx="7885440" cy="4748400"/>
          </a:xfrm>
          <a:prstGeom prst="rect">
            <a:avLst/>
          </a:prstGeom>
          <a:noFill/>
          <a:ln w="9360">
            <a:noFill/>
          </a:ln>
        </p:spPr>
        <p:style>
          <a:lnRef idx="0"/>
          <a:fillRef idx="0"/>
          <a:effectRef idx="0"/>
          <a:fontRef idx="minor"/>
        </p:style>
      </p:sp>
      <p:sp>
        <p:nvSpPr>
          <p:cNvPr id="16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61"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Color code cables — At one company, the data-center crew had a policy of using yellow Cat5 cables for connecting servers to the back-end network and white Cat5 cables for the front-end network.</a:t>
            </a:r>
            <a:endParaRPr b="0" lang="en-IN" sz="2200" spc="-1" strike="noStrike">
              <a:latin typeface="Arial"/>
            </a:endParaRPr>
          </a:p>
          <a:p>
            <a:r>
              <a:rPr b="0" lang="en-IN" sz="2200" spc="-1" strike="noStrike">
                <a:latin typeface="Arial"/>
              </a:rPr>
              <a:t>If you have a backup network, production network, DMZ network, and administration network, you can have cables of four colors.</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Avoid a tangle of cables — always neatly arrange bundle of</a:t>
            </a:r>
            <a:endParaRPr b="0" lang="en-IN" sz="2200" spc="-1" strike="noStrike">
              <a:latin typeface="Arial"/>
            </a:endParaRPr>
          </a:p>
          <a:p>
            <a:r>
              <a:rPr b="0" lang="en-IN" sz="2200" spc="-1" strike="noStrike">
                <a:latin typeface="Arial"/>
              </a:rPr>
              <a:t>cables connecting data-center devices to the patch panel. It takes deliberate effort to reduce the cable tangles and mess. Always use correct length of Cat5/6/7 or fiber cables to avoid coiling the extra length. Use cable ties to group similar cables. Route cable in cable trays under the tiles to minimize obstruction of air flow. Do not leave loose cables on the floor. All data line terminations must be punched using proper termination tools. Electric punch equipment ensures proper termination and maximum bandwidth over copper cables.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Rectangle 5_5"/>
          <p:cNvSpPr/>
          <p:nvPr/>
        </p:nvSpPr>
        <p:spPr>
          <a:xfrm>
            <a:off x="444600" y="258840"/>
            <a:ext cx="6659640" cy="696960"/>
          </a:xfrm>
          <a:prstGeom prst="rect">
            <a:avLst/>
          </a:prstGeom>
          <a:noFill/>
          <a:ln w="9360">
            <a:noFill/>
          </a:ln>
        </p:spPr>
        <p:style>
          <a:lnRef idx="0"/>
          <a:fillRef idx="0"/>
          <a:effectRef idx="0"/>
          <a:fontRef idx="minor"/>
        </p:style>
      </p:sp>
      <p:sp>
        <p:nvSpPr>
          <p:cNvPr id="163" name="Rectangle 6_6"/>
          <p:cNvSpPr/>
          <p:nvPr/>
        </p:nvSpPr>
        <p:spPr>
          <a:xfrm>
            <a:off x="628560" y="1328760"/>
            <a:ext cx="7885440" cy="4748400"/>
          </a:xfrm>
          <a:prstGeom prst="rect">
            <a:avLst/>
          </a:prstGeom>
          <a:noFill/>
          <a:ln w="9360">
            <a:noFill/>
          </a:ln>
        </p:spPr>
        <p:style>
          <a:lnRef idx="0"/>
          <a:fillRef idx="0"/>
          <a:effectRef idx="0"/>
          <a:fontRef idx="minor"/>
        </p:style>
      </p:sp>
      <p:sp>
        <p:nvSpPr>
          <p:cNvPr id="16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6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Patch panel ports and connections must be verified by the installer — Use Cat5/6/7 and fiber cable testers. They can test up to 1,000-foot-long cables for cable continuity, bad wiring, and open, short, straight-through, or cross pinning. Note that a cable tester should never be used on a live connection.</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Cable bending radius — Cables must be placed with sufficient bending radius so as not to shear, kink, or damage jackets, binders, or cables, including where cables are coiled for future use or slack.</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Rectangle 5_6"/>
          <p:cNvSpPr/>
          <p:nvPr/>
        </p:nvSpPr>
        <p:spPr>
          <a:xfrm>
            <a:off x="444600" y="258840"/>
            <a:ext cx="6659640" cy="696960"/>
          </a:xfrm>
          <a:prstGeom prst="rect">
            <a:avLst/>
          </a:prstGeom>
          <a:noFill/>
          <a:ln w="9360">
            <a:noFill/>
          </a:ln>
        </p:spPr>
        <p:style>
          <a:lnRef idx="0"/>
          <a:fillRef idx="0"/>
          <a:effectRef idx="0"/>
          <a:fontRef idx="minor"/>
        </p:style>
      </p:sp>
      <p:sp>
        <p:nvSpPr>
          <p:cNvPr id="167" name="Rectangle 6_7"/>
          <p:cNvSpPr/>
          <p:nvPr/>
        </p:nvSpPr>
        <p:spPr>
          <a:xfrm>
            <a:off x="628560" y="1328760"/>
            <a:ext cx="7885440" cy="4748400"/>
          </a:xfrm>
          <a:prstGeom prst="rect">
            <a:avLst/>
          </a:prstGeom>
          <a:noFill/>
          <a:ln w="9360">
            <a:noFill/>
          </a:ln>
        </p:spPr>
        <p:style>
          <a:lnRef idx="0"/>
          <a:fillRef idx="0"/>
          <a:effectRef idx="0"/>
          <a:fontRef idx="minor"/>
        </p:style>
      </p:sp>
      <p:sp>
        <p:nvSpPr>
          <p:cNvPr id="16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6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Network Operations Center (NOC)</a:t>
            </a:r>
            <a:endParaRPr b="0" lang="en-IN" sz="2200" spc="-1" strike="noStrike">
              <a:latin typeface="Arial"/>
            </a:endParaRPr>
          </a:p>
          <a:p>
            <a:endParaRPr b="0" lang="en-IN" sz="2200" spc="-1" strike="noStrike">
              <a:latin typeface="Arial"/>
            </a:endParaRPr>
          </a:p>
          <a:p>
            <a:r>
              <a:rPr b="0" lang="en-IN" sz="2200" spc="-1" strike="noStrike">
                <a:latin typeface="Arial"/>
              </a:rPr>
              <a:t>The network operations center (NOC) is a dedicated facility staffed with people who monitor the availability of all devices and services</a:t>
            </a:r>
            <a:endParaRPr b="0" lang="en-IN" sz="2200" spc="-1" strike="noStrike">
              <a:latin typeface="Arial"/>
            </a:endParaRPr>
          </a:p>
          <a:p>
            <a:r>
              <a:rPr b="0" lang="en-IN" sz="2200" spc="-1" strike="noStrike">
                <a:latin typeface="Arial"/>
              </a:rPr>
              <a:t>within the data center and respond to any data-center problems.</a:t>
            </a:r>
            <a:endParaRPr b="0" lang="en-IN" sz="2200" spc="-1" strike="noStrike">
              <a:latin typeface="Arial"/>
            </a:endParaRPr>
          </a:p>
          <a:p>
            <a:endParaRPr b="0" lang="en-IN" sz="2200" spc="-1" strike="noStrike">
              <a:latin typeface="Arial"/>
            </a:endParaRPr>
          </a:p>
          <a:p>
            <a:r>
              <a:rPr b="0" lang="en-IN" sz="2200" spc="-1" strike="noStrike">
                <a:latin typeface="Arial"/>
              </a:rPr>
              <a:t>The NOC has servers, consoles, and network monitoring software such as HP OpenView,IBM Tivoli, Nagios, Prometheus etc. </a:t>
            </a:r>
            <a:endParaRPr b="0" lang="en-IN" sz="2200" spc="-1" strike="noStrike">
              <a:latin typeface="Arial"/>
            </a:endParaRPr>
          </a:p>
          <a:p>
            <a:endParaRPr b="0" lang="en-IN" sz="2200" spc="-1" strike="noStrike">
              <a:latin typeface="Arial"/>
            </a:endParaRPr>
          </a:p>
          <a:p>
            <a:r>
              <a:rPr b="0" lang="en-IN" sz="2200" spc="-1" strike="noStrike">
                <a:latin typeface="Arial"/>
              </a:rPr>
              <a:t>The software is used to monitor the health, status, and load of each piece of equipment and communication between all devices.</a:t>
            </a:r>
            <a:endParaRPr b="0" lang="en-IN" sz="2200" spc="-1" strike="noStrike">
              <a:latin typeface="Arial"/>
            </a:endParaRPr>
          </a:p>
          <a:p>
            <a:endParaRPr b="0" lang="en-IN" sz="2200" spc="-1" strike="noStrike">
              <a:latin typeface="Arial"/>
            </a:endParaRPr>
          </a:p>
          <a:p>
            <a:r>
              <a:rPr b="0" lang="en-IN" sz="2200" spc="-1" strike="noStrike">
                <a:latin typeface="Arial"/>
              </a:rPr>
              <a:t>A NOC serves as a central logging point for all alarms and a location for evaluating the present status of the data center.</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Rectangle 5_29"/>
          <p:cNvSpPr/>
          <p:nvPr/>
        </p:nvSpPr>
        <p:spPr>
          <a:xfrm>
            <a:off x="444600" y="258840"/>
            <a:ext cx="6659640" cy="696960"/>
          </a:xfrm>
          <a:prstGeom prst="rect">
            <a:avLst/>
          </a:prstGeom>
          <a:noFill/>
          <a:ln w="9360">
            <a:noFill/>
          </a:ln>
        </p:spPr>
        <p:style>
          <a:lnRef idx="0"/>
          <a:fillRef idx="0"/>
          <a:effectRef idx="0"/>
          <a:fontRef idx="minor"/>
        </p:style>
      </p:sp>
      <p:sp>
        <p:nvSpPr>
          <p:cNvPr id="171" name="Rectangle 6_29"/>
          <p:cNvSpPr/>
          <p:nvPr/>
        </p:nvSpPr>
        <p:spPr>
          <a:xfrm>
            <a:off x="628560" y="1328760"/>
            <a:ext cx="7885440" cy="4748400"/>
          </a:xfrm>
          <a:prstGeom prst="rect">
            <a:avLst/>
          </a:prstGeom>
          <a:noFill/>
          <a:ln w="9360">
            <a:noFill/>
          </a:ln>
        </p:spPr>
        <p:style>
          <a:lnRef idx="0"/>
          <a:fillRef idx="0"/>
          <a:effectRef idx="0"/>
          <a:fontRef idx="minor"/>
        </p:style>
      </p:sp>
      <p:sp>
        <p:nvSpPr>
          <p:cNvPr id="17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7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Simple network monitoring protocol (SNMP) agents can be used with storage devices such as UPS systems, HVAC, and storage devices such as NAS filers and storage area network (SAN) switches to get reports on their status and health on the monitoring software.</a:t>
            </a:r>
            <a:endParaRPr b="0" lang="en-IN" sz="2200" spc="-1" strike="noStrike">
              <a:latin typeface="Arial"/>
            </a:endParaRPr>
          </a:p>
          <a:p>
            <a:endParaRPr b="0" lang="en-IN" sz="2200" spc="-1" strike="noStrike">
              <a:latin typeface="Arial"/>
            </a:endParaRPr>
          </a:p>
          <a:p>
            <a:r>
              <a:rPr b="1" lang="en-IN" sz="2200" spc="-1" strike="noStrike">
                <a:latin typeface="Arial"/>
              </a:rPr>
              <a:t>Network Monitoring</a:t>
            </a:r>
            <a:endParaRPr b="0" lang="en-IN" sz="2200" spc="-1" strike="noStrike">
              <a:latin typeface="Arial"/>
            </a:endParaRPr>
          </a:p>
          <a:p>
            <a:r>
              <a:rPr b="0" lang="en-IN" sz="2200" spc="-1" strike="noStrike">
                <a:latin typeface="Arial"/>
              </a:rPr>
              <a:t>A critical requirement for data centers is the ability to proactively monitor the availability of all server and network resources. </a:t>
            </a:r>
            <a:endParaRPr b="0" lang="en-IN" sz="2200" spc="-1" strike="noStrike">
              <a:latin typeface="Arial"/>
            </a:endParaRPr>
          </a:p>
          <a:p>
            <a:r>
              <a:rPr b="0" lang="en-IN" sz="2200" spc="-1" strike="noStrike">
                <a:latin typeface="Arial"/>
              </a:rPr>
              <a:t>At a high level, network monitoring is knowing what is happening within your environment. </a:t>
            </a:r>
            <a:endParaRPr b="0" lang="en-IN" sz="2200" spc="-1" strike="noStrike">
              <a:latin typeface="Arial"/>
            </a:endParaRPr>
          </a:p>
          <a:p>
            <a:r>
              <a:rPr b="0" lang="en-IN" sz="2200" spc="-1" strike="noStrike">
                <a:latin typeface="Arial"/>
              </a:rPr>
              <a:t>Network monitoring software is also proactive. </a:t>
            </a:r>
            <a:endParaRPr b="0" lang="en-IN" sz="2200" spc="-1" strike="noStrike">
              <a:latin typeface="Arial"/>
            </a:endParaRPr>
          </a:p>
          <a:p>
            <a:r>
              <a:rPr b="0" lang="en-IN" sz="2200" spc="-1" strike="noStrike">
                <a:latin typeface="Arial"/>
              </a:rPr>
              <a:t>It can be tuned to warn you of impending problems that you must be made aware of such as a sudden burst of network traffic, file systems filling up to a certain threshold, and symptoms of Internet</a:t>
            </a:r>
            <a:endParaRPr b="0" lang="en-IN" sz="2200" spc="-1" strike="noStrike">
              <a:latin typeface="Arial"/>
            </a:endParaRPr>
          </a:p>
          <a:p>
            <a:r>
              <a:rPr b="0" lang="en-IN" sz="2200" spc="-1" strike="noStrike">
                <a:latin typeface="Arial"/>
              </a:rPr>
              <a:t>attacks on your edge routers.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Rectangle 5_7"/>
          <p:cNvSpPr/>
          <p:nvPr/>
        </p:nvSpPr>
        <p:spPr>
          <a:xfrm>
            <a:off x="444600" y="258840"/>
            <a:ext cx="6659640" cy="696960"/>
          </a:xfrm>
          <a:prstGeom prst="rect">
            <a:avLst/>
          </a:prstGeom>
          <a:noFill/>
          <a:ln w="9360">
            <a:noFill/>
          </a:ln>
        </p:spPr>
        <p:style>
          <a:lnRef idx="0"/>
          <a:fillRef idx="0"/>
          <a:effectRef idx="0"/>
          <a:fontRef idx="minor"/>
        </p:style>
      </p:sp>
      <p:sp>
        <p:nvSpPr>
          <p:cNvPr id="175" name="Rectangle 6_8"/>
          <p:cNvSpPr/>
          <p:nvPr/>
        </p:nvSpPr>
        <p:spPr>
          <a:xfrm>
            <a:off x="628560" y="1328760"/>
            <a:ext cx="7885440" cy="4748400"/>
          </a:xfrm>
          <a:prstGeom prst="rect">
            <a:avLst/>
          </a:prstGeom>
          <a:noFill/>
          <a:ln w="9360">
            <a:noFill/>
          </a:ln>
        </p:spPr>
        <p:style>
          <a:lnRef idx="0"/>
          <a:fillRef idx="0"/>
          <a:effectRef idx="0"/>
          <a:fontRef idx="minor"/>
        </p:style>
      </p:sp>
      <p:sp>
        <p:nvSpPr>
          <p:cNvPr id="17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7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Network monitoring gathers real-time data and classifies it into performance issues and outages. </a:t>
            </a:r>
            <a:endParaRPr b="0" lang="en-IN" sz="2200" spc="-1" strike="noStrike">
              <a:latin typeface="Arial"/>
            </a:endParaRPr>
          </a:p>
          <a:p>
            <a:r>
              <a:rPr b="0" lang="en-IN" sz="2200" spc="-1" strike="noStrike">
                <a:latin typeface="Arial"/>
              </a:rPr>
              <a:t>Performance issues are used to predict the need for future scaling of the environment.</a:t>
            </a:r>
            <a:endParaRPr b="0" lang="en-IN" sz="2200" spc="-1" strike="noStrike">
              <a:latin typeface="Arial"/>
            </a:endParaRPr>
          </a:p>
          <a:p>
            <a:endParaRPr b="0" lang="en-IN" sz="2200" spc="-1" strike="noStrike">
              <a:latin typeface="Arial"/>
            </a:endParaRPr>
          </a:p>
          <a:p>
            <a:r>
              <a:rPr b="1" lang="en-IN" sz="2200" spc="-1" strike="noStrike">
                <a:latin typeface="Arial"/>
              </a:rPr>
              <a:t>SNMP</a:t>
            </a:r>
            <a:endParaRPr b="0" lang="en-IN" sz="2200" spc="-1" strike="noStrike">
              <a:latin typeface="Arial"/>
            </a:endParaRPr>
          </a:p>
          <a:p>
            <a:endParaRPr b="0" lang="en-IN" sz="2200" spc="-1" strike="noStrike">
              <a:latin typeface="Arial"/>
            </a:endParaRPr>
          </a:p>
          <a:p>
            <a:r>
              <a:rPr b="0" lang="en-IN" sz="2200" spc="-1" strike="noStrike">
                <a:latin typeface="Arial"/>
              </a:rPr>
              <a:t>Simple network monitoring protocol (SNMP) is the most helpful tool in resource monitoring. It lets you discover what resources are out there and their status. It is used to send information about the health of resources to a central collection host.</a:t>
            </a:r>
            <a:endParaRPr b="0" lang="en-IN" sz="2200" spc="-1" strike="noStrike">
              <a:latin typeface="Arial"/>
            </a:endParaRPr>
          </a:p>
          <a:p>
            <a:endParaRPr b="0" lang="en-IN" sz="2200" spc="-1" strike="noStrike">
              <a:latin typeface="Arial"/>
            </a:endParaRPr>
          </a:p>
          <a:p>
            <a:r>
              <a:rPr b="0" lang="en-IN" sz="2200" spc="-1" strike="noStrike">
                <a:latin typeface="Arial"/>
              </a:rPr>
              <a:t>SNMP is a protocol that runs over user datagram protocol (UDP).</a:t>
            </a:r>
            <a:endParaRPr b="0" lang="en-IN" sz="2200" spc="-1" strike="noStrike">
              <a:latin typeface="Arial"/>
            </a:endParaRPr>
          </a:p>
          <a:p>
            <a:r>
              <a:rPr b="0" lang="en-IN" sz="2200" spc="-1" strike="noStrike">
                <a:latin typeface="Arial"/>
              </a:rPr>
              <a:t>The daemon is typically called snmpd or snmpdx and runs over port 161. SNMP consists of a number of object identifiers (OIDs) and a management information base (MIB).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Rectangle 5_30"/>
          <p:cNvSpPr/>
          <p:nvPr/>
        </p:nvSpPr>
        <p:spPr>
          <a:xfrm>
            <a:off x="444600" y="258840"/>
            <a:ext cx="6659640" cy="696960"/>
          </a:xfrm>
          <a:prstGeom prst="rect">
            <a:avLst/>
          </a:prstGeom>
          <a:noFill/>
          <a:ln w="9360">
            <a:noFill/>
          </a:ln>
        </p:spPr>
        <p:style>
          <a:lnRef idx="0"/>
          <a:fillRef idx="0"/>
          <a:effectRef idx="0"/>
          <a:fontRef idx="minor"/>
        </p:style>
      </p:sp>
      <p:sp>
        <p:nvSpPr>
          <p:cNvPr id="179" name="Rectangle 6_30"/>
          <p:cNvSpPr/>
          <p:nvPr/>
        </p:nvSpPr>
        <p:spPr>
          <a:xfrm>
            <a:off x="628560" y="1328760"/>
            <a:ext cx="7885440" cy="4748400"/>
          </a:xfrm>
          <a:prstGeom prst="rect">
            <a:avLst/>
          </a:prstGeom>
          <a:noFill/>
          <a:ln w="9360">
            <a:noFill/>
          </a:ln>
        </p:spPr>
        <p:style>
          <a:lnRef idx="0"/>
          <a:fillRef idx="0"/>
          <a:effectRef idx="0"/>
          <a:fontRef idx="minor"/>
        </p:style>
      </p:sp>
      <p:sp>
        <p:nvSpPr>
          <p:cNvPr id="18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81"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A MIB is a collection of hierarchically organized OIDs. </a:t>
            </a:r>
            <a:endParaRPr b="0" lang="en-IN" sz="2200" spc="-1" strike="noStrike">
              <a:latin typeface="Arial"/>
            </a:endParaRPr>
          </a:p>
          <a:p>
            <a:r>
              <a:rPr b="0" lang="en-IN" sz="2200" spc="-1" strike="noStrike">
                <a:latin typeface="Arial"/>
              </a:rPr>
              <a:t>An “object” can be a network interface card, system board temperature, httpd daemon, or router. </a:t>
            </a:r>
            <a:endParaRPr b="0" lang="en-IN" sz="2200" spc="-1" strike="noStrike">
              <a:latin typeface="Arial"/>
            </a:endParaRPr>
          </a:p>
          <a:p>
            <a:r>
              <a:rPr b="0" lang="en-IN" sz="2200" spc="-1" strike="noStrike">
                <a:latin typeface="Arial"/>
              </a:rPr>
              <a:t>By extending the SNMP daemon, any server event or hardware can be monitored.</a:t>
            </a:r>
            <a:endParaRPr b="0" lang="en-IN" sz="2200" spc="-1" strike="noStrike">
              <a:latin typeface="Arial"/>
            </a:endParaRPr>
          </a:p>
          <a:p>
            <a:r>
              <a:rPr b="0" lang="en-IN" sz="2200" spc="-1" strike="noStrike">
                <a:latin typeface="Arial"/>
              </a:rPr>
              <a:t>The SNMP language is composed of three main actions: GET, SET, and TRAP. </a:t>
            </a:r>
            <a:endParaRPr b="0" lang="en-IN" sz="2200" spc="-1" strike="noStrike">
              <a:latin typeface="Arial"/>
            </a:endParaRPr>
          </a:p>
          <a:p>
            <a:r>
              <a:rPr b="0" lang="en-IN" sz="2200" spc="-1" strike="noStrike">
                <a:latin typeface="Arial"/>
              </a:rPr>
              <a:t>GET fetches an OID value from the resource (for example, disk full percentage). </a:t>
            </a:r>
            <a:endParaRPr b="0" lang="en-IN" sz="2200" spc="-1" strike="noStrike">
              <a:latin typeface="Arial"/>
            </a:endParaRPr>
          </a:p>
          <a:p>
            <a:r>
              <a:rPr b="0" lang="en-IN" sz="2200" spc="-1" strike="noStrike">
                <a:latin typeface="Arial"/>
              </a:rPr>
              <a:t>SET configures a value (for example, number of processes allowed for an application). </a:t>
            </a:r>
            <a:endParaRPr b="0" lang="en-IN" sz="2200" spc="-1" strike="noStrike">
              <a:latin typeface="Arial"/>
            </a:endParaRPr>
          </a:p>
          <a:p>
            <a:r>
              <a:rPr b="0" lang="en-IN" sz="2200" spc="-1" strike="noStrike">
                <a:latin typeface="Arial"/>
              </a:rPr>
              <a:t>TRAP watches for an event, and if it occurs, performs some action (for example, restart application).</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Rectangle 5_8"/>
          <p:cNvSpPr/>
          <p:nvPr/>
        </p:nvSpPr>
        <p:spPr>
          <a:xfrm>
            <a:off x="444600" y="258840"/>
            <a:ext cx="6659640" cy="696960"/>
          </a:xfrm>
          <a:prstGeom prst="rect">
            <a:avLst/>
          </a:prstGeom>
          <a:noFill/>
          <a:ln w="9360">
            <a:noFill/>
          </a:ln>
        </p:spPr>
        <p:style>
          <a:lnRef idx="0"/>
          <a:fillRef idx="0"/>
          <a:effectRef idx="0"/>
          <a:fontRef idx="minor"/>
        </p:style>
      </p:sp>
      <p:sp>
        <p:nvSpPr>
          <p:cNvPr id="183" name="Rectangle 6_9"/>
          <p:cNvSpPr/>
          <p:nvPr/>
        </p:nvSpPr>
        <p:spPr>
          <a:xfrm>
            <a:off x="628560" y="1328760"/>
            <a:ext cx="7885440" cy="4748400"/>
          </a:xfrm>
          <a:prstGeom prst="rect">
            <a:avLst/>
          </a:prstGeom>
          <a:noFill/>
          <a:ln w="9360">
            <a:noFill/>
          </a:ln>
        </p:spPr>
        <p:style>
          <a:lnRef idx="0"/>
          <a:fillRef idx="0"/>
          <a:effectRef idx="0"/>
          <a:fontRef idx="minor"/>
        </p:style>
      </p:sp>
      <p:sp>
        <p:nvSpPr>
          <p:cNvPr id="18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8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The SNMP daemon is insecure by default. </a:t>
            </a:r>
            <a:endParaRPr b="0" lang="en-IN" sz="2200" spc="-1" strike="noStrike">
              <a:latin typeface="Arial"/>
            </a:endParaRPr>
          </a:p>
          <a:p>
            <a:r>
              <a:rPr b="0" lang="en-IN" sz="2200" spc="-1" strike="noStrike">
                <a:latin typeface="Arial"/>
              </a:rPr>
              <a:t>It allows for reconfiguration of devices and, if a server or network device is incorrectly configured, data can be exposed. </a:t>
            </a:r>
            <a:endParaRPr b="0" lang="en-IN" sz="2200" spc="-1" strike="noStrike">
              <a:latin typeface="Arial"/>
            </a:endParaRPr>
          </a:p>
          <a:p>
            <a:r>
              <a:rPr b="0" lang="en-IN" sz="2200" spc="-1" strike="noStrike">
                <a:latin typeface="Arial"/>
              </a:rPr>
              <a:t>Therefore, many data centers have SNMP SET operations disabled.</a:t>
            </a:r>
            <a:endParaRPr b="0" lang="en-IN" sz="2200" spc="-1" strike="noStrike">
              <a:latin typeface="Arial"/>
            </a:endParaRPr>
          </a:p>
          <a:p>
            <a:r>
              <a:rPr b="0" lang="en-IN" sz="2200" spc="-1" strike="noStrike">
                <a:latin typeface="Arial"/>
              </a:rPr>
              <a:t>Security is also compromised because of a “community string” and a “private string,” which equate to passwords. </a:t>
            </a:r>
            <a:endParaRPr b="0" lang="en-IN" sz="2200" spc="-1" strike="noStrike">
              <a:latin typeface="Arial"/>
            </a:endParaRPr>
          </a:p>
          <a:p>
            <a:r>
              <a:rPr b="0" lang="en-IN" sz="2200" spc="-1" strike="noStrike">
                <a:latin typeface="Arial"/>
              </a:rPr>
              <a:t>The public string is used for polling and the private string for setting configurations. </a:t>
            </a:r>
            <a:endParaRPr b="0" lang="en-IN" sz="2200" spc="-1" strike="noStrike">
              <a:latin typeface="Arial"/>
            </a:endParaRPr>
          </a:p>
          <a:p>
            <a:r>
              <a:rPr b="0" lang="en-IN" sz="2200" spc="-1" strike="noStrike">
                <a:latin typeface="Arial"/>
              </a:rPr>
              <a:t>Many vendors use the value “public” for public string.</a:t>
            </a:r>
            <a:endParaRPr b="0" lang="en-IN" sz="2200" spc="-1" strike="noStrike">
              <a:latin typeface="Arial"/>
            </a:endParaRPr>
          </a:p>
          <a:p>
            <a:r>
              <a:rPr b="0" lang="en-IN" sz="2200" spc="-1" strike="noStrike">
                <a:latin typeface="Arial"/>
              </a:rPr>
              <a:t>SNMP version 3 supports advanced security such as encrypted sessions and stronger authorization such as Message Digest 5 algorithm (MD5) or data encryption standard (DES) hashes.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Rectangle 5_9"/>
          <p:cNvSpPr/>
          <p:nvPr/>
        </p:nvSpPr>
        <p:spPr>
          <a:xfrm>
            <a:off x="444600" y="258840"/>
            <a:ext cx="6659640" cy="696960"/>
          </a:xfrm>
          <a:prstGeom prst="rect">
            <a:avLst/>
          </a:prstGeom>
          <a:noFill/>
          <a:ln w="9360">
            <a:noFill/>
          </a:ln>
        </p:spPr>
        <p:style>
          <a:lnRef idx="0"/>
          <a:fillRef idx="0"/>
          <a:effectRef idx="0"/>
          <a:fontRef idx="minor"/>
        </p:style>
      </p:sp>
      <p:sp>
        <p:nvSpPr>
          <p:cNvPr id="187" name="Rectangle 6_10"/>
          <p:cNvSpPr/>
          <p:nvPr/>
        </p:nvSpPr>
        <p:spPr>
          <a:xfrm>
            <a:off x="628560" y="1328760"/>
            <a:ext cx="7885440" cy="4748400"/>
          </a:xfrm>
          <a:prstGeom prst="rect">
            <a:avLst/>
          </a:prstGeom>
          <a:noFill/>
          <a:ln w="9360">
            <a:noFill/>
          </a:ln>
        </p:spPr>
        <p:style>
          <a:lnRef idx="0"/>
          <a:fillRef idx="0"/>
          <a:effectRef idx="0"/>
          <a:fontRef idx="minor"/>
        </p:style>
      </p:sp>
      <p:sp>
        <p:nvSpPr>
          <p:cNvPr id="18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8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In-band monitoring</a:t>
            </a:r>
            <a:r>
              <a:rPr b="0" lang="en-IN" sz="2200" spc="-1" strike="noStrike">
                <a:latin typeface="Arial"/>
              </a:rPr>
              <a:t> is the capability to change system status through the existing network infrastructure.</a:t>
            </a:r>
            <a:endParaRPr b="0" lang="en-IN" sz="2200" spc="-1" strike="noStrike">
              <a:latin typeface="Arial"/>
            </a:endParaRPr>
          </a:p>
          <a:p>
            <a:endParaRPr b="0" lang="en-IN" sz="2200" spc="-1" strike="noStrike">
              <a:latin typeface="Arial"/>
            </a:endParaRPr>
          </a:p>
          <a:p>
            <a:r>
              <a:rPr b="1" lang="en-IN" sz="2200" spc="-1" strike="noStrike">
                <a:latin typeface="Arial"/>
              </a:rPr>
              <a:t>Out-of-band monitoring</a:t>
            </a:r>
            <a:r>
              <a:rPr b="0" lang="en-IN" sz="2200" spc="-1" strike="noStrike">
                <a:latin typeface="Arial"/>
              </a:rPr>
              <a:t> is the capability to control systems not through existing network infrastructure but via a different data network or via a dial-in capability for individual devices.</a:t>
            </a:r>
            <a:endParaRPr b="0" lang="en-IN" sz="2200" spc="-1" strike="noStrike">
              <a:latin typeface="Arial"/>
            </a:endParaRPr>
          </a:p>
          <a:p>
            <a:endParaRPr b="0" lang="en-IN" sz="2200" spc="-1" strike="noStrike">
              <a:latin typeface="Arial"/>
            </a:endParaRPr>
          </a:p>
          <a:p>
            <a:r>
              <a:rPr b="0" lang="en-IN" sz="2200" spc="-1" strike="noStrike">
                <a:latin typeface="Arial"/>
              </a:rPr>
              <a:t>Several other data center–wide features must be monitored, such as</a:t>
            </a:r>
            <a:endParaRPr b="0" lang="en-IN" sz="2200" spc="-1" strike="noStrike">
              <a:latin typeface="Arial"/>
            </a:endParaRPr>
          </a:p>
          <a:p>
            <a:r>
              <a:rPr b="0" lang="en-IN" sz="2000" spc="-1" strike="noStrike">
                <a:latin typeface="Arial"/>
              </a:rPr>
              <a:t>■ </a:t>
            </a:r>
            <a:r>
              <a:rPr b="0" lang="en-IN" sz="2000" spc="-1" strike="noStrike">
                <a:latin typeface="Arial"/>
              </a:rPr>
              <a:t>Power from the utility provider</a:t>
            </a:r>
            <a:endParaRPr b="0" lang="en-IN" sz="2000" spc="-1" strike="noStrike">
              <a:latin typeface="Arial"/>
            </a:endParaRPr>
          </a:p>
          <a:p>
            <a:r>
              <a:rPr b="0" lang="en-IN" sz="2000" spc="-1" strike="noStrike">
                <a:latin typeface="Arial"/>
              </a:rPr>
              <a:t>■ </a:t>
            </a:r>
            <a:r>
              <a:rPr b="0" lang="en-IN" sz="2000" spc="-1" strike="noStrike">
                <a:latin typeface="Arial"/>
              </a:rPr>
              <a:t>UPS status and usage</a:t>
            </a:r>
            <a:endParaRPr b="0" lang="en-IN" sz="2000" spc="-1" strike="noStrike">
              <a:latin typeface="Arial"/>
            </a:endParaRPr>
          </a:p>
          <a:p>
            <a:r>
              <a:rPr b="0" lang="en-IN" sz="2000" spc="-1" strike="noStrike">
                <a:latin typeface="Arial"/>
              </a:rPr>
              <a:t>■ </a:t>
            </a:r>
            <a:r>
              <a:rPr b="0" lang="en-IN" sz="2000" spc="-1" strike="noStrike">
                <a:latin typeface="Arial"/>
              </a:rPr>
              <a:t>Generator status and usage</a:t>
            </a:r>
            <a:endParaRPr b="0" lang="en-IN" sz="2000" spc="-1" strike="noStrike">
              <a:latin typeface="Arial"/>
            </a:endParaRPr>
          </a:p>
          <a:p>
            <a:r>
              <a:rPr b="0" lang="en-IN" sz="2000" spc="-1" strike="noStrike">
                <a:latin typeface="Arial"/>
              </a:rPr>
              <a:t>■ </a:t>
            </a:r>
            <a:r>
              <a:rPr b="0" lang="en-IN" sz="2000" spc="-1" strike="noStrike">
                <a:latin typeface="Arial"/>
              </a:rPr>
              <a:t>Leak detection from HVAC and air ducts and from liquid in the HVAC units</a:t>
            </a:r>
            <a:endParaRPr b="0" lang="en-IN" sz="2000" spc="-1" strike="noStrike">
              <a:latin typeface="Arial"/>
            </a:endParaRPr>
          </a:p>
          <a:p>
            <a:r>
              <a:rPr b="0" lang="en-IN" sz="2000" spc="-1" strike="noStrike">
                <a:latin typeface="Arial"/>
              </a:rPr>
              <a:t>■ </a:t>
            </a:r>
            <a:r>
              <a:rPr b="0" lang="en-IN" sz="2000" spc="-1" strike="noStrike">
                <a:latin typeface="Arial"/>
              </a:rPr>
              <a:t>Temperature in the data center</a:t>
            </a:r>
            <a:endParaRPr b="0" lang="en-IN" sz="2000" spc="-1" strike="noStrike">
              <a:latin typeface="Arial"/>
            </a:endParaRPr>
          </a:p>
          <a:p>
            <a:r>
              <a:rPr b="0" lang="en-IN" sz="2000" spc="-1" strike="noStrike">
                <a:latin typeface="Arial"/>
              </a:rPr>
              <a:t>■ </a:t>
            </a:r>
            <a:r>
              <a:rPr b="0" lang="en-IN" sz="2000" spc="-1" strike="noStrike">
                <a:latin typeface="Arial"/>
              </a:rPr>
              <a:t>Relative and absolute humidity in the data center</a:t>
            </a:r>
            <a:endParaRPr b="0" lang="en-IN" sz="2000" spc="-1" strike="noStrike">
              <a:latin typeface="Arial"/>
            </a:endParaRPr>
          </a:p>
          <a:p>
            <a:r>
              <a:rPr b="0" lang="en-IN" sz="2000" spc="-1" strike="noStrike">
                <a:latin typeface="Arial"/>
              </a:rPr>
              <a:t>■ </a:t>
            </a:r>
            <a:r>
              <a:rPr b="0" lang="en-IN" sz="2000" spc="-1" strike="noStrike">
                <a:latin typeface="Arial"/>
              </a:rPr>
              <a:t>Intrusion in the facility</a:t>
            </a:r>
            <a:endParaRPr b="0" lang="en-IN" sz="2000" spc="-1" strike="noStrike">
              <a:latin typeface="Arial"/>
            </a:endParaRPr>
          </a:p>
          <a:p>
            <a:endParaRPr b="0" lang="en-IN" sz="2000" spc="-1" strike="noStrike">
              <a:latin typeface="Arial"/>
            </a:endParaRPr>
          </a:p>
          <a:p>
            <a:endParaRPr b="0" lang="en-IN" sz="2000" spc="-1" strike="noStrike">
              <a:latin typeface="Arial"/>
            </a:endParaRPr>
          </a:p>
          <a:p>
            <a:endParaRPr b="0" lang="en-IN" sz="2000" spc="-1" strike="noStrike">
              <a:latin typeface="Arial"/>
            </a:endParaRPr>
          </a:p>
          <a:p>
            <a:endParaRPr b="0" lang="en-IN" sz="2000" spc="-1" strike="noStrike">
              <a:latin typeface="Arial"/>
            </a:endParaRPr>
          </a:p>
          <a:p>
            <a:endParaRPr b="0" lang="en-IN" sz="20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Rectangle 5_10"/>
          <p:cNvSpPr/>
          <p:nvPr/>
        </p:nvSpPr>
        <p:spPr>
          <a:xfrm>
            <a:off x="444600" y="258840"/>
            <a:ext cx="6659640" cy="696960"/>
          </a:xfrm>
          <a:prstGeom prst="rect">
            <a:avLst/>
          </a:prstGeom>
          <a:noFill/>
          <a:ln w="9360">
            <a:noFill/>
          </a:ln>
        </p:spPr>
        <p:style>
          <a:lnRef idx="0"/>
          <a:fillRef idx="0"/>
          <a:effectRef idx="0"/>
          <a:fontRef idx="minor"/>
        </p:style>
      </p:sp>
      <p:sp>
        <p:nvSpPr>
          <p:cNvPr id="191" name="Rectangle 6_11"/>
          <p:cNvSpPr/>
          <p:nvPr/>
        </p:nvSpPr>
        <p:spPr>
          <a:xfrm>
            <a:off x="628560" y="1328760"/>
            <a:ext cx="7885440" cy="4748400"/>
          </a:xfrm>
          <a:prstGeom prst="rect">
            <a:avLst/>
          </a:prstGeom>
          <a:noFill/>
          <a:ln w="9360">
            <a:noFill/>
          </a:ln>
        </p:spPr>
        <p:style>
          <a:lnRef idx="0"/>
          <a:fillRef idx="0"/>
          <a:effectRef idx="0"/>
          <a:fontRef idx="minor"/>
        </p:style>
      </p:sp>
      <p:sp>
        <p:nvSpPr>
          <p:cNvPr id="19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9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Data-Center Physical Security</a:t>
            </a:r>
            <a:endParaRPr b="0" lang="en-IN" sz="2200" spc="-1" strike="noStrike">
              <a:latin typeface="Arial"/>
            </a:endParaRPr>
          </a:p>
          <a:p>
            <a:r>
              <a:rPr b="0" lang="en-IN" sz="2200" spc="-1" strike="noStrike">
                <a:latin typeface="Arial"/>
              </a:rPr>
              <a:t>A critical component of server and data security is the security of the data center itself.</a:t>
            </a:r>
            <a:endParaRPr b="0" lang="en-IN" sz="2200" spc="-1" strike="noStrike">
              <a:latin typeface="Arial"/>
            </a:endParaRPr>
          </a:p>
          <a:p>
            <a:r>
              <a:rPr b="0" lang="en-IN" sz="2200" spc="-1" strike="noStrike">
                <a:latin typeface="Arial"/>
              </a:rPr>
              <a:t>All entry points and doors to the data center must be controlled by card readers or persons who are physically present to monitor and restrict access of those entering the data center. </a:t>
            </a:r>
            <a:endParaRPr b="0" lang="en-IN" sz="2200" spc="-1" strike="noStrike">
              <a:latin typeface="Arial"/>
            </a:endParaRPr>
          </a:p>
          <a:p>
            <a:r>
              <a:rPr b="0" lang="en-IN" sz="2200" spc="-1" strike="noStrike">
                <a:latin typeface="Arial"/>
              </a:rPr>
              <a:t>Recently biometric readers have been installed at various data centers. </a:t>
            </a:r>
            <a:endParaRPr b="0" lang="en-IN" sz="2200" spc="-1" strike="noStrike">
              <a:latin typeface="Arial"/>
            </a:endParaRPr>
          </a:p>
          <a:p>
            <a:r>
              <a:rPr b="0" lang="en-IN" sz="2200" spc="-1" strike="noStrike">
                <a:latin typeface="Arial"/>
              </a:rPr>
              <a:t>After swiping his or her badge, the employee must place a palm on a biometric reader, which matches the palm prints against an earlier recorded image. </a:t>
            </a:r>
            <a:endParaRPr b="0" lang="en-IN" sz="2200" spc="-1" strike="noStrike">
              <a:latin typeface="Arial"/>
            </a:endParaRPr>
          </a:p>
          <a:p>
            <a:r>
              <a:rPr b="0" lang="en-IN" sz="2200" spc="-1" strike="noStrike">
                <a:latin typeface="Arial"/>
              </a:rPr>
              <a:t>Cameras must be installed not only at the data-center doors but also at the corporate entrances.</a:t>
            </a:r>
            <a:endParaRPr b="0" lang="en-IN" sz="2200" spc="-1" strike="noStrike">
              <a:latin typeface="Arial"/>
            </a:endParaRPr>
          </a:p>
          <a:p>
            <a:r>
              <a:rPr b="0" lang="en-IN" sz="2200" spc="-1" strike="noStrike">
                <a:latin typeface="Arial"/>
              </a:rPr>
              <a:t>Badge access to the data center must not be given to all employees. Only those who must access the data center must be allowed to enter. </a:t>
            </a:r>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Rectangle 5_31"/>
          <p:cNvSpPr/>
          <p:nvPr/>
        </p:nvSpPr>
        <p:spPr>
          <a:xfrm>
            <a:off x="444600" y="258840"/>
            <a:ext cx="6659640" cy="696960"/>
          </a:xfrm>
          <a:prstGeom prst="rect">
            <a:avLst/>
          </a:prstGeom>
          <a:noFill/>
          <a:ln w="9360">
            <a:noFill/>
          </a:ln>
        </p:spPr>
        <p:style>
          <a:lnRef idx="0"/>
          <a:fillRef idx="0"/>
          <a:effectRef idx="0"/>
          <a:fontRef idx="minor"/>
        </p:style>
      </p:sp>
      <p:sp>
        <p:nvSpPr>
          <p:cNvPr id="195" name="Rectangle 6_31"/>
          <p:cNvSpPr/>
          <p:nvPr/>
        </p:nvSpPr>
        <p:spPr>
          <a:xfrm>
            <a:off x="628560" y="1328760"/>
            <a:ext cx="7885440" cy="4748400"/>
          </a:xfrm>
          <a:prstGeom prst="rect">
            <a:avLst/>
          </a:prstGeom>
          <a:noFill/>
          <a:ln w="9360">
            <a:noFill/>
          </a:ln>
        </p:spPr>
        <p:style>
          <a:lnRef idx="0"/>
          <a:fillRef idx="0"/>
          <a:effectRef idx="0"/>
          <a:fontRef idx="minor"/>
        </p:style>
      </p:sp>
      <p:sp>
        <p:nvSpPr>
          <p:cNvPr id="19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19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Various datacenters have a policy for one-time accesses, where security personnel verify and record if anyone needs to enter.</a:t>
            </a:r>
            <a:endParaRPr b="0" lang="en-IN" sz="2200" spc="-1" strike="noStrike">
              <a:latin typeface="Arial"/>
            </a:endParaRPr>
          </a:p>
          <a:p>
            <a:r>
              <a:rPr b="0" lang="en-IN" sz="2200" spc="-1" strike="noStrike">
                <a:latin typeface="Arial"/>
              </a:rPr>
              <a:t>Functionally there are two types of data centers: co-location (CoLo) data centers and managed-hosting data centers. There are significant differences in security needs between them.</a:t>
            </a:r>
            <a:endParaRPr b="0" lang="en-IN" sz="2200" spc="-1" strike="noStrike">
              <a:latin typeface="Arial"/>
            </a:endParaRPr>
          </a:p>
          <a:p>
            <a:r>
              <a:rPr b="0" lang="en-IN" sz="2200" spc="-1" strike="noStrike">
                <a:latin typeface="Arial"/>
              </a:rPr>
              <a:t>■ </a:t>
            </a:r>
            <a:r>
              <a:rPr b="0" lang="en-IN" sz="2200" spc="-1" strike="noStrike">
                <a:latin typeface="Arial"/>
              </a:rPr>
              <a:t>Co-location data centers — Hundreds or thousands of customers pass or visit a co-location data center each day. It is therefore vital to control and monitor the visits and list of people who have access to the data center. Despite all precautions and security, visitors can damage other customers’ equipment.</a:t>
            </a:r>
            <a:endParaRPr b="0" lang="en-IN" sz="2200" spc="-1" strike="noStrike">
              <a:latin typeface="Arial"/>
            </a:endParaRPr>
          </a:p>
          <a:p>
            <a:r>
              <a:rPr b="0" lang="en-IN" sz="2200" spc="-1" strike="noStrike">
                <a:latin typeface="Arial"/>
              </a:rPr>
              <a:t>■ </a:t>
            </a:r>
            <a:r>
              <a:rPr b="0" lang="en-IN" sz="2200" spc="-1" strike="noStrike">
                <a:latin typeface="Arial"/>
              </a:rPr>
              <a:t>Managed hosting data centers — In a secure managed-hosting data center, only a few employees have access to the data center. Customers do not have badges or passes to go inside. If they must go inside, they must be escorted and given temporary badges. </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Rectangle 5_11"/>
          <p:cNvSpPr/>
          <p:nvPr/>
        </p:nvSpPr>
        <p:spPr>
          <a:xfrm>
            <a:off x="444600" y="258840"/>
            <a:ext cx="6659640" cy="696960"/>
          </a:xfrm>
          <a:prstGeom prst="rect">
            <a:avLst/>
          </a:prstGeom>
          <a:noFill/>
          <a:ln w="9360">
            <a:noFill/>
          </a:ln>
        </p:spPr>
        <p:style>
          <a:lnRef idx="0"/>
          <a:fillRef idx="0"/>
          <a:effectRef idx="0"/>
          <a:fontRef idx="minor"/>
        </p:style>
      </p:sp>
      <p:sp>
        <p:nvSpPr>
          <p:cNvPr id="199" name="Rectangle 6_12"/>
          <p:cNvSpPr/>
          <p:nvPr/>
        </p:nvSpPr>
        <p:spPr>
          <a:xfrm>
            <a:off x="628560" y="1328760"/>
            <a:ext cx="7885440" cy="4748400"/>
          </a:xfrm>
          <a:prstGeom prst="rect">
            <a:avLst/>
          </a:prstGeom>
          <a:noFill/>
          <a:ln w="9360">
            <a:noFill/>
          </a:ln>
        </p:spPr>
        <p:style>
          <a:lnRef idx="0"/>
          <a:fillRef idx="0"/>
          <a:effectRef idx="0"/>
          <a:fontRef idx="minor"/>
        </p:style>
      </p:sp>
      <p:sp>
        <p:nvSpPr>
          <p:cNvPr id="20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01"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Despite the best physical security, servers can be attacked over the network and that can be far more expedient than gaining physical access.</a:t>
            </a:r>
            <a:endParaRPr b="0" lang="en-IN" sz="2200" spc="-1" strike="noStrike">
              <a:latin typeface="Arial"/>
            </a:endParaRPr>
          </a:p>
          <a:p>
            <a:endParaRPr b="0" lang="en-IN" sz="2200" spc="-1" strike="noStrike">
              <a:latin typeface="Arial"/>
            </a:endParaRPr>
          </a:p>
          <a:p>
            <a:r>
              <a:rPr b="0" lang="en-IN" sz="2200" spc="-1" strike="noStrike">
                <a:latin typeface="Arial"/>
              </a:rPr>
              <a:t>Therefore, it is critical to have an up-to-date OS image and patch set. </a:t>
            </a:r>
            <a:endParaRPr b="0" lang="en-IN" sz="2200" spc="-1" strike="noStrike">
              <a:latin typeface="Arial"/>
            </a:endParaRPr>
          </a:p>
          <a:p>
            <a:endParaRPr b="0" lang="en-IN" sz="2200" spc="-1" strike="noStrike">
              <a:latin typeface="Arial"/>
            </a:endParaRPr>
          </a:p>
          <a:p>
            <a:r>
              <a:rPr b="0" lang="en-IN" sz="2200" spc="-1" strike="noStrike">
                <a:latin typeface="Arial"/>
              </a:rPr>
              <a:t>OS and security patches and bug fixes are released daily. Managed hosting providers should have experts who evaluate these patches. </a:t>
            </a:r>
            <a:endParaRPr b="0" lang="en-IN" sz="2200" spc="-1" strike="noStrike">
              <a:latin typeface="Arial"/>
            </a:endParaRPr>
          </a:p>
          <a:p>
            <a:endParaRPr b="0" lang="en-IN" sz="2200" spc="-1" strike="noStrike">
              <a:latin typeface="Arial"/>
            </a:endParaRPr>
          </a:p>
          <a:p>
            <a:r>
              <a:rPr b="0" lang="en-IN" sz="2200" spc="-1" strike="noStrike">
                <a:latin typeface="Arial"/>
              </a:rPr>
              <a:t>It is often not practical to update the OS proactively on production servers because enterprises want to test the OS on development and stage servers first, and because updates may cause unforeseen application problems.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Rectangle 5_12"/>
          <p:cNvSpPr/>
          <p:nvPr/>
        </p:nvSpPr>
        <p:spPr>
          <a:xfrm>
            <a:off x="444600" y="258840"/>
            <a:ext cx="6659640" cy="696960"/>
          </a:xfrm>
          <a:prstGeom prst="rect">
            <a:avLst/>
          </a:prstGeom>
          <a:noFill/>
          <a:ln w="9360">
            <a:noFill/>
          </a:ln>
        </p:spPr>
        <p:style>
          <a:lnRef idx="0"/>
          <a:fillRef idx="0"/>
          <a:effectRef idx="0"/>
          <a:fontRef idx="minor"/>
        </p:style>
      </p:sp>
      <p:sp>
        <p:nvSpPr>
          <p:cNvPr id="203" name="Rectangle 6_13"/>
          <p:cNvSpPr/>
          <p:nvPr/>
        </p:nvSpPr>
        <p:spPr>
          <a:xfrm>
            <a:off x="628560" y="1328760"/>
            <a:ext cx="7885440" cy="4748400"/>
          </a:xfrm>
          <a:prstGeom prst="rect">
            <a:avLst/>
          </a:prstGeom>
          <a:noFill/>
          <a:ln w="9360">
            <a:noFill/>
          </a:ln>
        </p:spPr>
        <p:style>
          <a:lnRef idx="0"/>
          <a:fillRef idx="0"/>
          <a:effectRef idx="0"/>
          <a:fontRef idx="minor"/>
        </p:style>
      </p:sp>
      <p:sp>
        <p:nvSpPr>
          <p:cNvPr id="20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0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Data-Center Logical Security</a:t>
            </a:r>
            <a:endParaRPr b="0" lang="en-IN" sz="2200" spc="-1" strike="noStrike">
              <a:latin typeface="Arial"/>
            </a:endParaRPr>
          </a:p>
          <a:p>
            <a:endParaRPr b="0" lang="en-IN" sz="2200" spc="-1" strike="noStrike">
              <a:latin typeface="Arial"/>
            </a:endParaRPr>
          </a:p>
          <a:p>
            <a:r>
              <a:rPr b="0" lang="en-IN" sz="2200" spc="-1" strike="noStrike">
                <a:latin typeface="Arial"/>
              </a:rPr>
              <a:t>All valuable information of almost all organizations is stored online. It is, therefore, mandatory that the data and servers be protected from people with malicious intent. </a:t>
            </a:r>
            <a:endParaRPr b="0" lang="en-IN" sz="2200" spc="-1" strike="noStrike">
              <a:latin typeface="Arial"/>
            </a:endParaRPr>
          </a:p>
          <a:p>
            <a:r>
              <a:rPr b="0" lang="en-IN" sz="2200" spc="-1" strike="noStrike">
                <a:latin typeface="Arial"/>
              </a:rPr>
              <a:t>Preventing illicit access to the data is of utmost importance. </a:t>
            </a:r>
            <a:endParaRPr b="0" lang="en-IN" sz="2200" spc="-1" strike="noStrike">
              <a:latin typeface="Arial"/>
            </a:endParaRPr>
          </a:p>
          <a:p>
            <a:r>
              <a:rPr b="0" lang="en-IN" sz="2200" spc="-1" strike="noStrike">
                <a:latin typeface="Arial"/>
              </a:rPr>
              <a:t>It is important to keep out people who have no business being physically there (physical security) and to prevent unauthorized access via the network (logical security).</a:t>
            </a:r>
            <a:endParaRPr b="0" lang="en-IN" sz="2200" spc="-1" strike="noStrike">
              <a:latin typeface="Arial"/>
            </a:endParaRPr>
          </a:p>
          <a:p>
            <a:r>
              <a:rPr b="0" lang="en-IN" sz="2200" spc="-1" strike="noStrike">
                <a:latin typeface="Arial"/>
              </a:rPr>
              <a:t>Logical security is making it more difficult for intruders to reach a login prompt on the hosts or other devices. </a:t>
            </a:r>
            <a:endParaRPr b="0" lang="en-IN" sz="2200" spc="-1" strike="noStrike">
              <a:latin typeface="Arial"/>
            </a:endParaRPr>
          </a:p>
          <a:p>
            <a:r>
              <a:rPr b="0" lang="en-IN" sz="2200" spc="-1" strike="noStrike">
                <a:latin typeface="Arial"/>
              </a:rPr>
              <a:t>The telnet port should be closed. </a:t>
            </a:r>
            <a:endParaRPr b="0" lang="en-IN" sz="2200" spc="-1" strike="noStrike">
              <a:latin typeface="Arial"/>
            </a:endParaRPr>
          </a:p>
          <a:p>
            <a:r>
              <a:rPr b="0" lang="en-IN" sz="2200" spc="-1" strike="noStrike">
                <a:latin typeface="Arial"/>
              </a:rPr>
              <a:t>Use ssh instead to log in to UNIX servers. </a:t>
            </a:r>
            <a:endParaRPr b="0" lang="en-IN" sz="2200" spc="-1" strike="noStrike">
              <a:latin typeface="Arial"/>
            </a:endParaRPr>
          </a:p>
          <a:p>
            <a:r>
              <a:rPr b="0" lang="en-IN" sz="2200" spc="-1" strike="noStrike">
                <a:latin typeface="Arial"/>
              </a:rPr>
              <a:t>Protocols using low-number ports (less than 1,024) should be allowed only if necessary.</a:t>
            </a:r>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Rectangle 5_13"/>
          <p:cNvSpPr/>
          <p:nvPr/>
        </p:nvSpPr>
        <p:spPr>
          <a:xfrm>
            <a:off x="444600" y="258840"/>
            <a:ext cx="6659640" cy="696960"/>
          </a:xfrm>
          <a:prstGeom prst="rect">
            <a:avLst/>
          </a:prstGeom>
          <a:noFill/>
          <a:ln w="9360">
            <a:noFill/>
          </a:ln>
        </p:spPr>
        <p:style>
          <a:lnRef idx="0"/>
          <a:fillRef idx="0"/>
          <a:effectRef idx="0"/>
          <a:fontRef idx="minor"/>
        </p:style>
      </p:sp>
      <p:sp>
        <p:nvSpPr>
          <p:cNvPr id="207" name="Rectangle 6_14"/>
          <p:cNvSpPr/>
          <p:nvPr/>
        </p:nvSpPr>
        <p:spPr>
          <a:xfrm>
            <a:off x="628560" y="1328760"/>
            <a:ext cx="7885440" cy="4748400"/>
          </a:xfrm>
          <a:prstGeom prst="rect">
            <a:avLst/>
          </a:prstGeom>
          <a:noFill/>
          <a:ln w="9360">
            <a:noFill/>
          </a:ln>
        </p:spPr>
        <p:style>
          <a:lnRef idx="0"/>
          <a:fillRef idx="0"/>
          <a:effectRef idx="0"/>
          <a:fontRef idx="minor"/>
        </p:style>
      </p:sp>
      <p:sp>
        <p:nvSpPr>
          <p:cNvPr id="20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0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You must construct more than one layer of authentication before presenting the login prompt and must also allow only a few and necessary users the capability to go beyond these layers. </a:t>
            </a:r>
            <a:endParaRPr b="0" lang="en-IN" sz="2200" spc="-1" strike="noStrike">
              <a:latin typeface="Arial"/>
            </a:endParaRPr>
          </a:p>
          <a:p>
            <a:endParaRPr b="0" lang="en-IN" sz="2200" spc="-1" strike="noStrike">
              <a:latin typeface="Arial"/>
            </a:endParaRPr>
          </a:p>
          <a:p>
            <a:r>
              <a:rPr b="0" lang="en-IN" sz="2200" spc="-1" strike="noStrike">
                <a:latin typeface="Arial"/>
              </a:rPr>
              <a:t>These users must be forced to authenticate themselves to a central login server, which should be the only machine</a:t>
            </a:r>
            <a:endParaRPr b="0" lang="en-IN" sz="2200" spc="-1" strike="noStrike">
              <a:latin typeface="Arial"/>
            </a:endParaRPr>
          </a:p>
          <a:p>
            <a:r>
              <a:rPr b="0" lang="en-IN" sz="2200" spc="-1" strike="noStrike">
                <a:latin typeface="Arial"/>
              </a:rPr>
              <a:t>having direct access to the consoles.</a:t>
            </a:r>
            <a:endParaRPr b="0" lang="en-IN" sz="2200" spc="-1" strike="noStrike">
              <a:latin typeface="Arial"/>
            </a:endParaRPr>
          </a:p>
          <a:p>
            <a:endParaRPr b="0" lang="en-IN" sz="2200" spc="-1" strike="noStrike">
              <a:latin typeface="Arial"/>
            </a:endParaRPr>
          </a:p>
          <a:p>
            <a:r>
              <a:rPr b="1" lang="en-IN" sz="2200" spc="-1" strike="noStrike">
                <a:latin typeface="Arial"/>
              </a:rPr>
              <a:t>Data-Center Cleaning</a:t>
            </a:r>
            <a:endParaRPr b="0" lang="en-IN" sz="2200" spc="-1" strike="noStrike">
              <a:latin typeface="Arial"/>
            </a:endParaRPr>
          </a:p>
          <a:p>
            <a:endParaRPr b="0" lang="en-IN" sz="2200" spc="-1" strike="noStrike">
              <a:latin typeface="Arial"/>
            </a:endParaRPr>
          </a:p>
          <a:p>
            <a:r>
              <a:rPr b="0" lang="en-IN" sz="2200" spc="-1" strike="noStrike">
                <a:latin typeface="Arial"/>
              </a:rPr>
              <a:t>There are many stories on how the cleaning crew knocked power off the storage array because the aisle was narrow or the crew was unaware of the environment. </a:t>
            </a:r>
            <a:endParaRPr b="0" lang="en-IN" sz="2200" spc="-1" strike="noStrike">
              <a:latin typeface="Arial"/>
            </a:endParaRPr>
          </a:p>
          <a:p>
            <a:endParaRPr b="0" lang="en-IN" sz="2200" spc="-1" strike="noStrike">
              <a:latin typeface="Arial"/>
            </a:endParaRPr>
          </a:p>
          <a:p>
            <a:r>
              <a:rPr b="0" lang="en-IN" sz="2200" spc="-1" strike="noStrike">
                <a:latin typeface="Arial"/>
              </a:rPr>
              <a:t>A data-center setting is different from an office area and, therefore,</a:t>
            </a:r>
            <a:endParaRPr b="0" lang="en-IN" sz="2200" spc="-1" strike="noStrike">
              <a:latin typeface="Arial"/>
            </a:endParaRPr>
          </a:p>
          <a:p>
            <a:r>
              <a:rPr b="0" lang="en-IN" sz="2200" spc="-1" strike="noStrike">
                <a:latin typeface="Arial"/>
              </a:rPr>
              <a:t>does not require regular cleaning or vacuuming. </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Rectangle 5_32"/>
          <p:cNvSpPr/>
          <p:nvPr/>
        </p:nvSpPr>
        <p:spPr>
          <a:xfrm>
            <a:off x="444600" y="258840"/>
            <a:ext cx="6659640" cy="696960"/>
          </a:xfrm>
          <a:prstGeom prst="rect">
            <a:avLst/>
          </a:prstGeom>
          <a:noFill/>
          <a:ln w="9360">
            <a:noFill/>
          </a:ln>
        </p:spPr>
        <p:style>
          <a:lnRef idx="0"/>
          <a:fillRef idx="0"/>
          <a:effectRef idx="0"/>
          <a:fontRef idx="minor"/>
        </p:style>
      </p:sp>
      <p:sp>
        <p:nvSpPr>
          <p:cNvPr id="211" name="Rectangle 6_32"/>
          <p:cNvSpPr/>
          <p:nvPr/>
        </p:nvSpPr>
        <p:spPr>
          <a:xfrm>
            <a:off x="628560" y="1328760"/>
            <a:ext cx="7885440" cy="4748400"/>
          </a:xfrm>
          <a:prstGeom prst="rect">
            <a:avLst/>
          </a:prstGeom>
          <a:noFill/>
          <a:ln w="9360">
            <a:noFill/>
          </a:ln>
        </p:spPr>
        <p:style>
          <a:lnRef idx="0"/>
          <a:fillRef idx="0"/>
          <a:effectRef idx="0"/>
          <a:fontRef idx="minor"/>
        </p:style>
      </p:sp>
      <p:sp>
        <p:nvSpPr>
          <p:cNvPr id="21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1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You must get a cleaning crew in the data center once every 3 or 6 months or as needed, such as after structural (floor, tile, wall, and so forth) changes.</a:t>
            </a:r>
            <a:endParaRPr b="0" lang="en-IN" sz="2200" spc="-1" strike="noStrike">
              <a:latin typeface="Arial"/>
            </a:endParaRPr>
          </a:p>
          <a:p>
            <a:r>
              <a:rPr b="0" lang="en-IN" sz="2200" spc="-1" strike="noStrike">
                <a:latin typeface="Arial"/>
              </a:rPr>
              <a:t>Safety cones must be placed around open tiles and areas that are being damp-mopped.</a:t>
            </a:r>
            <a:endParaRPr b="0" lang="en-IN" sz="2200" spc="-1" strike="noStrike">
              <a:latin typeface="Arial"/>
            </a:endParaRPr>
          </a:p>
          <a:p>
            <a:r>
              <a:rPr b="0" lang="en-IN" sz="2200" spc="-1" strike="noStrike">
                <a:latin typeface="Arial"/>
              </a:rPr>
              <a:t>A prespecified list of equipment and supplies must be used by the cleaning crew. </a:t>
            </a:r>
            <a:endParaRPr b="0" lang="en-IN" sz="2200" spc="-1" strike="noStrike">
              <a:latin typeface="Arial"/>
            </a:endParaRPr>
          </a:p>
          <a:p>
            <a:r>
              <a:rPr b="0" lang="en-IN" sz="2200" spc="-1" strike="noStrike">
                <a:latin typeface="Arial"/>
              </a:rPr>
              <a:t>It is important not to leave particles and debris that could enter the air circulation. </a:t>
            </a:r>
            <a:endParaRPr b="0" lang="en-IN" sz="2200" spc="-1" strike="noStrike">
              <a:latin typeface="Arial"/>
            </a:endParaRPr>
          </a:p>
          <a:p>
            <a:r>
              <a:rPr b="0" lang="en-IN" sz="2200" spc="-1" strike="noStrike">
                <a:latin typeface="Arial"/>
              </a:rPr>
              <a:t>Electrical cords used by the crew must be in good condition and have three pin ground configuration. </a:t>
            </a:r>
            <a:endParaRPr b="0" lang="en-IN" sz="2200" spc="-1" strike="noStrike">
              <a:latin typeface="Arial"/>
            </a:endParaRPr>
          </a:p>
          <a:p>
            <a:r>
              <a:rPr b="0" lang="en-IN" sz="2200" spc="-1" strike="noStrike">
                <a:latin typeface="Arial"/>
              </a:rPr>
              <a:t>The cleaning chemicals must be pH neutral and static dissipative.</a:t>
            </a:r>
            <a:endParaRPr b="0" lang="en-IN" sz="2200" spc="-1" strike="noStrike">
              <a:latin typeface="Arial"/>
            </a:endParaRPr>
          </a:p>
          <a:p>
            <a:r>
              <a:rPr b="0" lang="en-IN" sz="2200" spc="-1" strike="noStrike">
                <a:latin typeface="Arial"/>
              </a:rPr>
              <a:t>Only lint-free and antistatic wipes must be used.</a:t>
            </a:r>
            <a:endParaRPr b="0" lang="en-IN" sz="2200" spc="-1" strike="noStrike">
              <a:latin typeface="Arial"/>
            </a:endParaRPr>
          </a:p>
          <a:p>
            <a:r>
              <a:rPr b="0" lang="en-IN" sz="2200" spc="-1" strike="noStrike">
                <a:latin typeface="Arial"/>
              </a:rPr>
              <a:t>When cleaning the raised floor, care must be taken to avoid disturbing cables routed through the openings in the floor tiles.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Rectangle 5_16"/>
          <p:cNvSpPr/>
          <p:nvPr/>
        </p:nvSpPr>
        <p:spPr>
          <a:xfrm>
            <a:off x="444600" y="258840"/>
            <a:ext cx="6659640" cy="696960"/>
          </a:xfrm>
          <a:prstGeom prst="rect">
            <a:avLst/>
          </a:prstGeom>
          <a:noFill/>
          <a:ln w="9360">
            <a:noFill/>
          </a:ln>
        </p:spPr>
        <p:style>
          <a:lnRef idx="0"/>
          <a:fillRef idx="0"/>
          <a:effectRef idx="0"/>
          <a:fontRef idx="minor"/>
        </p:style>
      </p:sp>
      <p:sp>
        <p:nvSpPr>
          <p:cNvPr id="215" name="Rectangle 6_16"/>
          <p:cNvSpPr/>
          <p:nvPr/>
        </p:nvSpPr>
        <p:spPr>
          <a:xfrm>
            <a:off x="628560" y="1328760"/>
            <a:ext cx="7885440" cy="4748400"/>
          </a:xfrm>
          <a:prstGeom prst="rect">
            <a:avLst/>
          </a:prstGeom>
          <a:noFill/>
          <a:ln w="9360">
            <a:noFill/>
          </a:ln>
        </p:spPr>
        <p:style>
          <a:lnRef idx="0"/>
          <a:fillRef idx="0"/>
          <a:effectRef idx="0"/>
          <a:fontRef idx="minor"/>
        </p:style>
      </p:sp>
      <p:sp>
        <p:nvSpPr>
          <p:cNvPr id="21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1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Use an approved solution to treat black marks, stains, and smudges on the floor, and scrub them with a medium-grade scrub pad. </a:t>
            </a:r>
            <a:endParaRPr b="0" lang="en-IN" sz="2200" spc="-1" strike="noStrike">
              <a:latin typeface="Arial"/>
            </a:endParaRPr>
          </a:p>
          <a:p>
            <a:r>
              <a:rPr b="0" lang="en-IN" sz="2200" spc="-1" strike="noStrike">
                <a:latin typeface="Arial"/>
              </a:rPr>
              <a:t>Use a Triple-filtration high-efficiency particulate air (HEPA) vacuum cleaner to remove dirt and particles from the top of all accessible floor areas.</a:t>
            </a:r>
            <a:endParaRPr b="0" lang="en-IN" sz="2200" spc="-1" strike="noStrike">
              <a:latin typeface="Arial"/>
            </a:endParaRPr>
          </a:p>
          <a:p>
            <a:r>
              <a:rPr b="0" lang="en-IN" sz="2200" spc="-1" strike="noStrike">
                <a:latin typeface="Arial"/>
              </a:rPr>
              <a:t>Trying to clean below equipment or racks can disrupt operations..</a:t>
            </a:r>
            <a:endParaRPr b="0" lang="en-IN" sz="2200" spc="-1" strike="noStrike">
              <a:latin typeface="Arial"/>
            </a:endParaRPr>
          </a:p>
          <a:p>
            <a:r>
              <a:rPr b="0" lang="en-IN" sz="2200" spc="-1" strike="noStrike">
                <a:latin typeface="Arial"/>
              </a:rPr>
              <a:t>For data centers with raised tiled floors, the space below the tiles must be cleaned.</a:t>
            </a:r>
            <a:endParaRPr b="0" lang="en-IN" sz="2200" spc="-1" strike="noStrike">
              <a:latin typeface="Arial"/>
            </a:endParaRPr>
          </a:p>
          <a:p>
            <a:r>
              <a:rPr b="0" lang="en-IN" sz="2200" spc="-1" strike="noStrike">
                <a:latin typeface="Arial"/>
              </a:rPr>
              <a:t>For data centers without a raised floor, most power and data cables run above the lowered ceiling.</a:t>
            </a:r>
            <a:endParaRPr b="0" lang="en-IN" sz="2200" spc="-1" strike="noStrike">
              <a:latin typeface="Arial"/>
            </a:endParaRPr>
          </a:p>
          <a:p>
            <a:r>
              <a:rPr b="0" lang="en-IN" sz="2200" spc="-1" strike="noStrike">
                <a:latin typeface="Arial"/>
              </a:rPr>
              <a:t>When removing tiles to access the subfloor areas or removing ceiling tiles to access the above-ceiling space, no more than 10 percent of the tiles should be detached at any one time.</a:t>
            </a:r>
            <a:endParaRPr b="0" lang="en-IN" sz="2200" spc="-1" strike="noStrike">
              <a:latin typeface="Arial"/>
            </a:endParaRPr>
          </a:p>
          <a:p>
            <a:r>
              <a:rPr b="0" lang="en-IN" sz="2200" spc="-1" strike="noStrike">
                <a:latin typeface="Arial"/>
              </a:rPr>
              <a:t>Chemicals should not be sprayed directly on any equipment surface.</a:t>
            </a:r>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Rectangle 5_17"/>
          <p:cNvSpPr/>
          <p:nvPr/>
        </p:nvSpPr>
        <p:spPr>
          <a:xfrm>
            <a:off x="444600" y="258840"/>
            <a:ext cx="6659640" cy="696960"/>
          </a:xfrm>
          <a:prstGeom prst="rect">
            <a:avLst/>
          </a:prstGeom>
          <a:noFill/>
          <a:ln w="9360">
            <a:noFill/>
          </a:ln>
        </p:spPr>
        <p:style>
          <a:lnRef idx="0"/>
          <a:fillRef idx="0"/>
          <a:effectRef idx="0"/>
          <a:fontRef idx="minor"/>
        </p:style>
      </p:sp>
      <p:sp>
        <p:nvSpPr>
          <p:cNvPr id="219" name="Rectangle 6_17"/>
          <p:cNvSpPr/>
          <p:nvPr/>
        </p:nvSpPr>
        <p:spPr>
          <a:xfrm>
            <a:off x="628560" y="1328760"/>
            <a:ext cx="7885440" cy="4748400"/>
          </a:xfrm>
          <a:prstGeom prst="rect">
            <a:avLst/>
          </a:prstGeom>
          <a:noFill/>
          <a:ln w="9360">
            <a:noFill/>
          </a:ln>
        </p:spPr>
        <p:style>
          <a:lnRef idx="0"/>
          <a:fillRef idx="0"/>
          <a:effectRef idx="0"/>
          <a:fontRef idx="minor"/>
        </p:style>
      </p:sp>
      <p:sp>
        <p:nvSpPr>
          <p:cNvPr id="22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21"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Quarterly preventive maintenance must include power systems</a:t>
            </a:r>
            <a:endParaRPr b="0" lang="en-IN" sz="2200" spc="-1" strike="noStrike">
              <a:latin typeface="Arial"/>
            </a:endParaRPr>
          </a:p>
          <a:p>
            <a:r>
              <a:rPr b="0" lang="en-IN" sz="2200" spc="-1" strike="noStrike">
                <a:latin typeface="Arial"/>
              </a:rPr>
              <a:t>checks, HVAC and generator servicing, and so forth. All service visits must be coordinated and tracked. </a:t>
            </a:r>
            <a:endParaRPr b="0" lang="en-IN" sz="2200" spc="-1" strike="noStrike">
              <a:latin typeface="Arial"/>
            </a:endParaRPr>
          </a:p>
          <a:p>
            <a:r>
              <a:rPr b="0" lang="en-IN" sz="2200" spc="-1" strike="noStrike">
                <a:latin typeface="Arial"/>
              </a:rPr>
              <a:t>Service plan must include the following:</a:t>
            </a:r>
            <a:endParaRPr b="0" lang="en-IN" sz="2200" spc="-1" strike="noStrike">
              <a:latin typeface="Arial"/>
            </a:endParaRPr>
          </a:p>
          <a:p>
            <a:r>
              <a:rPr b="0" lang="en-IN" sz="2200" spc="-1" strike="noStrike">
                <a:latin typeface="Arial"/>
              </a:rPr>
              <a:t>■ </a:t>
            </a:r>
            <a:r>
              <a:rPr b="0" lang="en-IN" sz="2200" spc="-1" strike="noStrike">
                <a:latin typeface="Arial"/>
              </a:rPr>
              <a:t>UPS systems and batteries</a:t>
            </a:r>
            <a:endParaRPr b="0" lang="en-IN" sz="2200" spc="-1" strike="noStrike">
              <a:latin typeface="Arial"/>
            </a:endParaRPr>
          </a:p>
          <a:p>
            <a:r>
              <a:rPr b="0" lang="en-IN" sz="2200" spc="-1" strike="noStrike">
                <a:latin typeface="Arial"/>
              </a:rPr>
              <a:t>■ </a:t>
            </a:r>
            <a:r>
              <a:rPr b="0" lang="en-IN" sz="2200" spc="-1" strike="noStrike">
                <a:latin typeface="Arial"/>
              </a:rPr>
              <a:t>Generator and automatic transfer switch (ATS) equipment</a:t>
            </a:r>
            <a:endParaRPr b="0" lang="en-IN" sz="2200" spc="-1" strike="noStrike">
              <a:latin typeface="Arial"/>
            </a:endParaRPr>
          </a:p>
          <a:p>
            <a:r>
              <a:rPr b="0" lang="en-IN" sz="2200" spc="-1" strike="noStrike">
                <a:latin typeface="Arial"/>
              </a:rPr>
              <a:t>■ </a:t>
            </a:r>
            <a:r>
              <a:rPr b="0" lang="en-IN" sz="2200" spc="-1" strike="noStrike">
                <a:latin typeface="Arial"/>
              </a:rPr>
              <a:t>Power cables, outlets, subpanels, and circuit breakers</a:t>
            </a:r>
            <a:endParaRPr b="0" lang="en-IN" sz="2200" spc="-1" strike="noStrike">
              <a:latin typeface="Arial"/>
            </a:endParaRPr>
          </a:p>
          <a:p>
            <a:r>
              <a:rPr b="0" lang="en-IN" sz="2200" spc="-1" strike="noStrike">
                <a:latin typeface="Arial"/>
              </a:rPr>
              <a:t>■ </a:t>
            </a:r>
            <a:r>
              <a:rPr b="0" lang="en-IN" sz="2200" spc="-1" strike="noStrike">
                <a:latin typeface="Arial"/>
              </a:rPr>
              <a:t>Static-switching equipment</a:t>
            </a:r>
            <a:endParaRPr b="0" lang="en-IN" sz="2200" spc="-1" strike="noStrike">
              <a:latin typeface="Arial"/>
            </a:endParaRPr>
          </a:p>
          <a:p>
            <a:r>
              <a:rPr b="0" lang="en-IN" sz="2200" spc="-1" strike="noStrike">
                <a:latin typeface="Arial"/>
              </a:rPr>
              <a:t>■ </a:t>
            </a:r>
            <a:r>
              <a:rPr b="0" lang="en-IN" sz="2200" spc="-1" strike="noStrike">
                <a:latin typeface="Arial"/>
              </a:rPr>
              <a:t>Free-standing and rack-based power distribution equipment</a:t>
            </a:r>
            <a:endParaRPr b="0" lang="en-IN" sz="2200" spc="-1" strike="noStrike">
              <a:latin typeface="Arial"/>
            </a:endParaRPr>
          </a:p>
          <a:p>
            <a:r>
              <a:rPr b="0" lang="en-IN" sz="2200" spc="-1" strike="noStrike">
                <a:latin typeface="Arial"/>
              </a:rPr>
              <a:t>■ </a:t>
            </a:r>
            <a:r>
              <a:rPr b="0" lang="en-IN" sz="2200" spc="-1" strike="noStrike">
                <a:latin typeface="Arial"/>
              </a:rPr>
              <a:t>Fire suppression and detection equipment</a:t>
            </a:r>
            <a:endParaRPr b="0" lang="en-IN" sz="2200" spc="-1" strike="noStrike">
              <a:latin typeface="Arial"/>
            </a:endParaRPr>
          </a:p>
          <a:p>
            <a:r>
              <a:rPr b="0" lang="en-IN" sz="2200" spc="-1" strike="noStrike">
                <a:latin typeface="Arial"/>
              </a:rPr>
              <a:t>■ </a:t>
            </a:r>
            <a:r>
              <a:rPr b="0" lang="en-IN" sz="2200" spc="-1" strike="noStrike">
                <a:latin typeface="Arial"/>
              </a:rPr>
              <a:t>Overhead sprinkler systems</a:t>
            </a:r>
            <a:endParaRPr b="0" lang="en-IN" sz="2200" spc="-1" strike="noStrike">
              <a:latin typeface="Arial"/>
            </a:endParaRPr>
          </a:p>
          <a:p>
            <a:r>
              <a:rPr b="0" lang="en-IN" sz="2200" spc="-1" strike="noStrike">
                <a:latin typeface="Arial"/>
              </a:rPr>
              <a:t>■ </a:t>
            </a:r>
            <a:r>
              <a:rPr b="0" lang="en-IN" sz="2200" spc="-1" strike="noStrike">
                <a:latin typeface="Arial"/>
              </a:rPr>
              <a:t>Air-conditioning and HVAC units, air ducts, and filters</a:t>
            </a:r>
            <a:endParaRPr b="0" lang="en-IN" sz="2200" spc="-1" strike="noStrike">
              <a:latin typeface="Arial"/>
            </a:endParaRPr>
          </a:p>
          <a:p>
            <a:r>
              <a:rPr b="0" lang="en-IN" sz="2200" spc="-1" strike="noStrike">
                <a:latin typeface="Arial"/>
              </a:rPr>
              <a:t>■ </a:t>
            </a:r>
            <a:r>
              <a:rPr b="0" lang="en-IN" sz="2200" spc="-1" strike="noStrike">
                <a:latin typeface="Arial"/>
              </a:rPr>
              <a:t>Inlet-air blockages near perforated tiles.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Rectangle 5_18"/>
          <p:cNvSpPr/>
          <p:nvPr/>
        </p:nvSpPr>
        <p:spPr>
          <a:xfrm>
            <a:off x="444600" y="258840"/>
            <a:ext cx="6659640" cy="696960"/>
          </a:xfrm>
          <a:prstGeom prst="rect">
            <a:avLst/>
          </a:prstGeom>
          <a:noFill/>
          <a:ln w="9360">
            <a:noFill/>
          </a:ln>
        </p:spPr>
        <p:style>
          <a:lnRef idx="0"/>
          <a:fillRef idx="0"/>
          <a:effectRef idx="0"/>
          <a:fontRef idx="minor"/>
        </p:style>
      </p:sp>
      <p:sp>
        <p:nvSpPr>
          <p:cNvPr id="223" name="Rectangle 6_18"/>
          <p:cNvSpPr/>
          <p:nvPr/>
        </p:nvSpPr>
        <p:spPr>
          <a:xfrm>
            <a:off x="628560" y="1328760"/>
            <a:ext cx="7885440" cy="4748400"/>
          </a:xfrm>
          <a:prstGeom prst="rect">
            <a:avLst/>
          </a:prstGeom>
          <a:noFill/>
          <a:ln w="9360">
            <a:noFill/>
          </a:ln>
        </p:spPr>
        <p:style>
          <a:lnRef idx="0"/>
          <a:fillRef idx="0"/>
          <a:effectRef idx="0"/>
          <a:fontRef idx="minor"/>
        </p:style>
      </p:sp>
      <p:sp>
        <p:nvSpPr>
          <p:cNvPr id="22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2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Reasons for Data Center Consolidation</a:t>
            </a:r>
            <a:endParaRPr b="0" lang="en-IN" sz="2200" spc="-1" strike="noStrike">
              <a:latin typeface="Arial"/>
            </a:endParaRPr>
          </a:p>
          <a:p>
            <a:endParaRPr b="0" lang="en-IN" sz="2200" spc="-1" strike="noStrike">
              <a:latin typeface="Arial"/>
            </a:endParaRPr>
          </a:p>
          <a:p>
            <a:r>
              <a:rPr b="0" lang="en-IN" sz="2200" spc="-1" strike="noStrike">
                <a:latin typeface="Arial"/>
              </a:rPr>
              <a:t>Consolidation is defined as the process of bringing together disconnected parts to make a single and complete whole.</a:t>
            </a:r>
            <a:endParaRPr b="0" lang="en-IN" sz="2200" spc="-1" strike="noStrike">
              <a:latin typeface="Arial"/>
            </a:endParaRPr>
          </a:p>
          <a:p>
            <a:endParaRPr b="0" lang="en-IN" sz="2200" spc="-1" strike="noStrike">
              <a:latin typeface="Arial"/>
            </a:endParaRPr>
          </a:p>
          <a:p>
            <a:r>
              <a:rPr b="0" lang="en-IN" sz="2200" spc="-1" strike="noStrike">
                <a:latin typeface="Arial"/>
              </a:rPr>
              <a:t>In the data center, this means replacing several small devices with a few, highly capable pieces of equipment to provide simplicity.</a:t>
            </a:r>
            <a:endParaRPr b="0" lang="en-IN" sz="2200" spc="-1" strike="noStrike">
              <a:latin typeface="Arial"/>
            </a:endParaRPr>
          </a:p>
          <a:p>
            <a:endParaRPr b="0" lang="en-IN" sz="2200" spc="-1" strike="noStrike">
              <a:latin typeface="Arial"/>
            </a:endParaRPr>
          </a:p>
          <a:p>
            <a:r>
              <a:rPr b="0" lang="en-IN" sz="2200" spc="-1" strike="noStrike">
                <a:latin typeface="Arial"/>
              </a:rPr>
              <a:t>The key reason for consolidation is the sprawl of equipment and processes to manage them. </a:t>
            </a:r>
            <a:endParaRPr b="0" lang="en-IN" sz="2200" spc="-1" strike="noStrike">
              <a:latin typeface="Arial"/>
            </a:endParaRPr>
          </a:p>
          <a:p>
            <a:endParaRPr b="0" lang="en-IN" sz="2200" spc="-1" strike="noStrike">
              <a:latin typeface="Arial"/>
            </a:endParaRPr>
          </a:p>
          <a:p>
            <a:r>
              <a:rPr b="0" lang="en-IN" sz="2200" spc="-1" strike="noStrike">
                <a:latin typeface="Arial"/>
              </a:rPr>
              <a:t>It is absolutely crucial to understand the function of each piece of</a:t>
            </a:r>
            <a:endParaRPr b="0" lang="en-IN" sz="2200" spc="-1" strike="noStrike">
              <a:latin typeface="Arial"/>
            </a:endParaRPr>
          </a:p>
          <a:p>
            <a:r>
              <a:rPr b="0" lang="en-IN" sz="2200" spc="-1" strike="noStrike">
                <a:latin typeface="Arial"/>
              </a:rPr>
              <a:t>equipment and related processes before consolidating them.</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Rectangle 5_19"/>
          <p:cNvSpPr/>
          <p:nvPr/>
        </p:nvSpPr>
        <p:spPr>
          <a:xfrm>
            <a:off x="444600" y="258840"/>
            <a:ext cx="6659640" cy="696960"/>
          </a:xfrm>
          <a:prstGeom prst="rect">
            <a:avLst/>
          </a:prstGeom>
          <a:noFill/>
          <a:ln w="9360">
            <a:noFill/>
          </a:ln>
        </p:spPr>
        <p:style>
          <a:lnRef idx="0"/>
          <a:fillRef idx="0"/>
          <a:effectRef idx="0"/>
          <a:fontRef idx="minor"/>
        </p:style>
      </p:sp>
      <p:sp>
        <p:nvSpPr>
          <p:cNvPr id="227" name="Rectangle 6_19"/>
          <p:cNvSpPr/>
          <p:nvPr/>
        </p:nvSpPr>
        <p:spPr>
          <a:xfrm>
            <a:off x="628560" y="1328760"/>
            <a:ext cx="7885440" cy="4748400"/>
          </a:xfrm>
          <a:prstGeom prst="rect">
            <a:avLst/>
          </a:prstGeom>
          <a:noFill/>
          <a:ln w="9360">
            <a:noFill/>
          </a:ln>
        </p:spPr>
        <p:style>
          <a:lnRef idx="0"/>
          <a:fillRef idx="0"/>
          <a:effectRef idx="0"/>
          <a:fontRef idx="minor"/>
        </p:style>
      </p:sp>
      <p:sp>
        <p:nvSpPr>
          <p:cNvPr id="22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2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It is also critical to understand the key reasons for consolidation:</a:t>
            </a:r>
            <a:endParaRPr b="0" lang="en-IN" sz="2200" spc="-1" strike="noStrike">
              <a:latin typeface="Arial"/>
            </a:endParaRPr>
          </a:p>
          <a:p>
            <a:r>
              <a:rPr b="0" lang="en-IN" sz="2200" spc="-1" strike="noStrike">
                <a:latin typeface="Arial"/>
              </a:rPr>
              <a:t>■ </a:t>
            </a:r>
            <a:r>
              <a:rPr b="0" lang="en-IN" sz="2200" spc="-1" strike="noStrike">
                <a:latin typeface="Arial"/>
              </a:rPr>
              <a:t>Reduce the number of servers — With distributed computing, each server hosted one application and users logged on to the application from their desktops. One application per server made it easy for each group or department to buy, own, and manage whatever it needed. The servers were cheap and small, and it was easy to buy one every time an application was needed. Actually, each application required more than one server. They needed a development server, staging server (to verify application compatibility before moving code to production servers), training servers (for classes and self-learning), and disaster recovery (DR) servers at a remote site. Up to seven or eight servers, therefore,</a:t>
            </a:r>
            <a:endParaRPr b="0" lang="en-IN" sz="2200" spc="-1" strike="noStrike">
              <a:latin typeface="Arial"/>
            </a:endParaRPr>
          </a:p>
          <a:p>
            <a:r>
              <a:rPr b="0" lang="en-IN" sz="2200" spc="-1" strike="noStrike">
                <a:latin typeface="Arial"/>
              </a:rPr>
              <a:t>were necessary for each application.</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Rectangle 5_33"/>
          <p:cNvSpPr/>
          <p:nvPr/>
        </p:nvSpPr>
        <p:spPr>
          <a:xfrm>
            <a:off x="444600" y="258840"/>
            <a:ext cx="6659640" cy="696960"/>
          </a:xfrm>
          <a:prstGeom prst="rect">
            <a:avLst/>
          </a:prstGeom>
          <a:noFill/>
          <a:ln w="9360">
            <a:noFill/>
          </a:ln>
        </p:spPr>
        <p:style>
          <a:lnRef idx="0"/>
          <a:fillRef idx="0"/>
          <a:effectRef idx="0"/>
          <a:fontRef idx="minor"/>
        </p:style>
      </p:sp>
      <p:sp>
        <p:nvSpPr>
          <p:cNvPr id="231" name="Rectangle 6_33"/>
          <p:cNvSpPr/>
          <p:nvPr/>
        </p:nvSpPr>
        <p:spPr>
          <a:xfrm>
            <a:off x="628560" y="1328760"/>
            <a:ext cx="7885440" cy="4748400"/>
          </a:xfrm>
          <a:prstGeom prst="rect">
            <a:avLst/>
          </a:prstGeom>
          <a:noFill/>
          <a:ln w="9360">
            <a:noFill/>
          </a:ln>
        </p:spPr>
        <p:style>
          <a:lnRef idx="0"/>
          <a:fillRef idx="0"/>
          <a:effectRef idx="0"/>
          <a:fontRef idx="minor"/>
        </p:style>
      </p:sp>
      <p:sp>
        <p:nvSpPr>
          <p:cNvPr id="23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3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Increase usage of storage — Each server has its own set of direct-attached storage creating storage islands. If a server runs out of disk space, more must be added to that server, even if other servers in the data center have lots of free storage.</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Reduce IT processes — There are sets of processes that must be written and followed by everyone for each server and application. Less equipment means fewer processes.</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Reduce support staff — All the individual equipment needs support staff to ensure it is humming properly. The servers and applications must be tuned, backed up, patched, upgraded, and protected from internal and external threats. Skilled system administrators, database administrators, and network engineers</a:t>
            </a:r>
            <a:endParaRPr b="0" lang="en-IN" sz="2200" spc="-1" strike="noStrike">
              <a:latin typeface="Arial"/>
            </a:endParaRPr>
          </a:p>
          <a:p>
            <a:r>
              <a:rPr b="0" lang="en-IN" sz="2200" spc="-1" strike="noStrike">
                <a:latin typeface="Arial"/>
              </a:rPr>
              <a:t>are hard to find and expensive to retain. Equipment consolidation in a data center will let you get by with fewer support staff..</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4" name="Rectangle 5_20"/>
          <p:cNvSpPr/>
          <p:nvPr/>
        </p:nvSpPr>
        <p:spPr>
          <a:xfrm>
            <a:off x="444600" y="258840"/>
            <a:ext cx="6659640" cy="696960"/>
          </a:xfrm>
          <a:prstGeom prst="rect">
            <a:avLst/>
          </a:prstGeom>
          <a:noFill/>
          <a:ln w="9360">
            <a:noFill/>
          </a:ln>
        </p:spPr>
        <p:style>
          <a:lnRef idx="0"/>
          <a:fillRef idx="0"/>
          <a:effectRef idx="0"/>
          <a:fontRef idx="minor"/>
        </p:style>
      </p:sp>
      <p:sp>
        <p:nvSpPr>
          <p:cNvPr id="235" name="Rectangle 6_20"/>
          <p:cNvSpPr/>
          <p:nvPr/>
        </p:nvSpPr>
        <p:spPr>
          <a:xfrm>
            <a:off x="628560" y="1328760"/>
            <a:ext cx="7885440" cy="4748400"/>
          </a:xfrm>
          <a:prstGeom prst="rect">
            <a:avLst/>
          </a:prstGeom>
          <a:noFill/>
          <a:ln w="9360">
            <a:noFill/>
          </a:ln>
        </p:spPr>
        <p:style>
          <a:lnRef idx="0"/>
          <a:fillRef idx="0"/>
          <a:effectRef idx="0"/>
          <a:fontRef idx="minor"/>
        </p:style>
      </p:sp>
      <p:sp>
        <p:nvSpPr>
          <p:cNvPr id="23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3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 </a:t>
            </a:r>
            <a:r>
              <a:rPr b="0" lang="en-IN" sz="2200" spc="-1" strike="noStrike">
                <a:latin typeface="Arial"/>
              </a:rPr>
              <a:t>Reduce IT expenses — Replacing several pieces of equipment with fewer and more capable hardware components helps reduce expenses in several ways. It makes the environment simpler and easier to manage, reduces hardware maintenance expenses, takes up less of the costly data center floor space, and needs fewer processes and staff.</a:t>
            </a:r>
            <a:endParaRPr b="0" lang="en-IN" sz="2200" spc="-1" strike="noStrike">
              <a:latin typeface="Arial"/>
            </a:endParaRPr>
          </a:p>
          <a:p>
            <a:r>
              <a:rPr b="0" lang="en-IN" sz="2200" spc="-1" strike="noStrike">
                <a:latin typeface="Arial"/>
              </a:rPr>
              <a:t>■ </a:t>
            </a:r>
            <a:r>
              <a:rPr b="0" lang="en-IN" sz="2200" spc="-1" strike="noStrike">
                <a:latin typeface="Arial"/>
              </a:rPr>
              <a:t>Increased service reliability — With equipment and process consolidation, it becomes easier to centralize management of the IT environment. With fewer processes, the environment can be managed more effectively, which, in turn, gives higher service reliability and uptime and reduced fines caused by missed service level agreement (SLA) commitments.</a:t>
            </a:r>
            <a:endParaRPr b="0" lang="en-IN" sz="2200" spc="-1" strike="noStrike">
              <a:latin typeface="Arial"/>
            </a:endParaRPr>
          </a:p>
          <a:p>
            <a:r>
              <a:rPr b="0" lang="en-IN" sz="2200" spc="-1" strike="noStrike">
                <a:latin typeface="Arial"/>
              </a:rPr>
              <a:t>This is one of the most important reasons why several organizations have started consolidating their hardware and processes.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Rectangle 5_21"/>
          <p:cNvSpPr/>
          <p:nvPr/>
        </p:nvSpPr>
        <p:spPr>
          <a:xfrm>
            <a:off x="444600" y="258840"/>
            <a:ext cx="6659640" cy="696960"/>
          </a:xfrm>
          <a:prstGeom prst="rect">
            <a:avLst/>
          </a:prstGeom>
          <a:noFill/>
          <a:ln w="9360">
            <a:noFill/>
          </a:ln>
        </p:spPr>
        <p:style>
          <a:lnRef idx="0"/>
          <a:fillRef idx="0"/>
          <a:effectRef idx="0"/>
          <a:fontRef idx="minor"/>
        </p:style>
      </p:sp>
      <p:sp>
        <p:nvSpPr>
          <p:cNvPr id="239" name="Rectangle 6_21"/>
          <p:cNvSpPr/>
          <p:nvPr/>
        </p:nvSpPr>
        <p:spPr>
          <a:xfrm>
            <a:off x="628560" y="1328760"/>
            <a:ext cx="7885440" cy="4748400"/>
          </a:xfrm>
          <a:prstGeom prst="rect">
            <a:avLst/>
          </a:prstGeom>
          <a:noFill/>
          <a:ln w="9360">
            <a:noFill/>
          </a:ln>
        </p:spPr>
        <p:style>
          <a:lnRef idx="0"/>
          <a:fillRef idx="0"/>
          <a:effectRef idx="0"/>
          <a:fontRef idx="minor"/>
        </p:style>
      </p:sp>
      <p:sp>
        <p:nvSpPr>
          <p:cNvPr id="24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41" name=""/>
          <p:cNvSpPr/>
          <p:nvPr/>
        </p:nvSpPr>
        <p:spPr>
          <a:xfrm>
            <a:off x="360000" y="1210320"/>
            <a:ext cx="864000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Consolidation Opportunities</a:t>
            </a:r>
            <a:endParaRPr b="0" lang="en-IN" sz="2200" spc="-1" strike="noStrike">
              <a:latin typeface="Arial"/>
            </a:endParaRPr>
          </a:p>
          <a:p>
            <a:r>
              <a:rPr b="0" lang="en-IN" sz="2200" spc="-1" strike="noStrike">
                <a:latin typeface="Arial"/>
              </a:rPr>
              <a:t>The initial and obvious target for consolidation is the number of servers and storage devices. However, as the consolidation process starts off, several other equipment and processes seem ideal candidates. At a high level, you should think of consolidation as a way to reduce the number of devices and number of ways to manage the devices.</a:t>
            </a:r>
            <a:endParaRPr b="0" lang="en-IN" sz="2200" spc="-1" strike="noStrike">
              <a:latin typeface="Arial"/>
            </a:endParaRPr>
          </a:p>
          <a:p>
            <a:r>
              <a:rPr b="1" lang="en-IN" sz="2200" spc="-1" strike="noStrike">
                <a:latin typeface="Arial"/>
              </a:rPr>
              <a:t>Server Consolidation</a:t>
            </a:r>
            <a:endParaRPr b="0" lang="en-IN" sz="2200" spc="-1" strike="noStrike">
              <a:latin typeface="Arial"/>
            </a:endParaRPr>
          </a:p>
          <a:p>
            <a:r>
              <a:rPr b="0" lang="en-IN" sz="2200" spc="-1" strike="noStrike">
                <a:latin typeface="Arial"/>
              </a:rPr>
              <a:t>Some organizations have hundreds and others have thousands of servers. Whatever the number, it is too many for the in-house team to manage. Consolidation is necessary and there are two ways to do so: </a:t>
            </a:r>
            <a:r>
              <a:rPr b="0" lang="en-IN" sz="2200" spc="-1" strike="noStrike" u="sng">
                <a:uFillTx/>
                <a:latin typeface="Arial"/>
              </a:rPr>
              <a:t>vertical scaling</a:t>
            </a:r>
            <a:r>
              <a:rPr b="0" lang="en-IN" sz="2200" spc="-1" strike="noStrike">
                <a:latin typeface="Arial"/>
              </a:rPr>
              <a:t> and </a:t>
            </a:r>
            <a:r>
              <a:rPr b="0" lang="en-IN" sz="2200" spc="-1" strike="noStrike" u="sng">
                <a:uFillTx/>
                <a:latin typeface="Arial"/>
              </a:rPr>
              <a:t>horizontal scaling</a:t>
            </a:r>
            <a:r>
              <a:rPr b="0" lang="en-IN" sz="2200" spc="-1" strike="noStrike">
                <a:latin typeface="Arial"/>
              </a:rPr>
              <a:t>. Vertical scaling specifies how you can reduce the server count by running multiple applications on fewer but well-beefed-up servers. Horizontal scaling allows you to bear increased workload by distributing it across</a:t>
            </a:r>
            <a:endParaRPr b="0" lang="en-IN" sz="2200" spc="-1" strike="noStrike">
              <a:latin typeface="Arial"/>
            </a:endParaRPr>
          </a:p>
          <a:p>
            <a:r>
              <a:rPr b="0" lang="en-IN" sz="2200" spc="-1" strike="noStrike">
                <a:latin typeface="Arial"/>
              </a:rPr>
              <a:t>several replicated servers.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Rectangle 5_22"/>
          <p:cNvSpPr/>
          <p:nvPr/>
        </p:nvSpPr>
        <p:spPr>
          <a:xfrm>
            <a:off x="444600" y="258840"/>
            <a:ext cx="6659640" cy="696960"/>
          </a:xfrm>
          <a:prstGeom prst="rect">
            <a:avLst/>
          </a:prstGeom>
          <a:noFill/>
          <a:ln w="9360">
            <a:noFill/>
          </a:ln>
        </p:spPr>
        <p:style>
          <a:lnRef idx="0"/>
          <a:fillRef idx="0"/>
          <a:effectRef idx="0"/>
          <a:fontRef idx="minor"/>
        </p:style>
      </p:sp>
      <p:sp>
        <p:nvSpPr>
          <p:cNvPr id="243" name="Rectangle 6_22"/>
          <p:cNvSpPr/>
          <p:nvPr/>
        </p:nvSpPr>
        <p:spPr>
          <a:xfrm>
            <a:off x="628560" y="1328760"/>
            <a:ext cx="7885440" cy="4748400"/>
          </a:xfrm>
          <a:prstGeom prst="rect">
            <a:avLst/>
          </a:prstGeom>
          <a:noFill/>
          <a:ln w="9360">
            <a:noFill/>
          </a:ln>
        </p:spPr>
        <p:style>
          <a:lnRef idx="0"/>
          <a:fillRef idx="0"/>
          <a:effectRef idx="0"/>
          <a:fontRef idx="minor"/>
        </p:style>
      </p:sp>
      <p:sp>
        <p:nvSpPr>
          <p:cNvPr id="24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4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Once you are aware of these consolidation techniques, you can further refine the consolidation by grouping the servers into three broad categories.</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Front-end servers — These servers are closest to the user community. The most common technique here is horizontal scaling, where incoming load is distributed among the servers by a load-balancing switch. The architecture calls for many low-end, easy-to-replace servers that have access to the same data on shared or dedicated storage. It is not possible to reduce the numbers of servers, but simpler management practices can be standardized for the set of servers to result in lower total cost of</a:t>
            </a:r>
            <a:endParaRPr b="0" lang="en-IN" sz="2200" spc="-1" strike="noStrike">
              <a:latin typeface="Arial"/>
            </a:endParaRPr>
          </a:p>
          <a:p>
            <a:r>
              <a:rPr b="0" lang="en-IN" sz="2200" spc="-1" strike="noStrike">
                <a:latin typeface="Arial"/>
              </a:rPr>
              <a:t>ownership.</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Rectangle 5_34"/>
          <p:cNvSpPr/>
          <p:nvPr/>
        </p:nvSpPr>
        <p:spPr>
          <a:xfrm>
            <a:off x="444600" y="258840"/>
            <a:ext cx="6659640" cy="696960"/>
          </a:xfrm>
          <a:prstGeom prst="rect">
            <a:avLst/>
          </a:prstGeom>
          <a:noFill/>
          <a:ln w="9360">
            <a:noFill/>
          </a:ln>
        </p:spPr>
        <p:style>
          <a:lnRef idx="0"/>
          <a:fillRef idx="0"/>
          <a:effectRef idx="0"/>
          <a:fontRef idx="minor"/>
        </p:style>
      </p:sp>
      <p:sp>
        <p:nvSpPr>
          <p:cNvPr id="247" name="Rectangle 6_34"/>
          <p:cNvSpPr/>
          <p:nvPr/>
        </p:nvSpPr>
        <p:spPr>
          <a:xfrm>
            <a:off x="628560" y="1328760"/>
            <a:ext cx="7885440" cy="4748400"/>
          </a:xfrm>
          <a:prstGeom prst="rect">
            <a:avLst/>
          </a:prstGeom>
          <a:noFill/>
          <a:ln w="9360">
            <a:noFill/>
          </a:ln>
        </p:spPr>
        <p:style>
          <a:lnRef idx="0"/>
          <a:fillRef idx="0"/>
          <a:effectRef idx="0"/>
          <a:fontRef idx="minor"/>
        </p:style>
      </p:sp>
      <p:sp>
        <p:nvSpPr>
          <p:cNvPr id="24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4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Application servers — These run applications and middleware. In most cases, it is possible to replace a large number of application servers with fewer large servers (vertical consolidation).</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Back-end database servers — These are high-end servers that run mission critical databases or applications. They have a large amount of compute resources and are clustered to ensure almost 100 percent uptime. These are ideal candidates for vertical consolidation.</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0" name="Rectangle 5_23"/>
          <p:cNvSpPr/>
          <p:nvPr/>
        </p:nvSpPr>
        <p:spPr>
          <a:xfrm>
            <a:off x="444600" y="258840"/>
            <a:ext cx="6659640" cy="696960"/>
          </a:xfrm>
          <a:prstGeom prst="rect">
            <a:avLst/>
          </a:prstGeom>
          <a:noFill/>
          <a:ln w="9360">
            <a:noFill/>
          </a:ln>
        </p:spPr>
        <p:style>
          <a:lnRef idx="0"/>
          <a:fillRef idx="0"/>
          <a:effectRef idx="0"/>
          <a:fontRef idx="minor"/>
        </p:style>
      </p:sp>
      <p:sp>
        <p:nvSpPr>
          <p:cNvPr id="251" name="Rectangle 6_23"/>
          <p:cNvSpPr/>
          <p:nvPr/>
        </p:nvSpPr>
        <p:spPr>
          <a:xfrm>
            <a:off x="628560" y="1328760"/>
            <a:ext cx="7885440" cy="4748400"/>
          </a:xfrm>
          <a:prstGeom prst="rect">
            <a:avLst/>
          </a:prstGeom>
          <a:noFill/>
          <a:ln w="9360">
            <a:noFill/>
          </a:ln>
        </p:spPr>
        <p:style>
          <a:lnRef idx="0"/>
          <a:fillRef idx="0"/>
          <a:effectRef idx="0"/>
          <a:fontRef idx="minor"/>
        </p:style>
      </p:sp>
      <p:sp>
        <p:nvSpPr>
          <p:cNvPr id="25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5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Storage Consolidation</a:t>
            </a:r>
            <a:r>
              <a:rPr b="0" lang="en-IN" sz="2200" spc="-1" strike="noStrike">
                <a:latin typeface="Arial"/>
              </a:rPr>
              <a:t>.</a:t>
            </a:r>
            <a:endParaRPr b="0" lang="en-IN" sz="2200" spc="-1" strike="noStrike">
              <a:latin typeface="Arial"/>
            </a:endParaRPr>
          </a:p>
          <a:p>
            <a:endParaRPr b="0" lang="en-IN" sz="2200" spc="-1" strike="noStrike">
              <a:latin typeface="Arial"/>
            </a:endParaRPr>
          </a:p>
          <a:p>
            <a:r>
              <a:rPr b="0" lang="en-IN" sz="2200" spc="-1" strike="noStrike">
                <a:latin typeface="Arial"/>
              </a:rPr>
              <a:t>It is estimated that the amount of storage doubles every two years. The ever increasing volume of data and its management has made the cost of storage a significant portion of the total cost of ownership of an IT environment. All this has led to various ways to consolidate storage.</a:t>
            </a:r>
            <a:endParaRPr b="0" lang="en-IN" sz="2200" spc="-1" strike="noStrike">
              <a:latin typeface="Arial"/>
            </a:endParaRPr>
          </a:p>
          <a:p>
            <a:r>
              <a:rPr b="0" lang="en-IN" sz="2200" spc="-1" strike="noStrike">
                <a:latin typeface="Arial"/>
              </a:rPr>
              <a:t>Following are important advantages of storage consolidation:</a:t>
            </a:r>
            <a:endParaRPr b="0" lang="en-IN" sz="2200" spc="-1" strike="noStrike">
              <a:latin typeface="Arial"/>
            </a:endParaRPr>
          </a:p>
          <a:p>
            <a:r>
              <a:rPr b="0" lang="en-IN" sz="2200" spc="-1" strike="noStrike">
                <a:latin typeface="Arial"/>
              </a:rPr>
              <a:t>■ </a:t>
            </a:r>
            <a:r>
              <a:rPr b="0" lang="en-IN" sz="2200" spc="-1" strike="noStrike">
                <a:latin typeface="Arial"/>
              </a:rPr>
              <a:t>Increased storage utilization — A recent study showed that an average about of 20 percent to 40 percent of storage space is utilized if it is accessible by only one server. If a server requires more storage, it is a lot easier to buy new storage and add it, rather than migrate storage connected to another server (although other servers may contain a lot of unused, free space). The utilized percentage is higher if storage is accessible by several servers.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Rectangle 5_35"/>
          <p:cNvSpPr/>
          <p:nvPr/>
        </p:nvSpPr>
        <p:spPr>
          <a:xfrm>
            <a:off x="444600" y="258840"/>
            <a:ext cx="6659640" cy="696960"/>
          </a:xfrm>
          <a:prstGeom prst="rect">
            <a:avLst/>
          </a:prstGeom>
          <a:noFill/>
          <a:ln w="9360">
            <a:noFill/>
          </a:ln>
        </p:spPr>
        <p:style>
          <a:lnRef idx="0"/>
          <a:fillRef idx="0"/>
          <a:effectRef idx="0"/>
          <a:fontRef idx="minor"/>
        </p:style>
      </p:sp>
      <p:sp>
        <p:nvSpPr>
          <p:cNvPr id="255" name="Rectangle 6_35"/>
          <p:cNvSpPr/>
          <p:nvPr/>
        </p:nvSpPr>
        <p:spPr>
          <a:xfrm>
            <a:off x="628560" y="1328760"/>
            <a:ext cx="7885440" cy="4748400"/>
          </a:xfrm>
          <a:prstGeom prst="rect">
            <a:avLst/>
          </a:prstGeom>
          <a:noFill/>
          <a:ln w="9360">
            <a:noFill/>
          </a:ln>
        </p:spPr>
        <p:style>
          <a:lnRef idx="0"/>
          <a:fillRef idx="0"/>
          <a:effectRef idx="0"/>
          <a:fontRef idx="minor"/>
        </p:style>
      </p:sp>
      <p:sp>
        <p:nvSpPr>
          <p:cNvPr id="25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5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Easier data backup and recovery — Backing up disparate storage devices requires more configuration and time than the same quantity of storage within a subsystem.</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Affordability — It is easier and more affordable to increase the reliability, availability, and serviceability (RAS) and remote data replication for a single high-end storage subsystem than for several small disconnected storage devices.</a:t>
            </a:r>
            <a:endParaRPr b="0" lang="en-IN" sz="2200" spc="-1" strike="noStrike">
              <a:latin typeface="Arial"/>
            </a:endParaRPr>
          </a:p>
          <a:p>
            <a:endParaRPr b="0" lang="en-IN" sz="2200" spc="-1" strike="noStrike">
              <a:latin typeface="Arial"/>
            </a:endParaRPr>
          </a:p>
          <a:p>
            <a:r>
              <a:rPr b="0" lang="en-IN" sz="2200" spc="-1" strike="noStrike">
                <a:latin typeface="Arial"/>
              </a:rPr>
              <a:t>Following are four types of storage consolidations:</a:t>
            </a:r>
            <a:endParaRPr b="0" lang="en-IN" sz="2200" spc="-1" strike="noStrike">
              <a:latin typeface="Arial"/>
            </a:endParaRPr>
          </a:p>
          <a:p>
            <a:r>
              <a:rPr b="0" lang="en-IN" sz="2200" spc="-1" strike="noStrike">
                <a:latin typeface="Arial"/>
              </a:rPr>
              <a:t>■ </a:t>
            </a:r>
            <a:r>
              <a:rPr b="0" lang="en-IN" sz="2200" spc="-1" strike="noStrike">
                <a:latin typeface="Arial"/>
              </a:rPr>
              <a:t>Storage consolidation by consolidating servers</a:t>
            </a:r>
            <a:endParaRPr b="0" lang="en-IN" sz="2200" spc="-1" strike="noStrike">
              <a:latin typeface="Arial"/>
            </a:endParaRPr>
          </a:p>
          <a:p>
            <a:r>
              <a:rPr b="0" lang="en-IN" sz="2200" spc="-1" strike="noStrike">
                <a:latin typeface="Arial"/>
              </a:rPr>
              <a:t>■ </a:t>
            </a:r>
            <a:r>
              <a:rPr b="0" lang="en-IN" sz="2200" spc="-1" strike="noStrike">
                <a:latin typeface="Arial"/>
              </a:rPr>
              <a:t>Various servers linked to a single storage subsystem</a:t>
            </a:r>
            <a:endParaRPr b="0" lang="en-IN" sz="2200" spc="-1" strike="noStrike">
              <a:latin typeface="Arial"/>
            </a:endParaRPr>
          </a:p>
          <a:p>
            <a:r>
              <a:rPr b="0" lang="en-IN" sz="2200" spc="-1" strike="noStrike">
                <a:latin typeface="Arial"/>
              </a:rPr>
              <a:t>■ </a:t>
            </a:r>
            <a:r>
              <a:rPr b="0" lang="en-IN" sz="2200" spc="-1" strike="noStrike">
                <a:latin typeface="Arial"/>
              </a:rPr>
              <a:t>Consolidation with storage area network (SAN)</a:t>
            </a:r>
            <a:endParaRPr b="0" lang="en-IN" sz="2200" spc="-1" strike="noStrike">
              <a:latin typeface="Arial"/>
            </a:endParaRPr>
          </a:p>
          <a:p>
            <a:r>
              <a:rPr b="0" lang="en-IN" sz="2200" spc="-1" strike="noStrike">
                <a:latin typeface="Arial"/>
              </a:rPr>
              <a:t>■ </a:t>
            </a:r>
            <a:r>
              <a:rPr b="0" lang="en-IN" sz="2200" spc="-1" strike="noStrike">
                <a:latin typeface="Arial"/>
              </a:rPr>
              <a:t>Consolidation with network attached storage (NAS)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Rectangle 5_24"/>
          <p:cNvSpPr/>
          <p:nvPr/>
        </p:nvSpPr>
        <p:spPr>
          <a:xfrm>
            <a:off x="444600" y="258840"/>
            <a:ext cx="6659640" cy="696960"/>
          </a:xfrm>
          <a:prstGeom prst="rect">
            <a:avLst/>
          </a:prstGeom>
          <a:noFill/>
          <a:ln w="9360">
            <a:noFill/>
          </a:ln>
        </p:spPr>
        <p:style>
          <a:lnRef idx="0"/>
          <a:fillRef idx="0"/>
          <a:effectRef idx="0"/>
          <a:fontRef idx="minor"/>
        </p:style>
      </p:sp>
      <p:sp>
        <p:nvSpPr>
          <p:cNvPr id="259" name="Rectangle 6_24"/>
          <p:cNvSpPr/>
          <p:nvPr/>
        </p:nvSpPr>
        <p:spPr>
          <a:xfrm>
            <a:off x="628560" y="1328760"/>
            <a:ext cx="7885440" cy="4748400"/>
          </a:xfrm>
          <a:prstGeom prst="rect">
            <a:avLst/>
          </a:prstGeom>
          <a:noFill/>
          <a:ln w="9360">
            <a:noFill/>
          </a:ln>
        </p:spPr>
        <p:style>
          <a:lnRef idx="0"/>
          <a:fillRef idx="0"/>
          <a:effectRef idx="0"/>
          <a:fontRef idx="minor"/>
        </p:style>
      </p:sp>
      <p:sp>
        <p:nvSpPr>
          <p:cNvPr id="26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61"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Storage Consolidation by Consolidating Servers</a:t>
            </a:r>
            <a:endParaRPr b="0" lang="en-IN" sz="2200" spc="-1" strike="noStrike">
              <a:latin typeface="Arial"/>
            </a:endParaRPr>
          </a:p>
          <a:p>
            <a:r>
              <a:rPr b="0" lang="en-IN" sz="2200" spc="-1" strike="noStrike">
                <a:latin typeface="Arial"/>
              </a:rPr>
              <a:t>As applications (previously running on separate hosts) are moved to a single host, the storage must also be moved. </a:t>
            </a:r>
            <a:endParaRPr b="0" lang="en-IN" sz="2200" spc="-1" strike="noStrike">
              <a:latin typeface="Arial"/>
            </a:endParaRPr>
          </a:p>
          <a:p>
            <a:r>
              <a:rPr b="0" lang="en-IN" sz="2200" spc="-1" strike="noStrike">
                <a:latin typeface="Arial"/>
              </a:rPr>
              <a:t>The consolidated storage is now available to all the applications.</a:t>
            </a:r>
            <a:endParaRPr b="0" lang="en-IN" sz="2200" spc="-1" strike="noStrike">
              <a:latin typeface="Arial"/>
            </a:endParaRPr>
          </a:p>
          <a:p>
            <a:r>
              <a:rPr b="0" lang="en-IN" sz="2200" spc="-1" strike="noStrike">
                <a:latin typeface="Arial"/>
              </a:rPr>
              <a:t>It is a single Server with a very high storage capacity.</a:t>
            </a:r>
            <a:endParaRPr b="0" lang="en-IN" sz="2200" spc="-1" strike="noStrike">
              <a:latin typeface="Arial"/>
            </a:endParaRPr>
          </a:p>
          <a:p>
            <a:endParaRPr b="0" lang="en-IN" sz="2200" spc="-1" strike="noStrike">
              <a:latin typeface="Arial"/>
            </a:endParaRPr>
          </a:p>
          <a:p>
            <a:r>
              <a:rPr b="1" lang="en-IN" sz="2200" spc="-1" strike="noStrike">
                <a:latin typeface="Arial"/>
              </a:rPr>
              <a:t>Various Servers Linked to a Single Storage Subsystem</a:t>
            </a:r>
            <a:endParaRPr b="0" lang="en-IN" sz="2200" spc="-1" strike="noStrike">
              <a:latin typeface="Arial"/>
            </a:endParaRPr>
          </a:p>
          <a:p>
            <a:r>
              <a:rPr b="0" lang="en-IN" sz="2200" spc="-1" strike="noStrike">
                <a:latin typeface="Arial"/>
              </a:rPr>
              <a:t>This form of storage consolidation is the most popular type. Applications from various servers can be migrated to a single server if the servers are of the same platform (UNIX, Windows, and so forth). IT organizations rarely run enterprisewide applications on one vendor’s platform, but rather have a mix of Windows,Linux, and other operating systems. Instead of providing storage islands for each platform, a single, large storage subsystem can be used for all platforms. It is important to ensure that storage drivers are available for various platforms. </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Rectangle 5_25"/>
          <p:cNvSpPr/>
          <p:nvPr/>
        </p:nvSpPr>
        <p:spPr>
          <a:xfrm>
            <a:off x="444600" y="258840"/>
            <a:ext cx="6659640" cy="696960"/>
          </a:xfrm>
          <a:prstGeom prst="rect">
            <a:avLst/>
          </a:prstGeom>
          <a:noFill/>
          <a:ln w="9360">
            <a:noFill/>
          </a:ln>
        </p:spPr>
        <p:style>
          <a:lnRef idx="0"/>
          <a:fillRef idx="0"/>
          <a:effectRef idx="0"/>
          <a:fontRef idx="minor"/>
        </p:style>
      </p:sp>
      <p:sp>
        <p:nvSpPr>
          <p:cNvPr id="263" name="Rectangle 6_25"/>
          <p:cNvSpPr/>
          <p:nvPr/>
        </p:nvSpPr>
        <p:spPr>
          <a:xfrm>
            <a:off x="628560" y="1328760"/>
            <a:ext cx="7885440" cy="4748400"/>
          </a:xfrm>
          <a:prstGeom prst="rect">
            <a:avLst/>
          </a:prstGeom>
          <a:noFill/>
          <a:ln w="9360">
            <a:noFill/>
          </a:ln>
        </p:spPr>
        <p:style>
          <a:lnRef idx="0"/>
          <a:fillRef idx="0"/>
          <a:effectRef idx="0"/>
          <a:fontRef idx="minor"/>
        </p:style>
      </p:sp>
      <p:sp>
        <p:nvSpPr>
          <p:cNvPr id="26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6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Consolidation with Storage Area Network (SAN)</a:t>
            </a:r>
            <a:endParaRPr b="0" lang="en-IN" sz="2200" spc="-1" strike="noStrike">
              <a:latin typeface="Arial"/>
            </a:endParaRPr>
          </a:p>
          <a:p>
            <a:endParaRPr b="0" lang="en-IN" sz="2200" spc="-1" strike="noStrike">
              <a:latin typeface="Arial"/>
            </a:endParaRPr>
          </a:p>
          <a:p>
            <a:r>
              <a:rPr b="0" lang="en-IN" sz="2200" spc="-1" strike="noStrike">
                <a:latin typeface="Arial"/>
              </a:rPr>
              <a:t>SAN is a set of storage-switching devices that connect a set of servers to a shared storage pool. SAN could be one or more switches or hubs. Any server connected to the SAN fabric can access and use any of the storage devices connected to it.</a:t>
            </a:r>
            <a:endParaRPr b="0" lang="en-IN" sz="2200" spc="-1" strike="noStrike">
              <a:latin typeface="Arial"/>
            </a:endParaRPr>
          </a:p>
          <a:p>
            <a:endParaRPr b="0" lang="en-IN" sz="2200" spc="-1" strike="noStrike">
              <a:latin typeface="Arial"/>
            </a:endParaRPr>
          </a:p>
          <a:p>
            <a:r>
              <a:rPr b="1" lang="en-IN" sz="2200" spc="-1" strike="noStrike">
                <a:latin typeface="Arial"/>
              </a:rPr>
              <a:t>Consolidation with Network Attached Storage (NAS)</a:t>
            </a:r>
            <a:endParaRPr b="0" lang="en-IN" sz="2200" spc="-1" strike="noStrike">
              <a:latin typeface="Arial"/>
            </a:endParaRPr>
          </a:p>
          <a:p>
            <a:endParaRPr b="0" lang="en-IN" sz="2200" spc="-1" strike="noStrike">
              <a:latin typeface="Arial"/>
            </a:endParaRPr>
          </a:p>
          <a:p>
            <a:r>
              <a:rPr b="0" lang="en-IN" sz="2200" spc="-1" strike="noStrike">
                <a:latin typeface="Arial"/>
              </a:rPr>
              <a:t>Unlike the previous three consolidation forms, NAS allows servers to access storage over the network using networking protocols such as Network File System (NFS), Server Message Block (SMB), Common Internet File System (CIFS), Hypertext Transfer Protocol (HTTP), and File Transfer Protocol (FTP). </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Rectangle 5_26"/>
          <p:cNvSpPr/>
          <p:nvPr/>
        </p:nvSpPr>
        <p:spPr>
          <a:xfrm>
            <a:off x="444600" y="258840"/>
            <a:ext cx="6659640" cy="696960"/>
          </a:xfrm>
          <a:prstGeom prst="rect">
            <a:avLst/>
          </a:prstGeom>
          <a:noFill/>
          <a:ln w="9360">
            <a:noFill/>
          </a:ln>
        </p:spPr>
        <p:style>
          <a:lnRef idx="0"/>
          <a:fillRef idx="0"/>
          <a:effectRef idx="0"/>
          <a:fontRef idx="minor"/>
        </p:style>
      </p:sp>
      <p:sp>
        <p:nvSpPr>
          <p:cNvPr id="267" name="Rectangle 6_26"/>
          <p:cNvSpPr/>
          <p:nvPr/>
        </p:nvSpPr>
        <p:spPr>
          <a:xfrm>
            <a:off x="628560" y="1328760"/>
            <a:ext cx="7885440" cy="4748400"/>
          </a:xfrm>
          <a:prstGeom prst="rect">
            <a:avLst/>
          </a:prstGeom>
          <a:noFill/>
          <a:ln w="9360">
            <a:noFill/>
          </a:ln>
        </p:spPr>
        <p:style>
          <a:lnRef idx="0"/>
          <a:fillRef idx="0"/>
          <a:effectRef idx="0"/>
          <a:fontRef idx="minor"/>
        </p:style>
      </p:sp>
      <p:sp>
        <p:nvSpPr>
          <p:cNvPr id="26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6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Network Consolidation</a:t>
            </a:r>
            <a:endParaRPr b="0" lang="en-IN" sz="2200" spc="-1" strike="noStrike">
              <a:latin typeface="Arial"/>
            </a:endParaRPr>
          </a:p>
          <a:p>
            <a:endParaRPr b="0" lang="en-IN" sz="2200" spc="-1" strike="noStrike">
              <a:latin typeface="Arial"/>
            </a:endParaRPr>
          </a:p>
          <a:p>
            <a:r>
              <a:rPr b="0" lang="en-IN" sz="2200" spc="-1" strike="noStrike">
                <a:latin typeface="Arial"/>
              </a:rPr>
              <a:t>Consolidating a heterogeneous network into a robust, homogeneous environment requires good process and people management. </a:t>
            </a:r>
            <a:endParaRPr b="0" lang="en-IN" sz="2200" spc="-1" strike="noStrike">
              <a:latin typeface="Arial"/>
            </a:endParaRPr>
          </a:p>
          <a:p>
            <a:endParaRPr b="0" lang="en-IN" sz="2200" spc="-1" strike="noStrike">
              <a:latin typeface="Arial"/>
            </a:endParaRPr>
          </a:p>
          <a:p>
            <a:r>
              <a:rPr b="0" lang="en-IN" sz="2200" spc="-1" strike="noStrike">
                <a:latin typeface="Arial"/>
              </a:rPr>
              <a:t>When faced with several heterogeneous networks, any one of the following three approaches can be taken to combine the network topologies and processes:</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The first strategy is to maintain a diverse network and consolidate people. There are no equipment or network topology changes. However, the headcount is reduced and a combined team is tasked to manage all the existing networks. All the networks compete for the reduced personnel time and the result is inferior network management and support.</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Rectangle 5_27"/>
          <p:cNvSpPr/>
          <p:nvPr/>
        </p:nvSpPr>
        <p:spPr>
          <a:xfrm>
            <a:off x="444600" y="258840"/>
            <a:ext cx="6659640" cy="696960"/>
          </a:xfrm>
          <a:prstGeom prst="rect">
            <a:avLst/>
          </a:prstGeom>
          <a:noFill/>
          <a:ln w="9360">
            <a:noFill/>
          </a:ln>
        </p:spPr>
        <p:style>
          <a:lnRef idx="0"/>
          <a:fillRef idx="0"/>
          <a:effectRef idx="0"/>
          <a:fontRef idx="minor"/>
        </p:style>
      </p:sp>
      <p:sp>
        <p:nvSpPr>
          <p:cNvPr id="271" name="Rectangle 6_27"/>
          <p:cNvSpPr/>
          <p:nvPr/>
        </p:nvSpPr>
        <p:spPr>
          <a:xfrm>
            <a:off x="628560" y="1328760"/>
            <a:ext cx="7885440" cy="4748400"/>
          </a:xfrm>
          <a:prstGeom prst="rect">
            <a:avLst/>
          </a:prstGeom>
          <a:noFill/>
          <a:ln w="9360">
            <a:noFill/>
          </a:ln>
        </p:spPr>
        <p:style>
          <a:lnRef idx="0"/>
          <a:fillRef idx="0"/>
          <a:effectRef idx="0"/>
          <a:fontRef idx="minor"/>
        </p:style>
      </p:sp>
      <p:sp>
        <p:nvSpPr>
          <p:cNvPr id="27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7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The second strategy is to select a pre-existing network and expand it to provide services to the entire organization. Servers and devices from other networks are slowly migrated to the selected network. It is important to select the network on technical merit and not on prior ownership or political pressures. Because of the high business dependence on network services, a poor selection or consolidation plan will result in chaos, upheaval, reduced availability, and unplanned outages.</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The third strategy is hybridization. It involves a review and unit-cost analysis of all existing networks and new candidate solutions. The goal is to architect a solution that is a either a hybrid of the existing networks or a completely new network. The next step (after review) is to create a detailed, stage-by-stage migration from the existing network to a new solution. The plan must pay attention to application dependencies and acceptable latencies for users.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Rectangle 5_28"/>
          <p:cNvSpPr/>
          <p:nvPr/>
        </p:nvSpPr>
        <p:spPr>
          <a:xfrm>
            <a:off x="444600" y="258840"/>
            <a:ext cx="6659640" cy="696960"/>
          </a:xfrm>
          <a:prstGeom prst="rect">
            <a:avLst/>
          </a:prstGeom>
          <a:noFill/>
          <a:ln w="9360">
            <a:noFill/>
          </a:ln>
        </p:spPr>
        <p:style>
          <a:lnRef idx="0"/>
          <a:fillRef idx="0"/>
          <a:effectRef idx="0"/>
          <a:fontRef idx="minor"/>
        </p:style>
      </p:sp>
      <p:sp>
        <p:nvSpPr>
          <p:cNvPr id="275" name="Rectangle 6_28"/>
          <p:cNvSpPr/>
          <p:nvPr/>
        </p:nvSpPr>
        <p:spPr>
          <a:xfrm>
            <a:off x="628560" y="1328760"/>
            <a:ext cx="7885440" cy="4748400"/>
          </a:xfrm>
          <a:prstGeom prst="rect">
            <a:avLst/>
          </a:prstGeom>
          <a:noFill/>
          <a:ln w="9360">
            <a:noFill/>
          </a:ln>
        </p:spPr>
        <p:style>
          <a:lnRef idx="0"/>
          <a:fillRef idx="0"/>
          <a:effectRef idx="0"/>
          <a:fontRef idx="minor"/>
        </p:style>
      </p:sp>
      <p:sp>
        <p:nvSpPr>
          <p:cNvPr id="27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7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The impact of server and storage consolidation on network devices can be adverse or favorable. The consolidation of servers and applications to fewer physical locations will require a higher network bandwidth in those locations if traffic is mostly from users and applications outside the consolidated applications. </a:t>
            </a:r>
            <a:endParaRPr b="0" lang="en-IN" sz="2200" spc="-1" strike="noStrike">
              <a:latin typeface="Arial"/>
            </a:endParaRPr>
          </a:p>
          <a:p>
            <a:endParaRPr b="0" lang="en-IN" sz="2200" spc="-1" strike="noStrike">
              <a:latin typeface="Arial"/>
            </a:endParaRPr>
          </a:p>
          <a:p>
            <a:r>
              <a:rPr b="1" lang="en-IN" sz="2200" spc="-1" strike="noStrike">
                <a:latin typeface="Arial"/>
              </a:rPr>
              <a:t>Application Consolidation</a:t>
            </a:r>
            <a:endParaRPr b="0" lang="en-IN" sz="2200" spc="-1" strike="noStrike">
              <a:latin typeface="Arial"/>
            </a:endParaRPr>
          </a:p>
          <a:p>
            <a:r>
              <a:rPr b="0" lang="en-IN" sz="2200" spc="-1" strike="noStrike">
                <a:latin typeface="Arial"/>
              </a:rPr>
              <a:t>The first task is to select applications that are right for consolidation and those that are not. It is easy to identify and earmark applications that will not be consolidated. These include the following:</a:t>
            </a:r>
            <a:endParaRPr b="0" lang="en-IN" sz="2200" spc="-1" strike="noStrike">
              <a:latin typeface="Arial"/>
            </a:endParaRPr>
          </a:p>
          <a:p>
            <a:r>
              <a:rPr b="0" lang="en-IN" sz="2200" spc="-1" strike="noStrike">
                <a:latin typeface="Arial"/>
              </a:rPr>
              <a:t>■ </a:t>
            </a:r>
            <a:r>
              <a:rPr b="0" lang="en-IN" sz="2200" spc="-1" strike="noStrike">
                <a:latin typeface="Arial"/>
              </a:rPr>
              <a:t>Geographically dispersed servers configured for disaster recovery purposes</a:t>
            </a:r>
            <a:endParaRPr b="0" lang="en-IN" sz="2200" spc="-1" strike="noStrike">
              <a:latin typeface="Arial"/>
            </a:endParaRPr>
          </a:p>
          <a:p>
            <a:r>
              <a:rPr b="0" lang="en-IN" sz="2200" spc="-1" strike="noStrike">
                <a:latin typeface="Arial"/>
              </a:rPr>
              <a:t>■ </a:t>
            </a:r>
            <a:r>
              <a:rPr b="0" lang="en-IN" sz="2200" spc="-1" strike="noStrike">
                <a:latin typeface="Arial"/>
              </a:rPr>
              <a:t>Security servers such as gateways, terminal servers, firewalls, and virtual private network (VPN) servers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Rectangle 5_45"/>
          <p:cNvSpPr/>
          <p:nvPr/>
        </p:nvSpPr>
        <p:spPr>
          <a:xfrm>
            <a:off x="444600" y="258840"/>
            <a:ext cx="6659640" cy="696960"/>
          </a:xfrm>
          <a:prstGeom prst="rect">
            <a:avLst/>
          </a:prstGeom>
          <a:noFill/>
          <a:ln w="9360">
            <a:noFill/>
          </a:ln>
        </p:spPr>
        <p:style>
          <a:lnRef idx="0"/>
          <a:fillRef idx="0"/>
          <a:effectRef idx="0"/>
          <a:fontRef idx="minor"/>
        </p:style>
      </p:sp>
      <p:sp>
        <p:nvSpPr>
          <p:cNvPr id="279" name="Rectangle 6_45"/>
          <p:cNvSpPr/>
          <p:nvPr/>
        </p:nvSpPr>
        <p:spPr>
          <a:xfrm>
            <a:off x="628560" y="1328760"/>
            <a:ext cx="7885440" cy="4748400"/>
          </a:xfrm>
          <a:prstGeom prst="rect">
            <a:avLst/>
          </a:prstGeom>
          <a:noFill/>
          <a:ln w="9360">
            <a:noFill/>
          </a:ln>
        </p:spPr>
        <p:style>
          <a:lnRef idx="0"/>
          <a:fillRef idx="0"/>
          <a:effectRef idx="0"/>
          <a:fontRef idx="minor"/>
        </p:style>
      </p:sp>
      <p:sp>
        <p:nvSpPr>
          <p:cNvPr id="28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81"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Servers whose access is highly restricted because they contain sensitive data or logs</a:t>
            </a:r>
            <a:endParaRPr b="0" lang="en-IN" sz="2200" spc="-1" strike="noStrike">
              <a:latin typeface="Arial"/>
            </a:endParaRPr>
          </a:p>
          <a:p>
            <a:r>
              <a:rPr b="0" lang="en-IN" sz="2200" spc="-1" strike="noStrike">
                <a:latin typeface="Arial"/>
              </a:rPr>
              <a:t>■ </a:t>
            </a:r>
            <a:r>
              <a:rPr b="0" lang="en-IN" sz="2200" spc="-1" strike="noStrike">
                <a:latin typeface="Arial"/>
              </a:rPr>
              <a:t>Software whose vendors have definite needs of a dedicated server for proper functioning</a:t>
            </a:r>
            <a:endParaRPr b="0" lang="en-IN" sz="2200" spc="-1" strike="noStrike">
              <a:latin typeface="Arial"/>
            </a:endParaRPr>
          </a:p>
          <a:p>
            <a:r>
              <a:rPr b="0" lang="en-IN" sz="2200" spc="-1" strike="noStrike">
                <a:latin typeface="Arial"/>
              </a:rPr>
              <a:t>Now identify applications that can be consolidated:</a:t>
            </a:r>
            <a:endParaRPr b="0" lang="en-IN" sz="2200" spc="-1" strike="noStrike">
              <a:latin typeface="Arial"/>
            </a:endParaRPr>
          </a:p>
          <a:p>
            <a:r>
              <a:rPr b="0" lang="en-IN" sz="2200" spc="-1" strike="noStrike">
                <a:latin typeface="Arial"/>
              </a:rPr>
              <a:t>■ </a:t>
            </a:r>
            <a:r>
              <a:rPr b="0" lang="en-IN" sz="2200" spc="-1" strike="noStrike">
                <a:latin typeface="Arial"/>
              </a:rPr>
              <a:t>Database instance — A common consolidation technique is to place several instances of a particular database on the same server. However, you should not place different databases (such as Oracle, DB2, Sybase, or Informix) on the same server because of their kernel and patch requirements.</a:t>
            </a:r>
            <a:endParaRPr b="0" lang="en-IN" sz="2200" spc="-1" strike="noStrike">
              <a:latin typeface="Arial"/>
            </a:endParaRPr>
          </a:p>
          <a:p>
            <a:r>
              <a:rPr b="0" lang="en-IN" sz="2200" spc="-1" strike="noStrike">
                <a:latin typeface="Arial"/>
              </a:rPr>
              <a:t>■ </a:t>
            </a:r>
            <a:r>
              <a:rPr b="0" lang="en-IN" sz="2200" spc="-1" strike="noStrike">
                <a:latin typeface="Arial"/>
              </a:rPr>
              <a:t>Application sets — It is important to identify a pattern in the applications usage. Which set of applications send data to or receive data from another group of servers? Because applications process data sequentially and often do not simultaneously compete for the same server resources, the applications can be consolidated to fewer servers. The net result is decreased network traffic and improved communication between applications.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Rectangle 5_36"/>
          <p:cNvSpPr/>
          <p:nvPr/>
        </p:nvSpPr>
        <p:spPr>
          <a:xfrm>
            <a:off x="444600" y="258840"/>
            <a:ext cx="6659640" cy="696960"/>
          </a:xfrm>
          <a:prstGeom prst="rect">
            <a:avLst/>
          </a:prstGeom>
          <a:noFill/>
          <a:ln w="9360">
            <a:noFill/>
          </a:ln>
        </p:spPr>
        <p:style>
          <a:lnRef idx="0"/>
          <a:fillRef idx="0"/>
          <a:effectRef idx="0"/>
          <a:fontRef idx="minor"/>
        </p:style>
      </p:sp>
      <p:sp>
        <p:nvSpPr>
          <p:cNvPr id="283" name="Rectangle 6_36"/>
          <p:cNvSpPr/>
          <p:nvPr/>
        </p:nvSpPr>
        <p:spPr>
          <a:xfrm>
            <a:off x="628560" y="1328760"/>
            <a:ext cx="7885440" cy="4748400"/>
          </a:xfrm>
          <a:prstGeom prst="rect">
            <a:avLst/>
          </a:prstGeom>
          <a:noFill/>
          <a:ln w="9360">
            <a:noFill/>
          </a:ln>
        </p:spPr>
        <p:style>
          <a:lnRef idx="0"/>
          <a:fillRef idx="0"/>
          <a:effectRef idx="0"/>
          <a:fontRef idx="minor"/>
        </p:style>
      </p:sp>
      <p:sp>
        <p:nvSpPr>
          <p:cNvPr id="28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8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It is important to distinguish between two types of bindings between applications: active and loose. </a:t>
            </a:r>
            <a:endParaRPr b="0" lang="en-IN" sz="2200" spc="-1" strike="noStrike">
              <a:latin typeface="Arial"/>
            </a:endParaRPr>
          </a:p>
          <a:p>
            <a:r>
              <a:rPr b="0" lang="en-IN" sz="2200" spc="-1" strike="noStrike">
                <a:latin typeface="Arial"/>
              </a:rPr>
              <a:t>In active binding, the applications have a two-way and prompt interaction. </a:t>
            </a:r>
            <a:endParaRPr b="0" lang="en-IN" sz="2200" spc="-1" strike="noStrike">
              <a:latin typeface="Arial"/>
            </a:endParaRPr>
          </a:p>
          <a:p>
            <a:r>
              <a:rPr b="0" lang="en-IN" sz="2200" spc="-1" strike="noStrike">
                <a:latin typeface="Arial"/>
              </a:rPr>
              <a:t>Examples are the communication between Web and middleware applications and between ERP applications and database servers.</a:t>
            </a:r>
            <a:endParaRPr b="0" lang="en-IN" sz="2200" spc="-1" strike="noStrike">
              <a:latin typeface="Arial"/>
            </a:endParaRPr>
          </a:p>
          <a:p>
            <a:r>
              <a:rPr b="0" lang="en-IN" sz="2200" spc="-1" strike="noStrike">
                <a:latin typeface="Arial"/>
              </a:rPr>
              <a:t>If these tightly bound applications are moved to one high-end server, the result would be decreased network load and faster interaction.</a:t>
            </a:r>
            <a:endParaRPr b="0" lang="en-IN" sz="2200" spc="-1" strike="noStrike">
              <a:latin typeface="Arial"/>
            </a:endParaRPr>
          </a:p>
          <a:p>
            <a:r>
              <a:rPr b="0" lang="en-IN" sz="2200" spc="-1" strike="noStrike">
                <a:latin typeface="Arial"/>
              </a:rPr>
              <a:t>In loose bindings, the applications receive and process data and then transmit it to another server. </a:t>
            </a:r>
            <a:endParaRPr b="0" lang="en-IN" sz="2200" spc="-1" strike="noStrike">
              <a:latin typeface="Arial"/>
            </a:endParaRPr>
          </a:p>
          <a:p>
            <a:r>
              <a:rPr b="0" lang="en-IN" sz="2200" spc="-1" strike="noStrike">
                <a:latin typeface="Arial"/>
              </a:rPr>
              <a:t>All these happen at predetermined times. </a:t>
            </a:r>
            <a:endParaRPr b="0" lang="en-IN" sz="2200" spc="-1" strike="noStrike">
              <a:latin typeface="Arial"/>
            </a:endParaRPr>
          </a:p>
          <a:p>
            <a:r>
              <a:rPr b="0" lang="en-IN" sz="2200" spc="-1" strike="noStrike">
                <a:latin typeface="Arial"/>
              </a:rPr>
              <a:t>An example would be a database server that transfers its data to the reporting server once every night.</a:t>
            </a:r>
            <a:endParaRPr b="0" lang="en-IN" sz="2200" spc="-1" strike="noStrike">
              <a:latin typeface="Arial"/>
            </a:endParaRPr>
          </a:p>
          <a:p>
            <a:r>
              <a:rPr b="0" lang="en-IN" sz="2200" spc="-1" strike="noStrike">
                <a:latin typeface="Arial"/>
              </a:rPr>
              <a:t>Consolidating actively bound applications to a single server decreases the network load and has better payoff.</a:t>
            </a:r>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Rectangle 5_37"/>
          <p:cNvSpPr/>
          <p:nvPr/>
        </p:nvSpPr>
        <p:spPr>
          <a:xfrm>
            <a:off x="444600" y="258840"/>
            <a:ext cx="6659640" cy="696960"/>
          </a:xfrm>
          <a:prstGeom prst="rect">
            <a:avLst/>
          </a:prstGeom>
          <a:noFill/>
          <a:ln w="9360">
            <a:noFill/>
          </a:ln>
        </p:spPr>
        <p:style>
          <a:lnRef idx="0"/>
          <a:fillRef idx="0"/>
          <a:effectRef idx="0"/>
          <a:fontRef idx="minor"/>
        </p:style>
      </p:sp>
      <p:sp>
        <p:nvSpPr>
          <p:cNvPr id="287" name="Rectangle 6_37"/>
          <p:cNvSpPr/>
          <p:nvPr/>
        </p:nvSpPr>
        <p:spPr>
          <a:xfrm>
            <a:off x="628560" y="1328760"/>
            <a:ext cx="7885440" cy="4748400"/>
          </a:xfrm>
          <a:prstGeom prst="rect">
            <a:avLst/>
          </a:prstGeom>
          <a:noFill/>
          <a:ln w="9360">
            <a:noFill/>
          </a:ln>
        </p:spPr>
        <p:style>
          <a:lnRef idx="0"/>
          <a:fillRef idx="0"/>
          <a:effectRef idx="0"/>
          <a:fontRef idx="minor"/>
        </p:style>
      </p:sp>
      <p:sp>
        <p:nvSpPr>
          <p:cNvPr id="28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8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Service Consolidation</a:t>
            </a:r>
            <a:endParaRPr b="0" lang="en-IN" sz="2200" spc="-1" strike="noStrike">
              <a:latin typeface="Arial"/>
            </a:endParaRPr>
          </a:p>
          <a:p>
            <a:r>
              <a:rPr b="0" lang="en-IN" sz="2200" spc="-1" strike="noStrike">
                <a:latin typeface="Arial"/>
              </a:rPr>
              <a:t>This is another popular consolidation used in corporations with several departments. Historically, every department implements its own services (such as file, print, and authentication) using software from vendors it is most conversant with. Soon there are too many such services in the organization. The complexity and cost of administration increases dramatically. Users from different</a:t>
            </a:r>
            <a:endParaRPr b="0" lang="en-IN" sz="2200" spc="-1" strike="noStrike">
              <a:latin typeface="Arial"/>
            </a:endParaRPr>
          </a:p>
          <a:p>
            <a:r>
              <a:rPr b="0" lang="en-IN" sz="2200" spc="-1" strike="noStrike">
                <a:latin typeface="Arial"/>
              </a:rPr>
              <a:t>departments cannot share information and services because of software incompatibilities. A common example is authentication services such as Lightweight Directory Access Protocol (LDAP).</a:t>
            </a:r>
            <a:endParaRPr b="0" lang="en-IN" sz="2200" spc="-1" strike="noStrike">
              <a:latin typeface="Arial"/>
            </a:endParaRPr>
          </a:p>
          <a:p>
            <a:r>
              <a:rPr b="0" lang="en-IN" sz="2200" spc="-1" strike="noStrike">
                <a:latin typeface="Arial"/>
              </a:rPr>
              <a:t>The solution is to configure a single enterprise-wide service and deploy it across all departments. Many corporations have consolidated authentication services to a single sign-on application for all Web-based applications that require user login and password. Printers on some campuses have also been consolidated to a single print server that manages all network printer queues.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Rectangle 5_38"/>
          <p:cNvSpPr/>
          <p:nvPr/>
        </p:nvSpPr>
        <p:spPr>
          <a:xfrm>
            <a:off x="444600" y="258840"/>
            <a:ext cx="6659640" cy="696960"/>
          </a:xfrm>
          <a:prstGeom prst="rect">
            <a:avLst/>
          </a:prstGeom>
          <a:noFill/>
          <a:ln w="9360">
            <a:noFill/>
          </a:ln>
        </p:spPr>
        <p:style>
          <a:lnRef idx="0"/>
          <a:fillRef idx="0"/>
          <a:effectRef idx="0"/>
          <a:fontRef idx="minor"/>
        </p:style>
      </p:sp>
      <p:sp>
        <p:nvSpPr>
          <p:cNvPr id="291" name="Rectangle 6_38"/>
          <p:cNvSpPr/>
          <p:nvPr/>
        </p:nvSpPr>
        <p:spPr>
          <a:xfrm>
            <a:off x="628560" y="1328760"/>
            <a:ext cx="7885440" cy="4748400"/>
          </a:xfrm>
          <a:prstGeom prst="rect">
            <a:avLst/>
          </a:prstGeom>
          <a:noFill/>
          <a:ln w="9360">
            <a:noFill/>
          </a:ln>
        </p:spPr>
        <p:style>
          <a:lnRef idx="0"/>
          <a:fillRef idx="0"/>
          <a:effectRef idx="0"/>
          <a:fontRef idx="minor"/>
        </p:style>
      </p:sp>
      <p:sp>
        <p:nvSpPr>
          <p:cNvPr id="29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9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Process Consolidation</a:t>
            </a:r>
            <a:endParaRPr b="0" lang="en-IN" sz="2200" spc="-1" strike="noStrike">
              <a:latin typeface="Arial"/>
            </a:endParaRPr>
          </a:p>
          <a:p>
            <a:r>
              <a:rPr b="0" lang="en-IN" sz="2200" spc="-1" strike="noStrike">
                <a:latin typeface="Arial"/>
              </a:rPr>
              <a:t>Some environments within a data center are chaotic, with servers rebooting all the time, high CPU, swap and disk usage alerts, low service quality, and reduced data availability. </a:t>
            </a:r>
            <a:endParaRPr b="0" lang="en-IN" sz="2200" spc="-1" strike="noStrike">
              <a:latin typeface="Arial"/>
            </a:endParaRPr>
          </a:p>
          <a:p>
            <a:r>
              <a:rPr b="0" lang="en-IN" sz="2200" spc="-1" strike="noStrike">
                <a:latin typeface="Arial"/>
              </a:rPr>
              <a:t>When such an environment is compared with another environment that runs in a problem-free and smooth manner, it is easy to see that the missing ingredient is a set of well-followed standards and processes. </a:t>
            </a:r>
            <a:endParaRPr b="0" lang="en-IN" sz="2200" spc="-1" strike="noStrike">
              <a:latin typeface="Arial"/>
            </a:endParaRPr>
          </a:p>
          <a:p>
            <a:r>
              <a:rPr b="0" lang="en-IN" sz="2200" spc="-1" strike="noStrike">
                <a:latin typeface="Arial"/>
              </a:rPr>
              <a:t>To improve service quality and availability, and to reduce operational costs, you must consolidate processes and train support staff on those processes.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Rectangle 5_39"/>
          <p:cNvSpPr/>
          <p:nvPr/>
        </p:nvSpPr>
        <p:spPr>
          <a:xfrm>
            <a:off x="444600" y="258840"/>
            <a:ext cx="6659640" cy="696960"/>
          </a:xfrm>
          <a:prstGeom prst="rect">
            <a:avLst/>
          </a:prstGeom>
          <a:noFill/>
          <a:ln w="9360">
            <a:noFill/>
          </a:ln>
        </p:spPr>
        <p:style>
          <a:lnRef idx="0"/>
          <a:fillRef idx="0"/>
          <a:effectRef idx="0"/>
          <a:fontRef idx="minor"/>
        </p:style>
      </p:sp>
      <p:sp>
        <p:nvSpPr>
          <p:cNvPr id="295" name="Rectangle 6_39"/>
          <p:cNvSpPr/>
          <p:nvPr/>
        </p:nvSpPr>
        <p:spPr>
          <a:xfrm>
            <a:off x="628560" y="1328760"/>
            <a:ext cx="7885440" cy="4748400"/>
          </a:xfrm>
          <a:prstGeom prst="rect">
            <a:avLst/>
          </a:prstGeom>
          <a:noFill/>
          <a:ln w="9360">
            <a:noFill/>
          </a:ln>
        </p:spPr>
        <p:style>
          <a:lnRef idx="0"/>
          <a:fillRef idx="0"/>
          <a:effectRef idx="0"/>
          <a:fontRef idx="minor"/>
        </p:style>
      </p:sp>
      <p:sp>
        <p:nvSpPr>
          <p:cNvPr id="29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29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Staff Consolidation</a:t>
            </a:r>
            <a:endParaRPr b="0" lang="en-IN" sz="2200" spc="-1" strike="noStrike">
              <a:latin typeface="Arial"/>
            </a:endParaRPr>
          </a:p>
          <a:p>
            <a:endParaRPr b="0" lang="en-IN" sz="2200" spc="-1" strike="noStrike">
              <a:latin typeface="Arial"/>
            </a:endParaRPr>
          </a:p>
          <a:p>
            <a:r>
              <a:rPr b="0" lang="en-IN" sz="2200" spc="-1" strike="noStrike">
                <a:latin typeface="Arial"/>
              </a:rPr>
              <a:t>One important outcome of well-consolidated resources and processes is standardization and ease of management. </a:t>
            </a:r>
            <a:endParaRPr b="0" lang="en-IN" sz="2200" spc="-1" strike="noStrike">
              <a:latin typeface="Arial"/>
            </a:endParaRPr>
          </a:p>
          <a:p>
            <a:r>
              <a:rPr b="0" lang="en-IN" sz="2200" spc="-1" strike="noStrike">
                <a:latin typeface="Arial"/>
              </a:rPr>
              <a:t>This, in turn, leads to reduced requirement of the number of support staff.</a:t>
            </a:r>
            <a:endParaRPr b="0" lang="en-IN" sz="2200" spc="-1" strike="noStrike">
              <a:latin typeface="Arial"/>
            </a:endParaRPr>
          </a:p>
          <a:p>
            <a:r>
              <a:rPr b="0" lang="en-IN" sz="2200" spc="-1" strike="noStrike">
                <a:latin typeface="Arial"/>
              </a:rPr>
              <a:t>Another aspect of staff consolidation is that staff must be well-trained on the data center processes. </a:t>
            </a:r>
            <a:endParaRPr b="0" lang="en-IN" sz="2200" spc="-1" strike="noStrike">
              <a:latin typeface="Arial"/>
            </a:endParaRPr>
          </a:p>
          <a:p>
            <a:r>
              <a:rPr b="0" lang="en-IN" sz="2200" spc="-1" strike="noStrike">
                <a:latin typeface="Arial"/>
              </a:rPr>
              <a:t>It is estimated that 80 percent of service outages are caused by staff negligence or process breakdown, and 20 percent is caused by hardware or technical faults.</a:t>
            </a:r>
            <a:endParaRPr b="0" lang="en-IN" sz="2200" spc="-1" strike="noStrike">
              <a:latin typeface="Arial"/>
            </a:endParaRPr>
          </a:p>
          <a:p>
            <a:r>
              <a:rPr b="0" lang="en-IN" sz="2200" spc="-1" strike="noStrike">
                <a:latin typeface="Arial"/>
              </a:rPr>
              <a:t>It is necessary to address people and standards issues to avoid low service quality and reduced availability.</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Rectangle 5_40"/>
          <p:cNvSpPr/>
          <p:nvPr/>
        </p:nvSpPr>
        <p:spPr>
          <a:xfrm>
            <a:off x="444600" y="258840"/>
            <a:ext cx="6659640" cy="696960"/>
          </a:xfrm>
          <a:prstGeom prst="rect">
            <a:avLst/>
          </a:prstGeom>
          <a:noFill/>
          <a:ln w="9360">
            <a:noFill/>
          </a:ln>
        </p:spPr>
        <p:style>
          <a:lnRef idx="0"/>
          <a:fillRef idx="0"/>
          <a:effectRef idx="0"/>
          <a:fontRef idx="minor"/>
        </p:style>
      </p:sp>
      <p:sp>
        <p:nvSpPr>
          <p:cNvPr id="299" name="Rectangle 6_40"/>
          <p:cNvSpPr/>
          <p:nvPr/>
        </p:nvSpPr>
        <p:spPr>
          <a:xfrm>
            <a:off x="628560" y="1328760"/>
            <a:ext cx="7885440" cy="4748400"/>
          </a:xfrm>
          <a:prstGeom prst="rect">
            <a:avLst/>
          </a:prstGeom>
          <a:noFill/>
          <a:ln w="9360">
            <a:noFill/>
          </a:ln>
        </p:spPr>
        <p:style>
          <a:lnRef idx="0"/>
          <a:fillRef idx="0"/>
          <a:effectRef idx="0"/>
          <a:fontRef idx="minor"/>
        </p:style>
      </p:sp>
      <p:sp>
        <p:nvSpPr>
          <p:cNvPr id="30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01"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Consolidation Phases.</a:t>
            </a:r>
            <a:endParaRPr b="0" lang="en-IN" sz="2200" spc="-1" strike="noStrike">
              <a:latin typeface="Arial"/>
            </a:endParaRPr>
          </a:p>
          <a:p>
            <a:endParaRPr b="0" lang="en-IN" sz="2200" spc="-1" strike="noStrike">
              <a:latin typeface="Arial"/>
            </a:endParaRPr>
          </a:p>
          <a:p>
            <a:r>
              <a:rPr b="0" lang="en-IN" sz="2200" spc="-1" strike="noStrike">
                <a:latin typeface="Arial"/>
              </a:rPr>
              <a:t>Following are the main consodilation phases :</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Phase 1: Study and document the current environment.</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Phase 2: Architect the target consolidated environment.</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Phase 3: Implement the new architecture.</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Phase 4: Control and administer the consolidated environment.</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2" name="Rectangle 5_41"/>
          <p:cNvSpPr/>
          <p:nvPr/>
        </p:nvSpPr>
        <p:spPr>
          <a:xfrm>
            <a:off x="444600" y="258840"/>
            <a:ext cx="6659640" cy="696960"/>
          </a:xfrm>
          <a:prstGeom prst="rect">
            <a:avLst/>
          </a:prstGeom>
          <a:noFill/>
          <a:ln w="9360">
            <a:noFill/>
          </a:ln>
        </p:spPr>
        <p:style>
          <a:lnRef idx="0"/>
          <a:fillRef idx="0"/>
          <a:effectRef idx="0"/>
          <a:fontRef idx="minor"/>
        </p:style>
      </p:sp>
      <p:sp>
        <p:nvSpPr>
          <p:cNvPr id="303" name="Rectangle 6_41"/>
          <p:cNvSpPr/>
          <p:nvPr/>
        </p:nvSpPr>
        <p:spPr>
          <a:xfrm>
            <a:off x="628560" y="1328760"/>
            <a:ext cx="7885440" cy="4748400"/>
          </a:xfrm>
          <a:prstGeom prst="rect">
            <a:avLst/>
          </a:prstGeom>
          <a:noFill/>
          <a:ln w="9360">
            <a:noFill/>
          </a:ln>
        </p:spPr>
        <p:style>
          <a:lnRef idx="0"/>
          <a:fillRef idx="0"/>
          <a:effectRef idx="0"/>
          <a:fontRef idx="minor"/>
        </p:style>
      </p:sp>
      <p:sp>
        <p:nvSpPr>
          <p:cNvPr id="30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0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Phase 1: Study and Document the Current Environment</a:t>
            </a:r>
            <a:endParaRPr b="0" lang="en-IN" sz="2200" spc="-1" strike="noStrike">
              <a:latin typeface="Arial"/>
            </a:endParaRPr>
          </a:p>
          <a:p>
            <a:endParaRPr b="0" lang="en-IN" sz="2200" spc="-1" strike="noStrike">
              <a:latin typeface="Arial"/>
            </a:endParaRPr>
          </a:p>
          <a:p>
            <a:r>
              <a:rPr b="0" lang="en-IN" sz="2200" spc="-1" strike="noStrike">
                <a:latin typeface="Arial"/>
              </a:rPr>
              <a:t>This is the first and the most important stage. </a:t>
            </a:r>
            <a:endParaRPr b="0" lang="en-IN" sz="2200" spc="-1" strike="noStrike">
              <a:latin typeface="Arial"/>
            </a:endParaRPr>
          </a:p>
          <a:p>
            <a:r>
              <a:rPr b="0" lang="en-IN" sz="2200" spc="-1" strike="noStrike">
                <a:latin typeface="Arial"/>
              </a:rPr>
              <a:t>During this stage, you understand all facets of the IT environment that are targets for consolidations, as well as collect and document all technical information. </a:t>
            </a:r>
            <a:endParaRPr b="0" lang="en-IN" sz="2200" spc="-1" strike="noStrike">
              <a:latin typeface="Arial"/>
            </a:endParaRPr>
          </a:p>
          <a:p>
            <a:r>
              <a:rPr b="0" lang="en-IN" sz="2200" spc="-1" strike="noStrike">
                <a:latin typeface="Arial"/>
              </a:rPr>
              <a:t>What are the servers, storage, networking, and application requirements? How do these intercommunicate and how do they depend on each other?</a:t>
            </a:r>
            <a:endParaRPr b="0" lang="en-IN" sz="2200" spc="-1" strike="noStrike">
              <a:latin typeface="Arial"/>
            </a:endParaRPr>
          </a:p>
          <a:p>
            <a:r>
              <a:rPr b="0" lang="en-IN" sz="2200" spc="-1" strike="noStrike">
                <a:latin typeface="Arial"/>
              </a:rPr>
              <a:t>This phase can be very detailed and time-consuming. </a:t>
            </a:r>
            <a:endParaRPr b="0" lang="en-IN" sz="2200" spc="-1" strike="noStrike">
              <a:latin typeface="Arial"/>
            </a:endParaRPr>
          </a:p>
          <a:p>
            <a:r>
              <a:rPr b="0" lang="en-IN" sz="2200" spc="-1" strike="noStrike">
                <a:latin typeface="Arial"/>
              </a:rPr>
              <a:t>Therefore, it is vital to decide on the amount of details required and then stick to the requirement.  </a:t>
            </a:r>
            <a:endParaRPr b="0" lang="en-IN" sz="2200" spc="-1" strike="noStrike">
              <a:latin typeface="Arial"/>
            </a:endParaRPr>
          </a:p>
          <a:p>
            <a:r>
              <a:rPr b="0" lang="en-IN" sz="2200" spc="-1" strike="noStrike">
                <a:latin typeface="Arial"/>
              </a:rPr>
              <a:t>It requires an in-depth technical and business know-how to judge the extent of information required for the entire project.</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Rectangle 5_42"/>
          <p:cNvSpPr/>
          <p:nvPr/>
        </p:nvSpPr>
        <p:spPr>
          <a:xfrm>
            <a:off x="444600" y="258840"/>
            <a:ext cx="6659640" cy="696960"/>
          </a:xfrm>
          <a:prstGeom prst="rect">
            <a:avLst/>
          </a:prstGeom>
          <a:noFill/>
          <a:ln w="9360">
            <a:noFill/>
          </a:ln>
        </p:spPr>
        <p:style>
          <a:lnRef idx="0"/>
          <a:fillRef idx="0"/>
          <a:effectRef idx="0"/>
          <a:fontRef idx="minor"/>
        </p:style>
      </p:sp>
      <p:sp>
        <p:nvSpPr>
          <p:cNvPr id="307" name="Rectangle 6_42"/>
          <p:cNvSpPr/>
          <p:nvPr/>
        </p:nvSpPr>
        <p:spPr>
          <a:xfrm>
            <a:off x="628560" y="1328760"/>
            <a:ext cx="7885440" cy="4748400"/>
          </a:xfrm>
          <a:prstGeom prst="rect">
            <a:avLst/>
          </a:prstGeom>
          <a:noFill/>
          <a:ln w="9360">
            <a:noFill/>
          </a:ln>
        </p:spPr>
        <p:style>
          <a:lnRef idx="0"/>
          <a:fillRef idx="0"/>
          <a:effectRef idx="0"/>
          <a:fontRef idx="minor"/>
        </p:style>
      </p:sp>
      <p:sp>
        <p:nvSpPr>
          <p:cNvPr id="30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0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Evaluate Application Requirements</a:t>
            </a:r>
            <a:endParaRPr b="0" lang="en-IN" sz="2200" spc="-1" strike="noStrike">
              <a:latin typeface="Arial"/>
            </a:endParaRPr>
          </a:p>
          <a:p>
            <a:r>
              <a:rPr b="0" lang="en-IN" sz="2200" spc="-1" strike="noStrike">
                <a:latin typeface="Arial"/>
              </a:rPr>
              <a:t>The purpose of this step is to understand the function of each application, as well as the flow of data from server to server and process to process. </a:t>
            </a:r>
            <a:endParaRPr b="0" lang="en-IN" sz="2200" spc="-1" strike="noStrike">
              <a:latin typeface="Arial"/>
            </a:endParaRPr>
          </a:p>
          <a:p>
            <a:endParaRPr b="0" lang="en-IN" sz="2200" spc="-1" strike="noStrike">
              <a:latin typeface="Arial"/>
            </a:endParaRPr>
          </a:p>
          <a:p>
            <a:r>
              <a:rPr b="1" lang="en-IN" sz="2200" spc="-1" strike="noStrike">
                <a:latin typeface="Arial"/>
              </a:rPr>
              <a:t>Evaluate Hardware Infrastructure</a:t>
            </a:r>
            <a:endParaRPr b="0" lang="en-IN" sz="2200" spc="-1" strike="noStrike">
              <a:latin typeface="Arial"/>
            </a:endParaRPr>
          </a:p>
          <a:p>
            <a:r>
              <a:rPr b="0" lang="en-IN" sz="2200" spc="-1" strike="noStrike">
                <a:latin typeface="Arial"/>
              </a:rPr>
              <a:t>After applications have been profiled and documented, it is time to assess the hardware platforms. The important task at hand is to verify the current inventory along with the configuration and to estimate the resource utilization. The depth of these investigations must be limited to the server and applications that will be consolidated.</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Rectangle 5_43"/>
          <p:cNvSpPr/>
          <p:nvPr/>
        </p:nvSpPr>
        <p:spPr>
          <a:xfrm>
            <a:off x="444600" y="258840"/>
            <a:ext cx="6659640" cy="696960"/>
          </a:xfrm>
          <a:prstGeom prst="rect">
            <a:avLst/>
          </a:prstGeom>
          <a:noFill/>
          <a:ln w="9360">
            <a:noFill/>
          </a:ln>
        </p:spPr>
        <p:style>
          <a:lnRef idx="0"/>
          <a:fillRef idx="0"/>
          <a:effectRef idx="0"/>
          <a:fontRef idx="minor"/>
        </p:style>
      </p:sp>
      <p:sp>
        <p:nvSpPr>
          <p:cNvPr id="311" name="Rectangle 6_43"/>
          <p:cNvSpPr/>
          <p:nvPr/>
        </p:nvSpPr>
        <p:spPr>
          <a:xfrm>
            <a:off x="628560" y="1328760"/>
            <a:ext cx="7885440" cy="4748400"/>
          </a:xfrm>
          <a:prstGeom prst="rect">
            <a:avLst/>
          </a:prstGeom>
          <a:noFill/>
          <a:ln w="9360">
            <a:noFill/>
          </a:ln>
        </p:spPr>
        <p:style>
          <a:lnRef idx="0"/>
          <a:fillRef idx="0"/>
          <a:effectRef idx="0"/>
          <a:fontRef idx="minor"/>
        </p:style>
      </p:sp>
      <p:sp>
        <p:nvSpPr>
          <p:cNvPr id="31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1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Evaluate Storage Requirements</a:t>
            </a:r>
            <a:endParaRPr b="0" lang="en-IN" sz="2200" spc="-1" strike="noStrike">
              <a:latin typeface="Arial"/>
            </a:endParaRPr>
          </a:p>
          <a:p>
            <a:endParaRPr b="0" lang="en-IN" sz="2200" spc="-1" strike="noStrike">
              <a:latin typeface="Arial"/>
            </a:endParaRPr>
          </a:p>
          <a:p>
            <a:r>
              <a:rPr b="0" lang="en-IN" sz="2200" spc="-1" strike="noStrike">
                <a:latin typeface="Arial"/>
              </a:rPr>
              <a:t>Over the last few years, the demand for more and more storage has far exceeded the demand for more servers or network bandwidth. Adding storage to existing servers was least disruptive and, consequently, it was added whenever needs arose. </a:t>
            </a:r>
            <a:endParaRPr b="0" lang="en-IN" sz="2200" spc="-1" strike="noStrike">
              <a:latin typeface="Arial"/>
            </a:endParaRPr>
          </a:p>
          <a:p>
            <a:r>
              <a:rPr b="0" lang="en-IN" sz="2200" spc="-1" strike="noStrike">
                <a:latin typeface="Arial"/>
              </a:rPr>
              <a:t>While assessing storage requirements for the subsequent phases of consolidation, you must document the following:</a:t>
            </a:r>
            <a:endParaRPr b="0" lang="en-IN" sz="2200" spc="-1" strike="noStrike">
              <a:latin typeface="Arial"/>
            </a:endParaRPr>
          </a:p>
          <a:p>
            <a:r>
              <a:rPr b="0" lang="en-IN" sz="2200" spc="-1" strike="noStrike">
                <a:latin typeface="Arial"/>
              </a:rPr>
              <a:t>■ </a:t>
            </a:r>
            <a:r>
              <a:rPr b="0" lang="en-IN" sz="2200" spc="-1" strike="noStrike">
                <a:latin typeface="Arial"/>
              </a:rPr>
              <a:t>Storage hardware</a:t>
            </a:r>
            <a:endParaRPr b="0" lang="en-IN" sz="2200" spc="-1" strike="noStrike">
              <a:latin typeface="Arial"/>
            </a:endParaRPr>
          </a:p>
          <a:p>
            <a:r>
              <a:rPr b="0" lang="en-IN" sz="2200" spc="-1" strike="noStrike">
                <a:latin typeface="Arial"/>
              </a:rPr>
              <a:t>■ </a:t>
            </a:r>
            <a:r>
              <a:rPr b="0" lang="en-IN" sz="2200" spc="-1" strike="noStrike">
                <a:latin typeface="Arial"/>
              </a:rPr>
              <a:t>Logical configuration </a:t>
            </a:r>
            <a:endParaRPr b="0" lang="en-IN" sz="2200" spc="-1" strike="noStrike">
              <a:latin typeface="Arial"/>
            </a:endParaRPr>
          </a:p>
          <a:p>
            <a:r>
              <a:rPr b="0" lang="en-IN" sz="2200" spc="-1" strike="noStrike">
                <a:latin typeface="Arial"/>
              </a:rPr>
              <a:t>■ </a:t>
            </a:r>
            <a:r>
              <a:rPr b="0" lang="en-IN" sz="2200" spc="-1" strike="noStrike">
                <a:latin typeface="Arial"/>
              </a:rPr>
              <a:t>Data </a:t>
            </a:r>
            <a:endParaRPr b="0" lang="en-IN" sz="2200" spc="-1" strike="noStrike">
              <a:latin typeface="Arial"/>
            </a:endParaRPr>
          </a:p>
          <a:p>
            <a:endParaRPr b="0" lang="en-IN" sz="2200" spc="-1" strike="noStrike">
              <a:latin typeface="Arial"/>
            </a:endParaRPr>
          </a:p>
          <a:p>
            <a:r>
              <a:rPr b="1" lang="en-IN" sz="2200" spc="-1" strike="noStrike">
                <a:latin typeface="Arial"/>
              </a:rPr>
              <a:t>Evaluate Networking Requirements</a:t>
            </a:r>
            <a:endParaRPr b="0" lang="en-IN" sz="2200" spc="-1" strike="noStrike">
              <a:latin typeface="Arial"/>
            </a:endParaRPr>
          </a:p>
          <a:p>
            <a:r>
              <a:rPr b="0" lang="en-IN" sz="2200" spc="-1" strike="noStrike">
                <a:latin typeface="Arial"/>
              </a:rPr>
              <a:t>Network assessment is necessary to make provisions for enough bandwidth in the new architecture. The network is used not only for server communication but also for NAS and for storage over IP.</a:t>
            </a:r>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Rectangle 5_44"/>
          <p:cNvSpPr/>
          <p:nvPr/>
        </p:nvSpPr>
        <p:spPr>
          <a:xfrm>
            <a:off x="444600" y="258840"/>
            <a:ext cx="6659640" cy="696960"/>
          </a:xfrm>
          <a:prstGeom prst="rect">
            <a:avLst/>
          </a:prstGeom>
          <a:noFill/>
          <a:ln w="9360">
            <a:noFill/>
          </a:ln>
        </p:spPr>
        <p:style>
          <a:lnRef idx="0"/>
          <a:fillRef idx="0"/>
          <a:effectRef idx="0"/>
          <a:fontRef idx="minor"/>
        </p:style>
      </p:sp>
      <p:sp>
        <p:nvSpPr>
          <p:cNvPr id="315" name="Rectangle 6_44"/>
          <p:cNvSpPr/>
          <p:nvPr/>
        </p:nvSpPr>
        <p:spPr>
          <a:xfrm>
            <a:off x="628560" y="1328760"/>
            <a:ext cx="7885440" cy="4748400"/>
          </a:xfrm>
          <a:prstGeom prst="rect">
            <a:avLst/>
          </a:prstGeom>
          <a:noFill/>
          <a:ln w="9360">
            <a:noFill/>
          </a:ln>
        </p:spPr>
        <p:style>
          <a:lnRef idx="0"/>
          <a:fillRef idx="0"/>
          <a:effectRef idx="0"/>
          <a:fontRef idx="minor"/>
        </p:style>
      </p:sp>
      <p:sp>
        <p:nvSpPr>
          <p:cNvPr id="31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1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Evaluate Operations Requirements</a:t>
            </a:r>
            <a:endParaRPr b="0" lang="en-IN" sz="2200" spc="-1" strike="noStrike">
              <a:latin typeface="Arial"/>
            </a:endParaRPr>
          </a:p>
          <a:p>
            <a:endParaRPr b="0" lang="en-IN" sz="2200" spc="-1" strike="noStrike">
              <a:latin typeface="Arial"/>
            </a:endParaRPr>
          </a:p>
          <a:p>
            <a:r>
              <a:rPr b="0" lang="en-IN" sz="2200" spc="-1" strike="noStrike">
                <a:latin typeface="Arial"/>
              </a:rPr>
              <a:t>Staff and the processes they follow are always an important, and yet overlooked, part of an assessment process. </a:t>
            </a:r>
            <a:endParaRPr b="0" lang="en-IN" sz="2200" spc="-1" strike="noStrike">
              <a:latin typeface="Arial"/>
            </a:endParaRPr>
          </a:p>
          <a:p>
            <a:r>
              <a:rPr b="0" lang="en-IN" sz="2200" spc="-1" strike="noStrike">
                <a:latin typeface="Arial"/>
              </a:rPr>
              <a:t>Studies have shown 80 percent of data center and service outages are caused by people or process mishaps, and only 20 percent are caused by purely technical problems. </a:t>
            </a:r>
            <a:endParaRPr b="0" lang="en-IN" sz="2200" spc="-1" strike="noStrike">
              <a:latin typeface="Arial"/>
            </a:endParaRPr>
          </a:p>
          <a:p>
            <a:r>
              <a:rPr b="0" lang="en-IN" sz="2200" spc="-1" strike="noStrike">
                <a:latin typeface="Arial"/>
              </a:rPr>
              <a:t>It is essential to identify the processes and make suitable updates to make them pertinent to the post consolidation environment. </a:t>
            </a:r>
            <a:endParaRPr b="0" lang="en-IN" sz="2200" spc="-1" strike="noStrike">
              <a:latin typeface="Arial"/>
            </a:endParaRPr>
          </a:p>
          <a:p>
            <a:r>
              <a:rPr b="0" lang="en-IN" sz="2200" spc="-1" strike="noStrike">
                <a:latin typeface="Arial"/>
              </a:rPr>
              <a:t>It is also important to update the staff skills regarding various data center activities (such as server, storage, and network management, security, disaster recovery, asset management, and hardware resource utilization management).</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Rectangle 5_46"/>
          <p:cNvSpPr/>
          <p:nvPr/>
        </p:nvSpPr>
        <p:spPr>
          <a:xfrm>
            <a:off x="444600" y="258840"/>
            <a:ext cx="6659640" cy="696960"/>
          </a:xfrm>
          <a:prstGeom prst="rect">
            <a:avLst/>
          </a:prstGeom>
          <a:noFill/>
          <a:ln w="9360">
            <a:noFill/>
          </a:ln>
        </p:spPr>
        <p:style>
          <a:lnRef idx="0"/>
          <a:fillRef idx="0"/>
          <a:effectRef idx="0"/>
          <a:fontRef idx="minor"/>
        </p:style>
      </p:sp>
      <p:sp>
        <p:nvSpPr>
          <p:cNvPr id="319" name="Rectangle 6_46"/>
          <p:cNvSpPr/>
          <p:nvPr/>
        </p:nvSpPr>
        <p:spPr>
          <a:xfrm>
            <a:off x="628560" y="1328760"/>
            <a:ext cx="7885440" cy="4748400"/>
          </a:xfrm>
          <a:prstGeom prst="rect">
            <a:avLst/>
          </a:prstGeom>
          <a:noFill/>
          <a:ln w="9360">
            <a:noFill/>
          </a:ln>
        </p:spPr>
        <p:style>
          <a:lnRef idx="0"/>
          <a:fillRef idx="0"/>
          <a:effectRef idx="0"/>
          <a:fontRef idx="minor"/>
        </p:style>
      </p:sp>
      <p:sp>
        <p:nvSpPr>
          <p:cNvPr id="32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21"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Evaluate Risk</a:t>
            </a:r>
            <a:endParaRPr b="0" lang="en-IN" sz="2200" spc="-1" strike="noStrike">
              <a:latin typeface="Arial"/>
            </a:endParaRPr>
          </a:p>
          <a:p>
            <a:endParaRPr b="0" lang="en-IN" sz="2200" spc="-1" strike="noStrike">
              <a:latin typeface="Arial"/>
            </a:endParaRPr>
          </a:p>
          <a:p>
            <a:r>
              <a:rPr b="0" lang="en-IN" sz="2200" spc="-1" strike="noStrike">
                <a:latin typeface="Arial"/>
              </a:rPr>
              <a:t>Consolidation, like any other IT project, has its fair share of risks. Like all risks, the main risk is looking the other way when it is staring you in the face. </a:t>
            </a:r>
            <a:endParaRPr b="0" lang="en-IN" sz="2200" spc="-1" strike="noStrike">
              <a:latin typeface="Arial"/>
            </a:endParaRPr>
          </a:p>
          <a:p>
            <a:r>
              <a:rPr b="0" lang="en-IN" sz="2200" spc="-1" strike="noStrike">
                <a:latin typeface="Arial"/>
              </a:rPr>
              <a:t>You do not have to like it, but you have to understand all the risks and implement ways to alleviate them.</a:t>
            </a:r>
            <a:endParaRPr b="0" lang="en-IN" sz="2200" spc="-1" strike="noStrike">
              <a:latin typeface="Arial"/>
            </a:endParaRPr>
          </a:p>
          <a:p>
            <a:endParaRPr b="0" lang="en-IN" sz="2200" spc="-1" strike="noStrike">
              <a:latin typeface="Arial"/>
            </a:endParaRPr>
          </a:p>
          <a:p>
            <a:r>
              <a:rPr b="1" lang="en-IN" sz="2200" spc="-1" strike="noStrike">
                <a:latin typeface="Arial"/>
              </a:rPr>
              <a:t>Phase 2: Architect the Target Consolidated Environment</a:t>
            </a:r>
            <a:endParaRPr b="0" lang="en-IN" sz="2200" spc="-1" strike="noStrike">
              <a:latin typeface="Arial"/>
            </a:endParaRPr>
          </a:p>
          <a:p>
            <a:r>
              <a:rPr b="0" lang="en-IN" sz="2200" spc="-1" strike="noStrike">
                <a:latin typeface="Arial"/>
              </a:rPr>
              <a:t>In this phase, a consolidated design is architected using data from the evaluation phase. The design must specify overall organization of servers, storage devices, and network equipment, as well as</a:t>
            </a:r>
            <a:endParaRPr b="0" lang="en-IN" sz="2200" spc="-1" strike="noStrike">
              <a:latin typeface="Arial"/>
            </a:endParaRPr>
          </a:p>
          <a:p>
            <a:r>
              <a:rPr b="0" lang="en-IN" sz="2200" spc="-1" strike="noStrike">
                <a:latin typeface="Arial"/>
              </a:rPr>
              <a:t>the relationships between them. This stage does not specify specific hardware models, server resources, equipment details, or software versions or patches.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Rectangle 5_47"/>
          <p:cNvSpPr/>
          <p:nvPr/>
        </p:nvSpPr>
        <p:spPr>
          <a:xfrm>
            <a:off x="444600" y="258840"/>
            <a:ext cx="6659640" cy="696960"/>
          </a:xfrm>
          <a:prstGeom prst="rect">
            <a:avLst/>
          </a:prstGeom>
          <a:noFill/>
          <a:ln w="9360">
            <a:noFill/>
          </a:ln>
        </p:spPr>
        <p:style>
          <a:lnRef idx="0"/>
          <a:fillRef idx="0"/>
          <a:effectRef idx="0"/>
          <a:fontRef idx="minor"/>
        </p:style>
      </p:sp>
      <p:sp>
        <p:nvSpPr>
          <p:cNvPr id="323" name="Rectangle 6_47"/>
          <p:cNvSpPr/>
          <p:nvPr/>
        </p:nvSpPr>
        <p:spPr>
          <a:xfrm>
            <a:off x="628560" y="1328760"/>
            <a:ext cx="7885440" cy="4748400"/>
          </a:xfrm>
          <a:prstGeom prst="rect">
            <a:avLst/>
          </a:prstGeom>
          <a:noFill/>
          <a:ln w="9360">
            <a:noFill/>
          </a:ln>
        </p:spPr>
        <p:style>
          <a:lnRef idx="0"/>
          <a:fillRef idx="0"/>
          <a:effectRef idx="0"/>
          <a:fontRef idx="minor"/>
        </p:style>
      </p:sp>
      <p:sp>
        <p:nvSpPr>
          <p:cNvPr id="32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2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There are several steps in design:</a:t>
            </a:r>
            <a:endParaRPr b="0" lang="en-IN" sz="2200" spc="-1" strike="noStrike">
              <a:latin typeface="Arial"/>
            </a:endParaRPr>
          </a:p>
          <a:p>
            <a:r>
              <a:rPr b="0" lang="en-IN" sz="2200" spc="-1" strike="noStrike">
                <a:latin typeface="Arial"/>
              </a:rPr>
              <a:t>1. Analyze the collected data.</a:t>
            </a:r>
            <a:endParaRPr b="0" lang="en-IN" sz="2200" spc="-1" strike="noStrike">
              <a:latin typeface="Arial"/>
            </a:endParaRPr>
          </a:p>
          <a:p>
            <a:endParaRPr b="0" lang="en-IN" sz="2200" spc="-1" strike="noStrike">
              <a:latin typeface="Arial"/>
            </a:endParaRPr>
          </a:p>
          <a:p>
            <a:r>
              <a:rPr b="0" lang="en-IN" sz="2200" spc="-1" strike="noStrike">
                <a:latin typeface="Arial"/>
              </a:rPr>
              <a:t>2. List architectural requirements.</a:t>
            </a:r>
            <a:endParaRPr b="0" lang="en-IN" sz="2200" spc="-1" strike="noStrike">
              <a:latin typeface="Arial"/>
            </a:endParaRPr>
          </a:p>
          <a:p>
            <a:endParaRPr b="0" lang="en-IN" sz="2200" spc="-1" strike="noStrike">
              <a:latin typeface="Arial"/>
            </a:endParaRPr>
          </a:p>
          <a:p>
            <a:r>
              <a:rPr b="0" lang="en-IN" sz="2200" spc="-1" strike="noStrike">
                <a:latin typeface="Arial"/>
              </a:rPr>
              <a:t>3. Create an initial architecture.</a:t>
            </a:r>
            <a:endParaRPr b="0" lang="en-IN" sz="2200" spc="-1" strike="noStrike">
              <a:latin typeface="Arial"/>
            </a:endParaRPr>
          </a:p>
          <a:p>
            <a:endParaRPr b="0" lang="en-IN" sz="2200" spc="-1" strike="noStrike">
              <a:latin typeface="Arial"/>
            </a:endParaRPr>
          </a:p>
          <a:p>
            <a:r>
              <a:rPr b="0" lang="en-IN" sz="2200" spc="-1" strike="noStrike">
                <a:latin typeface="Arial"/>
              </a:rPr>
              <a:t>4. Size all equipment.</a:t>
            </a:r>
            <a:endParaRPr b="0" lang="en-IN" sz="2200" spc="-1" strike="noStrike">
              <a:latin typeface="Arial"/>
            </a:endParaRPr>
          </a:p>
          <a:p>
            <a:endParaRPr b="0" lang="en-IN" sz="2200" spc="-1" strike="noStrike">
              <a:latin typeface="Arial"/>
            </a:endParaRPr>
          </a:p>
          <a:p>
            <a:r>
              <a:rPr b="0" lang="en-IN" sz="2200" spc="-1" strike="noStrike">
                <a:latin typeface="Arial"/>
              </a:rPr>
              <a:t>5. Create a prototype of the proposed solution.</a:t>
            </a:r>
            <a:endParaRPr b="0" lang="en-IN" sz="2200" spc="-1" strike="noStrike">
              <a:latin typeface="Arial"/>
            </a:endParaRPr>
          </a:p>
          <a:p>
            <a:endParaRPr b="0" lang="en-IN" sz="2200" spc="-1" strike="noStrike">
              <a:latin typeface="Arial"/>
            </a:endParaRPr>
          </a:p>
          <a:p>
            <a:r>
              <a:rPr b="0" lang="en-IN" sz="2200" spc="-1" strike="noStrike">
                <a:latin typeface="Arial"/>
              </a:rPr>
              <a:t>6. Test the prototype.</a:t>
            </a:r>
            <a:endParaRPr b="0" lang="en-IN" sz="2200" spc="-1" strike="noStrike">
              <a:latin typeface="Arial"/>
            </a:endParaRPr>
          </a:p>
          <a:p>
            <a:endParaRPr b="0" lang="en-IN" sz="2200" spc="-1" strike="noStrike">
              <a:latin typeface="Arial"/>
            </a:endParaRPr>
          </a:p>
          <a:p>
            <a:r>
              <a:rPr b="0" lang="en-IN" sz="2200" spc="-1" strike="noStrike">
                <a:latin typeface="Arial"/>
              </a:rPr>
              <a:t>7. Revise the proposed architecture.</a:t>
            </a:r>
            <a:endParaRPr b="0" lang="en-IN" sz="2200" spc="-1" strike="noStrike">
              <a:latin typeface="Arial"/>
            </a:endParaRPr>
          </a:p>
          <a:p>
            <a:endParaRPr b="0" lang="en-IN" sz="2200" spc="-1" strike="noStrike">
              <a:latin typeface="Arial"/>
            </a:endParaRPr>
          </a:p>
          <a:p>
            <a:r>
              <a:rPr b="0" lang="en-IN" sz="2200" spc="-1" strike="noStrike">
                <a:latin typeface="Arial"/>
              </a:rPr>
              <a:t>8. Document the proposed architecture..</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6" name="Rectangle 5_48"/>
          <p:cNvSpPr/>
          <p:nvPr/>
        </p:nvSpPr>
        <p:spPr>
          <a:xfrm>
            <a:off x="444600" y="258840"/>
            <a:ext cx="6659640" cy="696960"/>
          </a:xfrm>
          <a:prstGeom prst="rect">
            <a:avLst/>
          </a:prstGeom>
          <a:noFill/>
          <a:ln w="9360">
            <a:noFill/>
          </a:ln>
        </p:spPr>
        <p:style>
          <a:lnRef idx="0"/>
          <a:fillRef idx="0"/>
          <a:effectRef idx="0"/>
          <a:fontRef idx="minor"/>
        </p:style>
      </p:sp>
      <p:sp>
        <p:nvSpPr>
          <p:cNvPr id="327" name="Rectangle 6_48"/>
          <p:cNvSpPr/>
          <p:nvPr/>
        </p:nvSpPr>
        <p:spPr>
          <a:xfrm>
            <a:off x="628560" y="1328760"/>
            <a:ext cx="7885440" cy="4748400"/>
          </a:xfrm>
          <a:prstGeom prst="rect">
            <a:avLst/>
          </a:prstGeom>
          <a:noFill/>
          <a:ln w="9360">
            <a:noFill/>
          </a:ln>
        </p:spPr>
        <p:style>
          <a:lnRef idx="0"/>
          <a:fillRef idx="0"/>
          <a:effectRef idx="0"/>
          <a:fontRef idx="minor"/>
        </p:style>
      </p:sp>
      <p:sp>
        <p:nvSpPr>
          <p:cNvPr id="32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2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Phase 3: Implement the New Architecture</a:t>
            </a:r>
            <a:endParaRPr b="0" lang="en-IN" sz="2200" spc="-1" strike="noStrike">
              <a:latin typeface="Arial"/>
            </a:endParaRPr>
          </a:p>
          <a:p>
            <a:endParaRPr b="0" lang="en-IN" sz="2200" spc="-1" strike="noStrike">
              <a:latin typeface="Arial"/>
            </a:endParaRPr>
          </a:p>
          <a:p>
            <a:r>
              <a:rPr b="0" lang="en-IN" sz="2200" spc="-1" strike="noStrike">
                <a:latin typeface="Arial"/>
              </a:rPr>
              <a:t>After evaluating the existing environment, creating a design proposal, and testing a prototype, and with the revised documentation in hand, it is time to start building the consolidated design. </a:t>
            </a:r>
            <a:endParaRPr b="0" lang="en-IN" sz="2200" spc="-1" strike="noStrike">
              <a:latin typeface="Arial"/>
            </a:endParaRPr>
          </a:p>
          <a:p>
            <a:r>
              <a:rPr b="0" lang="en-IN" sz="2200" spc="-1" strike="noStrike">
                <a:latin typeface="Arial"/>
              </a:rPr>
              <a:t>Following are the main steps in the implementation phase:</a:t>
            </a:r>
            <a:endParaRPr b="0" lang="en-IN" sz="2200" spc="-1" strike="noStrike">
              <a:latin typeface="Arial"/>
            </a:endParaRPr>
          </a:p>
          <a:p>
            <a:endParaRPr b="0" lang="en-IN" sz="2200" spc="-1" strike="noStrike">
              <a:latin typeface="Arial"/>
            </a:endParaRPr>
          </a:p>
          <a:p>
            <a:r>
              <a:rPr b="0" lang="en-IN" sz="2200" spc="-1" strike="noStrike">
                <a:latin typeface="Arial"/>
              </a:rPr>
              <a:t>1. Draft all low-level specifications.</a:t>
            </a:r>
            <a:endParaRPr b="0" lang="en-IN" sz="2200" spc="-1" strike="noStrike">
              <a:latin typeface="Arial"/>
            </a:endParaRPr>
          </a:p>
          <a:p>
            <a:r>
              <a:rPr b="0" lang="en-IN" sz="2200" spc="-1" strike="noStrike">
                <a:latin typeface="Arial"/>
              </a:rPr>
              <a:t>2. Construct the new environment.</a:t>
            </a:r>
            <a:endParaRPr b="0" lang="en-IN" sz="2200" spc="-1" strike="noStrike">
              <a:latin typeface="Arial"/>
            </a:endParaRPr>
          </a:p>
          <a:p>
            <a:r>
              <a:rPr b="0" lang="en-IN" sz="2200" spc="-1" strike="noStrike">
                <a:latin typeface="Arial"/>
              </a:rPr>
              <a:t>3. Create a data migration process.</a:t>
            </a:r>
            <a:endParaRPr b="0" lang="en-IN" sz="2200" spc="-1" strike="noStrike">
              <a:latin typeface="Arial"/>
            </a:endParaRPr>
          </a:p>
          <a:p>
            <a:r>
              <a:rPr b="0" lang="en-IN" sz="2200" spc="-1" strike="noStrike">
                <a:latin typeface="Arial"/>
              </a:rPr>
              <a:t>4. Back up data in the old environment.</a:t>
            </a:r>
            <a:endParaRPr b="0" lang="en-IN" sz="2200" spc="-1" strike="noStrike">
              <a:latin typeface="Arial"/>
            </a:endParaRPr>
          </a:p>
          <a:p>
            <a:r>
              <a:rPr b="0" lang="en-IN" sz="2200" spc="-1" strike="noStrike">
                <a:latin typeface="Arial"/>
              </a:rPr>
              <a:t>5. Migrate data and application services to the new environment.</a:t>
            </a:r>
            <a:endParaRPr b="0" lang="en-IN" sz="2200" spc="-1" strike="noStrike">
              <a:latin typeface="Arial"/>
            </a:endParaRPr>
          </a:p>
          <a:p>
            <a:r>
              <a:rPr b="0" lang="en-IN" sz="2200" spc="-1" strike="noStrike">
                <a:latin typeface="Arial"/>
              </a:rPr>
              <a:t>6. Train the operations staff</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Rectangle 5_49"/>
          <p:cNvSpPr/>
          <p:nvPr/>
        </p:nvSpPr>
        <p:spPr>
          <a:xfrm>
            <a:off x="444600" y="258840"/>
            <a:ext cx="6659640" cy="696960"/>
          </a:xfrm>
          <a:prstGeom prst="rect">
            <a:avLst/>
          </a:prstGeom>
          <a:noFill/>
          <a:ln w="9360">
            <a:noFill/>
          </a:ln>
        </p:spPr>
        <p:style>
          <a:lnRef idx="0"/>
          <a:fillRef idx="0"/>
          <a:effectRef idx="0"/>
          <a:fontRef idx="minor"/>
        </p:style>
      </p:sp>
      <p:sp>
        <p:nvSpPr>
          <p:cNvPr id="331" name="Rectangle 6_49"/>
          <p:cNvSpPr/>
          <p:nvPr/>
        </p:nvSpPr>
        <p:spPr>
          <a:xfrm>
            <a:off x="628560" y="1328760"/>
            <a:ext cx="7885440" cy="4748400"/>
          </a:xfrm>
          <a:prstGeom prst="rect">
            <a:avLst/>
          </a:prstGeom>
          <a:noFill/>
          <a:ln w="9360">
            <a:noFill/>
          </a:ln>
        </p:spPr>
        <p:style>
          <a:lnRef idx="0"/>
          <a:fillRef idx="0"/>
          <a:effectRef idx="0"/>
          <a:fontRef idx="minor"/>
        </p:style>
      </p:sp>
      <p:sp>
        <p:nvSpPr>
          <p:cNvPr id="33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3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Phase 4: Control and Administer the Consolidated Environment</a:t>
            </a:r>
            <a:endParaRPr b="0" lang="en-IN" sz="2200" spc="-1" strike="noStrike">
              <a:latin typeface="Arial"/>
            </a:endParaRPr>
          </a:p>
          <a:p>
            <a:endParaRPr b="0" lang="en-IN" sz="2200" spc="-1" strike="noStrike">
              <a:latin typeface="Arial"/>
            </a:endParaRPr>
          </a:p>
          <a:p>
            <a:r>
              <a:rPr b="0" lang="en-IN" sz="2200" spc="-1" strike="noStrike">
                <a:latin typeface="Arial"/>
              </a:rPr>
              <a:t>Sticking a new environment within an otherwise smooth operation is annoying. A consolidated set of applications sharing the same servers, resources, and infrastructure is an added nuisance. It requires diligent planning and tough operational processes to allay the impact.</a:t>
            </a:r>
            <a:endParaRPr b="0" lang="en-IN" sz="2200" spc="-1" strike="noStrike">
              <a:latin typeface="Arial"/>
            </a:endParaRPr>
          </a:p>
          <a:p>
            <a:r>
              <a:rPr b="0" lang="en-IN" sz="2200" spc="-1" strike="noStrike">
                <a:latin typeface="Arial"/>
              </a:rPr>
              <a:t>It is crucial to develop a set of robust policies and operational procedures to improve the following:</a:t>
            </a:r>
            <a:endParaRPr b="0" lang="en-IN" sz="2200" spc="-1" strike="noStrike">
              <a:latin typeface="Arial"/>
            </a:endParaRPr>
          </a:p>
          <a:p>
            <a:r>
              <a:rPr b="0" lang="en-IN" sz="2200" spc="-1" strike="noStrike">
                <a:latin typeface="Arial"/>
              </a:rPr>
              <a:t>■ </a:t>
            </a:r>
            <a:r>
              <a:rPr b="0" lang="en-IN" sz="2200" spc="-1" strike="noStrike">
                <a:latin typeface="Arial"/>
              </a:rPr>
              <a:t>Increase accountability</a:t>
            </a:r>
            <a:endParaRPr b="0" lang="en-IN" sz="2200" spc="-1" strike="noStrike">
              <a:latin typeface="Arial"/>
            </a:endParaRPr>
          </a:p>
          <a:p>
            <a:r>
              <a:rPr b="0" lang="en-IN" sz="2200" spc="-1" strike="noStrike">
                <a:latin typeface="Arial"/>
              </a:rPr>
              <a:t>■ </a:t>
            </a:r>
            <a:r>
              <a:rPr b="0" lang="en-IN" sz="2200" spc="-1" strike="noStrike">
                <a:latin typeface="Arial"/>
              </a:rPr>
              <a:t>Increase availability</a:t>
            </a:r>
            <a:endParaRPr b="0" lang="en-IN" sz="2200" spc="-1" strike="noStrike">
              <a:latin typeface="Arial"/>
            </a:endParaRPr>
          </a:p>
          <a:p>
            <a:r>
              <a:rPr b="0" lang="en-IN" sz="2200" spc="-1" strike="noStrike">
                <a:latin typeface="Arial"/>
              </a:rPr>
              <a:t>■ </a:t>
            </a:r>
            <a:r>
              <a:rPr b="0" lang="en-IN" sz="2200" spc="-1" strike="noStrike">
                <a:latin typeface="Arial"/>
              </a:rPr>
              <a:t>Increase security</a:t>
            </a:r>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Rectangle 5_50"/>
          <p:cNvSpPr/>
          <p:nvPr/>
        </p:nvSpPr>
        <p:spPr>
          <a:xfrm>
            <a:off x="444600" y="258840"/>
            <a:ext cx="6659640" cy="696960"/>
          </a:xfrm>
          <a:prstGeom prst="rect">
            <a:avLst/>
          </a:prstGeom>
          <a:noFill/>
          <a:ln w="9360">
            <a:noFill/>
          </a:ln>
        </p:spPr>
        <p:style>
          <a:lnRef idx="0"/>
          <a:fillRef idx="0"/>
          <a:effectRef idx="0"/>
          <a:fontRef idx="minor"/>
        </p:style>
      </p:sp>
      <p:sp>
        <p:nvSpPr>
          <p:cNvPr id="335" name="Rectangle 6_50"/>
          <p:cNvSpPr/>
          <p:nvPr/>
        </p:nvSpPr>
        <p:spPr>
          <a:xfrm>
            <a:off x="628560" y="1328760"/>
            <a:ext cx="7885440" cy="4748400"/>
          </a:xfrm>
          <a:prstGeom prst="rect">
            <a:avLst/>
          </a:prstGeom>
          <a:noFill/>
          <a:ln w="9360">
            <a:noFill/>
          </a:ln>
        </p:spPr>
        <p:style>
          <a:lnRef idx="0"/>
          <a:fillRef idx="0"/>
          <a:effectRef idx="0"/>
          <a:fontRef idx="minor"/>
        </p:style>
      </p:sp>
      <p:sp>
        <p:nvSpPr>
          <p:cNvPr id="336"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37"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To maintain an acceptable level of accountability, service availability, and security, it is necessary to identify and prioritize areas that can most negatively jeopardize required service levels.</a:t>
            </a:r>
            <a:endParaRPr b="0" lang="en-IN" sz="2200" spc="-1" strike="noStrike">
              <a:latin typeface="Arial"/>
            </a:endParaRPr>
          </a:p>
          <a:p>
            <a:r>
              <a:rPr b="0" lang="en-IN" sz="2200" spc="-1" strike="noStrike">
                <a:latin typeface="Arial"/>
              </a:rPr>
              <a:t>■ </a:t>
            </a:r>
            <a:r>
              <a:rPr b="0" lang="en-IN" sz="2200" spc="-1" strike="noStrike">
                <a:latin typeface="Arial"/>
              </a:rPr>
              <a:t>Execution control — This covers policies for scheduling various data center resources among the users of the consolidated environment. The resources include staff time and hardware such as servers, network, and storage.</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Problem management — This is about identifying and resolving problems, hopefully before they flare up.</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Change control — This includes things such as scheduling activities or changes in the environment, performing the work, and documenting the results of the change. These changes include hardware changes, reboots, software upgrades, configuration changes, and user account changes. </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Rectangle 5_51"/>
          <p:cNvSpPr/>
          <p:nvPr/>
        </p:nvSpPr>
        <p:spPr>
          <a:xfrm>
            <a:off x="444600" y="258840"/>
            <a:ext cx="6659640" cy="696960"/>
          </a:xfrm>
          <a:prstGeom prst="rect">
            <a:avLst/>
          </a:prstGeom>
          <a:noFill/>
          <a:ln w="9360">
            <a:noFill/>
          </a:ln>
        </p:spPr>
        <p:style>
          <a:lnRef idx="0"/>
          <a:fillRef idx="0"/>
          <a:effectRef idx="0"/>
          <a:fontRef idx="minor"/>
        </p:style>
      </p:sp>
      <p:sp>
        <p:nvSpPr>
          <p:cNvPr id="339" name="Rectangle 6_51"/>
          <p:cNvSpPr/>
          <p:nvPr/>
        </p:nvSpPr>
        <p:spPr>
          <a:xfrm>
            <a:off x="628560" y="1328760"/>
            <a:ext cx="7885440" cy="4748400"/>
          </a:xfrm>
          <a:prstGeom prst="rect">
            <a:avLst/>
          </a:prstGeom>
          <a:noFill/>
          <a:ln w="9360">
            <a:noFill/>
          </a:ln>
        </p:spPr>
        <p:style>
          <a:lnRef idx="0"/>
          <a:fillRef idx="0"/>
          <a:effectRef idx="0"/>
          <a:fontRef idx="minor"/>
        </p:style>
      </p:sp>
      <p:sp>
        <p:nvSpPr>
          <p:cNvPr id="340"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41"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 </a:t>
            </a:r>
            <a:r>
              <a:rPr b="0" lang="en-IN" sz="2200" spc="-1" strike="noStrike">
                <a:latin typeface="Arial"/>
              </a:rPr>
              <a:t>Asset control — In an environment that is not centralized, there is a one application-to-one-server relationship. Each user group knows of the servers that it uses. In a consolidated environment, the asset control team (or person) must set up a computing model to determine the resource usage by each user group. This is necessary for hardware and IT staff charges that must be based on usage.</a:t>
            </a:r>
            <a:endParaRPr b="0" lang="en-IN" sz="2200" spc="-1" strike="noStrike">
              <a:latin typeface="Arial"/>
            </a:endParaRPr>
          </a:p>
          <a:p>
            <a:endParaRPr b="0" lang="en-IN" sz="2200" spc="-1" strike="noStrike">
              <a:latin typeface="Arial"/>
            </a:endParaRPr>
          </a:p>
          <a:p>
            <a:r>
              <a:rPr b="0" lang="en-IN" sz="2200" spc="-1" strike="noStrike">
                <a:latin typeface="Arial"/>
              </a:rPr>
              <a:t>■ </a:t>
            </a:r>
            <a:r>
              <a:rPr b="0" lang="en-IN" sz="2200" spc="-1" strike="noStrike">
                <a:latin typeface="Arial"/>
              </a:rPr>
              <a:t>Personnel management — This includes staff recruitment, training, and proper use of the staff-at-hand. Staff consolidation is an important goal for centralizing services. You must ensure that the right number of employees, with the correct skill sets, are assigned to each work.</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Rectangle 5_52"/>
          <p:cNvSpPr/>
          <p:nvPr/>
        </p:nvSpPr>
        <p:spPr>
          <a:xfrm>
            <a:off x="444600" y="258840"/>
            <a:ext cx="6659640" cy="696960"/>
          </a:xfrm>
          <a:prstGeom prst="rect">
            <a:avLst/>
          </a:prstGeom>
          <a:noFill/>
          <a:ln w="9360">
            <a:noFill/>
          </a:ln>
        </p:spPr>
        <p:style>
          <a:lnRef idx="0"/>
          <a:fillRef idx="0"/>
          <a:effectRef idx="0"/>
          <a:fontRef idx="minor"/>
        </p:style>
      </p:sp>
      <p:sp>
        <p:nvSpPr>
          <p:cNvPr id="343" name="Rectangle 6_52"/>
          <p:cNvSpPr/>
          <p:nvPr/>
        </p:nvSpPr>
        <p:spPr>
          <a:xfrm>
            <a:off x="628560" y="1328760"/>
            <a:ext cx="7885440" cy="4748400"/>
          </a:xfrm>
          <a:prstGeom prst="rect">
            <a:avLst/>
          </a:prstGeom>
          <a:noFill/>
          <a:ln w="9360">
            <a:noFill/>
          </a:ln>
        </p:spPr>
        <p:style>
          <a:lnRef idx="0"/>
          <a:fillRef idx="0"/>
          <a:effectRef idx="0"/>
          <a:fontRef idx="minor"/>
        </p:style>
      </p:sp>
      <p:sp>
        <p:nvSpPr>
          <p:cNvPr id="344"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45"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1" lang="en-IN" sz="2200" spc="-1" strike="noStrike">
                <a:latin typeface="Arial"/>
              </a:rPr>
              <a:t>Server Sizing and Capacity Planning</a:t>
            </a:r>
            <a:endParaRPr b="0" lang="en-IN" sz="2200" spc="-1" strike="noStrike">
              <a:latin typeface="Arial"/>
            </a:endParaRPr>
          </a:p>
          <a:p>
            <a:endParaRPr b="0" lang="en-IN" sz="2200" spc="-1" strike="noStrike">
              <a:latin typeface="Arial"/>
            </a:endParaRPr>
          </a:p>
          <a:p>
            <a:r>
              <a:rPr b="0" lang="en-IN" sz="2200" spc="-1" strike="noStrike">
                <a:latin typeface="Arial"/>
              </a:rPr>
              <a:t>Server sizing is an estimate of hardware requirements based on applications, anticipated activity, and satisfactory performance levels.</a:t>
            </a:r>
            <a:endParaRPr b="0" lang="en-IN" sz="2200" spc="-1" strike="noStrike">
              <a:latin typeface="Arial"/>
            </a:endParaRPr>
          </a:p>
          <a:p>
            <a:r>
              <a:rPr b="0" lang="en-IN" sz="2200" spc="-1" strike="noStrike">
                <a:latin typeface="Arial"/>
              </a:rPr>
              <a:t>Capacity planning is a two-phase process.</a:t>
            </a:r>
            <a:endParaRPr b="0" lang="en-IN" sz="2200" spc="-1" strike="noStrike">
              <a:latin typeface="Arial"/>
            </a:endParaRPr>
          </a:p>
          <a:p>
            <a:r>
              <a:rPr b="0" lang="en-IN" sz="2200" spc="-1" strike="noStrike">
                <a:latin typeface="Arial"/>
              </a:rPr>
              <a:t>In Phase I, you run tests to measure utilization and performance given a certain amount of hardware resources and activity. </a:t>
            </a:r>
            <a:endParaRPr b="0" lang="en-IN" sz="2200" spc="-1" strike="noStrike">
              <a:latin typeface="Arial"/>
            </a:endParaRPr>
          </a:p>
          <a:p>
            <a:r>
              <a:rPr b="0" lang="en-IN" sz="2200" spc="-1" strike="noStrike">
                <a:latin typeface="Arial"/>
              </a:rPr>
              <a:t>In Phase 2, you project the amount of hardware resources required to support larger workloads. </a:t>
            </a:r>
            <a:endParaRPr b="0" lang="en-IN" sz="2200" spc="-1" strike="noStrike">
              <a:latin typeface="Arial"/>
            </a:endParaRPr>
          </a:p>
          <a:p>
            <a:r>
              <a:rPr b="0" lang="en-IN" sz="2200" spc="-1" strike="noStrike">
                <a:latin typeface="Arial"/>
              </a:rPr>
              <a:t>The distinction from sizing is that you have technical performance data to make a projection, rather than simply providing an</a:t>
            </a:r>
            <a:endParaRPr b="0" lang="en-IN" sz="2200" spc="-1" strike="noStrike">
              <a:latin typeface="Arial"/>
            </a:endParaRPr>
          </a:p>
          <a:p>
            <a:r>
              <a:rPr b="0" lang="en-IN" sz="2200" spc="-1" strike="noStrike">
                <a:latin typeface="Arial"/>
              </a:rPr>
              <a:t>estimated quantity.</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Rectangle 5_53"/>
          <p:cNvSpPr/>
          <p:nvPr/>
        </p:nvSpPr>
        <p:spPr>
          <a:xfrm>
            <a:off x="444600" y="258840"/>
            <a:ext cx="6659640" cy="696960"/>
          </a:xfrm>
          <a:prstGeom prst="rect">
            <a:avLst/>
          </a:prstGeom>
          <a:noFill/>
          <a:ln w="9360">
            <a:noFill/>
          </a:ln>
        </p:spPr>
        <p:style>
          <a:lnRef idx="0"/>
          <a:fillRef idx="0"/>
          <a:effectRef idx="0"/>
          <a:fontRef idx="minor"/>
        </p:style>
      </p:sp>
      <p:sp>
        <p:nvSpPr>
          <p:cNvPr id="347" name="Rectangle 6_53"/>
          <p:cNvSpPr/>
          <p:nvPr/>
        </p:nvSpPr>
        <p:spPr>
          <a:xfrm>
            <a:off x="628560" y="1328760"/>
            <a:ext cx="7885440" cy="4748400"/>
          </a:xfrm>
          <a:prstGeom prst="rect">
            <a:avLst/>
          </a:prstGeom>
          <a:noFill/>
          <a:ln w="9360">
            <a:noFill/>
          </a:ln>
        </p:spPr>
        <p:style>
          <a:lnRef idx="0"/>
          <a:fillRef idx="0"/>
          <a:effectRef idx="0"/>
          <a:fontRef idx="minor"/>
        </p:style>
      </p:sp>
      <p:sp>
        <p:nvSpPr>
          <p:cNvPr id="348"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49"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Disaster Recovery.</a:t>
            </a:r>
            <a:endParaRPr b="0" lang="en-IN" sz="2200" spc="-1" strike="noStrike">
              <a:latin typeface="Arial"/>
            </a:endParaRPr>
          </a:p>
          <a:p>
            <a:endParaRPr b="0" lang="en-IN" sz="2200" spc="-1" strike="noStrike">
              <a:latin typeface="Arial"/>
            </a:endParaRPr>
          </a:p>
          <a:p>
            <a:r>
              <a:rPr b="0" lang="en-IN" sz="2200" spc="-1" strike="noStrike">
                <a:latin typeface="Arial"/>
              </a:rPr>
              <a:t>A disaster is defined as an extended outage of mission-critical applications and data because of a lack of network- or computer-processing capabilities. </a:t>
            </a:r>
            <a:endParaRPr b="0" lang="en-IN" sz="2200" spc="-1" strike="noStrike">
              <a:latin typeface="Arial"/>
            </a:endParaRPr>
          </a:p>
          <a:p>
            <a:r>
              <a:rPr b="0" lang="en-IN" sz="2200" spc="-1" strike="noStrike">
                <a:latin typeface="Arial"/>
              </a:rPr>
              <a:t>If the outage does not cause loss of revenue, it may take a couple days of outage to qualify it as a disaster. </a:t>
            </a:r>
            <a:endParaRPr b="0" lang="en-IN" sz="2200" spc="-1" strike="noStrike">
              <a:latin typeface="Arial"/>
            </a:endParaRPr>
          </a:p>
          <a:p>
            <a:r>
              <a:rPr b="0" lang="en-IN" sz="2200" spc="-1" strike="noStrike">
                <a:latin typeface="Arial"/>
              </a:rPr>
              <a:t>The key to disaster recovery (DR) is planning and identifying an optimal recovery procedure that incurs minimum delay. </a:t>
            </a:r>
            <a:endParaRPr b="0" lang="en-IN" sz="2200" spc="-1" strike="noStrike">
              <a:latin typeface="Arial"/>
            </a:endParaRPr>
          </a:p>
          <a:p>
            <a:r>
              <a:rPr b="0" lang="en-IN" sz="2200" spc="-1" strike="noStrike">
                <a:latin typeface="Arial"/>
              </a:rPr>
              <a:t>DR planning involves configuring a remote standby site that can take over mission-critical applications and operations within a reasonable time if disaster strikes the primary site.</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Rectangle 5_54"/>
          <p:cNvSpPr/>
          <p:nvPr/>
        </p:nvSpPr>
        <p:spPr>
          <a:xfrm>
            <a:off x="444600" y="258840"/>
            <a:ext cx="6659640" cy="696960"/>
          </a:xfrm>
          <a:prstGeom prst="rect">
            <a:avLst/>
          </a:prstGeom>
          <a:noFill/>
          <a:ln w="9360">
            <a:noFill/>
          </a:ln>
        </p:spPr>
        <p:style>
          <a:lnRef idx="0"/>
          <a:fillRef idx="0"/>
          <a:effectRef idx="0"/>
          <a:fontRef idx="minor"/>
        </p:style>
      </p:sp>
      <p:sp>
        <p:nvSpPr>
          <p:cNvPr id="351" name="Rectangle 6_54"/>
          <p:cNvSpPr/>
          <p:nvPr/>
        </p:nvSpPr>
        <p:spPr>
          <a:xfrm>
            <a:off x="628560" y="1328760"/>
            <a:ext cx="7885440" cy="4748400"/>
          </a:xfrm>
          <a:prstGeom prst="rect">
            <a:avLst/>
          </a:prstGeom>
          <a:noFill/>
          <a:ln w="9360">
            <a:noFill/>
          </a:ln>
        </p:spPr>
        <p:style>
          <a:lnRef idx="0"/>
          <a:fillRef idx="0"/>
          <a:effectRef idx="0"/>
          <a:fontRef idx="minor"/>
        </p:style>
      </p:sp>
      <p:sp>
        <p:nvSpPr>
          <p:cNvPr id="352"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53"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Here are some natural causes and man-made causes of disasters:</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pic>
        <p:nvPicPr>
          <p:cNvPr id="354" name="" descr=""/>
          <p:cNvPicPr/>
          <p:nvPr/>
        </p:nvPicPr>
        <p:blipFill>
          <a:blip r:embed="rId1"/>
          <a:stretch/>
        </p:blipFill>
        <p:spPr>
          <a:xfrm>
            <a:off x="277920" y="1980000"/>
            <a:ext cx="8381520" cy="4082400"/>
          </a:xfrm>
          <a:prstGeom prst="rect">
            <a:avLst/>
          </a:prstGeom>
          <a:ln w="0">
            <a:noFill/>
          </a:ln>
        </p:spPr>
      </p:pic>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Rectangle 5_55"/>
          <p:cNvSpPr/>
          <p:nvPr/>
        </p:nvSpPr>
        <p:spPr>
          <a:xfrm>
            <a:off x="444600" y="258840"/>
            <a:ext cx="6659640" cy="696960"/>
          </a:xfrm>
          <a:prstGeom prst="rect">
            <a:avLst/>
          </a:prstGeom>
          <a:noFill/>
          <a:ln w="9360">
            <a:noFill/>
          </a:ln>
        </p:spPr>
        <p:style>
          <a:lnRef idx="0"/>
          <a:fillRef idx="0"/>
          <a:effectRef idx="0"/>
          <a:fontRef idx="minor"/>
        </p:style>
      </p:sp>
      <p:sp>
        <p:nvSpPr>
          <p:cNvPr id="356" name="Rectangle 6_55"/>
          <p:cNvSpPr/>
          <p:nvPr/>
        </p:nvSpPr>
        <p:spPr>
          <a:xfrm>
            <a:off x="628560" y="1328760"/>
            <a:ext cx="7885440" cy="4748400"/>
          </a:xfrm>
          <a:prstGeom prst="rect">
            <a:avLst/>
          </a:prstGeom>
          <a:noFill/>
          <a:ln w="9360">
            <a:noFill/>
          </a:ln>
        </p:spPr>
        <p:style>
          <a:lnRef idx="0"/>
          <a:fillRef idx="0"/>
          <a:effectRef idx="0"/>
          <a:fontRef idx="minor"/>
        </p:style>
      </p:sp>
      <p:sp>
        <p:nvSpPr>
          <p:cNvPr id="357" name=""/>
          <p:cNvSpPr/>
          <p:nvPr/>
        </p:nvSpPr>
        <p:spPr>
          <a:xfrm>
            <a:off x="540000" y="517320"/>
            <a:ext cx="5400000" cy="486000"/>
          </a:xfrm>
          <a:prstGeom prst="rect">
            <a:avLst/>
          </a:prstGeom>
          <a:noFill/>
          <a:ln w="0">
            <a:noFill/>
          </a:ln>
        </p:spPr>
        <p:style>
          <a:lnRef idx="0"/>
          <a:fillRef idx="0"/>
          <a:effectRef idx="0"/>
          <a:fontRef idx="minor"/>
        </p:style>
        <p:txBody>
          <a:bodyPr lIns="90000" rIns="90000" tIns="45000" bIns="45000">
            <a:noAutofit/>
          </a:bodyPr>
          <a:p>
            <a:pPr>
              <a:lnSpc>
                <a:spcPct val="100000"/>
              </a:lnSpc>
            </a:pPr>
            <a:r>
              <a:rPr b="1" lang="en-IN" sz="2800" spc="-1" strike="noStrike">
                <a:solidFill>
                  <a:srgbClr val="000000"/>
                </a:solidFill>
                <a:latin typeface="Arial"/>
                <a:ea typeface="DejaVu Sans"/>
              </a:rPr>
              <a:t>Infrastructure in a data center</a:t>
            </a:r>
            <a:endParaRPr b="0" lang="en-IN" sz="2800" spc="-1" strike="noStrike">
              <a:latin typeface="Arial"/>
            </a:endParaRPr>
          </a:p>
        </p:txBody>
      </p:sp>
      <p:sp>
        <p:nvSpPr>
          <p:cNvPr id="358" name=""/>
          <p:cNvSpPr/>
          <p:nvPr/>
        </p:nvSpPr>
        <p:spPr>
          <a:xfrm>
            <a:off x="360000" y="1210320"/>
            <a:ext cx="8435880" cy="5104080"/>
          </a:xfrm>
          <a:prstGeom prst="rect">
            <a:avLst/>
          </a:prstGeom>
          <a:noFill/>
          <a:ln w="0">
            <a:noFill/>
          </a:ln>
        </p:spPr>
        <p:style>
          <a:lnRef idx="0"/>
          <a:fillRef idx="0"/>
          <a:effectRef idx="0"/>
          <a:fontRef idx="minor"/>
        </p:style>
        <p:txBody>
          <a:bodyPr lIns="90000" rIns="90000" tIns="45000" bIns="45000">
            <a:noAutofit/>
          </a:bodyPr>
          <a:p>
            <a:r>
              <a:rPr b="0" lang="en-IN" sz="2200" spc="-1" strike="noStrike">
                <a:latin typeface="Arial"/>
              </a:rPr>
              <a:t>Following are the five phases of Disaster Recovery</a:t>
            </a:r>
            <a:endParaRPr b="0" lang="en-IN" sz="2200" spc="-1" strike="noStrike">
              <a:latin typeface="Arial"/>
            </a:endParaRPr>
          </a:p>
          <a:p>
            <a:r>
              <a:rPr b="0" lang="en-IN" sz="2200" spc="-1" strike="noStrike">
                <a:latin typeface="Arial"/>
              </a:rPr>
              <a:t>■ </a:t>
            </a:r>
            <a:r>
              <a:rPr b="0" lang="en-IN" sz="2200" spc="-1" strike="noStrike">
                <a:latin typeface="Arial"/>
              </a:rPr>
              <a:t>Phase 1 — Find the funds.</a:t>
            </a:r>
            <a:endParaRPr b="0" lang="en-IN" sz="2200" spc="-1" strike="noStrike">
              <a:latin typeface="Arial"/>
            </a:endParaRPr>
          </a:p>
          <a:p>
            <a:r>
              <a:rPr b="0" lang="en-IN" sz="2200" spc="-1" strike="noStrike">
                <a:latin typeface="Arial"/>
              </a:rPr>
              <a:t>■ </a:t>
            </a:r>
            <a:r>
              <a:rPr b="0" lang="en-IN" sz="2200" spc="-1" strike="noStrike">
                <a:latin typeface="Arial"/>
              </a:rPr>
              <a:t>Phase 2 — Assess existing environment and risks.</a:t>
            </a:r>
            <a:endParaRPr b="0" lang="en-IN" sz="2200" spc="-1" strike="noStrike">
              <a:latin typeface="Arial"/>
            </a:endParaRPr>
          </a:p>
          <a:p>
            <a:r>
              <a:rPr b="0" lang="en-IN" sz="2200" spc="-1" strike="noStrike">
                <a:latin typeface="Arial"/>
              </a:rPr>
              <a:t>■ </a:t>
            </a:r>
            <a:r>
              <a:rPr b="0" lang="en-IN" sz="2200" spc="-1" strike="noStrike">
                <a:latin typeface="Arial"/>
              </a:rPr>
              <a:t>Phase 3 — Create DR procedures.</a:t>
            </a:r>
            <a:endParaRPr b="0" lang="en-IN" sz="2200" spc="-1" strike="noStrike">
              <a:latin typeface="Arial"/>
            </a:endParaRPr>
          </a:p>
          <a:p>
            <a:r>
              <a:rPr b="0" lang="en-IN" sz="2200" spc="-1" strike="noStrike">
                <a:latin typeface="Arial"/>
              </a:rPr>
              <a:t>■ </a:t>
            </a:r>
            <a:r>
              <a:rPr b="0" lang="en-IN" sz="2200" spc="-1" strike="noStrike">
                <a:latin typeface="Arial"/>
              </a:rPr>
              <a:t>Phase 4 — Test the procedures.</a:t>
            </a:r>
            <a:endParaRPr b="0" lang="en-IN" sz="2200" spc="-1" strike="noStrike">
              <a:latin typeface="Arial"/>
            </a:endParaRPr>
          </a:p>
          <a:p>
            <a:r>
              <a:rPr b="0" lang="en-IN" sz="2200" spc="-1" strike="noStrike">
                <a:latin typeface="Arial"/>
              </a:rPr>
              <a:t>■ </a:t>
            </a:r>
            <a:r>
              <a:rPr b="0" lang="en-IN" sz="2200" spc="-1" strike="noStrike">
                <a:latin typeface="Arial"/>
              </a:rPr>
              <a:t>Phase 5 — Adjust your DR plan to site changes and technical</a:t>
            </a:r>
            <a:endParaRPr b="0" lang="en-IN" sz="2200" spc="-1" strike="noStrike">
              <a:latin typeface="Arial"/>
            </a:endParaRPr>
          </a:p>
          <a:p>
            <a:r>
              <a:rPr b="0" lang="en-IN" sz="2200" spc="-1" strike="noStrike">
                <a:latin typeface="Arial"/>
              </a:rPr>
              <a:t>Advancements.</a:t>
            </a:r>
            <a:endParaRPr b="0" lang="en-IN" sz="2200" spc="-1" strike="noStrike">
              <a:latin typeface="Arial"/>
            </a:endParaRPr>
          </a:p>
          <a:p>
            <a:endParaRPr b="0" lang="en-IN" sz="2200" spc="-1" strike="noStrike">
              <a:latin typeface="Arial"/>
            </a:endParaRPr>
          </a:p>
          <a:p>
            <a:r>
              <a:rPr b="0" lang="en-IN" sz="2200" spc="-1" strike="noStrike">
                <a:latin typeface="Arial"/>
              </a:rPr>
              <a:t>A disaster-tolerant site is one whose data is replicated to a remote site either synchronously or asynchronously and in which applications continue to be online, even in the event of a complete failure of the data center or building.</a:t>
            </a:r>
            <a:endParaRPr b="0" lang="en-IN" sz="2200" spc="-1" strike="noStrike">
              <a:latin typeface="Arial"/>
            </a:endParaRPr>
          </a:p>
          <a:p>
            <a:endParaRPr b="0" lang="en-IN" sz="2200" spc="-1" strike="noStrike">
              <a:latin typeface="Arial"/>
            </a:endParaRPr>
          </a:p>
          <a:p>
            <a:endParaRPr b="0" lang="en-IN" sz="2200" spc="-1" strike="noStrike">
              <a:latin typeface="Arial"/>
            </a:endParaRPr>
          </a:p>
          <a:p>
            <a:endParaRPr b="0" lang="en-IN" sz="22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5d80b3"/>
      </a:accent1>
      <a:accent2>
        <a:srgbClr val="7fa6ba"/>
      </a:accent2>
      <a:accent3>
        <a:srgbClr val="6d8a8c"/>
      </a:accent3>
      <a:accent4>
        <a:srgbClr val="92a181"/>
      </a:accent4>
      <a:accent5>
        <a:srgbClr val="c8d1ba"/>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5d80b3"/>
      </a:accent1>
      <a:accent2>
        <a:srgbClr val="7fa6ba"/>
      </a:accent2>
      <a:accent3>
        <a:srgbClr val="6d8a8c"/>
      </a:accent3>
      <a:accent4>
        <a:srgbClr val="92a181"/>
      </a:accent4>
      <a:accent5>
        <a:srgbClr val="c8d1ba"/>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5d80b3"/>
      </a:accent1>
      <a:accent2>
        <a:srgbClr val="7fa6ba"/>
      </a:accent2>
      <a:accent3>
        <a:srgbClr val="6d8a8c"/>
      </a:accent3>
      <a:accent4>
        <a:srgbClr val="92a181"/>
      </a:accent4>
      <a:accent5>
        <a:srgbClr val="c8d1ba"/>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54749"/>
      </a:dk2>
      <a:lt2>
        <a:srgbClr val="eaf5fc"/>
      </a:lt2>
      <a:accent1>
        <a:srgbClr val="5d80b3"/>
      </a:accent1>
      <a:accent2>
        <a:srgbClr val="7fa6ba"/>
      </a:accent2>
      <a:accent3>
        <a:srgbClr val="6d8a8c"/>
      </a:accent3>
      <a:accent4>
        <a:srgbClr val="92a181"/>
      </a:accent4>
      <a:accent5>
        <a:srgbClr val="c8d1ba"/>
      </a:accent5>
      <a:accent6>
        <a:srgbClr val="ffc000"/>
      </a:accent6>
      <a:hlink>
        <a:srgbClr val="00b0f0"/>
      </a:hlink>
      <a:folHlink>
        <a:srgbClr val="afb2b4"/>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A000120140530A90PPBG</Template>
  <TotalTime>90</TotalTime>
  <Application>LibreOffice/7.1.2.2$Windows_X86_64 LibreOffice_project/8a45595d069ef5570103caea1b71cc9d82b2aae4</Application>
  <AppVersion>15.0000</AppVersion>
  <Words>0</Words>
  <Paragraphs>0</Paragraphs>
  <Company>Microsoft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2014-06-03T02:52:00Z</dcterms:created>
  <dc:creator>admin</dc:creator>
  <dc:description/>
  <dc:language>en-IN</dc:language>
  <cp:lastModifiedBy/>
  <dcterms:modified xsi:type="dcterms:W3CDTF">2021-08-31T21:37:08Z</dcterms:modified>
  <cp:revision>50</cp:revision>
  <dc:subject/>
  <dc:title>fdsa</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
    <vt:lpwstr>ÉÌÎñ½¨ÖþÍ¼¸å_A000120140530A90PPBG</vt:lpwstr>
  </property>
  <property fmtid="{D5CDD505-2E9C-101B-9397-08002B2CF9AE}" pid="3" name="???">
    <vt:lpwstr>ÉÌÒµ¿Æ¼¼ 4:3 »Ò »ÒÉ« ÉÌÎñ ½¨Öþ Í¼¸å ¹æ»® À¶Í¼ V1 ¶àÉ«</vt:lpwstr>
  </property>
  <property fmtid="{D5CDD505-2E9C-101B-9397-08002B2CF9AE}" pid="4" name="????">
    <vt:lpwstr/>
  </property>
  <property fmtid="{D5CDD505-2E9C-101B-9397-08002B2CF9AE}" pid="5" name="KSOProductBuildVer">
    <vt:lpwstr>1033-10.1.0.5656</vt:lpwstr>
  </property>
  <property fmtid="{D5CDD505-2E9C-101B-9397-08002B2CF9AE}" pid="6" name="Notes">
    <vt:i4>2</vt:i4>
  </property>
  <property fmtid="{D5CDD505-2E9C-101B-9397-08002B2CF9AE}" pid="7" name="PresentationFormat">
    <vt:lpwstr>On-screen Show (4:3)</vt:lpwstr>
  </property>
  <property fmtid="{D5CDD505-2E9C-101B-9397-08002B2CF9AE}" pid="8" name="Slides">
    <vt:i4>2</vt:i4>
  </property>
</Properties>
</file>