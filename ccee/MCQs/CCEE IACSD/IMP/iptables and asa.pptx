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5" r:id="rId2"/>
    <p:sldId id="286" r:id="rId3"/>
    <p:sldId id="287" r:id="rId4"/>
    <p:sldId id="288" r:id="rId5"/>
    <p:sldId id="289" r:id="rId6"/>
    <p:sldId id="290" r:id="rId7"/>
    <p:sldId id="293" r:id="rId8"/>
    <p:sldId id="294" r:id="rId9"/>
    <p:sldId id="291" r:id="rId10"/>
    <p:sldId id="292" r:id="rId11"/>
    <p:sldId id="296" r:id="rId12"/>
    <p:sldId id="299" r:id="rId13"/>
    <p:sldId id="300" r:id="rId14"/>
    <p:sldId id="301" r:id="rId15"/>
    <p:sldId id="297" r:id="rId16"/>
    <p:sldId id="298" r:id="rId17"/>
    <p:sldId id="303" r:id="rId18"/>
    <p:sldId id="302" r:id="rId19"/>
    <p:sldId id="497" r:id="rId20"/>
    <p:sldId id="304" r:id="rId21"/>
    <p:sldId id="305" r:id="rId22"/>
    <p:sldId id="479" r:id="rId23"/>
    <p:sldId id="480" r:id="rId24"/>
    <p:sldId id="495" r:id="rId25"/>
    <p:sldId id="496" r:id="rId26"/>
    <p:sldId id="481" r:id="rId27"/>
    <p:sldId id="482" r:id="rId28"/>
    <p:sldId id="483" r:id="rId29"/>
    <p:sldId id="484" r:id="rId30"/>
    <p:sldId id="485" r:id="rId31"/>
    <p:sldId id="486" r:id="rId32"/>
    <p:sldId id="487" r:id="rId33"/>
    <p:sldId id="488" r:id="rId34"/>
    <p:sldId id="489" r:id="rId35"/>
    <p:sldId id="490" r:id="rId36"/>
    <p:sldId id="491" r:id="rId37"/>
    <p:sldId id="493" r:id="rId38"/>
    <p:sldId id="492" r:id="rId39"/>
    <p:sldId id="494" r:id="rId40"/>
    <p:sldId id="306" r:id="rId41"/>
    <p:sldId id="307" r:id="rId42"/>
    <p:sldId id="308" r:id="rId43"/>
    <p:sldId id="309" r:id="rId44"/>
    <p:sldId id="310" r:id="rId45"/>
    <p:sldId id="312" r:id="rId46"/>
    <p:sldId id="313" r:id="rId47"/>
    <p:sldId id="311" r:id="rId48"/>
    <p:sldId id="314" r:id="rId49"/>
    <p:sldId id="315" r:id="rId50"/>
    <p:sldId id="316" r:id="rId51"/>
    <p:sldId id="317" r:id="rId52"/>
    <p:sldId id="318" r:id="rId53"/>
    <p:sldId id="319" r:id="rId54"/>
    <p:sldId id="320" r:id="rId55"/>
    <p:sldId id="321" r:id="rId56"/>
    <p:sldId id="322" r:id="rId57"/>
    <p:sldId id="348" r:id="rId58"/>
    <p:sldId id="323" r:id="rId59"/>
    <p:sldId id="324" r:id="rId60"/>
    <p:sldId id="325" r:id="rId61"/>
    <p:sldId id="326" r:id="rId62"/>
    <p:sldId id="327" r:id="rId63"/>
    <p:sldId id="328" r:id="rId64"/>
    <p:sldId id="329" r:id="rId65"/>
    <p:sldId id="330" r:id="rId66"/>
    <p:sldId id="331" r:id="rId67"/>
    <p:sldId id="332" r:id="rId68"/>
    <p:sldId id="333" r:id="rId69"/>
    <p:sldId id="334" r:id="rId70"/>
    <p:sldId id="335" r:id="rId71"/>
    <p:sldId id="336" r:id="rId72"/>
    <p:sldId id="337" r:id="rId73"/>
    <p:sldId id="338" r:id="rId74"/>
    <p:sldId id="339" r:id="rId75"/>
    <p:sldId id="340" r:id="rId76"/>
    <p:sldId id="349" r:id="rId77"/>
    <p:sldId id="341" r:id="rId78"/>
    <p:sldId id="342" r:id="rId79"/>
    <p:sldId id="343" r:id="rId80"/>
    <p:sldId id="344" r:id="rId81"/>
    <p:sldId id="345" r:id="rId82"/>
    <p:sldId id="346" r:id="rId83"/>
    <p:sldId id="351" r:id="rId84"/>
    <p:sldId id="352" r:id="rId85"/>
    <p:sldId id="353" r:id="rId86"/>
    <p:sldId id="347" r:id="rId87"/>
    <p:sldId id="354" r:id="rId88"/>
    <p:sldId id="355" r:id="rId89"/>
    <p:sldId id="350" r:id="rId90"/>
    <p:sldId id="356" r:id="rId91"/>
    <p:sldId id="357" r:id="rId92"/>
    <p:sldId id="358" r:id="rId93"/>
    <p:sldId id="359" r:id="rId94"/>
    <p:sldId id="499" r:id="rId95"/>
    <p:sldId id="500" r:id="rId96"/>
    <p:sldId id="501" r:id="rId97"/>
    <p:sldId id="502" r:id="rId98"/>
    <p:sldId id="503"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2" d="100"/>
          <a:sy n="62" d="100"/>
        </p:scale>
        <p:origin x="82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74855-83A5-1515-9FD7-B822E5AE92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08D5486-5FAE-C532-F713-2EEB137B2D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15D8E3-7307-875F-7A0E-64513B6B0909}"/>
              </a:ext>
            </a:extLst>
          </p:cNvPr>
          <p:cNvSpPr>
            <a:spLocks noGrp="1"/>
          </p:cNvSpPr>
          <p:nvPr>
            <p:ph type="dt" sz="half" idx="10"/>
          </p:nvPr>
        </p:nvSpPr>
        <p:spPr/>
        <p:txBody>
          <a:bodyPr/>
          <a:lstStyle/>
          <a:p>
            <a:fld id="{8DE04D48-9200-44E8-BF5B-C53AF8EE8CDD}" type="datetimeFigureOut">
              <a:rPr lang="en-IN" smtClean="0"/>
              <a:t>19-01-2023</a:t>
            </a:fld>
            <a:endParaRPr lang="en-IN"/>
          </a:p>
        </p:txBody>
      </p:sp>
      <p:sp>
        <p:nvSpPr>
          <p:cNvPr id="5" name="Footer Placeholder 4">
            <a:extLst>
              <a:ext uri="{FF2B5EF4-FFF2-40B4-BE49-F238E27FC236}">
                <a16:creationId xmlns:a16="http://schemas.microsoft.com/office/drawing/2014/main" id="{2B8FF9E7-5675-0FB4-9A8A-99E9A898E5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4C454D-53D0-5BCD-80D3-D83F34308821}"/>
              </a:ext>
            </a:extLst>
          </p:cNvPr>
          <p:cNvSpPr>
            <a:spLocks noGrp="1"/>
          </p:cNvSpPr>
          <p:nvPr>
            <p:ph type="sldNum" sz="quarter" idx="12"/>
          </p:nvPr>
        </p:nvSpPr>
        <p:spPr/>
        <p:txBody>
          <a:bodyPr/>
          <a:lstStyle/>
          <a:p>
            <a:fld id="{36C88DFC-9D80-46E7-99A0-BE4E9DFCD947}" type="slidenum">
              <a:rPr lang="en-IN" smtClean="0"/>
              <a:t>‹#›</a:t>
            </a:fld>
            <a:endParaRPr lang="en-IN"/>
          </a:p>
        </p:txBody>
      </p:sp>
    </p:spTree>
    <p:extLst>
      <p:ext uri="{BB962C8B-B14F-4D97-AF65-F5344CB8AC3E}">
        <p14:creationId xmlns:p14="http://schemas.microsoft.com/office/powerpoint/2010/main" val="4207881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966A4-22A7-B7D6-A5F4-C3E99F1E61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38CB10-D050-3F3D-170E-121F025983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A1AB80-222A-616D-F9D4-3C39D80CAAF3}"/>
              </a:ext>
            </a:extLst>
          </p:cNvPr>
          <p:cNvSpPr>
            <a:spLocks noGrp="1"/>
          </p:cNvSpPr>
          <p:nvPr>
            <p:ph type="dt" sz="half" idx="10"/>
          </p:nvPr>
        </p:nvSpPr>
        <p:spPr/>
        <p:txBody>
          <a:bodyPr/>
          <a:lstStyle/>
          <a:p>
            <a:fld id="{8DE04D48-9200-44E8-BF5B-C53AF8EE8CDD}" type="datetimeFigureOut">
              <a:rPr lang="en-IN" smtClean="0"/>
              <a:t>19-01-2023</a:t>
            </a:fld>
            <a:endParaRPr lang="en-IN"/>
          </a:p>
        </p:txBody>
      </p:sp>
      <p:sp>
        <p:nvSpPr>
          <p:cNvPr id="5" name="Footer Placeholder 4">
            <a:extLst>
              <a:ext uri="{FF2B5EF4-FFF2-40B4-BE49-F238E27FC236}">
                <a16:creationId xmlns:a16="http://schemas.microsoft.com/office/drawing/2014/main" id="{AB3C9308-0DFD-90A1-594F-41D427CDE0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BC5AB9-1FC9-ACF1-FD4A-B47E6F20D165}"/>
              </a:ext>
            </a:extLst>
          </p:cNvPr>
          <p:cNvSpPr>
            <a:spLocks noGrp="1"/>
          </p:cNvSpPr>
          <p:nvPr>
            <p:ph type="sldNum" sz="quarter" idx="12"/>
          </p:nvPr>
        </p:nvSpPr>
        <p:spPr/>
        <p:txBody>
          <a:bodyPr/>
          <a:lstStyle/>
          <a:p>
            <a:fld id="{36C88DFC-9D80-46E7-99A0-BE4E9DFCD947}" type="slidenum">
              <a:rPr lang="en-IN" smtClean="0"/>
              <a:t>‹#›</a:t>
            </a:fld>
            <a:endParaRPr lang="en-IN"/>
          </a:p>
        </p:txBody>
      </p:sp>
    </p:spTree>
    <p:extLst>
      <p:ext uri="{BB962C8B-B14F-4D97-AF65-F5344CB8AC3E}">
        <p14:creationId xmlns:p14="http://schemas.microsoft.com/office/powerpoint/2010/main" val="4227239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DDE18-ED80-B37A-EEF5-C0B8A773E7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4C626FF-D149-B846-DB0A-E88AF58D68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4A9799-6315-1411-81F9-01B772C06F5F}"/>
              </a:ext>
            </a:extLst>
          </p:cNvPr>
          <p:cNvSpPr>
            <a:spLocks noGrp="1"/>
          </p:cNvSpPr>
          <p:nvPr>
            <p:ph type="dt" sz="half" idx="10"/>
          </p:nvPr>
        </p:nvSpPr>
        <p:spPr/>
        <p:txBody>
          <a:bodyPr/>
          <a:lstStyle/>
          <a:p>
            <a:fld id="{8DE04D48-9200-44E8-BF5B-C53AF8EE8CDD}" type="datetimeFigureOut">
              <a:rPr lang="en-IN" smtClean="0"/>
              <a:t>19-01-2023</a:t>
            </a:fld>
            <a:endParaRPr lang="en-IN"/>
          </a:p>
        </p:txBody>
      </p:sp>
      <p:sp>
        <p:nvSpPr>
          <p:cNvPr id="5" name="Footer Placeholder 4">
            <a:extLst>
              <a:ext uri="{FF2B5EF4-FFF2-40B4-BE49-F238E27FC236}">
                <a16:creationId xmlns:a16="http://schemas.microsoft.com/office/drawing/2014/main" id="{C8E1FEC4-667D-C3CE-C923-DD534B737C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12DDF4-AA68-00EF-2D5F-DE530E98983A}"/>
              </a:ext>
            </a:extLst>
          </p:cNvPr>
          <p:cNvSpPr>
            <a:spLocks noGrp="1"/>
          </p:cNvSpPr>
          <p:nvPr>
            <p:ph type="sldNum" sz="quarter" idx="12"/>
          </p:nvPr>
        </p:nvSpPr>
        <p:spPr/>
        <p:txBody>
          <a:bodyPr/>
          <a:lstStyle/>
          <a:p>
            <a:fld id="{36C88DFC-9D80-46E7-99A0-BE4E9DFCD947}" type="slidenum">
              <a:rPr lang="en-IN" smtClean="0"/>
              <a:t>‹#›</a:t>
            </a:fld>
            <a:endParaRPr lang="en-IN"/>
          </a:p>
        </p:txBody>
      </p:sp>
    </p:spTree>
    <p:extLst>
      <p:ext uri="{BB962C8B-B14F-4D97-AF65-F5344CB8AC3E}">
        <p14:creationId xmlns:p14="http://schemas.microsoft.com/office/powerpoint/2010/main" val="1994227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729AA-3AA0-B253-92ED-0F0B0D8F01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C7BAD4-819A-D151-7AE5-FDE8ED34A6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BAEC86D-C5BD-AE80-365B-D1C5611E42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B847DB4-1F39-2EFC-320A-4997860A5581}"/>
              </a:ext>
            </a:extLst>
          </p:cNvPr>
          <p:cNvSpPr>
            <a:spLocks noGrp="1"/>
          </p:cNvSpPr>
          <p:nvPr>
            <p:ph type="dt" sz="half" idx="10"/>
          </p:nvPr>
        </p:nvSpPr>
        <p:spPr/>
        <p:txBody>
          <a:bodyPr/>
          <a:lstStyle/>
          <a:p>
            <a:fld id="{8DE04D48-9200-44E8-BF5B-C53AF8EE8CDD}" type="datetimeFigureOut">
              <a:rPr lang="en-IN" smtClean="0"/>
              <a:t>19-01-2023</a:t>
            </a:fld>
            <a:endParaRPr lang="en-IN"/>
          </a:p>
        </p:txBody>
      </p:sp>
      <p:sp>
        <p:nvSpPr>
          <p:cNvPr id="6" name="Footer Placeholder 5">
            <a:extLst>
              <a:ext uri="{FF2B5EF4-FFF2-40B4-BE49-F238E27FC236}">
                <a16:creationId xmlns:a16="http://schemas.microsoft.com/office/drawing/2014/main" id="{683051E6-1800-3603-E3A3-524824F7EC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2A5DCF-B622-C211-FF8B-36EB33B61253}"/>
              </a:ext>
            </a:extLst>
          </p:cNvPr>
          <p:cNvSpPr>
            <a:spLocks noGrp="1"/>
          </p:cNvSpPr>
          <p:nvPr>
            <p:ph type="sldNum" sz="quarter" idx="12"/>
          </p:nvPr>
        </p:nvSpPr>
        <p:spPr/>
        <p:txBody>
          <a:bodyPr/>
          <a:lstStyle/>
          <a:p>
            <a:fld id="{36C88DFC-9D80-46E7-99A0-BE4E9DFCD947}" type="slidenum">
              <a:rPr lang="en-IN" smtClean="0"/>
              <a:t>‹#›</a:t>
            </a:fld>
            <a:endParaRPr lang="en-IN"/>
          </a:p>
        </p:txBody>
      </p:sp>
    </p:spTree>
    <p:extLst>
      <p:ext uri="{BB962C8B-B14F-4D97-AF65-F5344CB8AC3E}">
        <p14:creationId xmlns:p14="http://schemas.microsoft.com/office/powerpoint/2010/main" val="3731134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C293D-7677-5A1E-9075-19CC88DB092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B6B365-F2D4-67EF-B1B5-C25EBB11F3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55A90F-8318-BF91-3394-6760CB9873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EB8FDB5-95FC-F843-73E9-0A9A29FD24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75F7AE-38E2-C573-ACA3-64BE293823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93B5D5A-1E15-020D-83BA-2F76BBBDFEF5}"/>
              </a:ext>
            </a:extLst>
          </p:cNvPr>
          <p:cNvSpPr>
            <a:spLocks noGrp="1"/>
          </p:cNvSpPr>
          <p:nvPr>
            <p:ph type="dt" sz="half" idx="10"/>
          </p:nvPr>
        </p:nvSpPr>
        <p:spPr/>
        <p:txBody>
          <a:bodyPr/>
          <a:lstStyle/>
          <a:p>
            <a:fld id="{8DE04D48-9200-44E8-BF5B-C53AF8EE8CDD}" type="datetimeFigureOut">
              <a:rPr lang="en-IN" smtClean="0"/>
              <a:t>19-01-2023</a:t>
            </a:fld>
            <a:endParaRPr lang="en-IN"/>
          </a:p>
        </p:txBody>
      </p:sp>
      <p:sp>
        <p:nvSpPr>
          <p:cNvPr id="8" name="Footer Placeholder 7">
            <a:extLst>
              <a:ext uri="{FF2B5EF4-FFF2-40B4-BE49-F238E27FC236}">
                <a16:creationId xmlns:a16="http://schemas.microsoft.com/office/drawing/2014/main" id="{417A251B-1BD1-8F7E-CD90-3004568DA9C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31AE0BE-DD62-1D95-35A4-A85D8C7D2399}"/>
              </a:ext>
            </a:extLst>
          </p:cNvPr>
          <p:cNvSpPr>
            <a:spLocks noGrp="1"/>
          </p:cNvSpPr>
          <p:nvPr>
            <p:ph type="sldNum" sz="quarter" idx="12"/>
          </p:nvPr>
        </p:nvSpPr>
        <p:spPr/>
        <p:txBody>
          <a:bodyPr/>
          <a:lstStyle/>
          <a:p>
            <a:fld id="{36C88DFC-9D80-46E7-99A0-BE4E9DFCD947}" type="slidenum">
              <a:rPr lang="en-IN" smtClean="0"/>
              <a:t>‹#›</a:t>
            </a:fld>
            <a:endParaRPr lang="en-IN"/>
          </a:p>
        </p:txBody>
      </p:sp>
    </p:spTree>
    <p:extLst>
      <p:ext uri="{BB962C8B-B14F-4D97-AF65-F5344CB8AC3E}">
        <p14:creationId xmlns:p14="http://schemas.microsoft.com/office/powerpoint/2010/main" val="1826320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F2C90-3A9D-BEBD-7BF4-A2EAE83F46B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C0680BA-75C0-CE81-9F43-9DD6BAE9D697}"/>
              </a:ext>
            </a:extLst>
          </p:cNvPr>
          <p:cNvSpPr>
            <a:spLocks noGrp="1"/>
          </p:cNvSpPr>
          <p:nvPr>
            <p:ph type="dt" sz="half" idx="10"/>
          </p:nvPr>
        </p:nvSpPr>
        <p:spPr/>
        <p:txBody>
          <a:bodyPr/>
          <a:lstStyle/>
          <a:p>
            <a:fld id="{8DE04D48-9200-44E8-BF5B-C53AF8EE8CDD}" type="datetimeFigureOut">
              <a:rPr lang="en-IN" smtClean="0"/>
              <a:t>19-01-2023</a:t>
            </a:fld>
            <a:endParaRPr lang="en-IN"/>
          </a:p>
        </p:txBody>
      </p:sp>
      <p:sp>
        <p:nvSpPr>
          <p:cNvPr id="4" name="Footer Placeholder 3">
            <a:extLst>
              <a:ext uri="{FF2B5EF4-FFF2-40B4-BE49-F238E27FC236}">
                <a16:creationId xmlns:a16="http://schemas.microsoft.com/office/drawing/2014/main" id="{EC6FE1B6-B4DF-26B5-D801-A34D78E43F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EEA71C-E5DA-16AD-3EB1-2C7027500A6E}"/>
              </a:ext>
            </a:extLst>
          </p:cNvPr>
          <p:cNvSpPr>
            <a:spLocks noGrp="1"/>
          </p:cNvSpPr>
          <p:nvPr>
            <p:ph type="sldNum" sz="quarter" idx="12"/>
          </p:nvPr>
        </p:nvSpPr>
        <p:spPr/>
        <p:txBody>
          <a:bodyPr/>
          <a:lstStyle/>
          <a:p>
            <a:fld id="{36C88DFC-9D80-46E7-99A0-BE4E9DFCD947}" type="slidenum">
              <a:rPr lang="en-IN" smtClean="0"/>
              <a:t>‹#›</a:t>
            </a:fld>
            <a:endParaRPr lang="en-IN"/>
          </a:p>
        </p:txBody>
      </p:sp>
    </p:spTree>
    <p:extLst>
      <p:ext uri="{BB962C8B-B14F-4D97-AF65-F5344CB8AC3E}">
        <p14:creationId xmlns:p14="http://schemas.microsoft.com/office/powerpoint/2010/main" val="3187990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2D66C2-F22E-A6FA-0E3C-A0974FF33455}"/>
              </a:ext>
            </a:extLst>
          </p:cNvPr>
          <p:cNvSpPr>
            <a:spLocks noGrp="1"/>
          </p:cNvSpPr>
          <p:nvPr>
            <p:ph type="dt" sz="half" idx="10"/>
          </p:nvPr>
        </p:nvSpPr>
        <p:spPr/>
        <p:txBody>
          <a:bodyPr/>
          <a:lstStyle/>
          <a:p>
            <a:fld id="{8DE04D48-9200-44E8-BF5B-C53AF8EE8CDD}" type="datetimeFigureOut">
              <a:rPr lang="en-IN" smtClean="0"/>
              <a:t>19-01-2023</a:t>
            </a:fld>
            <a:endParaRPr lang="en-IN"/>
          </a:p>
        </p:txBody>
      </p:sp>
      <p:sp>
        <p:nvSpPr>
          <p:cNvPr id="3" name="Footer Placeholder 2">
            <a:extLst>
              <a:ext uri="{FF2B5EF4-FFF2-40B4-BE49-F238E27FC236}">
                <a16:creationId xmlns:a16="http://schemas.microsoft.com/office/drawing/2014/main" id="{67C51218-C66D-321F-4463-1B615A73989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76BAC3-55D3-8641-285D-03B025C20E51}"/>
              </a:ext>
            </a:extLst>
          </p:cNvPr>
          <p:cNvSpPr>
            <a:spLocks noGrp="1"/>
          </p:cNvSpPr>
          <p:nvPr>
            <p:ph type="sldNum" sz="quarter" idx="12"/>
          </p:nvPr>
        </p:nvSpPr>
        <p:spPr/>
        <p:txBody>
          <a:bodyPr/>
          <a:lstStyle/>
          <a:p>
            <a:fld id="{36C88DFC-9D80-46E7-99A0-BE4E9DFCD947}" type="slidenum">
              <a:rPr lang="en-IN" smtClean="0"/>
              <a:t>‹#›</a:t>
            </a:fld>
            <a:endParaRPr lang="en-IN"/>
          </a:p>
        </p:txBody>
      </p:sp>
    </p:spTree>
    <p:extLst>
      <p:ext uri="{BB962C8B-B14F-4D97-AF65-F5344CB8AC3E}">
        <p14:creationId xmlns:p14="http://schemas.microsoft.com/office/powerpoint/2010/main" val="989434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643B6-31B3-C8CD-445D-4DFD582C7F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54E20D7-2A92-C8E3-40B9-65B1F62F3F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DD8B2A-269F-058B-49A4-668F625875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99FC6-E9C4-6B0C-E74A-9F3FEBE448E0}"/>
              </a:ext>
            </a:extLst>
          </p:cNvPr>
          <p:cNvSpPr>
            <a:spLocks noGrp="1"/>
          </p:cNvSpPr>
          <p:nvPr>
            <p:ph type="dt" sz="half" idx="10"/>
          </p:nvPr>
        </p:nvSpPr>
        <p:spPr/>
        <p:txBody>
          <a:bodyPr/>
          <a:lstStyle/>
          <a:p>
            <a:fld id="{8DE04D48-9200-44E8-BF5B-C53AF8EE8CDD}" type="datetimeFigureOut">
              <a:rPr lang="en-IN" smtClean="0"/>
              <a:t>19-01-2023</a:t>
            </a:fld>
            <a:endParaRPr lang="en-IN"/>
          </a:p>
        </p:txBody>
      </p:sp>
      <p:sp>
        <p:nvSpPr>
          <p:cNvPr id="6" name="Footer Placeholder 5">
            <a:extLst>
              <a:ext uri="{FF2B5EF4-FFF2-40B4-BE49-F238E27FC236}">
                <a16:creationId xmlns:a16="http://schemas.microsoft.com/office/drawing/2014/main" id="{84DDBB6C-21B8-DBC4-34AF-E6E6CB7D68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3BDD5E-765D-D759-FCFB-A2DAD34281F8}"/>
              </a:ext>
            </a:extLst>
          </p:cNvPr>
          <p:cNvSpPr>
            <a:spLocks noGrp="1"/>
          </p:cNvSpPr>
          <p:nvPr>
            <p:ph type="sldNum" sz="quarter" idx="12"/>
          </p:nvPr>
        </p:nvSpPr>
        <p:spPr/>
        <p:txBody>
          <a:bodyPr/>
          <a:lstStyle/>
          <a:p>
            <a:fld id="{36C88DFC-9D80-46E7-99A0-BE4E9DFCD947}" type="slidenum">
              <a:rPr lang="en-IN" smtClean="0"/>
              <a:t>‹#›</a:t>
            </a:fld>
            <a:endParaRPr lang="en-IN"/>
          </a:p>
        </p:txBody>
      </p:sp>
    </p:spTree>
    <p:extLst>
      <p:ext uri="{BB962C8B-B14F-4D97-AF65-F5344CB8AC3E}">
        <p14:creationId xmlns:p14="http://schemas.microsoft.com/office/powerpoint/2010/main" val="2460467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3770-456A-BB47-9CA3-26C47D68BD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995FA4-297F-1EE0-991A-281C266A8C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F3F5683-8F48-D103-4E18-BFC2C4EAEC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F3B027-9AE5-D67D-F219-8ABCC917C142}"/>
              </a:ext>
            </a:extLst>
          </p:cNvPr>
          <p:cNvSpPr>
            <a:spLocks noGrp="1"/>
          </p:cNvSpPr>
          <p:nvPr>
            <p:ph type="dt" sz="half" idx="10"/>
          </p:nvPr>
        </p:nvSpPr>
        <p:spPr/>
        <p:txBody>
          <a:bodyPr/>
          <a:lstStyle/>
          <a:p>
            <a:fld id="{8DE04D48-9200-44E8-BF5B-C53AF8EE8CDD}" type="datetimeFigureOut">
              <a:rPr lang="en-IN" smtClean="0"/>
              <a:t>19-01-2023</a:t>
            </a:fld>
            <a:endParaRPr lang="en-IN"/>
          </a:p>
        </p:txBody>
      </p:sp>
      <p:sp>
        <p:nvSpPr>
          <p:cNvPr id="6" name="Footer Placeholder 5">
            <a:extLst>
              <a:ext uri="{FF2B5EF4-FFF2-40B4-BE49-F238E27FC236}">
                <a16:creationId xmlns:a16="http://schemas.microsoft.com/office/drawing/2014/main" id="{66AAAB3D-560C-6AB9-4196-896DC41C49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448C42-F2B2-4582-ACCE-1ADEFB3CC5C7}"/>
              </a:ext>
            </a:extLst>
          </p:cNvPr>
          <p:cNvSpPr>
            <a:spLocks noGrp="1"/>
          </p:cNvSpPr>
          <p:nvPr>
            <p:ph type="sldNum" sz="quarter" idx="12"/>
          </p:nvPr>
        </p:nvSpPr>
        <p:spPr/>
        <p:txBody>
          <a:bodyPr/>
          <a:lstStyle/>
          <a:p>
            <a:fld id="{36C88DFC-9D80-46E7-99A0-BE4E9DFCD947}" type="slidenum">
              <a:rPr lang="en-IN" smtClean="0"/>
              <a:t>‹#›</a:t>
            </a:fld>
            <a:endParaRPr lang="en-IN"/>
          </a:p>
        </p:txBody>
      </p:sp>
    </p:spTree>
    <p:extLst>
      <p:ext uri="{BB962C8B-B14F-4D97-AF65-F5344CB8AC3E}">
        <p14:creationId xmlns:p14="http://schemas.microsoft.com/office/powerpoint/2010/main" val="198013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40EE5-A1DF-F469-B18F-B326EC1C3A2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131D34-4458-E6A1-1C15-54FF8BE881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EC143F-CF20-F3CB-C93F-EC183DBEB96A}"/>
              </a:ext>
            </a:extLst>
          </p:cNvPr>
          <p:cNvSpPr>
            <a:spLocks noGrp="1"/>
          </p:cNvSpPr>
          <p:nvPr>
            <p:ph type="dt" sz="half" idx="10"/>
          </p:nvPr>
        </p:nvSpPr>
        <p:spPr/>
        <p:txBody>
          <a:bodyPr/>
          <a:lstStyle/>
          <a:p>
            <a:fld id="{8DE04D48-9200-44E8-BF5B-C53AF8EE8CDD}" type="datetimeFigureOut">
              <a:rPr lang="en-IN" smtClean="0"/>
              <a:t>19-01-2023</a:t>
            </a:fld>
            <a:endParaRPr lang="en-IN"/>
          </a:p>
        </p:txBody>
      </p:sp>
      <p:sp>
        <p:nvSpPr>
          <p:cNvPr id="5" name="Footer Placeholder 4">
            <a:extLst>
              <a:ext uri="{FF2B5EF4-FFF2-40B4-BE49-F238E27FC236}">
                <a16:creationId xmlns:a16="http://schemas.microsoft.com/office/drawing/2014/main" id="{BA2E4B81-D5EF-0E43-86AF-2A8AEEC041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B807BE-6B90-D138-70D0-3E4CEB444114}"/>
              </a:ext>
            </a:extLst>
          </p:cNvPr>
          <p:cNvSpPr>
            <a:spLocks noGrp="1"/>
          </p:cNvSpPr>
          <p:nvPr>
            <p:ph type="sldNum" sz="quarter" idx="12"/>
          </p:nvPr>
        </p:nvSpPr>
        <p:spPr/>
        <p:txBody>
          <a:bodyPr/>
          <a:lstStyle/>
          <a:p>
            <a:fld id="{36C88DFC-9D80-46E7-99A0-BE4E9DFCD947}" type="slidenum">
              <a:rPr lang="en-IN" smtClean="0"/>
              <a:t>‹#›</a:t>
            </a:fld>
            <a:endParaRPr lang="en-IN"/>
          </a:p>
        </p:txBody>
      </p:sp>
    </p:spTree>
    <p:extLst>
      <p:ext uri="{BB962C8B-B14F-4D97-AF65-F5344CB8AC3E}">
        <p14:creationId xmlns:p14="http://schemas.microsoft.com/office/powerpoint/2010/main" val="645070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D592BD-6D7B-36C5-3C16-4D3C6BA409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7FB842-9898-02FE-11B6-136E6AF3A3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7B9238-D0B3-8D46-E3FF-9E1404503B94}"/>
              </a:ext>
            </a:extLst>
          </p:cNvPr>
          <p:cNvSpPr>
            <a:spLocks noGrp="1"/>
          </p:cNvSpPr>
          <p:nvPr>
            <p:ph type="dt" sz="half" idx="10"/>
          </p:nvPr>
        </p:nvSpPr>
        <p:spPr/>
        <p:txBody>
          <a:bodyPr/>
          <a:lstStyle/>
          <a:p>
            <a:fld id="{8DE04D48-9200-44E8-BF5B-C53AF8EE8CDD}" type="datetimeFigureOut">
              <a:rPr lang="en-IN" smtClean="0"/>
              <a:t>19-01-2023</a:t>
            </a:fld>
            <a:endParaRPr lang="en-IN"/>
          </a:p>
        </p:txBody>
      </p:sp>
      <p:sp>
        <p:nvSpPr>
          <p:cNvPr id="5" name="Footer Placeholder 4">
            <a:extLst>
              <a:ext uri="{FF2B5EF4-FFF2-40B4-BE49-F238E27FC236}">
                <a16:creationId xmlns:a16="http://schemas.microsoft.com/office/drawing/2014/main" id="{ECD92298-8758-7831-1E05-B60EBBA6AA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8BBE72-E617-3073-2147-064840EAEB17}"/>
              </a:ext>
            </a:extLst>
          </p:cNvPr>
          <p:cNvSpPr>
            <a:spLocks noGrp="1"/>
          </p:cNvSpPr>
          <p:nvPr>
            <p:ph type="sldNum" sz="quarter" idx="12"/>
          </p:nvPr>
        </p:nvSpPr>
        <p:spPr/>
        <p:txBody>
          <a:bodyPr/>
          <a:lstStyle/>
          <a:p>
            <a:fld id="{36C88DFC-9D80-46E7-99A0-BE4E9DFCD947}" type="slidenum">
              <a:rPr lang="en-IN" smtClean="0"/>
              <a:t>‹#›</a:t>
            </a:fld>
            <a:endParaRPr lang="en-IN"/>
          </a:p>
        </p:txBody>
      </p:sp>
    </p:spTree>
    <p:extLst>
      <p:ext uri="{BB962C8B-B14F-4D97-AF65-F5344CB8AC3E}">
        <p14:creationId xmlns:p14="http://schemas.microsoft.com/office/powerpoint/2010/main" val="3894900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D0F6AA-5D4C-43FD-699E-266550E60B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0914C3-7DA3-F411-19CA-CB1C3999B0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6A4F3E-8778-61E7-098A-8439E64B8B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E04D48-9200-44E8-BF5B-C53AF8EE8CDD}" type="datetimeFigureOut">
              <a:rPr lang="en-IN" smtClean="0"/>
              <a:t>19-01-2023</a:t>
            </a:fld>
            <a:endParaRPr lang="en-IN"/>
          </a:p>
        </p:txBody>
      </p:sp>
      <p:sp>
        <p:nvSpPr>
          <p:cNvPr id="5" name="Footer Placeholder 4">
            <a:extLst>
              <a:ext uri="{FF2B5EF4-FFF2-40B4-BE49-F238E27FC236}">
                <a16:creationId xmlns:a16="http://schemas.microsoft.com/office/drawing/2014/main" id="{93429EEC-52AD-808F-5FE1-4C66EE928D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EE230E7-DD87-ABEE-C96A-F40C1CA3A0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C88DFC-9D80-46E7-99A0-BE4E9DFCD947}" type="slidenum">
              <a:rPr lang="en-IN" smtClean="0"/>
              <a:t>‹#›</a:t>
            </a:fld>
            <a:endParaRPr lang="en-IN"/>
          </a:p>
        </p:txBody>
      </p:sp>
    </p:spTree>
    <p:extLst>
      <p:ext uri="{BB962C8B-B14F-4D97-AF65-F5344CB8AC3E}">
        <p14:creationId xmlns:p14="http://schemas.microsoft.com/office/powerpoint/2010/main" val="2747012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hyperlink" Target="https://www.netfilter.org/"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www.ubuntu.com/"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www.ubuntu.com/" TargetMode="Externa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8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www.ubuntu.com/"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http://www.ubuntu.com/"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www.google.com/" TargetMode="Externa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9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5C1E27-70A6-0CE1-6C7D-173B5846D8E8}"/>
              </a:ext>
            </a:extLst>
          </p:cNvPr>
          <p:cNvSpPr>
            <a:spLocks noGrp="1"/>
          </p:cNvSpPr>
          <p:nvPr>
            <p:ph type="title"/>
          </p:nvPr>
        </p:nvSpPr>
        <p:spPr/>
        <p:txBody>
          <a:bodyPr/>
          <a:lstStyle/>
          <a:p>
            <a:r>
              <a:rPr lang="en-IN" dirty="0"/>
              <a:t>Application Gateway (Proxy)</a:t>
            </a:r>
          </a:p>
        </p:txBody>
      </p:sp>
      <p:sp>
        <p:nvSpPr>
          <p:cNvPr id="5" name="Text Placeholder 4">
            <a:extLst>
              <a:ext uri="{FF2B5EF4-FFF2-40B4-BE49-F238E27FC236}">
                <a16:creationId xmlns:a16="http://schemas.microsoft.com/office/drawing/2014/main" id="{302460EF-C2D8-EA0E-1772-9FC768F00FC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267549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274FC-3425-0345-0937-49B3466BD598}"/>
              </a:ext>
            </a:extLst>
          </p:cNvPr>
          <p:cNvSpPr>
            <a:spLocks noGrp="1"/>
          </p:cNvSpPr>
          <p:nvPr>
            <p:ph type="title"/>
          </p:nvPr>
        </p:nvSpPr>
        <p:spPr/>
        <p:txBody>
          <a:bodyPr/>
          <a:lstStyle/>
          <a:p>
            <a:r>
              <a:rPr lang="en-IN" dirty="0"/>
              <a:t>Basic Concept</a:t>
            </a:r>
          </a:p>
        </p:txBody>
      </p:sp>
      <p:sp>
        <p:nvSpPr>
          <p:cNvPr id="3" name="Content Placeholder 2">
            <a:extLst>
              <a:ext uri="{FF2B5EF4-FFF2-40B4-BE49-F238E27FC236}">
                <a16:creationId xmlns:a16="http://schemas.microsoft.com/office/drawing/2014/main" id="{0C75C380-C09D-49CE-424A-9C86887B7FDE}"/>
              </a:ext>
            </a:extLst>
          </p:cNvPr>
          <p:cNvSpPr>
            <a:spLocks noGrp="1"/>
          </p:cNvSpPr>
          <p:nvPr>
            <p:ph sz="half" idx="1"/>
          </p:nvPr>
        </p:nvSpPr>
        <p:spPr/>
        <p:txBody>
          <a:bodyPr>
            <a:normAutofit fontScale="92500" lnSpcReduction="20000"/>
          </a:bodyPr>
          <a:lstStyle/>
          <a:p>
            <a:r>
              <a:rPr lang="en-US" dirty="0"/>
              <a:t>The user's client program talks to a  </a:t>
            </a:r>
            <a:r>
              <a:rPr lang="en-US" b="1" dirty="0"/>
              <a:t>proxy server</a:t>
            </a:r>
            <a:r>
              <a:rPr lang="en-US" dirty="0"/>
              <a:t> instead of directly to the "real" server out on the Internet. The proxy server evaluates requests from the client and decides which to pass on and which to disregard. </a:t>
            </a:r>
          </a:p>
          <a:p>
            <a:r>
              <a:rPr lang="en-US" dirty="0"/>
              <a:t>If a request is approved, the proxy server talks to the real server on behalf of the client (thus the term "proxy"), and proceeds to relay requests from the client to the real server, and to relay the real server's answers back to the client.</a:t>
            </a:r>
            <a:endParaRPr lang="en-IN" dirty="0"/>
          </a:p>
        </p:txBody>
      </p:sp>
      <p:sp>
        <p:nvSpPr>
          <p:cNvPr id="4" name="Content Placeholder 3">
            <a:extLst>
              <a:ext uri="{FF2B5EF4-FFF2-40B4-BE49-F238E27FC236}">
                <a16:creationId xmlns:a16="http://schemas.microsoft.com/office/drawing/2014/main" id="{43B5EC2A-1AF5-683E-C547-A041F2091AE3}"/>
              </a:ext>
            </a:extLst>
          </p:cNvPr>
          <p:cNvSpPr>
            <a:spLocks noGrp="1"/>
          </p:cNvSpPr>
          <p:nvPr>
            <p:ph sz="half" idx="2"/>
          </p:nvPr>
        </p:nvSpPr>
        <p:spPr/>
        <p:txBody>
          <a:bodyPr>
            <a:normAutofit fontScale="92500" lnSpcReduction="20000"/>
          </a:bodyPr>
          <a:lstStyle/>
          <a:p>
            <a:endParaRPr lang="en-IN"/>
          </a:p>
        </p:txBody>
      </p:sp>
      <p:pic>
        <p:nvPicPr>
          <p:cNvPr id="10242" name="Picture 2" descr="Figure 7.1">
            <a:extLst>
              <a:ext uri="{FF2B5EF4-FFF2-40B4-BE49-F238E27FC236}">
                <a16:creationId xmlns:a16="http://schemas.microsoft.com/office/drawing/2014/main" id="{57457781-504C-0E2A-4524-C5A192B5B3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1213" y="2526800"/>
            <a:ext cx="5363573" cy="2692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397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F3137E-E49A-6AB5-1189-99AAA5320D54}"/>
              </a:ext>
            </a:extLst>
          </p:cNvPr>
          <p:cNvSpPr>
            <a:spLocks noGrp="1"/>
          </p:cNvSpPr>
          <p:nvPr>
            <p:ph type="title"/>
          </p:nvPr>
        </p:nvSpPr>
        <p:spPr/>
        <p:txBody>
          <a:bodyPr/>
          <a:lstStyle/>
          <a:p>
            <a:r>
              <a:rPr lang="en-IN" dirty="0"/>
              <a:t>Example</a:t>
            </a:r>
          </a:p>
        </p:txBody>
      </p:sp>
      <p:sp>
        <p:nvSpPr>
          <p:cNvPr id="6" name="Content Placeholder 5">
            <a:extLst>
              <a:ext uri="{FF2B5EF4-FFF2-40B4-BE49-F238E27FC236}">
                <a16:creationId xmlns:a16="http://schemas.microsoft.com/office/drawing/2014/main" id="{9D8D28C5-0DD5-6EE6-2156-7867641FB149}"/>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3C16C228-8421-1259-6359-0EBF5A71D371}"/>
              </a:ext>
            </a:extLst>
          </p:cNvPr>
          <p:cNvPicPr>
            <a:picLocks noChangeAspect="1"/>
          </p:cNvPicPr>
          <p:nvPr/>
        </p:nvPicPr>
        <p:blipFill>
          <a:blip r:embed="rId2"/>
          <a:stretch>
            <a:fillRect/>
          </a:stretch>
        </p:blipFill>
        <p:spPr>
          <a:xfrm>
            <a:off x="1169430" y="2193501"/>
            <a:ext cx="10008853" cy="3715271"/>
          </a:xfrm>
          <a:prstGeom prst="rect">
            <a:avLst/>
          </a:prstGeom>
        </p:spPr>
      </p:pic>
    </p:spTree>
    <p:extLst>
      <p:ext uri="{BB962C8B-B14F-4D97-AF65-F5344CB8AC3E}">
        <p14:creationId xmlns:p14="http://schemas.microsoft.com/office/powerpoint/2010/main" val="218921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03808B-C0CB-6A6D-0A8C-C322C826A93A}"/>
              </a:ext>
            </a:extLst>
          </p:cNvPr>
          <p:cNvSpPr>
            <a:spLocks noGrp="1"/>
          </p:cNvSpPr>
          <p:nvPr>
            <p:ph type="title"/>
          </p:nvPr>
        </p:nvSpPr>
        <p:spPr/>
        <p:txBody>
          <a:bodyPr/>
          <a:lstStyle/>
          <a:p>
            <a:r>
              <a:rPr lang="en-IN" dirty="0"/>
              <a:t>De-Militarized Zone (DMZ)</a:t>
            </a:r>
          </a:p>
        </p:txBody>
      </p:sp>
      <p:sp>
        <p:nvSpPr>
          <p:cNvPr id="5" name="Text Placeholder 4">
            <a:extLst>
              <a:ext uri="{FF2B5EF4-FFF2-40B4-BE49-F238E27FC236}">
                <a16:creationId xmlns:a16="http://schemas.microsoft.com/office/drawing/2014/main" id="{6945B00B-306B-C3A2-F3F7-CAF60C23BDD5}"/>
              </a:ext>
            </a:extLst>
          </p:cNvPr>
          <p:cNvSpPr>
            <a:spLocks noGrp="1"/>
          </p:cNvSpPr>
          <p:nvPr>
            <p:ph type="body" idx="1"/>
          </p:nvPr>
        </p:nvSpPr>
        <p:spPr/>
        <p:txBody>
          <a:bodyPr/>
          <a:lstStyle/>
          <a:p>
            <a:endParaRPr lang="en-IN"/>
          </a:p>
        </p:txBody>
      </p:sp>
      <p:pic>
        <p:nvPicPr>
          <p:cNvPr id="12290" name="Picture 2" descr="DMZ (Korea) – Travel guide at Wikivoyage">
            <a:extLst>
              <a:ext uri="{FF2B5EF4-FFF2-40B4-BE49-F238E27FC236}">
                <a16:creationId xmlns:a16="http://schemas.microsoft.com/office/drawing/2014/main" id="{FCBF5B4D-B9E4-B579-C5A6-808C2C93C8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6050" y="331796"/>
            <a:ext cx="4199294" cy="3161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469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DE246-F2FC-08D1-BD50-DAD50FC8C624}"/>
              </a:ext>
            </a:extLst>
          </p:cNvPr>
          <p:cNvSpPr>
            <a:spLocks noGrp="1"/>
          </p:cNvSpPr>
          <p:nvPr>
            <p:ph type="title"/>
          </p:nvPr>
        </p:nvSpPr>
        <p:spPr/>
        <p:txBody>
          <a:bodyPr/>
          <a:lstStyle/>
          <a:p>
            <a:r>
              <a:rPr lang="en-IN" dirty="0"/>
              <a:t>DMZ Basics</a:t>
            </a:r>
          </a:p>
        </p:txBody>
      </p:sp>
      <p:sp>
        <p:nvSpPr>
          <p:cNvPr id="3" name="Content Placeholder 2">
            <a:extLst>
              <a:ext uri="{FF2B5EF4-FFF2-40B4-BE49-F238E27FC236}">
                <a16:creationId xmlns:a16="http://schemas.microsoft.com/office/drawing/2014/main" id="{DC5F8359-3CBA-CB19-1C12-9727BC273335}"/>
              </a:ext>
            </a:extLst>
          </p:cNvPr>
          <p:cNvSpPr>
            <a:spLocks noGrp="1"/>
          </p:cNvSpPr>
          <p:nvPr>
            <p:ph idx="1"/>
          </p:nvPr>
        </p:nvSpPr>
        <p:spPr/>
        <p:txBody>
          <a:bodyPr/>
          <a:lstStyle/>
          <a:p>
            <a:r>
              <a:rPr lang="en-US" b="1" dirty="0"/>
              <a:t>De-Militarized Zone (DMZ)</a:t>
            </a:r>
            <a:r>
              <a:rPr lang="en-US" dirty="0"/>
              <a:t> is a buffer zone between a completely untrusted network (like the Internet) and a relatively trusted network (like your private LAN). </a:t>
            </a:r>
          </a:p>
          <a:p>
            <a:r>
              <a:rPr lang="en-US" dirty="0"/>
              <a:t>The primary reason for implementing a DMZ is to keep your public and private assets separated so that a compromise in the public area does not automatically result in a compromise of your private assets as well.</a:t>
            </a:r>
            <a:endParaRPr lang="en-IN" dirty="0"/>
          </a:p>
        </p:txBody>
      </p:sp>
    </p:spTree>
    <p:extLst>
      <p:ext uri="{BB962C8B-B14F-4D97-AF65-F5344CB8AC3E}">
        <p14:creationId xmlns:p14="http://schemas.microsoft.com/office/powerpoint/2010/main" val="2245884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900FB-53B5-75D1-7A03-BB4A183AE9B8}"/>
              </a:ext>
            </a:extLst>
          </p:cNvPr>
          <p:cNvSpPr>
            <a:spLocks noGrp="1"/>
          </p:cNvSpPr>
          <p:nvPr>
            <p:ph type="title"/>
          </p:nvPr>
        </p:nvSpPr>
        <p:spPr/>
        <p:txBody>
          <a:bodyPr/>
          <a:lstStyle/>
          <a:p>
            <a:r>
              <a:rPr lang="en-IN" dirty="0"/>
              <a:t>Using a Single Firewall</a:t>
            </a:r>
          </a:p>
        </p:txBody>
      </p:sp>
      <p:sp>
        <p:nvSpPr>
          <p:cNvPr id="3" name="Content Placeholder 2">
            <a:extLst>
              <a:ext uri="{FF2B5EF4-FFF2-40B4-BE49-F238E27FC236}">
                <a16:creationId xmlns:a16="http://schemas.microsoft.com/office/drawing/2014/main" id="{141A2CA1-D2B4-FD7E-D6F4-E4A7A5F013C7}"/>
              </a:ext>
            </a:extLst>
          </p:cNvPr>
          <p:cNvSpPr>
            <a:spLocks noGrp="1"/>
          </p:cNvSpPr>
          <p:nvPr>
            <p:ph idx="1"/>
          </p:nvPr>
        </p:nvSpPr>
        <p:spPr/>
        <p:txBody>
          <a:bodyPr/>
          <a:lstStyle/>
          <a:p>
            <a:r>
              <a:rPr lang="en-IN" dirty="0"/>
              <a:t>A company has its web and email server behind a firewall</a:t>
            </a:r>
          </a:p>
          <a:p>
            <a:r>
              <a:rPr lang="en-IN" dirty="0"/>
              <a:t>Outside users must come through this firewall – Is it ok?</a:t>
            </a:r>
          </a:p>
        </p:txBody>
      </p:sp>
      <p:pic>
        <p:nvPicPr>
          <p:cNvPr id="5" name="Picture 4">
            <a:extLst>
              <a:ext uri="{FF2B5EF4-FFF2-40B4-BE49-F238E27FC236}">
                <a16:creationId xmlns:a16="http://schemas.microsoft.com/office/drawing/2014/main" id="{5FB4FE45-14DE-719E-7574-094C2BA79F98}"/>
              </a:ext>
            </a:extLst>
          </p:cNvPr>
          <p:cNvPicPr>
            <a:picLocks noChangeAspect="1"/>
          </p:cNvPicPr>
          <p:nvPr/>
        </p:nvPicPr>
        <p:blipFill>
          <a:blip r:embed="rId2"/>
          <a:stretch>
            <a:fillRect/>
          </a:stretch>
        </p:blipFill>
        <p:spPr>
          <a:xfrm>
            <a:off x="1705511" y="3020151"/>
            <a:ext cx="6150142" cy="3291749"/>
          </a:xfrm>
          <a:prstGeom prst="rect">
            <a:avLst/>
          </a:prstGeom>
        </p:spPr>
      </p:pic>
      <p:sp>
        <p:nvSpPr>
          <p:cNvPr id="4" name="Speech Bubble: Rectangle 3">
            <a:extLst>
              <a:ext uri="{FF2B5EF4-FFF2-40B4-BE49-F238E27FC236}">
                <a16:creationId xmlns:a16="http://schemas.microsoft.com/office/drawing/2014/main" id="{198E7655-E237-3CE8-2F88-B9D20A508F00}"/>
              </a:ext>
            </a:extLst>
          </p:cNvPr>
          <p:cNvSpPr/>
          <p:nvPr/>
        </p:nvSpPr>
        <p:spPr>
          <a:xfrm>
            <a:off x="8856324" y="2766218"/>
            <a:ext cx="1705510" cy="1325563"/>
          </a:xfrm>
          <a:prstGeom prst="wedgeRectCallout">
            <a:avLst>
              <a:gd name="adj1" fmla="val -115412"/>
              <a:gd name="adj2" fmla="val 12895"/>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Your public servers</a:t>
            </a:r>
          </a:p>
        </p:txBody>
      </p:sp>
      <p:sp>
        <p:nvSpPr>
          <p:cNvPr id="6" name="Speech Bubble: Rectangle 5">
            <a:extLst>
              <a:ext uri="{FF2B5EF4-FFF2-40B4-BE49-F238E27FC236}">
                <a16:creationId xmlns:a16="http://schemas.microsoft.com/office/drawing/2014/main" id="{683B6702-A411-59C0-9E52-A48F5EB2501A}"/>
              </a:ext>
            </a:extLst>
          </p:cNvPr>
          <p:cNvSpPr/>
          <p:nvPr/>
        </p:nvSpPr>
        <p:spPr>
          <a:xfrm>
            <a:off x="8856324" y="4666025"/>
            <a:ext cx="1705510" cy="1325563"/>
          </a:xfrm>
          <a:prstGeom prst="wedgeRectCallout">
            <a:avLst>
              <a:gd name="adj1" fmla="val -113002"/>
              <a:gd name="adj2" fmla="val -1810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Your private network (LAN)</a:t>
            </a:r>
          </a:p>
        </p:txBody>
      </p:sp>
    </p:spTree>
    <p:extLst>
      <p:ext uri="{BB962C8B-B14F-4D97-AF65-F5344CB8AC3E}">
        <p14:creationId xmlns:p14="http://schemas.microsoft.com/office/powerpoint/2010/main" val="1463546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900FB-53B5-75D1-7A03-BB4A183AE9B8}"/>
              </a:ext>
            </a:extLst>
          </p:cNvPr>
          <p:cNvSpPr>
            <a:spLocks noGrp="1"/>
          </p:cNvSpPr>
          <p:nvPr>
            <p:ph type="title"/>
          </p:nvPr>
        </p:nvSpPr>
        <p:spPr/>
        <p:txBody>
          <a:bodyPr/>
          <a:lstStyle/>
          <a:p>
            <a:r>
              <a:rPr lang="en-IN" dirty="0"/>
              <a:t>Using a Single Firewall</a:t>
            </a:r>
          </a:p>
        </p:txBody>
      </p:sp>
      <p:sp>
        <p:nvSpPr>
          <p:cNvPr id="3" name="Content Placeholder 2">
            <a:extLst>
              <a:ext uri="{FF2B5EF4-FFF2-40B4-BE49-F238E27FC236}">
                <a16:creationId xmlns:a16="http://schemas.microsoft.com/office/drawing/2014/main" id="{141A2CA1-D2B4-FD7E-D6F4-E4A7A5F013C7}"/>
              </a:ext>
            </a:extLst>
          </p:cNvPr>
          <p:cNvSpPr>
            <a:spLocks noGrp="1"/>
          </p:cNvSpPr>
          <p:nvPr>
            <p:ph idx="1"/>
          </p:nvPr>
        </p:nvSpPr>
        <p:spPr/>
        <p:txBody>
          <a:bodyPr/>
          <a:lstStyle/>
          <a:p>
            <a:r>
              <a:rPr lang="en-IN" dirty="0"/>
              <a:t>The problem is, in spite of the firewall if the web/email server is hacked, the external user will be able to get inside the other hosts/servers inside the LAN</a:t>
            </a:r>
          </a:p>
        </p:txBody>
      </p:sp>
      <p:pic>
        <p:nvPicPr>
          <p:cNvPr id="5" name="Picture 4">
            <a:extLst>
              <a:ext uri="{FF2B5EF4-FFF2-40B4-BE49-F238E27FC236}">
                <a16:creationId xmlns:a16="http://schemas.microsoft.com/office/drawing/2014/main" id="{5FB4FE45-14DE-719E-7574-094C2BA79F98}"/>
              </a:ext>
            </a:extLst>
          </p:cNvPr>
          <p:cNvPicPr>
            <a:picLocks noChangeAspect="1"/>
          </p:cNvPicPr>
          <p:nvPr/>
        </p:nvPicPr>
        <p:blipFill>
          <a:blip r:embed="rId2"/>
          <a:stretch>
            <a:fillRect/>
          </a:stretch>
        </p:blipFill>
        <p:spPr>
          <a:xfrm>
            <a:off x="1695236" y="3020151"/>
            <a:ext cx="6150142" cy="3291749"/>
          </a:xfrm>
          <a:prstGeom prst="rect">
            <a:avLst/>
          </a:prstGeom>
        </p:spPr>
      </p:pic>
      <p:sp>
        <p:nvSpPr>
          <p:cNvPr id="4" name="Oval 3">
            <a:extLst>
              <a:ext uri="{FF2B5EF4-FFF2-40B4-BE49-F238E27FC236}">
                <a16:creationId xmlns:a16="http://schemas.microsoft.com/office/drawing/2014/main" id="{6EE75A7E-EC57-0B55-5692-2F8A689EFBCB}"/>
              </a:ext>
            </a:extLst>
          </p:cNvPr>
          <p:cNvSpPr/>
          <p:nvPr/>
        </p:nvSpPr>
        <p:spPr>
          <a:xfrm>
            <a:off x="5804899" y="2761883"/>
            <a:ext cx="2332233" cy="3730991"/>
          </a:xfrm>
          <a:prstGeom prst="ellipse">
            <a:avLst/>
          </a:prstGeom>
          <a:solidFill>
            <a:srgbClr val="FFFF0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15519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11DC-9634-85D8-3D4C-03284CF0D608}"/>
              </a:ext>
            </a:extLst>
          </p:cNvPr>
          <p:cNvSpPr>
            <a:spLocks noGrp="1"/>
          </p:cNvSpPr>
          <p:nvPr>
            <p:ph type="title"/>
          </p:nvPr>
        </p:nvSpPr>
        <p:spPr/>
        <p:txBody>
          <a:bodyPr/>
          <a:lstStyle/>
          <a:p>
            <a:r>
              <a:rPr lang="en-IN" dirty="0"/>
              <a:t>Solution? DMZ</a:t>
            </a:r>
          </a:p>
        </p:txBody>
      </p:sp>
      <p:sp>
        <p:nvSpPr>
          <p:cNvPr id="3" name="Content Placeholder 2">
            <a:extLst>
              <a:ext uri="{FF2B5EF4-FFF2-40B4-BE49-F238E27FC236}">
                <a16:creationId xmlns:a16="http://schemas.microsoft.com/office/drawing/2014/main" id="{EAFDA44E-34BF-7001-3BCA-425996FFEE4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265F101-7E84-1339-071E-2E9526479A50}"/>
              </a:ext>
            </a:extLst>
          </p:cNvPr>
          <p:cNvPicPr>
            <a:picLocks noChangeAspect="1"/>
          </p:cNvPicPr>
          <p:nvPr/>
        </p:nvPicPr>
        <p:blipFill>
          <a:blip r:embed="rId2"/>
          <a:stretch>
            <a:fillRect/>
          </a:stretch>
        </p:blipFill>
        <p:spPr>
          <a:xfrm>
            <a:off x="1104743" y="1690688"/>
            <a:ext cx="9107769" cy="4867495"/>
          </a:xfrm>
          <a:prstGeom prst="rect">
            <a:avLst/>
          </a:prstGeom>
        </p:spPr>
      </p:pic>
      <p:sp>
        <p:nvSpPr>
          <p:cNvPr id="4" name="Speech Bubble: Rectangle 3">
            <a:extLst>
              <a:ext uri="{FF2B5EF4-FFF2-40B4-BE49-F238E27FC236}">
                <a16:creationId xmlns:a16="http://schemas.microsoft.com/office/drawing/2014/main" id="{98B0D78A-3814-DE85-DCA5-9AE9AD4B96DA}"/>
              </a:ext>
            </a:extLst>
          </p:cNvPr>
          <p:cNvSpPr/>
          <p:nvPr/>
        </p:nvSpPr>
        <p:spPr>
          <a:xfrm>
            <a:off x="5270643" y="432593"/>
            <a:ext cx="1705510" cy="1325563"/>
          </a:xfrm>
          <a:prstGeom prst="wedgeRectCallout">
            <a:avLst>
              <a:gd name="adj1" fmla="val -20231"/>
              <a:gd name="adj2" fmla="val 78002"/>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Your public servers</a:t>
            </a:r>
          </a:p>
        </p:txBody>
      </p:sp>
      <p:sp>
        <p:nvSpPr>
          <p:cNvPr id="6" name="Speech Bubble: Rectangle 5">
            <a:extLst>
              <a:ext uri="{FF2B5EF4-FFF2-40B4-BE49-F238E27FC236}">
                <a16:creationId xmlns:a16="http://schemas.microsoft.com/office/drawing/2014/main" id="{1A3852A7-CB77-B379-BBEF-8492F08C624E}"/>
              </a:ext>
            </a:extLst>
          </p:cNvPr>
          <p:cNvSpPr/>
          <p:nvPr/>
        </p:nvSpPr>
        <p:spPr>
          <a:xfrm>
            <a:off x="9830657" y="2948783"/>
            <a:ext cx="1705510" cy="1325563"/>
          </a:xfrm>
          <a:prstGeom prst="wedgeRectCallout">
            <a:avLst>
              <a:gd name="adj1" fmla="val -20231"/>
              <a:gd name="adj2" fmla="val 78002"/>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Your private network (LAN)</a:t>
            </a:r>
          </a:p>
        </p:txBody>
      </p:sp>
    </p:spTree>
    <p:extLst>
      <p:ext uri="{BB962C8B-B14F-4D97-AF65-F5344CB8AC3E}">
        <p14:creationId xmlns:p14="http://schemas.microsoft.com/office/powerpoint/2010/main" val="2728001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B4DD8-2242-F70A-A9A2-F615D97FE423}"/>
              </a:ext>
            </a:extLst>
          </p:cNvPr>
          <p:cNvSpPr>
            <a:spLocks noGrp="1"/>
          </p:cNvSpPr>
          <p:nvPr>
            <p:ph type="title"/>
          </p:nvPr>
        </p:nvSpPr>
        <p:spPr/>
        <p:txBody>
          <a:bodyPr/>
          <a:lstStyle/>
          <a:p>
            <a:r>
              <a:rPr lang="en-IN" dirty="0"/>
              <a:t>Why a DMZ?</a:t>
            </a:r>
          </a:p>
        </p:txBody>
      </p:sp>
      <p:sp>
        <p:nvSpPr>
          <p:cNvPr id="3" name="Content Placeholder 2">
            <a:extLst>
              <a:ext uri="{FF2B5EF4-FFF2-40B4-BE49-F238E27FC236}">
                <a16:creationId xmlns:a16="http://schemas.microsoft.com/office/drawing/2014/main" id="{3D7E94FE-A5BF-02A6-4373-CC85968B83D3}"/>
              </a:ext>
            </a:extLst>
          </p:cNvPr>
          <p:cNvSpPr>
            <a:spLocks noGrp="1"/>
          </p:cNvSpPr>
          <p:nvPr>
            <p:ph idx="1"/>
          </p:nvPr>
        </p:nvSpPr>
        <p:spPr/>
        <p:txBody>
          <a:bodyPr>
            <a:normAutofit fontScale="92500" lnSpcReduction="20000"/>
          </a:bodyPr>
          <a:lstStyle/>
          <a:p>
            <a:r>
              <a:rPr lang="en-US" dirty="0"/>
              <a:t>Let’s say you are running a web server, an FTP server, and a game server. </a:t>
            </a:r>
          </a:p>
          <a:p>
            <a:r>
              <a:rPr lang="en-US" dirty="0"/>
              <a:t>On your border router/firewall you allow ports 80, 21, and 5347 (the game server port). </a:t>
            </a:r>
          </a:p>
          <a:p>
            <a:r>
              <a:rPr lang="en-US" dirty="0"/>
              <a:t>All other attempted connections to your external IP address are denied access. </a:t>
            </a:r>
          </a:p>
          <a:p>
            <a:r>
              <a:rPr lang="en-US" dirty="0"/>
              <a:t>Now what happens if someone finds and attacks a vulnerability in one of these servers? </a:t>
            </a:r>
          </a:p>
          <a:p>
            <a:r>
              <a:rPr lang="en-US" dirty="0"/>
              <a:t>Your second and more powerful firewall does not pass </a:t>
            </a:r>
            <a:r>
              <a:rPr lang="en-US" u="sng" dirty="0"/>
              <a:t>any</a:t>
            </a:r>
            <a:r>
              <a:rPr lang="en-US" dirty="0"/>
              <a:t> traffic from the DMZ inside to the LAN, thus protecting it.</a:t>
            </a:r>
          </a:p>
          <a:p>
            <a:pPr lvl="1"/>
            <a:r>
              <a:rPr lang="en-US" dirty="0"/>
              <a:t>The only traffic that is going to make it through that firewall is traffic that you specifically request be allowed (Example: An internal user had opened a TCP connection to an outside server, which has responded.)</a:t>
            </a:r>
          </a:p>
          <a:p>
            <a:pPr lvl="1"/>
            <a:r>
              <a:rPr lang="en-US" dirty="0"/>
              <a:t>But do not allow brand new connections from outside.</a:t>
            </a:r>
            <a:endParaRPr lang="en-IN" dirty="0"/>
          </a:p>
        </p:txBody>
      </p:sp>
    </p:spTree>
    <p:extLst>
      <p:ext uri="{BB962C8B-B14F-4D97-AF65-F5344CB8AC3E}">
        <p14:creationId xmlns:p14="http://schemas.microsoft.com/office/powerpoint/2010/main" val="698447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A7244-2CF4-BA72-58BF-B0A38DC19141}"/>
              </a:ext>
            </a:extLst>
          </p:cNvPr>
          <p:cNvSpPr>
            <a:spLocks noGrp="1"/>
          </p:cNvSpPr>
          <p:nvPr>
            <p:ph type="title"/>
          </p:nvPr>
        </p:nvSpPr>
        <p:spPr/>
        <p:txBody>
          <a:bodyPr/>
          <a:lstStyle/>
          <a:p>
            <a:r>
              <a:rPr lang="en-IN" dirty="0"/>
              <a:t>DMZ Advantages</a:t>
            </a:r>
          </a:p>
        </p:txBody>
      </p:sp>
      <p:sp>
        <p:nvSpPr>
          <p:cNvPr id="3" name="Content Placeholder 2">
            <a:extLst>
              <a:ext uri="{FF2B5EF4-FFF2-40B4-BE49-F238E27FC236}">
                <a16:creationId xmlns:a16="http://schemas.microsoft.com/office/drawing/2014/main" id="{97B2D4C8-35F7-E914-C906-36A734B279AB}"/>
              </a:ext>
            </a:extLst>
          </p:cNvPr>
          <p:cNvSpPr>
            <a:spLocks noGrp="1"/>
          </p:cNvSpPr>
          <p:nvPr>
            <p:ph idx="1"/>
          </p:nvPr>
        </p:nvSpPr>
        <p:spPr/>
        <p:txBody>
          <a:bodyPr>
            <a:normAutofit lnSpcReduction="10000"/>
          </a:bodyPr>
          <a:lstStyle/>
          <a:p>
            <a:r>
              <a:rPr lang="en-US" b="1" dirty="0"/>
              <a:t>Access control</a:t>
            </a:r>
            <a:r>
              <a:rPr lang="en-US" dirty="0"/>
              <a:t> – An increased degree of protection guarantees that only genuine traffic can enter the DMZ, making it extremely difficult for hackers to penetrate internal networks since they would have to pass through two firewalls to get access. </a:t>
            </a:r>
          </a:p>
          <a:p>
            <a:r>
              <a:rPr lang="en-US" b="1" dirty="0"/>
              <a:t>Prevents network reconnaissance</a:t>
            </a:r>
            <a:r>
              <a:rPr lang="en-US" dirty="0"/>
              <a:t> – It acts as an intermediary, preventing attackers from conducting reconnaissance activity to hunt for potential targets. If a DMZ system is hacked, the internal firewall protects the private network and makes external surveillance difficult.</a:t>
            </a:r>
          </a:p>
          <a:p>
            <a:r>
              <a:rPr lang="en-US" b="1" dirty="0"/>
              <a:t>Protects from internet protocol (IP) spoofing</a:t>
            </a:r>
            <a:r>
              <a:rPr lang="en-US" dirty="0"/>
              <a:t>: Attackers may try to gain access to systems by counterfeiting an IP address. A DMZ may recognize the IP address’s validity. </a:t>
            </a:r>
            <a:endParaRPr lang="en-IN" dirty="0"/>
          </a:p>
        </p:txBody>
      </p:sp>
    </p:spTree>
    <p:extLst>
      <p:ext uri="{BB962C8B-B14F-4D97-AF65-F5344CB8AC3E}">
        <p14:creationId xmlns:p14="http://schemas.microsoft.com/office/powerpoint/2010/main" val="1430164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63649B-4C6D-F745-9C18-DED92922172C}"/>
              </a:ext>
            </a:extLst>
          </p:cNvPr>
          <p:cNvSpPr>
            <a:spLocks noGrp="1"/>
          </p:cNvSpPr>
          <p:nvPr>
            <p:ph type="title"/>
          </p:nvPr>
        </p:nvSpPr>
        <p:spPr/>
        <p:txBody>
          <a:bodyPr/>
          <a:lstStyle/>
          <a:p>
            <a:r>
              <a:rPr lang="en-IN" dirty="0"/>
              <a:t>Screened Host Firewall</a:t>
            </a:r>
          </a:p>
        </p:txBody>
      </p:sp>
      <p:sp>
        <p:nvSpPr>
          <p:cNvPr id="5" name="Text Placeholder 4">
            <a:extLst>
              <a:ext uri="{FF2B5EF4-FFF2-40B4-BE49-F238E27FC236}">
                <a16:creationId xmlns:a16="http://schemas.microsoft.com/office/drawing/2014/main" id="{8066C841-8648-FE05-14E2-8EFDFC899E5B}"/>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645740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4CC251-A61E-C601-69EF-E4EBA29E708A}"/>
              </a:ext>
            </a:extLst>
          </p:cNvPr>
          <p:cNvSpPr>
            <a:spLocks noGrp="1"/>
          </p:cNvSpPr>
          <p:nvPr>
            <p:ph type="title"/>
          </p:nvPr>
        </p:nvSpPr>
        <p:spPr/>
        <p:txBody>
          <a:bodyPr/>
          <a:lstStyle/>
          <a:p>
            <a:r>
              <a:rPr lang="en-IN" dirty="0"/>
              <a:t>Bastion Host Concept</a:t>
            </a:r>
          </a:p>
        </p:txBody>
      </p:sp>
      <p:sp>
        <p:nvSpPr>
          <p:cNvPr id="5" name="Content Placeholder 4">
            <a:extLst>
              <a:ext uri="{FF2B5EF4-FFF2-40B4-BE49-F238E27FC236}">
                <a16:creationId xmlns:a16="http://schemas.microsoft.com/office/drawing/2014/main" id="{AC523856-D26C-BF59-E1C7-B8A7DB8CEE94}"/>
              </a:ext>
            </a:extLst>
          </p:cNvPr>
          <p:cNvSpPr>
            <a:spLocks noGrp="1"/>
          </p:cNvSpPr>
          <p:nvPr>
            <p:ph idx="1"/>
          </p:nvPr>
        </p:nvSpPr>
        <p:spPr/>
        <p:txBody>
          <a:bodyPr/>
          <a:lstStyle/>
          <a:p>
            <a:r>
              <a:rPr lang="en-US" dirty="0"/>
              <a:t>A </a:t>
            </a:r>
            <a:r>
              <a:rPr lang="en-US" b="1" dirty="0"/>
              <a:t>bastion host</a:t>
            </a:r>
            <a:r>
              <a:rPr lang="en-US" dirty="0"/>
              <a:t> is a special-purpose computer on a network specifically designed and configured to withstand attacks.</a:t>
            </a:r>
          </a:p>
          <a:p>
            <a:r>
              <a:rPr lang="en-US" dirty="0"/>
              <a:t>It is a server whose purpose is to provide access to a private network from an external network, such as the Internet. Because of its exposure to potential attack, a bastion host must minimize the chances of penetration.</a:t>
            </a:r>
          </a:p>
          <a:p>
            <a:r>
              <a:rPr lang="en-US" dirty="0"/>
              <a:t>Example follows …</a:t>
            </a:r>
            <a:endParaRPr lang="en-IN" dirty="0"/>
          </a:p>
        </p:txBody>
      </p:sp>
    </p:spTree>
    <p:extLst>
      <p:ext uri="{BB962C8B-B14F-4D97-AF65-F5344CB8AC3E}">
        <p14:creationId xmlns:p14="http://schemas.microsoft.com/office/powerpoint/2010/main" val="3392194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59234-66C0-EE18-70FF-A4FF86932777}"/>
              </a:ext>
            </a:extLst>
          </p:cNvPr>
          <p:cNvSpPr>
            <a:spLocks noGrp="1"/>
          </p:cNvSpPr>
          <p:nvPr>
            <p:ph type="title"/>
          </p:nvPr>
        </p:nvSpPr>
        <p:spPr/>
        <p:txBody>
          <a:bodyPr/>
          <a:lstStyle/>
          <a:p>
            <a:r>
              <a:rPr lang="en-IN" dirty="0"/>
              <a:t>Bastion Host Example</a:t>
            </a:r>
          </a:p>
        </p:txBody>
      </p:sp>
      <p:sp>
        <p:nvSpPr>
          <p:cNvPr id="3" name="Content Placeholder 2">
            <a:extLst>
              <a:ext uri="{FF2B5EF4-FFF2-40B4-BE49-F238E27FC236}">
                <a16:creationId xmlns:a16="http://schemas.microsoft.com/office/drawing/2014/main" id="{F3E60E8B-2134-6C70-F6D6-DEAB8A733027}"/>
              </a:ext>
            </a:extLst>
          </p:cNvPr>
          <p:cNvSpPr>
            <a:spLocks noGrp="1"/>
          </p:cNvSpPr>
          <p:nvPr>
            <p:ph idx="1"/>
          </p:nvPr>
        </p:nvSpPr>
        <p:spPr/>
        <p:txBody>
          <a:bodyPr/>
          <a:lstStyle/>
          <a:p>
            <a:endParaRPr lang="en-IN"/>
          </a:p>
        </p:txBody>
      </p:sp>
      <p:pic>
        <p:nvPicPr>
          <p:cNvPr id="14338" name="Picture 2" descr="bastion server architecture">
            <a:extLst>
              <a:ext uri="{FF2B5EF4-FFF2-40B4-BE49-F238E27FC236}">
                <a16:creationId xmlns:a16="http://schemas.microsoft.com/office/drawing/2014/main" id="{BBC1B60F-B72D-7FF2-FFCA-542A371F31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0995" y="2003943"/>
            <a:ext cx="9217417" cy="4621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6319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7F54A-AFC0-5A8E-C7A8-2A5ECC88C30A}"/>
              </a:ext>
            </a:extLst>
          </p:cNvPr>
          <p:cNvSpPr>
            <a:spLocks noGrp="1"/>
          </p:cNvSpPr>
          <p:nvPr>
            <p:ph type="title"/>
          </p:nvPr>
        </p:nvSpPr>
        <p:spPr/>
        <p:txBody>
          <a:bodyPr/>
          <a:lstStyle/>
          <a:p>
            <a:r>
              <a:rPr lang="en-IN" dirty="0"/>
              <a:t>Bastion Host Example</a:t>
            </a:r>
          </a:p>
        </p:txBody>
      </p:sp>
      <p:sp>
        <p:nvSpPr>
          <p:cNvPr id="3" name="Content Placeholder 2">
            <a:extLst>
              <a:ext uri="{FF2B5EF4-FFF2-40B4-BE49-F238E27FC236}">
                <a16:creationId xmlns:a16="http://schemas.microsoft.com/office/drawing/2014/main" id="{C17C13A4-9E4F-AE2F-F599-72238E73077B}"/>
              </a:ext>
            </a:extLst>
          </p:cNvPr>
          <p:cNvSpPr>
            <a:spLocks noGrp="1"/>
          </p:cNvSpPr>
          <p:nvPr>
            <p:ph idx="1"/>
          </p:nvPr>
        </p:nvSpPr>
        <p:spPr/>
        <p:txBody>
          <a:bodyPr>
            <a:normAutofit fontScale="77500" lnSpcReduction="20000"/>
          </a:bodyPr>
          <a:lstStyle/>
          <a:p>
            <a:r>
              <a:rPr lang="en-US" dirty="0"/>
              <a:t>All isolated instances have only internal IP addresses in the VPC. </a:t>
            </a:r>
          </a:p>
          <a:p>
            <a:r>
              <a:rPr lang="en-US" dirty="0"/>
              <a:t>However, the Bastion host instance has an external IP address as well as an internal IP address. </a:t>
            </a:r>
          </a:p>
          <a:p>
            <a:r>
              <a:rPr lang="en-US" dirty="0"/>
              <a:t>If we need to access instances on the internal network that do not have an external IP address, we can connect to the Bastion host and then connect to our internal instances from that Bastion host. </a:t>
            </a:r>
          </a:p>
          <a:p>
            <a:r>
              <a:rPr lang="en-US" dirty="0"/>
              <a:t>This method uses a two-step SSH connection. </a:t>
            </a:r>
          </a:p>
          <a:p>
            <a:r>
              <a:rPr lang="en-US" dirty="0"/>
              <a:t>Since the Bastion host uses a two-step SSH connection, it allows us to connect to the development environment without external IPs and additional firewall rules. </a:t>
            </a:r>
          </a:p>
          <a:p>
            <a:r>
              <a:rPr lang="en-US" dirty="0"/>
              <a:t>When using a bastion host, we log into the bastion host first, and then into our target private instance. </a:t>
            </a:r>
          </a:p>
          <a:p>
            <a:r>
              <a:rPr lang="en-US" dirty="0"/>
              <a:t>Because of this two-step login, the bastion hosts are sometimes called "jump servers."</a:t>
            </a:r>
          </a:p>
          <a:p>
            <a:r>
              <a:rPr lang="en-US" dirty="0"/>
              <a:t>The Bastion host can be started and stopped to enable or disable inbound SSH communication from the Internet.</a:t>
            </a:r>
            <a:endParaRPr lang="en-IN" dirty="0"/>
          </a:p>
        </p:txBody>
      </p:sp>
    </p:spTree>
    <p:extLst>
      <p:ext uri="{BB962C8B-B14F-4D97-AF65-F5344CB8AC3E}">
        <p14:creationId xmlns:p14="http://schemas.microsoft.com/office/powerpoint/2010/main" val="2165355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11246-6A46-A1BF-39C5-8A8BD85779CA}"/>
              </a:ext>
            </a:extLst>
          </p:cNvPr>
          <p:cNvSpPr>
            <a:spLocks noGrp="1"/>
          </p:cNvSpPr>
          <p:nvPr>
            <p:ph type="title"/>
          </p:nvPr>
        </p:nvSpPr>
        <p:spPr/>
        <p:txBody>
          <a:bodyPr/>
          <a:lstStyle/>
          <a:p>
            <a:r>
              <a:rPr lang="en-IN" dirty="0"/>
              <a:t>Screened Host Firewall</a:t>
            </a:r>
          </a:p>
        </p:txBody>
      </p:sp>
      <p:sp>
        <p:nvSpPr>
          <p:cNvPr id="3" name="Content Placeholder 2">
            <a:extLst>
              <a:ext uri="{FF2B5EF4-FFF2-40B4-BE49-F238E27FC236}">
                <a16:creationId xmlns:a16="http://schemas.microsoft.com/office/drawing/2014/main" id="{FFFC9CD8-73A7-C631-1867-16F4434B5D86}"/>
              </a:ext>
            </a:extLst>
          </p:cNvPr>
          <p:cNvSpPr>
            <a:spLocks noGrp="1"/>
          </p:cNvSpPr>
          <p:nvPr>
            <p:ph idx="1"/>
          </p:nvPr>
        </p:nvSpPr>
        <p:spPr/>
        <p:txBody>
          <a:bodyPr>
            <a:normAutofit/>
          </a:bodyPr>
          <a:lstStyle/>
          <a:p>
            <a:r>
              <a:rPr lang="en-US" dirty="0"/>
              <a:t>There are two types of </a:t>
            </a:r>
            <a:r>
              <a:rPr lang="en-US" b="1" dirty="0"/>
              <a:t>screened host </a:t>
            </a:r>
            <a:r>
              <a:rPr lang="en-US" dirty="0"/>
              <a:t>firewalls</a:t>
            </a:r>
          </a:p>
          <a:p>
            <a:pPr lvl="1"/>
            <a:r>
              <a:rPr lang="en-US" dirty="0"/>
              <a:t>Single homed bastion host</a:t>
            </a:r>
          </a:p>
          <a:p>
            <a:pPr lvl="1"/>
            <a:r>
              <a:rPr lang="en-US" dirty="0"/>
              <a:t>Dual homed bastion host</a:t>
            </a:r>
          </a:p>
          <a:p>
            <a:r>
              <a:rPr lang="en-US" b="1" dirty="0"/>
              <a:t>Single homed bastion host</a:t>
            </a:r>
            <a:r>
              <a:rPr lang="en-US" dirty="0"/>
              <a:t>: This has a (a) packet filtering router and (b) a bastion host. </a:t>
            </a:r>
          </a:p>
          <a:p>
            <a:r>
              <a:rPr lang="en-US" b="1" dirty="0"/>
              <a:t>Dual homed bastion host</a:t>
            </a:r>
            <a:r>
              <a:rPr lang="en-US" dirty="0"/>
              <a:t>:</a:t>
            </a:r>
            <a:r>
              <a:rPr lang="en-US" b="1" dirty="0"/>
              <a:t> </a:t>
            </a:r>
            <a:r>
              <a:rPr lang="en-US" dirty="0"/>
              <a:t>Here, a bastion host has two network cards: one is used for internal connection and the second one is used for connection with the router.</a:t>
            </a:r>
          </a:p>
        </p:txBody>
      </p:sp>
    </p:spTree>
    <p:extLst>
      <p:ext uri="{BB962C8B-B14F-4D97-AF65-F5344CB8AC3E}">
        <p14:creationId xmlns:p14="http://schemas.microsoft.com/office/powerpoint/2010/main" val="4245573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11246-6A46-A1BF-39C5-8A8BD85779CA}"/>
              </a:ext>
            </a:extLst>
          </p:cNvPr>
          <p:cNvSpPr>
            <a:spLocks noGrp="1"/>
          </p:cNvSpPr>
          <p:nvPr>
            <p:ph type="title"/>
          </p:nvPr>
        </p:nvSpPr>
        <p:spPr/>
        <p:txBody>
          <a:bodyPr/>
          <a:lstStyle/>
          <a:p>
            <a:r>
              <a:rPr lang="en-IN" dirty="0"/>
              <a:t>Screened Host Firewall - Single Homed Bastion Host</a:t>
            </a:r>
          </a:p>
        </p:txBody>
      </p:sp>
      <p:sp>
        <p:nvSpPr>
          <p:cNvPr id="3" name="Content Placeholder 2">
            <a:extLst>
              <a:ext uri="{FF2B5EF4-FFF2-40B4-BE49-F238E27FC236}">
                <a16:creationId xmlns:a16="http://schemas.microsoft.com/office/drawing/2014/main" id="{FFFC9CD8-73A7-C631-1867-16F4434B5D86}"/>
              </a:ext>
            </a:extLst>
          </p:cNvPr>
          <p:cNvSpPr>
            <a:spLocks noGrp="1"/>
          </p:cNvSpPr>
          <p:nvPr>
            <p:ph sz="half" idx="1"/>
          </p:nvPr>
        </p:nvSpPr>
        <p:spPr/>
        <p:txBody>
          <a:bodyPr>
            <a:normAutofit/>
          </a:bodyPr>
          <a:lstStyle/>
          <a:p>
            <a:r>
              <a:rPr lang="en-US" dirty="0"/>
              <a:t>This has a (a) packet filtering router and (b) a bastion host.</a:t>
            </a:r>
          </a:p>
          <a:p>
            <a:r>
              <a:rPr lang="en-US" dirty="0"/>
              <a:t>Traffic from the Internet can only reach the bastion host; it cannot reach the internal network.</a:t>
            </a:r>
          </a:p>
          <a:p>
            <a:r>
              <a:rPr lang="en-US" dirty="0"/>
              <a:t>Outgoing traffic having the IP address of the bastion host can only go to the Internet. </a:t>
            </a:r>
          </a:p>
          <a:p>
            <a:r>
              <a:rPr lang="en-US" dirty="0"/>
              <a:t>No traffic from the internal network can go to the Internet.</a:t>
            </a:r>
          </a:p>
          <a:p>
            <a:endParaRPr lang="en-US" dirty="0"/>
          </a:p>
        </p:txBody>
      </p:sp>
      <p:sp>
        <p:nvSpPr>
          <p:cNvPr id="4" name="Content Placeholder 3">
            <a:extLst>
              <a:ext uri="{FF2B5EF4-FFF2-40B4-BE49-F238E27FC236}">
                <a16:creationId xmlns:a16="http://schemas.microsoft.com/office/drawing/2014/main" id="{4A107965-C1CA-E7FC-1C93-115CA3AEA846}"/>
              </a:ext>
            </a:extLst>
          </p:cNvPr>
          <p:cNvSpPr>
            <a:spLocks noGrp="1"/>
          </p:cNvSpPr>
          <p:nvPr>
            <p:ph sz="half" idx="2"/>
          </p:nvPr>
        </p:nvSpPr>
        <p:spPr/>
        <p:txBody>
          <a:bodyPr/>
          <a:lstStyle/>
          <a:p>
            <a:endParaRPr lang="en-IN"/>
          </a:p>
        </p:txBody>
      </p:sp>
      <p:pic>
        <p:nvPicPr>
          <p:cNvPr id="15362" name="Picture 2" descr="screened host firewall">
            <a:extLst>
              <a:ext uri="{FF2B5EF4-FFF2-40B4-BE49-F238E27FC236}">
                <a16:creationId xmlns:a16="http://schemas.microsoft.com/office/drawing/2014/main" id="{529FD26D-E68B-D351-016E-212C366D51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90688"/>
            <a:ext cx="5343525" cy="4410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4161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B7F6CE-9BAE-E7E3-95A1-90D42B229336}"/>
              </a:ext>
            </a:extLst>
          </p:cNvPr>
          <p:cNvSpPr>
            <a:spLocks noGrp="1"/>
          </p:cNvSpPr>
          <p:nvPr>
            <p:ph type="title"/>
          </p:nvPr>
        </p:nvSpPr>
        <p:spPr/>
        <p:txBody>
          <a:bodyPr/>
          <a:lstStyle/>
          <a:p>
            <a:r>
              <a:rPr lang="en-IN" dirty="0"/>
              <a:t>Screened Host Firewall - Single Homed Bastion Host</a:t>
            </a:r>
          </a:p>
        </p:txBody>
      </p:sp>
      <p:sp>
        <p:nvSpPr>
          <p:cNvPr id="6" name="Content Placeholder 5">
            <a:extLst>
              <a:ext uri="{FF2B5EF4-FFF2-40B4-BE49-F238E27FC236}">
                <a16:creationId xmlns:a16="http://schemas.microsoft.com/office/drawing/2014/main" id="{A1DD5B5C-901B-6A28-C953-43AE5489DBE9}"/>
              </a:ext>
            </a:extLst>
          </p:cNvPr>
          <p:cNvSpPr>
            <a:spLocks noGrp="1"/>
          </p:cNvSpPr>
          <p:nvPr>
            <p:ph idx="1"/>
          </p:nvPr>
        </p:nvSpPr>
        <p:spPr/>
        <p:txBody>
          <a:bodyPr/>
          <a:lstStyle/>
          <a:p>
            <a:r>
              <a:rPr lang="en-US" dirty="0"/>
              <a:t>This type of configuration can have a web server placed in between the router and the bastion host in order to allow the public to access the server from the Internet. </a:t>
            </a:r>
          </a:p>
          <a:p>
            <a:r>
              <a:rPr lang="en-US" dirty="0"/>
              <a:t>The main problem with the single homed bastion host is that if the packet filter router gets compromised then the entire network will be compromised. </a:t>
            </a:r>
            <a:endParaRPr lang="en-IN" dirty="0"/>
          </a:p>
        </p:txBody>
      </p:sp>
    </p:spTree>
    <p:extLst>
      <p:ext uri="{BB962C8B-B14F-4D97-AF65-F5344CB8AC3E}">
        <p14:creationId xmlns:p14="http://schemas.microsoft.com/office/powerpoint/2010/main" val="1207547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11246-6A46-A1BF-39C5-8A8BD85779CA}"/>
              </a:ext>
            </a:extLst>
          </p:cNvPr>
          <p:cNvSpPr>
            <a:spLocks noGrp="1"/>
          </p:cNvSpPr>
          <p:nvPr>
            <p:ph type="title"/>
          </p:nvPr>
        </p:nvSpPr>
        <p:spPr/>
        <p:txBody>
          <a:bodyPr/>
          <a:lstStyle/>
          <a:p>
            <a:r>
              <a:rPr lang="en-IN" dirty="0"/>
              <a:t>Screened Host Firewall - Dual Homed Bastion Host</a:t>
            </a:r>
          </a:p>
        </p:txBody>
      </p:sp>
      <p:sp>
        <p:nvSpPr>
          <p:cNvPr id="3" name="Content Placeholder 2">
            <a:extLst>
              <a:ext uri="{FF2B5EF4-FFF2-40B4-BE49-F238E27FC236}">
                <a16:creationId xmlns:a16="http://schemas.microsoft.com/office/drawing/2014/main" id="{FFFC9CD8-73A7-C631-1867-16F4434B5D86}"/>
              </a:ext>
            </a:extLst>
          </p:cNvPr>
          <p:cNvSpPr>
            <a:spLocks noGrp="1"/>
          </p:cNvSpPr>
          <p:nvPr>
            <p:ph sz="half" idx="1"/>
          </p:nvPr>
        </p:nvSpPr>
        <p:spPr/>
        <p:txBody>
          <a:bodyPr>
            <a:normAutofit lnSpcReduction="10000"/>
          </a:bodyPr>
          <a:lstStyle/>
          <a:p>
            <a:r>
              <a:rPr lang="en-US" dirty="0"/>
              <a:t>In the </a:t>
            </a:r>
            <a:r>
              <a:rPr lang="en-US" b="1" dirty="0"/>
              <a:t>dual homed bastion host </a:t>
            </a:r>
            <a:r>
              <a:rPr lang="en-US" dirty="0"/>
              <a:t>firewall system, the bastion host has two network cards: one is used for internal connection and the other is used for connection with the router. </a:t>
            </a:r>
          </a:p>
          <a:p>
            <a:r>
              <a:rPr lang="en-US" dirty="0"/>
              <a:t>In this case, even if, the router got compromised, the internal network will remain unaffected since it is in a separate network zone.</a:t>
            </a:r>
          </a:p>
        </p:txBody>
      </p:sp>
      <p:sp>
        <p:nvSpPr>
          <p:cNvPr id="4" name="Content Placeholder 3">
            <a:extLst>
              <a:ext uri="{FF2B5EF4-FFF2-40B4-BE49-F238E27FC236}">
                <a16:creationId xmlns:a16="http://schemas.microsoft.com/office/drawing/2014/main" id="{4A107965-C1CA-E7FC-1C93-115CA3AEA846}"/>
              </a:ext>
            </a:extLst>
          </p:cNvPr>
          <p:cNvSpPr>
            <a:spLocks noGrp="1"/>
          </p:cNvSpPr>
          <p:nvPr>
            <p:ph sz="half" idx="2"/>
          </p:nvPr>
        </p:nvSpPr>
        <p:spPr/>
        <p:txBody>
          <a:bodyPr>
            <a:normAutofit lnSpcReduction="10000"/>
          </a:bodyPr>
          <a:lstStyle/>
          <a:p>
            <a:endParaRPr lang="en-IN"/>
          </a:p>
        </p:txBody>
      </p:sp>
      <p:pic>
        <p:nvPicPr>
          <p:cNvPr id="16386" name="Picture 2" descr="dual homed bastion host">
            <a:extLst>
              <a:ext uri="{FF2B5EF4-FFF2-40B4-BE49-F238E27FC236}">
                <a16:creationId xmlns:a16="http://schemas.microsoft.com/office/drawing/2014/main" id="{F3FA2DCC-E7C5-2A87-F0E9-53777304AA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1491572"/>
            <a:ext cx="5362575" cy="455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205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42A33C-6395-84EA-9174-BE37D347E2E9}"/>
              </a:ext>
            </a:extLst>
          </p:cNvPr>
          <p:cNvSpPr>
            <a:spLocks noGrp="1"/>
          </p:cNvSpPr>
          <p:nvPr>
            <p:ph type="title"/>
          </p:nvPr>
        </p:nvSpPr>
        <p:spPr/>
        <p:txBody>
          <a:bodyPr/>
          <a:lstStyle/>
          <a:p>
            <a:r>
              <a:rPr lang="en-IN" dirty="0"/>
              <a:t>Honeypot</a:t>
            </a:r>
          </a:p>
        </p:txBody>
      </p:sp>
      <p:sp>
        <p:nvSpPr>
          <p:cNvPr id="6" name="Content Placeholder 5">
            <a:extLst>
              <a:ext uri="{FF2B5EF4-FFF2-40B4-BE49-F238E27FC236}">
                <a16:creationId xmlns:a16="http://schemas.microsoft.com/office/drawing/2014/main" id="{3B900A2B-C165-478A-87F0-16884DCBD5BB}"/>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265B6A1A-E008-88C3-49F2-D855F1E070CC}"/>
              </a:ext>
            </a:extLst>
          </p:cNvPr>
          <p:cNvPicPr>
            <a:picLocks noChangeAspect="1"/>
          </p:cNvPicPr>
          <p:nvPr/>
        </p:nvPicPr>
        <p:blipFill>
          <a:blip r:embed="rId2"/>
          <a:stretch>
            <a:fillRect/>
          </a:stretch>
        </p:blipFill>
        <p:spPr>
          <a:xfrm>
            <a:off x="1959739" y="1388755"/>
            <a:ext cx="8272521" cy="4706014"/>
          </a:xfrm>
          <a:prstGeom prst="rect">
            <a:avLst/>
          </a:prstGeom>
        </p:spPr>
      </p:pic>
    </p:spTree>
    <p:extLst>
      <p:ext uri="{BB962C8B-B14F-4D97-AF65-F5344CB8AC3E}">
        <p14:creationId xmlns:p14="http://schemas.microsoft.com/office/powerpoint/2010/main" val="413399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77A7E4B-EB47-086B-9636-9EA69DAF136C}"/>
              </a:ext>
            </a:extLst>
          </p:cNvPr>
          <p:cNvSpPr>
            <a:spLocks noGrp="1"/>
          </p:cNvSpPr>
          <p:nvPr>
            <p:ph type="title"/>
          </p:nvPr>
        </p:nvSpPr>
        <p:spPr/>
        <p:txBody>
          <a:bodyPr/>
          <a:lstStyle/>
          <a:p>
            <a:r>
              <a:rPr lang="en-IN" dirty="0"/>
              <a:t>NextGen Firewall</a:t>
            </a:r>
          </a:p>
        </p:txBody>
      </p:sp>
      <p:sp>
        <p:nvSpPr>
          <p:cNvPr id="8" name="Text Placeholder 7">
            <a:extLst>
              <a:ext uri="{FF2B5EF4-FFF2-40B4-BE49-F238E27FC236}">
                <a16:creationId xmlns:a16="http://schemas.microsoft.com/office/drawing/2014/main" id="{40D23E35-72D5-57B4-E0F6-307E688CEBF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206270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913BCA4-BA0D-6A85-2EAE-A0EAE4DA1944}"/>
              </a:ext>
            </a:extLst>
          </p:cNvPr>
          <p:cNvSpPr>
            <a:spLocks noGrp="1"/>
          </p:cNvSpPr>
          <p:nvPr>
            <p:ph type="title"/>
          </p:nvPr>
        </p:nvSpPr>
        <p:spPr/>
        <p:txBody>
          <a:bodyPr/>
          <a:lstStyle/>
          <a:p>
            <a:r>
              <a:rPr lang="en-IN" dirty="0"/>
              <a:t>NextGen Firewall</a:t>
            </a:r>
          </a:p>
        </p:txBody>
      </p:sp>
      <p:sp>
        <p:nvSpPr>
          <p:cNvPr id="6" name="Content Placeholder 5">
            <a:extLst>
              <a:ext uri="{FF2B5EF4-FFF2-40B4-BE49-F238E27FC236}">
                <a16:creationId xmlns:a16="http://schemas.microsoft.com/office/drawing/2014/main" id="{C043425F-4521-8903-5319-6731A051DE81}"/>
              </a:ext>
            </a:extLst>
          </p:cNvPr>
          <p:cNvSpPr>
            <a:spLocks noGrp="1"/>
          </p:cNvSpPr>
          <p:nvPr>
            <p:ph idx="1"/>
          </p:nvPr>
        </p:nvSpPr>
        <p:spPr/>
        <p:txBody>
          <a:bodyPr/>
          <a:lstStyle/>
          <a:p>
            <a:r>
              <a:rPr lang="en-US" dirty="0"/>
              <a:t>A </a:t>
            </a:r>
            <a:r>
              <a:rPr lang="en-US" b="1" dirty="0"/>
              <a:t>Next-Generation firewall (NGFW)</a:t>
            </a:r>
            <a:r>
              <a:rPr lang="en-US" dirty="0"/>
              <a:t> is a firewall designed to protect against the modern cyber threats that companies face. </a:t>
            </a:r>
          </a:p>
          <a:p>
            <a:r>
              <a:rPr lang="en-US" dirty="0"/>
              <a:t>An NGFW operates at the application layer of the TCP/IP stack to apply intrusion prevention system (IPS), anti-malware, sandboxing and other protections. </a:t>
            </a:r>
          </a:p>
          <a:p>
            <a:r>
              <a:rPr lang="en-US" dirty="0"/>
              <a:t>These functions allow an NGFW to identify and block advanced threats.</a:t>
            </a:r>
            <a:endParaRPr lang="en-IN" dirty="0"/>
          </a:p>
        </p:txBody>
      </p:sp>
    </p:spTree>
    <p:extLst>
      <p:ext uri="{BB962C8B-B14F-4D97-AF65-F5344CB8AC3E}">
        <p14:creationId xmlns:p14="http://schemas.microsoft.com/office/powerpoint/2010/main" val="2590209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987D19-B0E1-11C8-934A-16C66D2CFFBB}"/>
              </a:ext>
            </a:extLst>
          </p:cNvPr>
          <p:cNvSpPr>
            <a:spLocks noGrp="1"/>
          </p:cNvSpPr>
          <p:nvPr>
            <p:ph type="title"/>
          </p:nvPr>
        </p:nvSpPr>
        <p:spPr/>
        <p:txBody>
          <a:bodyPr/>
          <a:lstStyle/>
          <a:p>
            <a:r>
              <a:rPr lang="en-IN" dirty="0"/>
              <a:t>Hands-on with CISCO ASA</a:t>
            </a:r>
          </a:p>
        </p:txBody>
      </p:sp>
      <p:sp>
        <p:nvSpPr>
          <p:cNvPr id="5" name="Text Placeholder 4">
            <a:extLst>
              <a:ext uri="{FF2B5EF4-FFF2-40B4-BE49-F238E27FC236}">
                <a16:creationId xmlns:a16="http://schemas.microsoft.com/office/drawing/2014/main" id="{B545D95B-F936-6D55-74A2-0D9991CC8D5A}"/>
              </a:ext>
            </a:extLst>
          </p:cNvPr>
          <p:cNvSpPr>
            <a:spLocks noGrp="1"/>
          </p:cNvSpPr>
          <p:nvPr>
            <p:ph type="body" idx="1"/>
          </p:nvPr>
        </p:nvSpPr>
        <p:spPr/>
        <p:txBody>
          <a:bodyPr/>
          <a:lstStyle/>
          <a:p>
            <a:r>
              <a:rPr lang="en-IN" dirty="0">
                <a:solidFill>
                  <a:schemeClr val="bg1"/>
                </a:solidFill>
              </a:rPr>
              <a:t>https://www.youtube.com/watch?v=jOYvI6aBVE8</a:t>
            </a:r>
          </a:p>
        </p:txBody>
      </p:sp>
    </p:spTree>
    <p:extLst>
      <p:ext uri="{BB962C8B-B14F-4D97-AF65-F5344CB8AC3E}">
        <p14:creationId xmlns:p14="http://schemas.microsoft.com/office/powerpoint/2010/main" val="1997568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38A68-13F1-EEBF-8FEE-59FC9D819BD5}"/>
              </a:ext>
            </a:extLst>
          </p:cNvPr>
          <p:cNvSpPr>
            <a:spLocks noGrp="1"/>
          </p:cNvSpPr>
          <p:nvPr>
            <p:ph type="title"/>
          </p:nvPr>
        </p:nvSpPr>
        <p:spPr/>
        <p:txBody>
          <a:bodyPr/>
          <a:lstStyle/>
          <a:p>
            <a:r>
              <a:rPr lang="en-IN" dirty="0"/>
              <a:t>Cisco ASA</a:t>
            </a:r>
          </a:p>
        </p:txBody>
      </p:sp>
      <p:sp>
        <p:nvSpPr>
          <p:cNvPr id="3" name="Content Placeholder 2">
            <a:extLst>
              <a:ext uri="{FF2B5EF4-FFF2-40B4-BE49-F238E27FC236}">
                <a16:creationId xmlns:a16="http://schemas.microsoft.com/office/drawing/2014/main" id="{CE381166-7D44-C5EE-55B5-C665AF390299}"/>
              </a:ext>
            </a:extLst>
          </p:cNvPr>
          <p:cNvSpPr>
            <a:spLocks noGrp="1"/>
          </p:cNvSpPr>
          <p:nvPr>
            <p:ph idx="1"/>
          </p:nvPr>
        </p:nvSpPr>
        <p:spPr/>
        <p:txBody>
          <a:bodyPr/>
          <a:lstStyle/>
          <a:p>
            <a:r>
              <a:rPr lang="en-IN" b="1" dirty="0"/>
              <a:t>Adaptive Security Appliance (ASA)</a:t>
            </a:r>
            <a:r>
              <a:rPr lang="en-IN" dirty="0"/>
              <a:t> is a security device that combines firewall, antivirus, intrusion prevention, and VPN capabilities</a:t>
            </a:r>
          </a:p>
          <a:p>
            <a:r>
              <a:rPr lang="en-IN" dirty="0"/>
              <a:t>Now all Cisco firewall products are sold under the brand </a:t>
            </a:r>
            <a:r>
              <a:rPr lang="en-IN" b="1" dirty="0"/>
              <a:t>Cisco Firepower</a:t>
            </a:r>
            <a:r>
              <a:rPr lang="en-IN" dirty="0"/>
              <a:t>, because Cisco had acquired a security product company called Sourcefire in 2013</a:t>
            </a:r>
          </a:p>
          <a:p>
            <a:endParaRPr lang="en-IN" dirty="0"/>
          </a:p>
          <a:p>
            <a:r>
              <a:rPr lang="en-IN" dirty="0"/>
              <a:t>Our example: </a:t>
            </a:r>
            <a:r>
              <a:rPr lang="fr-FR" dirty="0"/>
              <a:t>C:\lectures\CDAC\DITISS\NDC</a:t>
            </a:r>
            <a:r>
              <a:rPr lang="en-IN" dirty="0"/>
              <a:t>\Cisco ASA </a:t>
            </a:r>
            <a:r>
              <a:rPr lang="en-IN" dirty="0" err="1"/>
              <a:t>Example.pkt</a:t>
            </a:r>
            <a:endParaRPr lang="en-IN" dirty="0"/>
          </a:p>
        </p:txBody>
      </p:sp>
    </p:spTree>
    <p:extLst>
      <p:ext uri="{BB962C8B-B14F-4D97-AF65-F5344CB8AC3E}">
        <p14:creationId xmlns:p14="http://schemas.microsoft.com/office/powerpoint/2010/main" val="2132758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60485-F683-8250-DD13-B107E90AB869}"/>
              </a:ext>
            </a:extLst>
          </p:cNvPr>
          <p:cNvSpPr>
            <a:spLocks noGrp="1"/>
          </p:cNvSpPr>
          <p:nvPr>
            <p:ph type="title"/>
          </p:nvPr>
        </p:nvSpPr>
        <p:spPr/>
        <p:txBody>
          <a:bodyPr/>
          <a:lstStyle/>
          <a:p>
            <a:r>
              <a:rPr lang="en-IN" dirty="0"/>
              <a:t>Zone Concept</a:t>
            </a:r>
          </a:p>
        </p:txBody>
      </p:sp>
      <p:sp>
        <p:nvSpPr>
          <p:cNvPr id="3" name="Content Placeholder 2">
            <a:extLst>
              <a:ext uri="{FF2B5EF4-FFF2-40B4-BE49-F238E27FC236}">
                <a16:creationId xmlns:a16="http://schemas.microsoft.com/office/drawing/2014/main" id="{E8A44080-B352-0B5A-8009-A42C160FFA8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09A6721-BD94-01BD-ECF5-C61E21C1ACCD}"/>
              </a:ext>
            </a:extLst>
          </p:cNvPr>
          <p:cNvPicPr>
            <a:picLocks noChangeAspect="1"/>
          </p:cNvPicPr>
          <p:nvPr/>
        </p:nvPicPr>
        <p:blipFill>
          <a:blip r:embed="rId2"/>
          <a:stretch>
            <a:fillRect/>
          </a:stretch>
        </p:blipFill>
        <p:spPr>
          <a:xfrm>
            <a:off x="1049174" y="2503629"/>
            <a:ext cx="9392798" cy="2263580"/>
          </a:xfrm>
          <a:prstGeom prst="rect">
            <a:avLst/>
          </a:prstGeom>
        </p:spPr>
      </p:pic>
    </p:spTree>
    <p:extLst>
      <p:ext uri="{BB962C8B-B14F-4D97-AF65-F5344CB8AC3E}">
        <p14:creationId xmlns:p14="http://schemas.microsoft.com/office/powerpoint/2010/main" val="3553239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270C3-827D-98D4-AA59-BB257CD43C9B}"/>
              </a:ext>
            </a:extLst>
          </p:cNvPr>
          <p:cNvSpPr>
            <a:spLocks noGrp="1"/>
          </p:cNvSpPr>
          <p:nvPr>
            <p:ph type="title"/>
          </p:nvPr>
        </p:nvSpPr>
        <p:spPr/>
        <p:txBody>
          <a:bodyPr/>
          <a:lstStyle/>
          <a:p>
            <a:r>
              <a:rPr lang="en-IN" dirty="0"/>
              <a:t>Zones and DMZ</a:t>
            </a:r>
          </a:p>
        </p:txBody>
      </p:sp>
      <p:sp>
        <p:nvSpPr>
          <p:cNvPr id="3" name="Content Placeholder 2">
            <a:extLst>
              <a:ext uri="{FF2B5EF4-FFF2-40B4-BE49-F238E27FC236}">
                <a16:creationId xmlns:a16="http://schemas.microsoft.com/office/drawing/2014/main" id="{E5BC11BA-96D0-291E-C56C-794B4A1CB97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D322043-470B-2354-3E95-22BA7EE3846B}"/>
              </a:ext>
            </a:extLst>
          </p:cNvPr>
          <p:cNvPicPr>
            <a:picLocks noChangeAspect="1"/>
          </p:cNvPicPr>
          <p:nvPr/>
        </p:nvPicPr>
        <p:blipFill>
          <a:blip r:embed="rId2"/>
          <a:stretch>
            <a:fillRect/>
          </a:stretch>
        </p:blipFill>
        <p:spPr>
          <a:xfrm>
            <a:off x="1958989" y="1987161"/>
            <a:ext cx="8274021" cy="3694448"/>
          </a:xfrm>
          <a:prstGeom prst="rect">
            <a:avLst/>
          </a:prstGeom>
        </p:spPr>
      </p:pic>
    </p:spTree>
    <p:extLst>
      <p:ext uri="{BB962C8B-B14F-4D97-AF65-F5344CB8AC3E}">
        <p14:creationId xmlns:p14="http://schemas.microsoft.com/office/powerpoint/2010/main" val="2259795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7A0EB-2049-48DC-8665-30501D74B292}"/>
              </a:ext>
            </a:extLst>
          </p:cNvPr>
          <p:cNvSpPr>
            <a:spLocks noGrp="1"/>
          </p:cNvSpPr>
          <p:nvPr>
            <p:ph type="title"/>
          </p:nvPr>
        </p:nvSpPr>
        <p:spPr/>
        <p:txBody>
          <a:bodyPr/>
          <a:lstStyle/>
          <a:p>
            <a:r>
              <a:rPr lang="en-IN" dirty="0"/>
              <a:t>Create the following Topology</a:t>
            </a:r>
          </a:p>
        </p:txBody>
      </p:sp>
      <p:sp>
        <p:nvSpPr>
          <p:cNvPr id="3" name="Content Placeholder 2">
            <a:extLst>
              <a:ext uri="{FF2B5EF4-FFF2-40B4-BE49-F238E27FC236}">
                <a16:creationId xmlns:a16="http://schemas.microsoft.com/office/drawing/2014/main" id="{F3DB9D77-F952-5F3B-3F33-EDF4A9362FE5}"/>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2FD5C492-BBC8-6BB8-06D8-2A67C20B2109}"/>
              </a:ext>
            </a:extLst>
          </p:cNvPr>
          <p:cNvPicPr>
            <a:picLocks noChangeAspect="1"/>
          </p:cNvPicPr>
          <p:nvPr/>
        </p:nvPicPr>
        <p:blipFill>
          <a:blip r:embed="rId2"/>
          <a:stretch>
            <a:fillRect/>
          </a:stretch>
        </p:blipFill>
        <p:spPr>
          <a:xfrm>
            <a:off x="2050746" y="1348608"/>
            <a:ext cx="8090507" cy="4828355"/>
          </a:xfrm>
          <a:prstGeom prst="rect">
            <a:avLst/>
          </a:prstGeom>
        </p:spPr>
      </p:pic>
    </p:spTree>
    <p:extLst>
      <p:ext uri="{BB962C8B-B14F-4D97-AF65-F5344CB8AC3E}">
        <p14:creationId xmlns:p14="http://schemas.microsoft.com/office/powerpoint/2010/main" val="8536140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8A3F4-783F-2534-1D21-21F4D4F9AE3B}"/>
              </a:ext>
            </a:extLst>
          </p:cNvPr>
          <p:cNvSpPr>
            <a:spLocks noGrp="1"/>
          </p:cNvSpPr>
          <p:nvPr>
            <p:ph type="title"/>
          </p:nvPr>
        </p:nvSpPr>
        <p:spPr/>
        <p:txBody>
          <a:bodyPr/>
          <a:lstStyle/>
          <a:p>
            <a:r>
              <a:rPr lang="en-IN" dirty="0"/>
              <a:t>Basic steps in </a:t>
            </a:r>
            <a:r>
              <a:rPr lang="en-IN" dirty="0" err="1"/>
              <a:t>asa</a:t>
            </a:r>
            <a:r>
              <a:rPr lang="en-IN" dirty="0"/>
              <a:t> firewall</a:t>
            </a:r>
          </a:p>
        </p:txBody>
      </p:sp>
      <p:sp>
        <p:nvSpPr>
          <p:cNvPr id="3" name="Content Placeholder 2">
            <a:extLst>
              <a:ext uri="{FF2B5EF4-FFF2-40B4-BE49-F238E27FC236}">
                <a16:creationId xmlns:a16="http://schemas.microsoft.com/office/drawing/2014/main" id="{0952FFE9-28AB-E6BE-9B25-86B5997CF263}"/>
              </a:ext>
            </a:extLst>
          </p:cNvPr>
          <p:cNvSpPr>
            <a:spLocks noGrp="1"/>
          </p:cNvSpPr>
          <p:nvPr>
            <p:ph idx="1"/>
          </p:nvPr>
        </p:nvSpPr>
        <p:spPr/>
        <p:txBody>
          <a:bodyPr/>
          <a:lstStyle/>
          <a:p>
            <a:r>
              <a:rPr lang="en-US" b="1" dirty="0" err="1"/>
              <a:t>ciscoasa</a:t>
            </a:r>
            <a:r>
              <a:rPr lang="en-US" b="1" dirty="0"/>
              <a:t>&gt;</a:t>
            </a:r>
            <a:r>
              <a:rPr lang="en-US" b="1" dirty="0" err="1"/>
              <a:t>en</a:t>
            </a:r>
            <a:endParaRPr lang="en-US" b="1" dirty="0"/>
          </a:p>
          <a:p>
            <a:r>
              <a:rPr lang="en-US" b="1" dirty="0"/>
              <a:t>Password: </a:t>
            </a:r>
          </a:p>
          <a:p>
            <a:r>
              <a:rPr lang="en-US" b="1" dirty="0" err="1"/>
              <a:t>ciscoasa#config</a:t>
            </a:r>
            <a:r>
              <a:rPr lang="en-US" b="1" dirty="0"/>
              <a:t> t</a:t>
            </a:r>
          </a:p>
          <a:p>
            <a:r>
              <a:rPr lang="en-US" b="1" dirty="0" err="1"/>
              <a:t>ciscoasa</a:t>
            </a:r>
            <a:r>
              <a:rPr lang="en-US" b="1" dirty="0"/>
              <a:t>(config)#</a:t>
            </a:r>
          </a:p>
          <a:p>
            <a:r>
              <a:rPr lang="en-US" b="1" dirty="0" err="1"/>
              <a:t>ciscoasa</a:t>
            </a:r>
            <a:r>
              <a:rPr lang="en-US" b="1" dirty="0"/>
              <a:t>(config)#show running-config</a:t>
            </a:r>
          </a:p>
          <a:p>
            <a:endParaRPr lang="en-US" dirty="0"/>
          </a:p>
          <a:p>
            <a:r>
              <a:rPr lang="en-US" dirty="0"/>
              <a:t>It shows that some interfaces have been configured by default and there is a DHCP server also configured. Copy its address, so that we can remove the DHCP configuration.</a:t>
            </a:r>
            <a:endParaRPr lang="en-IN" dirty="0"/>
          </a:p>
        </p:txBody>
      </p:sp>
    </p:spTree>
    <p:extLst>
      <p:ext uri="{BB962C8B-B14F-4D97-AF65-F5344CB8AC3E}">
        <p14:creationId xmlns:p14="http://schemas.microsoft.com/office/powerpoint/2010/main" val="2538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8A3F4-783F-2534-1D21-21F4D4F9AE3B}"/>
              </a:ext>
            </a:extLst>
          </p:cNvPr>
          <p:cNvSpPr>
            <a:spLocks noGrp="1"/>
          </p:cNvSpPr>
          <p:nvPr>
            <p:ph type="title"/>
          </p:nvPr>
        </p:nvSpPr>
        <p:spPr/>
        <p:txBody>
          <a:bodyPr/>
          <a:lstStyle/>
          <a:p>
            <a:r>
              <a:rPr lang="en-IN" dirty="0"/>
              <a:t>Basic steps in </a:t>
            </a:r>
            <a:r>
              <a:rPr lang="en-IN" dirty="0" err="1"/>
              <a:t>asa</a:t>
            </a:r>
            <a:r>
              <a:rPr lang="en-IN" dirty="0"/>
              <a:t> firewall</a:t>
            </a:r>
          </a:p>
        </p:txBody>
      </p:sp>
      <p:sp>
        <p:nvSpPr>
          <p:cNvPr id="3" name="Content Placeholder 2">
            <a:extLst>
              <a:ext uri="{FF2B5EF4-FFF2-40B4-BE49-F238E27FC236}">
                <a16:creationId xmlns:a16="http://schemas.microsoft.com/office/drawing/2014/main" id="{0952FFE9-28AB-E6BE-9B25-86B5997CF263}"/>
              </a:ext>
            </a:extLst>
          </p:cNvPr>
          <p:cNvSpPr>
            <a:spLocks noGrp="1"/>
          </p:cNvSpPr>
          <p:nvPr>
            <p:ph idx="1"/>
          </p:nvPr>
        </p:nvSpPr>
        <p:spPr/>
        <p:txBody>
          <a:bodyPr/>
          <a:lstStyle/>
          <a:p>
            <a:r>
              <a:rPr lang="en-US" b="1" dirty="0" err="1"/>
              <a:t>ciscoasa#config</a:t>
            </a:r>
            <a:r>
              <a:rPr lang="en-US" b="1" dirty="0"/>
              <a:t> t</a:t>
            </a:r>
          </a:p>
          <a:p>
            <a:r>
              <a:rPr lang="en-US" b="1" dirty="0" err="1"/>
              <a:t>ciscoasa</a:t>
            </a:r>
            <a:r>
              <a:rPr lang="en-US" b="1" dirty="0"/>
              <a:t>(config)#no </a:t>
            </a:r>
            <a:r>
              <a:rPr lang="en-US" b="1" dirty="0" err="1"/>
              <a:t>dhcpd</a:t>
            </a:r>
            <a:r>
              <a:rPr lang="en-US" b="1" dirty="0"/>
              <a:t> address 192.168.1.5-192.168.1.36 inside</a:t>
            </a:r>
          </a:p>
          <a:p>
            <a:endParaRPr lang="en-US" dirty="0"/>
          </a:p>
          <a:p>
            <a:r>
              <a:rPr lang="en-US" dirty="0"/>
              <a:t>Remove the default DHCP configuration.</a:t>
            </a:r>
            <a:endParaRPr lang="en-IN" dirty="0"/>
          </a:p>
        </p:txBody>
      </p:sp>
    </p:spTree>
    <p:extLst>
      <p:ext uri="{BB962C8B-B14F-4D97-AF65-F5344CB8AC3E}">
        <p14:creationId xmlns:p14="http://schemas.microsoft.com/office/powerpoint/2010/main" val="29670026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17436-9C9F-9715-0C88-67ECB1CC3F0C}"/>
              </a:ext>
            </a:extLst>
          </p:cNvPr>
          <p:cNvSpPr>
            <a:spLocks noGrp="1"/>
          </p:cNvSpPr>
          <p:nvPr>
            <p:ph type="title"/>
          </p:nvPr>
        </p:nvSpPr>
        <p:spPr/>
        <p:txBody>
          <a:bodyPr/>
          <a:lstStyle/>
          <a:p>
            <a:r>
              <a:rPr lang="en-IN" dirty="0"/>
              <a:t>Create VLAN 1 and make interface e0/1 a part of it</a:t>
            </a:r>
          </a:p>
        </p:txBody>
      </p:sp>
      <p:sp>
        <p:nvSpPr>
          <p:cNvPr id="3" name="Content Placeholder 2">
            <a:extLst>
              <a:ext uri="{FF2B5EF4-FFF2-40B4-BE49-F238E27FC236}">
                <a16:creationId xmlns:a16="http://schemas.microsoft.com/office/drawing/2014/main" id="{1E976803-70CA-B02A-D1B5-9D3448BC3683}"/>
              </a:ext>
            </a:extLst>
          </p:cNvPr>
          <p:cNvSpPr>
            <a:spLocks noGrp="1"/>
          </p:cNvSpPr>
          <p:nvPr>
            <p:ph idx="1"/>
          </p:nvPr>
        </p:nvSpPr>
        <p:spPr/>
        <p:txBody>
          <a:bodyPr/>
          <a:lstStyle/>
          <a:p>
            <a:r>
              <a:rPr lang="en-IN" b="1" dirty="0" err="1"/>
              <a:t>ciscoasa</a:t>
            </a:r>
            <a:r>
              <a:rPr lang="en-IN" b="1" dirty="0"/>
              <a:t>(config)#int </a:t>
            </a:r>
            <a:r>
              <a:rPr lang="en-IN" b="1" dirty="0" err="1"/>
              <a:t>vlan</a:t>
            </a:r>
            <a:r>
              <a:rPr lang="en-IN" b="1" dirty="0"/>
              <a:t> 1</a:t>
            </a:r>
          </a:p>
          <a:p>
            <a:r>
              <a:rPr lang="en-IN" b="1" dirty="0" err="1"/>
              <a:t>ciscoasa</a:t>
            </a:r>
            <a:r>
              <a:rPr lang="en-IN" b="1" dirty="0"/>
              <a:t>(config-if)#ip add 10.1.1.1 255.0.0.0</a:t>
            </a:r>
          </a:p>
          <a:p>
            <a:r>
              <a:rPr lang="en-IN" b="1" dirty="0" err="1"/>
              <a:t>ciscoasa</a:t>
            </a:r>
            <a:r>
              <a:rPr lang="en-IN" b="1" dirty="0"/>
              <a:t>(config-if)#nameif inside</a:t>
            </a:r>
          </a:p>
          <a:p>
            <a:r>
              <a:rPr lang="en-IN" b="1" dirty="0" err="1"/>
              <a:t>ciscoasa</a:t>
            </a:r>
            <a:r>
              <a:rPr lang="en-IN" b="1" dirty="0"/>
              <a:t>(config-if)#security-level 100</a:t>
            </a:r>
          </a:p>
          <a:p>
            <a:endParaRPr lang="en-IN" b="1" dirty="0"/>
          </a:p>
          <a:p>
            <a:r>
              <a:rPr lang="en-IN" b="1" dirty="0" err="1"/>
              <a:t>ciscoasa</a:t>
            </a:r>
            <a:r>
              <a:rPr lang="en-IN" b="1" dirty="0"/>
              <a:t>(config-if)#exit</a:t>
            </a:r>
          </a:p>
          <a:p>
            <a:r>
              <a:rPr lang="en-IN" b="1" dirty="0" err="1"/>
              <a:t>ciscoasa</a:t>
            </a:r>
            <a:r>
              <a:rPr lang="en-IN" b="1" dirty="0"/>
              <a:t>(config)#int e0/1</a:t>
            </a:r>
          </a:p>
          <a:p>
            <a:r>
              <a:rPr lang="en-IN" b="1" dirty="0" err="1"/>
              <a:t>ciscoasa</a:t>
            </a:r>
            <a:r>
              <a:rPr lang="en-IN" b="1" dirty="0"/>
              <a:t>(config-if)#switchport access </a:t>
            </a:r>
            <a:r>
              <a:rPr lang="en-IN" b="1" dirty="0" err="1"/>
              <a:t>vlan</a:t>
            </a:r>
            <a:r>
              <a:rPr lang="en-IN" b="1" dirty="0"/>
              <a:t> 1</a:t>
            </a:r>
          </a:p>
          <a:p>
            <a:endParaRPr lang="en-IN" dirty="0"/>
          </a:p>
        </p:txBody>
      </p:sp>
      <p:sp>
        <p:nvSpPr>
          <p:cNvPr id="4" name="Callout: Line with Border and Accent Bar 3">
            <a:extLst>
              <a:ext uri="{FF2B5EF4-FFF2-40B4-BE49-F238E27FC236}">
                <a16:creationId xmlns:a16="http://schemas.microsoft.com/office/drawing/2014/main" id="{EF860386-141B-E77F-6E3B-041184C07E2D}"/>
              </a:ext>
            </a:extLst>
          </p:cNvPr>
          <p:cNvSpPr/>
          <p:nvPr/>
        </p:nvSpPr>
        <p:spPr>
          <a:xfrm>
            <a:off x="7736441" y="2922997"/>
            <a:ext cx="2702103" cy="606176"/>
          </a:xfrm>
          <a:prstGeom prst="accen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100 = Trust level is the highest for LAN</a:t>
            </a:r>
          </a:p>
        </p:txBody>
      </p:sp>
    </p:spTree>
    <p:extLst>
      <p:ext uri="{BB962C8B-B14F-4D97-AF65-F5344CB8AC3E}">
        <p14:creationId xmlns:p14="http://schemas.microsoft.com/office/powerpoint/2010/main" val="23410131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17436-9C9F-9715-0C88-67ECB1CC3F0C}"/>
              </a:ext>
            </a:extLst>
          </p:cNvPr>
          <p:cNvSpPr>
            <a:spLocks noGrp="1"/>
          </p:cNvSpPr>
          <p:nvPr>
            <p:ph type="title"/>
          </p:nvPr>
        </p:nvSpPr>
        <p:spPr/>
        <p:txBody>
          <a:bodyPr/>
          <a:lstStyle/>
          <a:p>
            <a:r>
              <a:rPr lang="en-IN" dirty="0"/>
              <a:t>Create VLAN 2 and make interface e0/0 a part of it</a:t>
            </a:r>
          </a:p>
        </p:txBody>
      </p:sp>
      <p:sp>
        <p:nvSpPr>
          <p:cNvPr id="3" name="Content Placeholder 2">
            <a:extLst>
              <a:ext uri="{FF2B5EF4-FFF2-40B4-BE49-F238E27FC236}">
                <a16:creationId xmlns:a16="http://schemas.microsoft.com/office/drawing/2014/main" id="{1E976803-70CA-B02A-D1B5-9D3448BC3683}"/>
              </a:ext>
            </a:extLst>
          </p:cNvPr>
          <p:cNvSpPr>
            <a:spLocks noGrp="1"/>
          </p:cNvSpPr>
          <p:nvPr>
            <p:ph idx="1"/>
          </p:nvPr>
        </p:nvSpPr>
        <p:spPr/>
        <p:txBody>
          <a:bodyPr>
            <a:normAutofit fontScale="92500" lnSpcReduction="20000"/>
          </a:bodyPr>
          <a:lstStyle/>
          <a:p>
            <a:r>
              <a:rPr lang="en-IN" b="1" dirty="0" err="1"/>
              <a:t>ciscoasa</a:t>
            </a:r>
            <a:r>
              <a:rPr lang="en-IN" b="1" dirty="0"/>
              <a:t>(config)#int </a:t>
            </a:r>
            <a:r>
              <a:rPr lang="en-IN" b="1" dirty="0" err="1"/>
              <a:t>vlan</a:t>
            </a:r>
            <a:r>
              <a:rPr lang="en-IN" b="1" dirty="0"/>
              <a:t> 2</a:t>
            </a:r>
          </a:p>
          <a:p>
            <a:r>
              <a:rPr lang="en-IN" b="1" dirty="0" err="1"/>
              <a:t>ciscoasa</a:t>
            </a:r>
            <a:r>
              <a:rPr lang="en-IN" b="1" dirty="0"/>
              <a:t>(config-if)#ip add 50.1.1.2 255.0.0.0</a:t>
            </a:r>
          </a:p>
          <a:p>
            <a:r>
              <a:rPr lang="en-IN" b="1" dirty="0" err="1"/>
              <a:t>ciscoasa</a:t>
            </a:r>
            <a:r>
              <a:rPr lang="en-IN" b="1" dirty="0"/>
              <a:t>(config-if)#no shutdown</a:t>
            </a:r>
          </a:p>
          <a:p>
            <a:r>
              <a:rPr lang="en-IN" b="1" dirty="0" err="1"/>
              <a:t>ciscoasa</a:t>
            </a:r>
            <a:r>
              <a:rPr lang="en-IN" b="1" dirty="0"/>
              <a:t>(config-if)#nameif outside</a:t>
            </a:r>
          </a:p>
          <a:p>
            <a:r>
              <a:rPr lang="en-IN" b="1" dirty="0" err="1"/>
              <a:t>ciscoasa</a:t>
            </a:r>
            <a:r>
              <a:rPr lang="en-IN" b="1" dirty="0"/>
              <a:t>(config-if)#security-level 0</a:t>
            </a:r>
          </a:p>
          <a:p>
            <a:endParaRPr lang="en-IN" b="1" dirty="0"/>
          </a:p>
          <a:p>
            <a:r>
              <a:rPr lang="en-IN" b="1" dirty="0"/>
              <a:t>Make the interface E0/0 a part of </a:t>
            </a:r>
            <a:r>
              <a:rPr lang="en-IN" b="1" dirty="0" err="1"/>
              <a:t>Vlan</a:t>
            </a:r>
            <a:r>
              <a:rPr lang="en-IN" b="1" dirty="0"/>
              <a:t> 2</a:t>
            </a:r>
          </a:p>
          <a:p>
            <a:r>
              <a:rPr lang="en-IN" b="1" dirty="0" err="1"/>
              <a:t>ciscoasa</a:t>
            </a:r>
            <a:r>
              <a:rPr lang="en-IN" b="1" dirty="0"/>
              <a:t>(config-if)#exit</a:t>
            </a:r>
          </a:p>
          <a:p>
            <a:r>
              <a:rPr lang="en-IN" b="1" dirty="0" err="1"/>
              <a:t>ciscoasa</a:t>
            </a:r>
            <a:r>
              <a:rPr lang="en-IN" b="1" dirty="0"/>
              <a:t>(config)#int e0/0</a:t>
            </a:r>
          </a:p>
          <a:p>
            <a:r>
              <a:rPr lang="en-IN" b="1" dirty="0" err="1"/>
              <a:t>ciscoasa</a:t>
            </a:r>
            <a:r>
              <a:rPr lang="en-IN" b="1" dirty="0"/>
              <a:t>(config-if)#switchport access </a:t>
            </a:r>
            <a:r>
              <a:rPr lang="en-IN" b="1" dirty="0" err="1"/>
              <a:t>vlan</a:t>
            </a:r>
            <a:r>
              <a:rPr lang="en-IN" b="1" dirty="0"/>
              <a:t> 2</a:t>
            </a:r>
          </a:p>
        </p:txBody>
      </p:sp>
      <p:sp>
        <p:nvSpPr>
          <p:cNvPr id="4" name="Callout: Line with Border and Accent Bar 3">
            <a:extLst>
              <a:ext uri="{FF2B5EF4-FFF2-40B4-BE49-F238E27FC236}">
                <a16:creationId xmlns:a16="http://schemas.microsoft.com/office/drawing/2014/main" id="{29FA08C7-E33D-9FDE-1760-CA689D6CBC4F}"/>
              </a:ext>
            </a:extLst>
          </p:cNvPr>
          <p:cNvSpPr/>
          <p:nvPr/>
        </p:nvSpPr>
        <p:spPr>
          <a:xfrm>
            <a:off x="6976153" y="2943546"/>
            <a:ext cx="2702103" cy="606176"/>
          </a:xfrm>
          <a:prstGeom prst="accen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 Trust level is the lowest for the </a:t>
            </a:r>
            <a:r>
              <a:rPr lang="en-IN" dirty="0" err="1"/>
              <a:t>intenet</a:t>
            </a:r>
            <a:endParaRPr lang="en-IN" dirty="0"/>
          </a:p>
        </p:txBody>
      </p:sp>
    </p:spTree>
    <p:extLst>
      <p:ext uri="{BB962C8B-B14F-4D97-AF65-F5344CB8AC3E}">
        <p14:creationId xmlns:p14="http://schemas.microsoft.com/office/powerpoint/2010/main" val="3010766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F8239-9EBD-F73F-8EFD-A71A1A3706D3}"/>
              </a:ext>
            </a:extLst>
          </p:cNvPr>
          <p:cNvSpPr>
            <a:spLocks noGrp="1"/>
          </p:cNvSpPr>
          <p:nvPr>
            <p:ph type="title"/>
          </p:nvPr>
        </p:nvSpPr>
        <p:spPr/>
        <p:txBody>
          <a:bodyPr/>
          <a:lstStyle/>
          <a:p>
            <a:r>
              <a:rPr lang="en-IN" dirty="0"/>
              <a:t>Router Configuration now …</a:t>
            </a:r>
          </a:p>
        </p:txBody>
      </p:sp>
      <p:sp>
        <p:nvSpPr>
          <p:cNvPr id="3" name="Content Placeholder 2">
            <a:extLst>
              <a:ext uri="{FF2B5EF4-FFF2-40B4-BE49-F238E27FC236}">
                <a16:creationId xmlns:a16="http://schemas.microsoft.com/office/drawing/2014/main" id="{A76712D5-B47F-CF19-2585-BC34928657E2}"/>
              </a:ext>
            </a:extLst>
          </p:cNvPr>
          <p:cNvSpPr>
            <a:spLocks noGrp="1"/>
          </p:cNvSpPr>
          <p:nvPr>
            <p:ph idx="1"/>
          </p:nvPr>
        </p:nvSpPr>
        <p:spPr/>
        <p:txBody>
          <a:bodyPr>
            <a:normAutofit lnSpcReduction="10000"/>
          </a:bodyPr>
          <a:lstStyle/>
          <a:p>
            <a:r>
              <a:rPr lang="en-IN" b="1" dirty="0"/>
              <a:t>Router&gt;</a:t>
            </a:r>
            <a:r>
              <a:rPr lang="en-IN" b="1" dirty="0" err="1"/>
              <a:t>en</a:t>
            </a:r>
            <a:endParaRPr lang="en-IN" b="1" dirty="0"/>
          </a:p>
          <a:p>
            <a:r>
              <a:rPr lang="en-IN" b="1" dirty="0" err="1"/>
              <a:t>Router#config</a:t>
            </a:r>
            <a:r>
              <a:rPr lang="en-IN" b="1" dirty="0"/>
              <a:t> t</a:t>
            </a:r>
          </a:p>
          <a:p>
            <a:r>
              <a:rPr lang="en-IN" b="1" dirty="0"/>
              <a:t>Router(config)#int f0/0</a:t>
            </a:r>
          </a:p>
          <a:p>
            <a:r>
              <a:rPr lang="en-IN" b="1" dirty="0"/>
              <a:t>Router(config-if)#ip add 50.1.1.1 255.0.0.0</a:t>
            </a:r>
          </a:p>
          <a:p>
            <a:r>
              <a:rPr lang="en-IN" b="1" dirty="0"/>
              <a:t>Router(config-if)#no shutdown</a:t>
            </a:r>
          </a:p>
          <a:p>
            <a:endParaRPr lang="en-IN" b="1" dirty="0"/>
          </a:p>
          <a:p>
            <a:r>
              <a:rPr lang="en-IN" b="1" dirty="0"/>
              <a:t>Router(config-if)#int f0/1</a:t>
            </a:r>
          </a:p>
          <a:p>
            <a:r>
              <a:rPr lang="en-IN" b="1" dirty="0"/>
              <a:t>Router(config-if)#ip add 8.8.8.1 255.0.0.0</a:t>
            </a:r>
          </a:p>
          <a:p>
            <a:r>
              <a:rPr lang="en-IN" b="1" dirty="0"/>
              <a:t>Router(config-if)#no shut</a:t>
            </a:r>
          </a:p>
        </p:txBody>
      </p:sp>
    </p:spTree>
    <p:extLst>
      <p:ext uri="{BB962C8B-B14F-4D97-AF65-F5344CB8AC3E}">
        <p14:creationId xmlns:p14="http://schemas.microsoft.com/office/powerpoint/2010/main" val="40101328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B0439-647D-4F1D-1570-A93B81434FA3}"/>
              </a:ext>
            </a:extLst>
          </p:cNvPr>
          <p:cNvSpPr>
            <a:spLocks noGrp="1"/>
          </p:cNvSpPr>
          <p:nvPr>
            <p:ph type="title"/>
          </p:nvPr>
        </p:nvSpPr>
        <p:spPr/>
        <p:txBody>
          <a:bodyPr/>
          <a:lstStyle/>
          <a:p>
            <a:r>
              <a:rPr lang="en-IN" dirty="0"/>
              <a:t>Now the Server … </a:t>
            </a:r>
          </a:p>
        </p:txBody>
      </p:sp>
      <p:sp>
        <p:nvSpPr>
          <p:cNvPr id="3" name="Content Placeholder 2">
            <a:extLst>
              <a:ext uri="{FF2B5EF4-FFF2-40B4-BE49-F238E27FC236}">
                <a16:creationId xmlns:a16="http://schemas.microsoft.com/office/drawing/2014/main" id="{7250D5DE-073C-CB87-F068-7022FF626E81}"/>
              </a:ext>
            </a:extLst>
          </p:cNvPr>
          <p:cNvSpPr>
            <a:spLocks noGrp="1"/>
          </p:cNvSpPr>
          <p:nvPr>
            <p:ph idx="1"/>
          </p:nvPr>
        </p:nvSpPr>
        <p:spPr/>
        <p:txBody>
          <a:bodyPr/>
          <a:lstStyle/>
          <a:p>
            <a:r>
              <a:rPr lang="en-IN" dirty="0"/>
              <a:t>Open server, Desktop-IP configuration</a:t>
            </a:r>
          </a:p>
          <a:p>
            <a:r>
              <a:rPr lang="en-IN" b="1" dirty="0"/>
              <a:t>IP address: 8.8.8.8</a:t>
            </a:r>
          </a:p>
          <a:p>
            <a:r>
              <a:rPr lang="en-IN" b="1" dirty="0"/>
              <a:t>Subnet mask: 255.0.0.0</a:t>
            </a:r>
          </a:p>
          <a:p>
            <a:r>
              <a:rPr lang="en-IN" b="1" dirty="0"/>
              <a:t>Default gateway: 8.8.8.1</a:t>
            </a:r>
          </a:p>
        </p:txBody>
      </p:sp>
    </p:spTree>
    <p:extLst>
      <p:ext uri="{BB962C8B-B14F-4D97-AF65-F5344CB8AC3E}">
        <p14:creationId xmlns:p14="http://schemas.microsoft.com/office/powerpoint/2010/main" val="35623486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B573-BC9E-582A-D334-B4AFC3CD74B9}"/>
              </a:ext>
            </a:extLst>
          </p:cNvPr>
          <p:cNvSpPr>
            <a:spLocks noGrp="1"/>
          </p:cNvSpPr>
          <p:nvPr>
            <p:ph type="title"/>
          </p:nvPr>
        </p:nvSpPr>
        <p:spPr/>
        <p:txBody>
          <a:bodyPr/>
          <a:lstStyle/>
          <a:p>
            <a:r>
              <a:rPr lang="en-IN" dirty="0"/>
              <a:t>PC Configurations</a:t>
            </a:r>
          </a:p>
        </p:txBody>
      </p:sp>
      <p:sp>
        <p:nvSpPr>
          <p:cNvPr id="3" name="Content Placeholder 2">
            <a:extLst>
              <a:ext uri="{FF2B5EF4-FFF2-40B4-BE49-F238E27FC236}">
                <a16:creationId xmlns:a16="http://schemas.microsoft.com/office/drawing/2014/main" id="{7302836E-08E5-775D-0BC1-5DDD474B5A8C}"/>
              </a:ext>
            </a:extLst>
          </p:cNvPr>
          <p:cNvSpPr>
            <a:spLocks noGrp="1"/>
          </p:cNvSpPr>
          <p:nvPr>
            <p:ph idx="1"/>
          </p:nvPr>
        </p:nvSpPr>
        <p:spPr/>
        <p:txBody>
          <a:bodyPr/>
          <a:lstStyle/>
          <a:p>
            <a:r>
              <a:rPr lang="en-IN" dirty="0"/>
              <a:t>PC0: IP 10.1.1.2, Default gateway: 10.1.1.1, DNS: 8.8.8.8</a:t>
            </a:r>
          </a:p>
          <a:p>
            <a:r>
              <a:rPr lang="en-IN" dirty="0"/>
              <a:t>PC1: IP 10.1.1.3, Default gateway: 10.1.1.1, DNS: 8.8.8.8</a:t>
            </a:r>
          </a:p>
          <a:p>
            <a:endParaRPr lang="en-IN" dirty="0"/>
          </a:p>
        </p:txBody>
      </p:sp>
    </p:spTree>
    <p:extLst>
      <p:ext uri="{BB962C8B-B14F-4D97-AF65-F5344CB8AC3E}">
        <p14:creationId xmlns:p14="http://schemas.microsoft.com/office/powerpoint/2010/main" val="25544864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1D41E-73EF-FF88-CFA1-5D5799646DFF}"/>
              </a:ext>
            </a:extLst>
          </p:cNvPr>
          <p:cNvSpPr>
            <a:spLocks noGrp="1"/>
          </p:cNvSpPr>
          <p:nvPr>
            <p:ph type="title"/>
          </p:nvPr>
        </p:nvSpPr>
        <p:spPr/>
        <p:txBody>
          <a:bodyPr/>
          <a:lstStyle/>
          <a:p>
            <a:r>
              <a:rPr lang="en-IN" dirty="0"/>
              <a:t>Back to </a:t>
            </a:r>
            <a:r>
              <a:rPr lang="en-IN" dirty="0" err="1"/>
              <a:t>asa</a:t>
            </a:r>
            <a:r>
              <a:rPr lang="en-IN" dirty="0"/>
              <a:t> … Default Route for Outgoing Packets</a:t>
            </a:r>
          </a:p>
        </p:txBody>
      </p:sp>
      <p:sp>
        <p:nvSpPr>
          <p:cNvPr id="3" name="Content Placeholder 2">
            <a:extLst>
              <a:ext uri="{FF2B5EF4-FFF2-40B4-BE49-F238E27FC236}">
                <a16:creationId xmlns:a16="http://schemas.microsoft.com/office/drawing/2014/main" id="{3370D7CD-6586-648E-B976-5091A9CFB20F}"/>
              </a:ext>
            </a:extLst>
          </p:cNvPr>
          <p:cNvSpPr>
            <a:spLocks noGrp="1"/>
          </p:cNvSpPr>
          <p:nvPr>
            <p:ph idx="1"/>
          </p:nvPr>
        </p:nvSpPr>
        <p:spPr/>
        <p:txBody>
          <a:bodyPr/>
          <a:lstStyle/>
          <a:p>
            <a:r>
              <a:rPr lang="en-US" b="1" dirty="0" err="1"/>
              <a:t>ciscoasa</a:t>
            </a:r>
            <a:r>
              <a:rPr lang="en-US" b="1" dirty="0"/>
              <a:t>(config)#route outside   0.0.0.0 	0.0.0.0 	50.1.1.1</a:t>
            </a:r>
            <a:endParaRPr lang="en-IN" b="1" dirty="0"/>
          </a:p>
        </p:txBody>
      </p:sp>
    </p:spTree>
    <p:extLst>
      <p:ext uri="{BB962C8B-B14F-4D97-AF65-F5344CB8AC3E}">
        <p14:creationId xmlns:p14="http://schemas.microsoft.com/office/powerpoint/2010/main" val="41865075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1D41E-73EF-FF88-CFA1-5D5799646DFF}"/>
              </a:ext>
            </a:extLst>
          </p:cNvPr>
          <p:cNvSpPr>
            <a:spLocks noGrp="1"/>
          </p:cNvSpPr>
          <p:nvPr>
            <p:ph type="title"/>
          </p:nvPr>
        </p:nvSpPr>
        <p:spPr/>
        <p:txBody>
          <a:bodyPr/>
          <a:lstStyle/>
          <a:p>
            <a:r>
              <a:rPr lang="en-IN" dirty="0"/>
              <a:t>Configure OSPF on the Router</a:t>
            </a:r>
          </a:p>
        </p:txBody>
      </p:sp>
      <p:sp>
        <p:nvSpPr>
          <p:cNvPr id="3" name="Content Placeholder 2">
            <a:extLst>
              <a:ext uri="{FF2B5EF4-FFF2-40B4-BE49-F238E27FC236}">
                <a16:creationId xmlns:a16="http://schemas.microsoft.com/office/drawing/2014/main" id="{3370D7CD-6586-648E-B976-5091A9CFB20F}"/>
              </a:ext>
            </a:extLst>
          </p:cNvPr>
          <p:cNvSpPr>
            <a:spLocks noGrp="1"/>
          </p:cNvSpPr>
          <p:nvPr>
            <p:ph idx="1"/>
          </p:nvPr>
        </p:nvSpPr>
        <p:spPr/>
        <p:txBody>
          <a:bodyPr/>
          <a:lstStyle/>
          <a:p>
            <a:r>
              <a:rPr lang="en-US" b="1" dirty="0"/>
              <a:t>Router(config)#router </a:t>
            </a:r>
            <a:r>
              <a:rPr lang="en-US" b="1" dirty="0" err="1"/>
              <a:t>ospf</a:t>
            </a:r>
            <a:r>
              <a:rPr lang="en-US" b="1" dirty="0"/>
              <a:t> 1</a:t>
            </a:r>
          </a:p>
          <a:p>
            <a:r>
              <a:rPr lang="en-US" b="1" dirty="0"/>
              <a:t>Router(config-router)#net 50.0.0.0 0.255.255.255 area 0</a:t>
            </a:r>
          </a:p>
          <a:p>
            <a:r>
              <a:rPr lang="en-US" b="1" dirty="0"/>
              <a:t>Router(config-router)#net 8.0.0.0 0.255.255.255 area 0</a:t>
            </a:r>
            <a:endParaRPr lang="en-IN" b="1" dirty="0"/>
          </a:p>
        </p:txBody>
      </p:sp>
    </p:spTree>
    <p:extLst>
      <p:ext uri="{BB962C8B-B14F-4D97-AF65-F5344CB8AC3E}">
        <p14:creationId xmlns:p14="http://schemas.microsoft.com/office/powerpoint/2010/main" val="915533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4D8E-6396-B68F-0870-80B9133CCFD4}"/>
              </a:ext>
            </a:extLst>
          </p:cNvPr>
          <p:cNvSpPr>
            <a:spLocks noGrp="1"/>
          </p:cNvSpPr>
          <p:nvPr>
            <p:ph type="title"/>
          </p:nvPr>
        </p:nvSpPr>
        <p:spPr/>
        <p:txBody>
          <a:bodyPr/>
          <a:lstStyle/>
          <a:p>
            <a:r>
              <a:rPr lang="en-IN" dirty="0"/>
              <a:t>Create Object Network and Enable NAT on </a:t>
            </a:r>
            <a:r>
              <a:rPr lang="en-IN" dirty="0" err="1"/>
              <a:t>asa</a:t>
            </a:r>
            <a:endParaRPr lang="en-IN" dirty="0"/>
          </a:p>
        </p:txBody>
      </p:sp>
      <p:sp>
        <p:nvSpPr>
          <p:cNvPr id="3" name="Content Placeholder 2">
            <a:extLst>
              <a:ext uri="{FF2B5EF4-FFF2-40B4-BE49-F238E27FC236}">
                <a16:creationId xmlns:a16="http://schemas.microsoft.com/office/drawing/2014/main" id="{FE7C8765-BD98-27BA-B768-683D7F3CB013}"/>
              </a:ext>
            </a:extLst>
          </p:cNvPr>
          <p:cNvSpPr>
            <a:spLocks noGrp="1"/>
          </p:cNvSpPr>
          <p:nvPr>
            <p:ph idx="1"/>
          </p:nvPr>
        </p:nvSpPr>
        <p:spPr/>
        <p:txBody>
          <a:bodyPr/>
          <a:lstStyle/>
          <a:p>
            <a:r>
              <a:rPr lang="en-IN" sz="2400" b="1" dirty="0" err="1"/>
              <a:t>ciscoasa</a:t>
            </a:r>
            <a:r>
              <a:rPr lang="en-IN" sz="2400" b="1" dirty="0"/>
              <a:t>(config)#object network </a:t>
            </a:r>
            <a:r>
              <a:rPr lang="en-IN" sz="2400" b="1" dirty="0" err="1"/>
              <a:t>mylan</a:t>
            </a:r>
            <a:endParaRPr lang="en-IN" sz="2400" b="1" dirty="0"/>
          </a:p>
          <a:p>
            <a:r>
              <a:rPr lang="en-IN" sz="2400" b="1" dirty="0" err="1"/>
              <a:t>ciscoasa</a:t>
            </a:r>
            <a:r>
              <a:rPr lang="en-IN" sz="2400" b="1" dirty="0"/>
              <a:t>(config-network-object)#subnet 10.0.0.0 255.0.0.0</a:t>
            </a:r>
          </a:p>
          <a:p>
            <a:endParaRPr lang="en-IN" sz="2400" b="1" dirty="0"/>
          </a:p>
          <a:p>
            <a:r>
              <a:rPr lang="en-IN" sz="2400" b="1" dirty="0" err="1"/>
              <a:t>ciscoasa</a:t>
            </a:r>
            <a:r>
              <a:rPr lang="en-IN" sz="2400" b="1" dirty="0"/>
              <a:t>(config-network-object)#nat (</a:t>
            </a:r>
            <a:r>
              <a:rPr lang="en-IN" sz="2400" b="1" dirty="0" err="1"/>
              <a:t>inside,outside</a:t>
            </a:r>
            <a:r>
              <a:rPr lang="en-IN" sz="2400" b="1" dirty="0"/>
              <a:t>) dynamic interface</a:t>
            </a:r>
            <a:endParaRPr lang="en-IN" b="1" dirty="0"/>
          </a:p>
          <a:p>
            <a:endParaRPr lang="en-IN" dirty="0"/>
          </a:p>
        </p:txBody>
      </p:sp>
      <p:sp>
        <p:nvSpPr>
          <p:cNvPr id="4" name="TextBox 3">
            <a:extLst>
              <a:ext uri="{FF2B5EF4-FFF2-40B4-BE49-F238E27FC236}">
                <a16:creationId xmlns:a16="http://schemas.microsoft.com/office/drawing/2014/main" id="{CCAA7105-BA2D-6B7D-D8D0-C7E2D2B635F8}"/>
              </a:ext>
            </a:extLst>
          </p:cNvPr>
          <p:cNvSpPr txBox="1"/>
          <p:nvPr/>
        </p:nvSpPr>
        <p:spPr>
          <a:xfrm>
            <a:off x="441791" y="3725205"/>
            <a:ext cx="4613096" cy="2585323"/>
          </a:xfrm>
          <a:prstGeom prst="rect">
            <a:avLst/>
          </a:prstGeom>
          <a:solidFill>
            <a:schemeClr val="accent4">
              <a:lumMod val="20000"/>
              <a:lumOff val="80000"/>
            </a:schemeClr>
          </a:solidFill>
        </p:spPr>
        <p:txBody>
          <a:bodyPr wrap="square" rtlCol="0">
            <a:spAutoFit/>
          </a:bodyPr>
          <a:lstStyle/>
          <a:p>
            <a:r>
              <a:rPr lang="en-US" dirty="0"/>
              <a:t>The Object Groups feature allows us to classify users, devices, or protocols into groups and apply those groups to access control lists (ACLs).</a:t>
            </a:r>
          </a:p>
          <a:p>
            <a:endParaRPr lang="en-US" dirty="0"/>
          </a:p>
          <a:p>
            <a:r>
              <a:rPr lang="en-US" dirty="0"/>
              <a:t>This lets us create access control policies for groups and use object groups instead of IP addresses, protocols or even port numbers which are used in conventional ACLs.</a:t>
            </a:r>
            <a:endParaRPr lang="en-IN" dirty="0"/>
          </a:p>
        </p:txBody>
      </p:sp>
      <p:sp>
        <p:nvSpPr>
          <p:cNvPr id="5" name="TextBox 4">
            <a:extLst>
              <a:ext uri="{FF2B5EF4-FFF2-40B4-BE49-F238E27FC236}">
                <a16:creationId xmlns:a16="http://schemas.microsoft.com/office/drawing/2014/main" id="{19B40457-B9FD-2BCE-F6D5-5D88274840B7}"/>
              </a:ext>
            </a:extLst>
          </p:cNvPr>
          <p:cNvSpPr txBox="1"/>
          <p:nvPr/>
        </p:nvSpPr>
        <p:spPr>
          <a:xfrm>
            <a:off x="5615256" y="3718679"/>
            <a:ext cx="6134953" cy="2862322"/>
          </a:xfrm>
          <a:prstGeom prst="rect">
            <a:avLst/>
          </a:prstGeom>
          <a:solidFill>
            <a:schemeClr val="accent6">
              <a:lumMod val="20000"/>
              <a:lumOff val="80000"/>
            </a:schemeClr>
          </a:solidFill>
        </p:spPr>
        <p:txBody>
          <a:bodyPr wrap="square" rtlCol="0">
            <a:spAutoFit/>
          </a:bodyPr>
          <a:lstStyle/>
          <a:p>
            <a:r>
              <a:rPr lang="en-US" dirty="0"/>
              <a:t>Dynamic NAT maps a private IP address to a public IP address from a pool of public IP addresses. This is unlike static NAT in which one private IP address is translated into one public IP address.</a:t>
            </a:r>
          </a:p>
          <a:p>
            <a:endParaRPr lang="en-US" dirty="0"/>
          </a:p>
          <a:p>
            <a:r>
              <a:rPr lang="en-US" dirty="0"/>
              <a:t>In dynamic NAT, the router will dynamically pick a public address from the pool. The dynamic mapping entry will stay in the NAT translations as long as the traffic is being exchanged. Otherwise, after a period of no traffic flow, the global IP address will be reused for new translations.</a:t>
            </a:r>
            <a:endParaRPr lang="en-IN" dirty="0"/>
          </a:p>
        </p:txBody>
      </p:sp>
    </p:spTree>
    <p:extLst>
      <p:ext uri="{BB962C8B-B14F-4D97-AF65-F5344CB8AC3E}">
        <p14:creationId xmlns:p14="http://schemas.microsoft.com/office/powerpoint/2010/main" val="991713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F1422-761B-5F6C-3A47-F9010063A6FB}"/>
              </a:ext>
            </a:extLst>
          </p:cNvPr>
          <p:cNvSpPr>
            <a:spLocks noGrp="1"/>
          </p:cNvSpPr>
          <p:nvPr>
            <p:ph type="title"/>
          </p:nvPr>
        </p:nvSpPr>
        <p:spPr/>
        <p:txBody>
          <a:bodyPr/>
          <a:lstStyle/>
          <a:p>
            <a:r>
              <a:rPr lang="en-IN" dirty="0"/>
              <a:t>Try ping on PC0 and PC1 – Should not work</a:t>
            </a:r>
          </a:p>
        </p:txBody>
      </p:sp>
      <p:sp>
        <p:nvSpPr>
          <p:cNvPr id="3" name="Content Placeholder 2">
            <a:extLst>
              <a:ext uri="{FF2B5EF4-FFF2-40B4-BE49-F238E27FC236}">
                <a16:creationId xmlns:a16="http://schemas.microsoft.com/office/drawing/2014/main" id="{2BBF0C2C-25A3-699C-B7A0-21179F39620C}"/>
              </a:ext>
            </a:extLst>
          </p:cNvPr>
          <p:cNvSpPr>
            <a:spLocks noGrp="1"/>
          </p:cNvSpPr>
          <p:nvPr>
            <p:ph idx="1"/>
          </p:nvPr>
        </p:nvSpPr>
        <p:spPr/>
        <p:txBody>
          <a:bodyPr/>
          <a:lstStyle/>
          <a:p>
            <a:r>
              <a:rPr lang="en-IN" b="1" dirty="0"/>
              <a:t>ping –t 8.8.8.8 </a:t>
            </a:r>
            <a:r>
              <a:rPr lang="en-IN" dirty="0"/>
              <a:t>on both the PCs … Sample screen for PC0</a:t>
            </a:r>
          </a:p>
        </p:txBody>
      </p:sp>
      <p:pic>
        <p:nvPicPr>
          <p:cNvPr id="5" name="Picture 4">
            <a:extLst>
              <a:ext uri="{FF2B5EF4-FFF2-40B4-BE49-F238E27FC236}">
                <a16:creationId xmlns:a16="http://schemas.microsoft.com/office/drawing/2014/main" id="{17633971-A675-3BDF-6F62-63A0A3EFC5C0}"/>
              </a:ext>
            </a:extLst>
          </p:cNvPr>
          <p:cNvPicPr>
            <a:picLocks noChangeAspect="1"/>
          </p:cNvPicPr>
          <p:nvPr/>
        </p:nvPicPr>
        <p:blipFill>
          <a:blip r:embed="rId2"/>
          <a:stretch>
            <a:fillRect/>
          </a:stretch>
        </p:blipFill>
        <p:spPr>
          <a:xfrm>
            <a:off x="1254946" y="2685864"/>
            <a:ext cx="4134062" cy="3626036"/>
          </a:xfrm>
          <a:prstGeom prst="rect">
            <a:avLst/>
          </a:prstGeom>
        </p:spPr>
      </p:pic>
    </p:spTree>
    <p:extLst>
      <p:ext uri="{BB962C8B-B14F-4D97-AF65-F5344CB8AC3E}">
        <p14:creationId xmlns:p14="http://schemas.microsoft.com/office/powerpoint/2010/main" val="32867515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032FC-E8B1-3D02-5273-234BDCEDA849}"/>
              </a:ext>
            </a:extLst>
          </p:cNvPr>
          <p:cNvSpPr>
            <a:spLocks noGrp="1"/>
          </p:cNvSpPr>
          <p:nvPr>
            <p:ph type="title"/>
          </p:nvPr>
        </p:nvSpPr>
        <p:spPr/>
        <p:txBody>
          <a:bodyPr/>
          <a:lstStyle/>
          <a:p>
            <a:r>
              <a:rPr lang="en-IN" dirty="0"/>
              <a:t>Create and Apply ACL on </a:t>
            </a:r>
            <a:r>
              <a:rPr lang="en-IN" dirty="0" err="1"/>
              <a:t>asa</a:t>
            </a:r>
            <a:endParaRPr lang="en-IN" dirty="0"/>
          </a:p>
        </p:txBody>
      </p:sp>
      <p:sp>
        <p:nvSpPr>
          <p:cNvPr id="3" name="Content Placeholder 2">
            <a:extLst>
              <a:ext uri="{FF2B5EF4-FFF2-40B4-BE49-F238E27FC236}">
                <a16:creationId xmlns:a16="http://schemas.microsoft.com/office/drawing/2014/main" id="{A5BC2C38-3836-AC63-6E0A-C6F2FFC62E6F}"/>
              </a:ext>
            </a:extLst>
          </p:cNvPr>
          <p:cNvSpPr>
            <a:spLocks noGrp="1"/>
          </p:cNvSpPr>
          <p:nvPr>
            <p:ph idx="1"/>
          </p:nvPr>
        </p:nvSpPr>
        <p:spPr/>
        <p:txBody>
          <a:bodyPr/>
          <a:lstStyle/>
          <a:p>
            <a:r>
              <a:rPr lang="en-IN" b="1" dirty="0" err="1">
                <a:effectLst/>
              </a:rPr>
              <a:t>ciscoasa</a:t>
            </a:r>
            <a:r>
              <a:rPr lang="en-IN" b="1" dirty="0">
                <a:effectLst/>
              </a:rPr>
              <a:t>(config)#access-list </a:t>
            </a:r>
            <a:r>
              <a:rPr lang="en-IN" b="1" dirty="0" err="1">
                <a:effectLst/>
              </a:rPr>
              <a:t>myacl</a:t>
            </a:r>
            <a:r>
              <a:rPr lang="en-IN" b="1" dirty="0">
                <a:effectLst/>
              </a:rPr>
              <a:t> extended permit </a:t>
            </a:r>
            <a:r>
              <a:rPr lang="en-IN" b="1" dirty="0" err="1">
                <a:effectLst/>
              </a:rPr>
              <a:t>tcp</a:t>
            </a:r>
            <a:r>
              <a:rPr lang="en-IN" b="1" dirty="0">
                <a:effectLst/>
              </a:rPr>
              <a:t> any </a:t>
            </a:r>
            <a:r>
              <a:rPr lang="en-IN" b="1" dirty="0" err="1">
                <a:effectLst/>
              </a:rPr>
              <a:t>any</a:t>
            </a:r>
            <a:endParaRPr lang="en-IN" b="1" dirty="0">
              <a:effectLst/>
            </a:endParaRPr>
          </a:p>
          <a:p>
            <a:r>
              <a:rPr lang="en-IN" b="1" dirty="0" err="1">
                <a:effectLst/>
              </a:rPr>
              <a:t>ciscoasa</a:t>
            </a:r>
            <a:r>
              <a:rPr lang="en-IN" b="1" dirty="0">
                <a:effectLst/>
              </a:rPr>
              <a:t>(config)#access-list </a:t>
            </a:r>
            <a:r>
              <a:rPr lang="en-IN" b="1" dirty="0" err="1">
                <a:effectLst/>
              </a:rPr>
              <a:t>myacl</a:t>
            </a:r>
            <a:r>
              <a:rPr lang="en-IN" b="1" dirty="0">
                <a:effectLst/>
              </a:rPr>
              <a:t> extended permit </a:t>
            </a:r>
            <a:r>
              <a:rPr lang="en-IN" b="1" dirty="0" err="1">
                <a:effectLst/>
              </a:rPr>
              <a:t>icmp</a:t>
            </a:r>
            <a:r>
              <a:rPr lang="en-IN" b="1" dirty="0">
                <a:effectLst/>
              </a:rPr>
              <a:t> any </a:t>
            </a:r>
            <a:r>
              <a:rPr lang="en-IN" b="1" dirty="0" err="1">
                <a:effectLst/>
              </a:rPr>
              <a:t>any</a:t>
            </a:r>
            <a:endParaRPr lang="en-IN" b="1" dirty="0">
              <a:effectLst/>
            </a:endParaRPr>
          </a:p>
          <a:p>
            <a:endParaRPr lang="en-IN" b="1" dirty="0">
              <a:effectLst/>
            </a:endParaRPr>
          </a:p>
          <a:p>
            <a:r>
              <a:rPr lang="en-IN" b="1" dirty="0" err="1">
                <a:effectLst/>
              </a:rPr>
              <a:t>ciscoasa</a:t>
            </a:r>
            <a:r>
              <a:rPr lang="en-IN" b="1" dirty="0">
                <a:effectLst/>
              </a:rPr>
              <a:t>(config)#access-group </a:t>
            </a:r>
            <a:r>
              <a:rPr lang="en-IN" b="1" dirty="0" err="1">
                <a:effectLst/>
              </a:rPr>
              <a:t>myacl</a:t>
            </a:r>
            <a:r>
              <a:rPr lang="en-IN" b="1" dirty="0">
                <a:effectLst/>
              </a:rPr>
              <a:t> in interface outside</a:t>
            </a:r>
            <a:endParaRPr lang="en-IN" b="1" dirty="0"/>
          </a:p>
        </p:txBody>
      </p:sp>
    </p:spTree>
    <p:extLst>
      <p:ext uri="{BB962C8B-B14F-4D97-AF65-F5344CB8AC3E}">
        <p14:creationId xmlns:p14="http://schemas.microsoft.com/office/powerpoint/2010/main" val="3518864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9B363-9EF6-916C-F807-E35FEA80323C}"/>
              </a:ext>
            </a:extLst>
          </p:cNvPr>
          <p:cNvSpPr>
            <a:spLocks noGrp="1"/>
          </p:cNvSpPr>
          <p:nvPr>
            <p:ph type="title"/>
          </p:nvPr>
        </p:nvSpPr>
        <p:spPr/>
        <p:txBody>
          <a:bodyPr/>
          <a:lstStyle/>
          <a:p>
            <a:r>
              <a:rPr lang="en-IN" dirty="0"/>
              <a:t>Check the ping Screen Again</a:t>
            </a:r>
          </a:p>
        </p:txBody>
      </p:sp>
      <p:sp>
        <p:nvSpPr>
          <p:cNvPr id="3" name="Content Placeholder 2">
            <a:extLst>
              <a:ext uri="{FF2B5EF4-FFF2-40B4-BE49-F238E27FC236}">
                <a16:creationId xmlns:a16="http://schemas.microsoft.com/office/drawing/2014/main" id="{5E313B43-0FDD-1D85-51E1-E302F180701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16E3874-A20A-1EDC-E353-AFC8D04E5D09}"/>
              </a:ext>
            </a:extLst>
          </p:cNvPr>
          <p:cNvPicPr>
            <a:picLocks noChangeAspect="1"/>
          </p:cNvPicPr>
          <p:nvPr/>
        </p:nvPicPr>
        <p:blipFill>
          <a:blip r:embed="rId2"/>
          <a:stretch>
            <a:fillRect/>
          </a:stretch>
        </p:blipFill>
        <p:spPr>
          <a:xfrm>
            <a:off x="2429402" y="1568408"/>
            <a:ext cx="4476980" cy="4419827"/>
          </a:xfrm>
          <a:prstGeom prst="rect">
            <a:avLst/>
          </a:prstGeom>
        </p:spPr>
      </p:pic>
    </p:spTree>
    <p:extLst>
      <p:ext uri="{BB962C8B-B14F-4D97-AF65-F5344CB8AC3E}">
        <p14:creationId xmlns:p14="http://schemas.microsoft.com/office/powerpoint/2010/main" val="1833035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25CAE-A974-442B-C3A4-271516CC46F0}"/>
              </a:ext>
            </a:extLst>
          </p:cNvPr>
          <p:cNvSpPr>
            <a:spLocks noGrp="1"/>
          </p:cNvSpPr>
          <p:nvPr>
            <p:ph type="title"/>
          </p:nvPr>
        </p:nvSpPr>
        <p:spPr/>
        <p:txBody>
          <a:bodyPr/>
          <a:lstStyle/>
          <a:p>
            <a:r>
              <a:rPr lang="en-IN" dirty="0"/>
              <a:t>iptables</a:t>
            </a:r>
          </a:p>
        </p:txBody>
      </p:sp>
      <p:sp>
        <p:nvSpPr>
          <p:cNvPr id="5" name="Text Placeholder 4">
            <a:extLst>
              <a:ext uri="{FF2B5EF4-FFF2-40B4-BE49-F238E27FC236}">
                <a16:creationId xmlns:a16="http://schemas.microsoft.com/office/drawing/2014/main" id="{C78F179A-0A57-3385-EE69-5D89C46524D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0649897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592A-49F6-6FDD-F66A-5F9512CF22DF}"/>
              </a:ext>
            </a:extLst>
          </p:cNvPr>
          <p:cNvSpPr>
            <a:spLocks noGrp="1"/>
          </p:cNvSpPr>
          <p:nvPr>
            <p:ph type="title"/>
          </p:nvPr>
        </p:nvSpPr>
        <p:spPr/>
        <p:txBody>
          <a:bodyPr/>
          <a:lstStyle/>
          <a:p>
            <a:r>
              <a:rPr lang="en-IN" dirty="0"/>
              <a:t>iptables</a:t>
            </a:r>
          </a:p>
        </p:txBody>
      </p:sp>
      <p:sp>
        <p:nvSpPr>
          <p:cNvPr id="3" name="Content Placeholder 2">
            <a:extLst>
              <a:ext uri="{FF2B5EF4-FFF2-40B4-BE49-F238E27FC236}">
                <a16:creationId xmlns:a16="http://schemas.microsoft.com/office/drawing/2014/main" id="{99F39336-CC82-1CAB-C7A7-00E2BABC353B}"/>
              </a:ext>
            </a:extLst>
          </p:cNvPr>
          <p:cNvSpPr>
            <a:spLocks noGrp="1"/>
          </p:cNvSpPr>
          <p:nvPr>
            <p:ph idx="1"/>
          </p:nvPr>
        </p:nvSpPr>
        <p:spPr/>
        <p:txBody>
          <a:bodyPr>
            <a:normAutofit fontScale="77500" lnSpcReduction="20000"/>
          </a:bodyPr>
          <a:lstStyle/>
          <a:p>
            <a:r>
              <a:rPr lang="en-IN" dirty="0"/>
              <a:t>The firewall solution in Linux is </a:t>
            </a:r>
            <a:r>
              <a:rPr lang="en-IN" dirty="0" err="1"/>
              <a:t>netfilter</a:t>
            </a:r>
            <a:r>
              <a:rPr lang="en-IN" dirty="0"/>
              <a:t> (</a:t>
            </a:r>
            <a:r>
              <a:rPr lang="en-IN" dirty="0">
                <a:hlinkClick r:id="rId2"/>
              </a:rPr>
              <a:t>https://www.netfilter.org/</a:t>
            </a:r>
            <a:r>
              <a:rPr lang="en-IN" dirty="0"/>
              <a:t>).</a:t>
            </a:r>
          </a:p>
          <a:p>
            <a:r>
              <a:rPr lang="en-IN" dirty="0"/>
              <a:t>It is a packet filter inside Linux kernel.</a:t>
            </a:r>
          </a:p>
          <a:p>
            <a:r>
              <a:rPr lang="en-IN" dirty="0"/>
              <a:t>Enables</a:t>
            </a:r>
          </a:p>
          <a:p>
            <a:pPr lvl="1"/>
            <a:r>
              <a:rPr lang="en-IN" dirty="0"/>
              <a:t>Packet filtering</a:t>
            </a:r>
          </a:p>
          <a:p>
            <a:pPr lvl="1"/>
            <a:r>
              <a:rPr lang="en-IN" dirty="0"/>
              <a:t>NAT/PAT (Port)</a:t>
            </a:r>
          </a:p>
          <a:p>
            <a:pPr lvl="1"/>
            <a:r>
              <a:rPr lang="en-IN" dirty="0"/>
              <a:t>Packet logging</a:t>
            </a:r>
          </a:p>
          <a:p>
            <a:pPr lvl="1"/>
            <a:r>
              <a:rPr lang="en-IN" dirty="0"/>
              <a:t>etc</a:t>
            </a:r>
          </a:p>
          <a:p>
            <a:r>
              <a:rPr lang="en-US" dirty="0"/>
              <a:t>The </a:t>
            </a:r>
            <a:r>
              <a:rPr lang="en-US" dirty="0" err="1"/>
              <a:t>netfilter</a:t>
            </a:r>
            <a:r>
              <a:rPr lang="en-US" dirty="0"/>
              <a:t> project is controlled by </a:t>
            </a:r>
            <a:r>
              <a:rPr lang="en-US" b="1" dirty="0"/>
              <a:t>iptables</a:t>
            </a:r>
            <a:r>
              <a:rPr lang="en-US" dirty="0"/>
              <a:t> and its successor </a:t>
            </a:r>
            <a:r>
              <a:rPr lang="en-US" b="1" dirty="0" err="1"/>
              <a:t>nftables</a:t>
            </a:r>
            <a:r>
              <a:rPr lang="en-US" dirty="0"/>
              <a:t>.</a:t>
            </a:r>
          </a:p>
          <a:p>
            <a:r>
              <a:rPr lang="en-US" dirty="0"/>
              <a:t>iptables is a generic firewall software that allows you to define rulesets. Each rule within an IP table consists of a number of classifiers (iptables matches) and one connected action (iptables target).</a:t>
            </a:r>
          </a:p>
          <a:p>
            <a:r>
              <a:rPr lang="en-US" dirty="0" err="1"/>
              <a:t>nftables</a:t>
            </a:r>
            <a:r>
              <a:rPr lang="en-US" dirty="0"/>
              <a:t> is the successor of iptables, it allows for much more flexible, scalable and performance packet classification. This is where all the fancy new features are developed.</a:t>
            </a:r>
            <a:endParaRPr lang="en-IN" dirty="0"/>
          </a:p>
        </p:txBody>
      </p:sp>
      <p:sp>
        <p:nvSpPr>
          <p:cNvPr id="4" name="Callout: Line with Border and Accent Bar 3">
            <a:extLst>
              <a:ext uri="{FF2B5EF4-FFF2-40B4-BE49-F238E27FC236}">
                <a16:creationId xmlns:a16="http://schemas.microsoft.com/office/drawing/2014/main" id="{D50F68ED-062E-348C-7CB1-33C62B2F6144}"/>
              </a:ext>
            </a:extLst>
          </p:cNvPr>
          <p:cNvSpPr/>
          <p:nvPr/>
        </p:nvSpPr>
        <p:spPr>
          <a:xfrm>
            <a:off x="6096000" y="2321959"/>
            <a:ext cx="5359685" cy="1479479"/>
          </a:xfrm>
          <a:prstGeom prst="accentBorderCallout1">
            <a:avLst>
              <a:gd name="adj1" fmla="val 18750"/>
              <a:gd name="adj2" fmla="val -8333"/>
              <a:gd name="adj3" fmla="val 107639"/>
              <a:gd name="adj4" fmla="val -6689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Netfilter is an infrastructure; it is the basic API that the Linux 2.4 kernel offers for applications that want to view and manipulate network packets. Iptables is an interface that uses Netfilter to classify and act on packets.</a:t>
            </a:r>
            <a:endParaRPr lang="en-IN"/>
          </a:p>
        </p:txBody>
      </p:sp>
    </p:spTree>
    <p:extLst>
      <p:ext uri="{BB962C8B-B14F-4D97-AF65-F5344CB8AC3E}">
        <p14:creationId xmlns:p14="http://schemas.microsoft.com/office/powerpoint/2010/main" val="10663790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E649-4EEB-A1FB-F595-F112C94A233F}"/>
              </a:ext>
            </a:extLst>
          </p:cNvPr>
          <p:cNvSpPr>
            <a:spLocks noGrp="1"/>
          </p:cNvSpPr>
          <p:nvPr>
            <p:ph type="title"/>
          </p:nvPr>
        </p:nvSpPr>
        <p:spPr/>
        <p:txBody>
          <a:bodyPr/>
          <a:lstStyle/>
          <a:p>
            <a:r>
              <a:rPr lang="en-IN" dirty="0"/>
              <a:t>More Technical Details</a:t>
            </a:r>
          </a:p>
        </p:txBody>
      </p:sp>
      <p:sp>
        <p:nvSpPr>
          <p:cNvPr id="3" name="Content Placeholder 2">
            <a:extLst>
              <a:ext uri="{FF2B5EF4-FFF2-40B4-BE49-F238E27FC236}">
                <a16:creationId xmlns:a16="http://schemas.microsoft.com/office/drawing/2014/main" id="{0CABED81-EA2D-E3F7-07CF-1347B3260026}"/>
              </a:ext>
            </a:extLst>
          </p:cNvPr>
          <p:cNvSpPr>
            <a:spLocks noGrp="1"/>
          </p:cNvSpPr>
          <p:nvPr>
            <p:ph idx="1"/>
          </p:nvPr>
        </p:nvSpPr>
        <p:spPr/>
        <p:txBody>
          <a:bodyPr/>
          <a:lstStyle/>
          <a:p>
            <a:r>
              <a:rPr lang="en-IN" dirty="0" err="1"/>
              <a:t>netfilter</a:t>
            </a:r>
            <a:r>
              <a:rPr lang="en-IN" dirty="0"/>
              <a:t> belongs to the kernel space and iptables belongs to the user space</a:t>
            </a:r>
          </a:p>
          <a:p>
            <a:r>
              <a:rPr lang="en-IN" dirty="0"/>
              <a:t>Only root user can configure the </a:t>
            </a:r>
            <a:r>
              <a:rPr lang="en-IN" dirty="0" err="1"/>
              <a:t>netfilter</a:t>
            </a:r>
            <a:r>
              <a:rPr lang="en-IN" dirty="0"/>
              <a:t> framework</a:t>
            </a:r>
          </a:p>
          <a:p>
            <a:endParaRPr lang="en-IN" dirty="0"/>
          </a:p>
        </p:txBody>
      </p:sp>
    </p:spTree>
    <p:extLst>
      <p:ext uri="{BB962C8B-B14F-4D97-AF65-F5344CB8AC3E}">
        <p14:creationId xmlns:p14="http://schemas.microsoft.com/office/powerpoint/2010/main" val="8017338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8BAD0-7B44-74A1-9AC2-B8720A00EF10}"/>
              </a:ext>
            </a:extLst>
          </p:cNvPr>
          <p:cNvSpPr>
            <a:spLocks noGrp="1"/>
          </p:cNvSpPr>
          <p:nvPr>
            <p:ph type="title"/>
          </p:nvPr>
        </p:nvSpPr>
        <p:spPr/>
        <p:txBody>
          <a:bodyPr/>
          <a:lstStyle/>
          <a:p>
            <a:r>
              <a:rPr lang="en-IN" dirty="0"/>
              <a:t>Chain Traversal</a:t>
            </a:r>
          </a:p>
        </p:txBody>
      </p:sp>
      <p:sp>
        <p:nvSpPr>
          <p:cNvPr id="3" name="Content Placeholder 2">
            <a:extLst>
              <a:ext uri="{FF2B5EF4-FFF2-40B4-BE49-F238E27FC236}">
                <a16:creationId xmlns:a16="http://schemas.microsoft.com/office/drawing/2014/main" id="{7FD05E5B-D7C3-F528-90F2-D6B0B4032FB5}"/>
              </a:ext>
            </a:extLst>
          </p:cNvPr>
          <p:cNvSpPr>
            <a:spLocks noGrp="1"/>
          </p:cNvSpPr>
          <p:nvPr>
            <p:ph idx="1"/>
          </p:nvPr>
        </p:nvSpPr>
        <p:spPr/>
        <p:txBody>
          <a:bodyPr>
            <a:normAutofit fontScale="92500" lnSpcReduction="10000"/>
          </a:bodyPr>
          <a:lstStyle/>
          <a:p>
            <a:r>
              <a:rPr lang="en-IN" dirty="0">
                <a:solidFill>
                  <a:srgbClr val="FF0000"/>
                </a:solidFill>
              </a:rPr>
              <a:t>Incoming traffic</a:t>
            </a:r>
            <a:r>
              <a:rPr lang="en-IN" dirty="0"/>
              <a:t> is filtered on the </a:t>
            </a:r>
            <a:r>
              <a:rPr lang="en-IN" dirty="0">
                <a:solidFill>
                  <a:srgbClr val="0070C0"/>
                </a:solidFill>
              </a:rPr>
              <a:t>input chain </a:t>
            </a:r>
            <a:r>
              <a:rPr lang="en-IN" dirty="0"/>
              <a:t>of the </a:t>
            </a:r>
            <a:r>
              <a:rPr lang="en-IN" dirty="0">
                <a:solidFill>
                  <a:srgbClr val="C00000"/>
                </a:solidFill>
              </a:rPr>
              <a:t>filter table</a:t>
            </a:r>
          </a:p>
          <a:p>
            <a:r>
              <a:rPr lang="en-IN" dirty="0">
                <a:solidFill>
                  <a:srgbClr val="FF0000"/>
                </a:solidFill>
              </a:rPr>
              <a:t>Outgoing traffic</a:t>
            </a:r>
            <a:r>
              <a:rPr lang="en-IN" dirty="0"/>
              <a:t> is filtered on the </a:t>
            </a:r>
            <a:r>
              <a:rPr lang="en-IN" dirty="0">
                <a:solidFill>
                  <a:srgbClr val="0070C0"/>
                </a:solidFill>
              </a:rPr>
              <a:t>output chain </a:t>
            </a:r>
            <a:r>
              <a:rPr lang="en-IN" dirty="0"/>
              <a:t>of the </a:t>
            </a:r>
            <a:r>
              <a:rPr lang="en-IN" dirty="0">
                <a:solidFill>
                  <a:srgbClr val="C00000"/>
                </a:solidFill>
              </a:rPr>
              <a:t>filter table</a:t>
            </a:r>
          </a:p>
          <a:p>
            <a:r>
              <a:rPr lang="en-IN" dirty="0">
                <a:solidFill>
                  <a:srgbClr val="FF0000"/>
                </a:solidFill>
              </a:rPr>
              <a:t>Routed traffic</a:t>
            </a:r>
            <a:r>
              <a:rPr lang="en-IN" dirty="0"/>
              <a:t> is filtered on the </a:t>
            </a:r>
            <a:r>
              <a:rPr lang="en-IN" dirty="0">
                <a:solidFill>
                  <a:srgbClr val="0070C0"/>
                </a:solidFill>
              </a:rPr>
              <a:t>forward chain </a:t>
            </a:r>
            <a:r>
              <a:rPr lang="en-IN" dirty="0"/>
              <a:t>of the </a:t>
            </a:r>
            <a:r>
              <a:rPr lang="en-IN" dirty="0">
                <a:solidFill>
                  <a:srgbClr val="C00000"/>
                </a:solidFill>
              </a:rPr>
              <a:t>filter table</a:t>
            </a:r>
          </a:p>
          <a:p>
            <a:endParaRPr lang="en-IN" dirty="0">
              <a:solidFill>
                <a:srgbClr val="C00000"/>
              </a:solidFill>
            </a:endParaRPr>
          </a:p>
          <a:p>
            <a:r>
              <a:rPr lang="en-IN" dirty="0">
                <a:solidFill>
                  <a:srgbClr val="FF0000"/>
                </a:solidFill>
              </a:rPr>
              <a:t>SNAT/Masquerade</a:t>
            </a:r>
            <a:r>
              <a:rPr lang="en-IN" dirty="0"/>
              <a:t> is filtered on the </a:t>
            </a:r>
            <a:r>
              <a:rPr lang="en-IN" dirty="0" err="1">
                <a:solidFill>
                  <a:srgbClr val="0070C0"/>
                </a:solidFill>
              </a:rPr>
              <a:t>postrouting</a:t>
            </a:r>
            <a:r>
              <a:rPr lang="en-IN" dirty="0">
                <a:solidFill>
                  <a:srgbClr val="0070C0"/>
                </a:solidFill>
              </a:rPr>
              <a:t> chain </a:t>
            </a:r>
            <a:r>
              <a:rPr lang="en-IN" dirty="0"/>
              <a:t>of the </a:t>
            </a:r>
            <a:r>
              <a:rPr lang="en-IN" dirty="0" err="1">
                <a:solidFill>
                  <a:srgbClr val="C00000"/>
                </a:solidFill>
              </a:rPr>
              <a:t>nat</a:t>
            </a:r>
            <a:r>
              <a:rPr lang="en-IN" dirty="0">
                <a:solidFill>
                  <a:srgbClr val="C00000"/>
                </a:solidFill>
              </a:rPr>
              <a:t> table</a:t>
            </a:r>
          </a:p>
          <a:p>
            <a:r>
              <a:rPr lang="en-IN" dirty="0">
                <a:solidFill>
                  <a:srgbClr val="FF0000"/>
                </a:solidFill>
              </a:rPr>
              <a:t>DNAT/Port forwarding </a:t>
            </a:r>
            <a:r>
              <a:rPr lang="en-IN" dirty="0"/>
              <a:t>is filtered on the </a:t>
            </a:r>
            <a:r>
              <a:rPr lang="en-IN" dirty="0" err="1">
                <a:solidFill>
                  <a:srgbClr val="0070C0"/>
                </a:solidFill>
              </a:rPr>
              <a:t>prerouting</a:t>
            </a:r>
            <a:r>
              <a:rPr lang="en-IN" dirty="0">
                <a:solidFill>
                  <a:srgbClr val="0070C0"/>
                </a:solidFill>
              </a:rPr>
              <a:t> chain </a:t>
            </a:r>
            <a:r>
              <a:rPr lang="en-IN" dirty="0"/>
              <a:t>of the </a:t>
            </a:r>
            <a:r>
              <a:rPr lang="en-IN" dirty="0" err="1">
                <a:solidFill>
                  <a:srgbClr val="C00000"/>
                </a:solidFill>
              </a:rPr>
              <a:t>nat</a:t>
            </a:r>
            <a:r>
              <a:rPr lang="en-IN" dirty="0">
                <a:solidFill>
                  <a:srgbClr val="C00000"/>
                </a:solidFill>
              </a:rPr>
              <a:t> table</a:t>
            </a:r>
          </a:p>
          <a:p>
            <a:endParaRPr lang="en-IN" dirty="0">
              <a:solidFill>
                <a:srgbClr val="C00000"/>
              </a:solidFill>
            </a:endParaRPr>
          </a:p>
          <a:p>
            <a:r>
              <a:rPr lang="en-IN" dirty="0"/>
              <a:t>To modify values from the packet’s headers, add rules to the </a:t>
            </a:r>
            <a:r>
              <a:rPr lang="en-IN" dirty="0">
                <a:solidFill>
                  <a:srgbClr val="C00000"/>
                </a:solidFill>
              </a:rPr>
              <a:t>mangle table</a:t>
            </a:r>
          </a:p>
          <a:p>
            <a:r>
              <a:rPr lang="en-IN" dirty="0"/>
              <a:t>To skip the connection tracking, add rules with </a:t>
            </a:r>
            <a:r>
              <a:rPr lang="en-IN" dirty="0">
                <a:solidFill>
                  <a:srgbClr val="0070C0"/>
                </a:solidFill>
              </a:rPr>
              <a:t>NOTRACK target</a:t>
            </a:r>
            <a:r>
              <a:rPr lang="en-IN" dirty="0">
                <a:solidFill>
                  <a:srgbClr val="C00000"/>
                </a:solidFill>
              </a:rPr>
              <a:t> </a:t>
            </a:r>
            <a:r>
              <a:rPr lang="en-IN" dirty="0"/>
              <a:t>to the </a:t>
            </a:r>
            <a:r>
              <a:rPr lang="en-IN" dirty="0">
                <a:solidFill>
                  <a:srgbClr val="C00000"/>
                </a:solidFill>
              </a:rPr>
              <a:t>raw table</a:t>
            </a:r>
          </a:p>
          <a:p>
            <a:endParaRPr lang="en-IN" dirty="0">
              <a:solidFill>
                <a:srgbClr val="C00000"/>
              </a:solidFill>
            </a:endParaRPr>
          </a:p>
          <a:p>
            <a:endParaRPr lang="en-IN" dirty="0">
              <a:solidFill>
                <a:srgbClr val="C00000"/>
              </a:solidFill>
            </a:endParaRPr>
          </a:p>
          <a:p>
            <a:endParaRPr lang="en-IN" dirty="0">
              <a:solidFill>
                <a:srgbClr val="C00000"/>
              </a:solidFill>
            </a:endParaRPr>
          </a:p>
          <a:p>
            <a:endParaRPr lang="en-IN" dirty="0">
              <a:solidFill>
                <a:srgbClr val="C00000"/>
              </a:solidFill>
            </a:endParaRPr>
          </a:p>
          <a:p>
            <a:endParaRPr lang="en-IN" dirty="0"/>
          </a:p>
        </p:txBody>
      </p:sp>
    </p:spTree>
    <p:extLst>
      <p:ext uri="{BB962C8B-B14F-4D97-AF65-F5344CB8AC3E}">
        <p14:creationId xmlns:p14="http://schemas.microsoft.com/office/powerpoint/2010/main" val="29591907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6E456-CD24-1588-CF70-9E527C17DC2B}"/>
              </a:ext>
            </a:extLst>
          </p:cNvPr>
          <p:cNvSpPr>
            <a:spLocks noGrp="1"/>
          </p:cNvSpPr>
          <p:nvPr>
            <p:ph type="title"/>
          </p:nvPr>
        </p:nvSpPr>
        <p:spPr/>
        <p:txBody>
          <a:bodyPr/>
          <a:lstStyle/>
          <a:p>
            <a:r>
              <a:rPr lang="en-IN" dirty="0"/>
              <a:t>iptables Command</a:t>
            </a:r>
          </a:p>
        </p:txBody>
      </p:sp>
      <p:sp>
        <p:nvSpPr>
          <p:cNvPr id="3" name="Content Placeholder 2">
            <a:extLst>
              <a:ext uri="{FF2B5EF4-FFF2-40B4-BE49-F238E27FC236}">
                <a16:creationId xmlns:a16="http://schemas.microsoft.com/office/drawing/2014/main" id="{2298F22A-9E5C-E2E8-ED7C-0A3535A4F73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08AB786-CBAF-A379-2F75-CA70A0A93522}"/>
              </a:ext>
            </a:extLst>
          </p:cNvPr>
          <p:cNvPicPr>
            <a:picLocks noChangeAspect="1"/>
          </p:cNvPicPr>
          <p:nvPr/>
        </p:nvPicPr>
        <p:blipFill>
          <a:blip r:embed="rId2"/>
          <a:stretch>
            <a:fillRect/>
          </a:stretch>
        </p:blipFill>
        <p:spPr>
          <a:xfrm>
            <a:off x="1244759" y="1454589"/>
            <a:ext cx="9358172" cy="4494081"/>
          </a:xfrm>
          <a:prstGeom prst="rect">
            <a:avLst/>
          </a:prstGeom>
        </p:spPr>
      </p:pic>
    </p:spTree>
    <p:extLst>
      <p:ext uri="{BB962C8B-B14F-4D97-AF65-F5344CB8AC3E}">
        <p14:creationId xmlns:p14="http://schemas.microsoft.com/office/powerpoint/2010/main" val="28456552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66AAC6-8F02-4DC4-9B94-A0BB5C91BCBA}"/>
              </a:ext>
            </a:extLst>
          </p:cNvPr>
          <p:cNvSpPr>
            <a:spLocks noGrp="1"/>
          </p:cNvSpPr>
          <p:nvPr>
            <p:ph type="title"/>
          </p:nvPr>
        </p:nvSpPr>
        <p:spPr/>
        <p:txBody>
          <a:bodyPr/>
          <a:lstStyle/>
          <a:p>
            <a:r>
              <a:rPr lang="en-IN" dirty="0"/>
              <a:t>iptables Hands-on</a:t>
            </a:r>
          </a:p>
        </p:txBody>
      </p:sp>
      <p:sp>
        <p:nvSpPr>
          <p:cNvPr id="5" name="Text Placeholder 4">
            <a:extLst>
              <a:ext uri="{FF2B5EF4-FFF2-40B4-BE49-F238E27FC236}">
                <a16:creationId xmlns:a16="http://schemas.microsoft.com/office/drawing/2014/main" id="{886E9980-533A-927B-0448-02CCE63B490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723370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04798F-4539-5A04-4922-7493F24AF46B}"/>
              </a:ext>
            </a:extLst>
          </p:cNvPr>
          <p:cNvSpPr>
            <a:spLocks noGrp="1"/>
          </p:cNvSpPr>
          <p:nvPr>
            <p:ph type="title"/>
          </p:nvPr>
        </p:nvSpPr>
        <p:spPr/>
        <p:txBody>
          <a:bodyPr/>
          <a:lstStyle/>
          <a:p>
            <a:r>
              <a:rPr lang="en-IN" dirty="0"/>
              <a:t>Requirements</a:t>
            </a:r>
          </a:p>
        </p:txBody>
      </p:sp>
      <p:sp>
        <p:nvSpPr>
          <p:cNvPr id="5" name="Content Placeholder 4">
            <a:extLst>
              <a:ext uri="{FF2B5EF4-FFF2-40B4-BE49-F238E27FC236}">
                <a16:creationId xmlns:a16="http://schemas.microsoft.com/office/drawing/2014/main" id="{4B918F7D-5031-EF52-68C7-A448108CB7D4}"/>
              </a:ext>
            </a:extLst>
          </p:cNvPr>
          <p:cNvSpPr>
            <a:spLocks noGrp="1"/>
          </p:cNvSpPr>
          <p:nvPr>
            <p:ph idx="1"/>
          </p:nvPr>
        </p:nvSpPr>
        <p:spPr/>
        <p:txBody>
          <a:bodyPr/>
          <a:lstStyle/>
          <a:p>
            <a:r>
              <a:rPr lang="en-IN" dirty="0"/>
              <a:t>Oracle VirtualBox</a:t>
            </a:r>
          </a:p>
          <a:p>
            <a:r>
              <a:rPr lang="en-IN" dirty="0"/>
              <a:t>Install Some </a:t>
            </a:r>
            <a:r>
              <a:rPr lang="en-IN" dirty="0" err="1"/>
              <a:t>linux</a:t>
            </a:r>
            <a:r>
              <a:rPr lang="en-IN" dirty="0"/>
              <a:t> (e.g. Kali Linux)</a:t>
            </a:r>
          </a:p>
          <a:p>
            <a:r>
              <a:rPr lang="en-IN" dirty="0"/>
              <a:t>Install a second VM (e.g. Metasploit machine)</a:t>
            </a:r>
          </a:p>
        </p:txBody>
      </p:sp>
    </p:spTree>
    <p:extLst>
      <p:ext uri="{BB962C8B-B14F-4D97-AF65-F5344CB8AC3E}">
        <p14:creationId xmlns:p14="http://schemas.microsoft.com/office/powerpoint/2010/main" val="1492269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B0425-0761-CD2C-9396-2DB620DFAB8E}"/>
              </a:ext>
            </a:extLst>
          </p:cNvPr>
          <p:cNvSpPr>
            <a:spLocks noGrp="1"/>
          </p:cNvSpPr>
          <p:nvPr>
            <p:ph type="title"/>
          </p:nvPr>
        </p:nvSpPr>
        <p:spPr/>
        <p:txBody>
          <a:bodyPr/>
          <a:lstStyle/>
          <a:p>
            <a:r>
              <a:rPr lang="en-IN" dirty="0"/>
              <a:t>Kali Linux - Login as </a:t>
            </a:r>
            <a:r>
              <a:rPr lang="en-IN" dirty="0" err="1"/>
              <a:t>su</a:t>
            </a:r>
            <a:endParaRPr lang="en-IN" dirty="0"/>
          </a:p>
        </p:txBody>
      </p:sp>
      <p:sp>
        <p:nvSpPr>
          <p:cNvPr id="3" name="Content Placeholder 2">
            <a:extLst>
              <a:ext uri="{FF2B5EF4-FFF2-40B4-BE49-F238E27FC236}">
                <a16:creationId xmlns:a16="http://schemas.microsoft.com/office/drawing/2014/main" id="{B2567D54-F8C2-BADE-BF78-CF41850FB5D4}"/>
              </a:ext>
            </a:extLst>
          </p:cNvPr>
          <p:cNvSpPr>
            <a:spLocks noGrp="1"/>
          </p:cNvSpPr>
          <p:nvPr>
            <p:ph idx="1"/>
          </p:nvPr>
        </p:nvSpPr>
        <p:spPr/>
        <p:txBody>
          <a:bodyPr/>
          <a:lstStyle/>
          <a:p>
            <a:r>
              <a:rPr lang="en-IN" dirty="0"/>
              <a:t>On the Kali Linux VM, </a:t>
            </a:r>
            <a:r>
              <a:rPr lang="en-IN" b="1" dirty="0" err="1"/>
              <a:t>sudo</a:t>
            </a:r>
            <a:r>
              <a:rPr lang="en-IN" b="1" dirty="0"/>
              <a:t> </a:t>
            </a:r>
            <a:r>
              <a:rPr lang="en-IN" b="1" dirty="0" err="1"/>
              <a:t>su</a:t>
            </a:r>
            <a:r>
              <a:rPr lang="en-IN" dirty="0"/>
              <a:t> and password for your user id</a:t>
            </a:r>
          </a:p>
          <a:p>
            <a:endParaRPr lang="en-IN" dirty="0"/>
          </a:p>
          <a:p>
            <a:endParaRPr lang="en-IN" dirty="0"/>
          </a:p>
          <a:p>
            <a:endParaRPr lang="en-IN" dirty="0"/>
          </a:p>
          <a:p>
            <a:endParaRPr lang="en-IN" dirty="0"/>
          </a:p>
          <a:p>
            <a:r>
              <a:rPr lang="en-IN" dirty="0"/>
              <a:t>iptables -L</a:t>
            </a:r>
          </a:p>
        </p:txBody>
      </p:sp>
      <p:pic>
        <p:nvPicPr>
          <p:cNvPr id="5" name="Picture 4">
            <a:extLst>
              <a:ext uri="{FF2B5EF4-FFF2-40B4-BE49-F238E27FC236}">
                <a16:creationId xmlns:a16="http://schemas.microsoft.com/office/drawing/2014/main" id="{41DEBA51-E515-6174-791A-536B8351C332}"/>
              </a:ext>
            </a:extLst>
          </p:cNvPr>
          <p:cNvPicPr>
            <a:picLocks noChangeAspect="1"/>
          </p:cNvPicPr>
          <p:nvPr/>
        </p:nvPicPr>
        <p:blipFill>
          <a:blip r:embed="rId2"/>
          <a:stretch>
            <a:fillRect/>
          </a:stretch>
        </p:blipFill>
        <p:spPr>
          <a:xfrm>
            <a:off x="1989156" y="2554153"/>
            <a:ext cx="4661647" cy="1553882"/>
          </a:xfrm>
          <a:prstGeom prst="rect">
            <a:avLst/>
          </a:prstGeom>
        </p:spPr>
      </p:pic>
      <p:pic>
        <p:nvPicPr>
          <p:cNvPr id="7" name="Picture 6">
            <a:extLst>
              <a:ext uri="{FF2B5EF4-FFF2-40B4-BE49-F238E27FC236}">
                <a16:creationId xmlns:a16="http://schemas.microsoft.com/office/drawing/2014/main" id="{73F4C946-ADCF-823D-32B5-0CDA2D81E8A3}"/>
              </a:ext>
            </a:extLst>
          </p:cNvPr>
          <p:cNvPicPr>
            <a:picLocks noChangeAspect="1"/>
          </p:cNvPicPr>
          <p:nvPr/>
        </p:nvPicPr>
        <p:blipFill>
          <a:blip r:embed="rId3"/>
          <a:stretch>
            <a:fillRect/>
          </a:stretch>
        </p:blipFill>
        <p:spPr>
          <a:xfrm>
            <a:off x="3813779" y="4222424"/>
            <a:ext cx="6172701" cy="2517204"/>
          </a:xfrm>
          <a:prstGeom prst="rect">
            <a:avLst/>
          </a:prstGeom>
        </p:spPr>
      </p:pic>
    </p:spTree>
    <p:extLst>
      <p:ext uri="{BB962C8B-B14F-4D97-AF65-F5344CB8AC3E}">
        <p14:creationId xmlns:p14="http://schemas.microsoft.com/office/powerpoint/2010/main" val="24125287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3EE71-50B7-2F8A-3886-8F33A94EF6F2}"/>
              </a:ext>
            </a:extLst>
          </p:cNvPr>
          <p:cNvSpPr>
            <a:spLocks noGrp="1"/>
          </p:cNvSpPr>
          <p:nvPr>
            <p:ph type="title"/>
          </p:nvPr>
        </p:nvSpPr>
        <p:spPr/>
        <p:txBody>
          <a:bodyPr/>
          <a:lstStyle/>
          <a:p>
            <a:r>
              <a:rPr lang="en-IN" dirty="0"/>
              <a:t>Check IP Addresses of Both</a:t>
            </a:r>
          </a:p>
        </p:txBody>
      </p:sp>
      <p:sp>
        <p:nvSpPr>
          <p:cNvPr id="3" name="Content Placeholder 2">
            <a:extLst>
              <a:ext uri="{FF2B5EF4-FFF2-40B4-BE49-F238E27FC236}">
                <a16:creationId xmlns:a16="http://schemas.microsoft.com/office/drawing/2014/main" id="{A719DEC0-477B-286A-E122-DBD3B0F895EA}"/>
              </a:ext>
            </a:extLst>
          </p:cNvPr>
          <p:cNvSpPr>
            <a:spLocks noGrp="1"/>
          </p:cNvSpPr>
          <p:nvPr>
            <p:ph idx="1"/>
          </p:nvPr>
        </p:nvSpPr>
        <p:spPr/>
        <p:txBody>
          <a:bodyPr/>
          <a:lstStyle/>
          <a:p>
            <a:r>
              <a:rPr lang="en-IN" dirty="0"/>
              <a:t>Kali Linux: </a:t>
            </a:r>
            <a:r>
              <a:rPr lang="en-IN" b="1" dirty="0" err="1"/>
              <a:t>ifconfig</a:t>
            </a:r>
            <a:endParaRPr lang="en-IN" b="1" dirty="0"/>
          </a:p>
          <a:p>
            <a:endParaRPr lang="en-IN" b="1" dirty="0"/>
          </a:p>
          <a:p>
            <a:endParaRPr lang="en-IN" b="1" dirty="0"/>
          </a:p>
          <a:p>
            <a:endParaRPr lang="en-IN" b="1" dirty="0"/>
          </a:p>
          <a:p>
            <a:endParaRPr lang="en-IN" b="1" dirty="0"/>
          </a:p>
          <a:p>
            <a:r>
              <a:rPr lang="en-IN" dirty="0"/>
              <a:t>Metasploit: </a:t>
            </a:r>
            <a:r>
              <a:rPr lang="en-IN" b="1" dirty="0" err="1"/>
              <a:t>ifconfig</a:t>
            </a:r>
            <a:endParaRPr lang="en-IN" dirty="0"/>
          </a:p>
        </p:txBody>
      </p:sp>
      <p:pic>
        <p:nvPicPr>
          <p:cNvPr id="5" name="Picture 4">
            <a:extLst>
              <a:ext uri="{FF2B5EF4-FFF2-40B4-BE49-F238E27FC236}">
                <a16:creationId xmlns:a16="http://schemas.microsoft.com/office/drawing/2014/main" id="{A3BFDDB9-D15B-FC46-F110-EE1ED4A7DDDC}"/>
              </a:ext>
            </a:extLst>
          </p:cNvPr>
          <p:cNvPicPr>
            <a:picLocks noChangeAspect="1"/>
          </p:cNvPicPr>
          <p:nvPr/>
        </p:nvPicPr>
        <p:blipFill>
          <a:blip r:embed="rId2"/>
          <a:stretch>
            <a:fillRect/>
          </a:stretch>
        </p:blipFill>
        <p:spPr>
          <a:xfrm>
            <a:off x="915853" y="2404144"/>
            <a:ext cx="5962956" cy="1720938"/>
          </a:xfrm>
          <a:prstGeom prst="rect">
            <a:avLst/>
          </a:prstGeom>
        </p:spPr>
      </p:pic>
      <p:pic>
        <p:nvPicPr>
          <p:cNvPr id="7" name="Picture 6">
            <a:extLst>
              <a:ext uri="{FF2B5EF4-FFF2-40B4-BE49-F238E27FC236}">
                <a16:creationId xmlns:a16="http://schemas.microsoft.com/office/drawing/2014/main" id="{15E674A6-3501-24A9-B6C8-85FBA81548D6}"/>
              </a:ext>
            </a:extLst>
          </p:cNvPr>
          <p:cNvPicPr>
            <a:picLocks noChangeAspect="1"/>
          </p:cNvPicPr>
          <p:nvPr/>
        </p:nvPicPr>
        <p:blipFill>
          <a:blip r:embed="rId3"/>
          <a:stretch>
            <a:fillRect/>
          </a:stretch>
        </p:blipFill>
        <p:spPr>
          <a:xfrm>
            <a:off x="1837993" y="4900530"/>
            <a:ext cx="6186124" cy="1488777"/>
          </a:xfrm>
          <a:prstGeom prst="rect">
            <a:avLst/>
          </a:prstGeom>
        </p:spPr>
      </p:pic>
    </p:spTree>
    <p:extLst>
      <p:ext uri="{BB962C8B-B14F-4D97-AF65-F5344CB8AC3E}">
        <p14:creationId xmlns:p14="http://schemas.microsoft.com/office/powerpoint/2010/main" val="6389002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7D413-6E83-D431-653E-3613C05D9935}"/>
              </a:ext>
            </a:extLst>
          </p:cNvPr>
          <p:cNvSpPr>
            <a:spLocks noGrp="1"/>
          </p:cNvSpPr>
          <p:nvPr>
            <p:ph type="title"/>
          </p:nvPr>
        </p:nvSpPr>
        <p:spPr/>
        <p:txBody>
          <a:bodyPr/>
          <a:lstStyle/>
          <a:p>
            <a:r>
              <a:rPr lang="en-IN" dirty="0"/>
              <a:t>Exercise 1: Try Adding a Rule Using iptables</a:t>
            </a:r>
          </a:p>
        </p:txBody>
      </p:sp>
      <p:sp>
        <p:nvSpPr>
          <p:cNvPr id="3" name="Content Placeholder 2">
            <a:extLst>
              <a:ext uri="{FF2B5EF4-FFF2-40B4-BE49-F238E27FC236}">
                <a16:creationId xmlns:a16="http://schemas.microsoft.com/office/drawing/2014/main" id="{E980B2B0-2A30-95E2-F710-A3AA8EFE511C}"/>
              </a:ext>
            </a:extLst>
          </p:cNvPr>
          <p:cNvSpPr>
            <a:spLocks noGrp="1"/>
          </p:cNvSpPr>
          <p:nvPr>
            <p:ph idx="1"/>
          </p:nvPr>
        </p:nvSpPr>
        <p:spPr/>
        <p:txBody>
          <a:bodyPr/>
          <a:lstStyle/>
          <a:p>
            <a:r>
              <a:rPr lang="en-IN" dirty="0"/>
              <a:t>Kali Linux IP address was 192.168.0.36</a:t>
            </a:r>
          </a:p>
          <a:p>
            <a:r>
              <a:rPr lang="en-IN" dirty="0"/>
              <a:t>Metasploit IP address was 192.168.0.28</a:t>
            </a:r>
          </a:p>
          <a:p>
            <a:endParaRPr lang="en-IN" dirty="0"/>
          </a:p>
          <a:p>
            <a:r>
              <a:rPr lang="en-IN" dirty="0"/>
              <a:t>Ping Kali from Metasploit – Make sure it works</a:t>
            </a:r>
          </a:p>
          <a:p>
            <a:r>
              <a:rPr lang="en-IN" dirty="0"/>
              <a:t>Then add iptables rule to Kali to drop the packet</a:t>
            </a:r>
          </a:p>
          <a:p>
            <a:r>
              <a:rPr lang="en-IN" dirty="0"/>
              <a:t>Metasploit ping to Kali should stop</a:t>
            </a:r>
          </a:p>
        </p:txBody>
      </p:sp>
    </p:spTree>
    <p:extLst>
      <p:ext uri="{BB962C8B-B14F-4D97-AF65-F5344CB8AC3E}">
        <p14:creationId xmlns:p14="http://schemas.microsoft.com/office/powerpoint/2010/main" val="11075025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704B7-252F-07AF-C8AD-BF4462D1EE8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28146FB-812C-8659-6C51-5EEC6AA1A638}"/>
              </a:ext>
            </a:extLst>
          </p:cNvPr>
          <p:cNvSpPr>
            <a:spLocks noGrp="1"/>
          </p:cNvSpPr>
          <p:nvPr>
            <p:ph idx="1"/>
          </p:nvPr>
        </p:nvSpPr>
        <p:spPr/>
        <p:txBody>
          <a:bodyPr/>
          <a:lstStyle/>
          <a:p>
            <a:r>
              <a:rPr lang="en-IN" dirty="0"/>
              <a:t>On Metasploit: </a:t>
            </a:r>
            <a:r>
              <a:rPr lang="en-IN" b="1" dirty="0"/>
              <a:t>ping 192.168.0.36</a:t>
            </a:r>
          </a:p>
          <a:p>
            <a:endParaRPr lang="en-IN" b="1" dirty="0"/>
          </a:p>
          <a:p>
            <a:endParaRPr lang="en-IN" b="1" dirty="0"/>
          </a:p>
          <a:p>
            <a:endParaRPr lang="en-IN" b="1" dirty="0"/>
          </a:p>
          <a:p>
            <a:endParaRPr lang="en-IN" b="1" dirty="0"/>
          </a:p>
          <a:p>
            <a:r>
              <a:rPr lang="en-IN" dirty="0"/>
              <a:t>On Kali: </a:t>
            </a:r>
            <a:r>
              <a:rPr lang="en-IN" b="1" dirty="0"/>
              <a:t>iptables -t filter -A INPUT -p </a:t>
            </a:r>
            <a:r>
              <a:rPr lang="en-IN" b="1" dirty="0" err="1"/>
              <a:t>icmp</a:t>
            </a:r>
            <a:r>
              <a:rPr lang="en-IN" b="1" dirty="0"/>
              <a:t> --</a:t>
            </a:r>
            <a:r>
              <a:rPr lang="en-IN" b="1" dirty="0" err="1"/>
              <a:t>icmp</a:t>
            </a:r>
            <a:r>
              <a:rPr lang="en-IN" b="1" dirty="0"/>
              <a:t>-type echo-request -j DROP</a:t>
            </a:r>
          </a:p>
        </p:txBody>
      </p:sp>
      <p:pic>
        <p:nvPicPr>
          <p:cNvPr id="5" name="Picture 4">
            <a:extLst>
              <a:ext uri="{FF2B5EF4-FFF2-40B4-BE49-F238E27FC236}">
                <a16:creationId xmlns:a16="http://schemas.microsoft.com/office/drawing/2014/main" id="{730D8194-B452-EC61-87ED-CACB00591756}"/>
              </a:ext>
            </a:extLst>
          </p:cNvPr>
          <p:cNvPicPr>
            <a:picLocks noChangeAspect="1"/>
          </p:cNvPicPr>
          <p:nvPr/>
        </p:nvPicPr>
        <p:blipFill>
          <a:blip r:embed="rId2"/>
          <a:stretch>
            <a:fillRect/>
          </a:stretch>
        </p:blipFill>
        <p:spPr>
          <a:xfrm>
            <a:off x="1113608" y="2336763"/>
            <a:ext cx="8646840" cy="355065"/>
          </a:xfrm>
          <a:prstGeom prst="rect">
            <a:avLst/>
          </a:prstGeom>
        </p:spPr>
      </p:pic>
      <p:pic>
        <p:nvPicPr>
          <p:cNvPr id="7" name="Picture 6">
            <a:extLst>
              <a:ext uri="{FF2B5EF4-FFF2-40B4-BE49-F238E27FC236}">
                <a16:creationId xmlns:a16="http://schemas.microsoft.com/office/drawing/2014/main" id="{CFB4A1B8-57CD-6BEE-93CD-03CC2BEF72B3}"/>
              </a:ext>
            </a:extLst>
          </p:cNvPr>
          <p:cNvPicPr>
            <a:picLocks noChangeAspect="1"/>
          </p:cNvPicPr>
          <p:nvPr/>
        </p:nvPicPr>
        <p:blipFill>
          <a:blip r:embed="rId3"/>
          <a:stretch>
            <a:fillRect/>
          </a:stretch>
        </p:blipFill>
        <p:spPr>
          <a:xfrm>
            <a:off x="1113608" y="2668711"/>
            <a:ext cx="8646840" cy="1707236"/>
          </a:xfrm>
          <a:prstGeom prst="rect">
            <a:avLst/>
          </a:prstGeom>
        </p:spPr>
      </p:pic>
      <p:pic>
        <p:nvPicPr>
          <p:cNvPr id="9" name="Picture 8">
            <a:extLst>
              <a:ext uri="{FF2B5EF4-FFF2-40B4-BE49-F238E27FC236}">
                <a16:creationId xmlns:a16="http://schemas.microsoft.com/office/drawing/2014/main" id="{8CFFB3A5-2BBC-402F-6C79-5208EB2C4CE6}"/>
              </a:ext>
            </a:extLst>
          </p:cNvPr>
          <p:cNvPicPr>
            <a:picLocks noChangeAspect="1"/>
          </p:cNvPicPr>
          <p:nvPr/>
        </p:nvPicPr>
        <p:blipFill>
          <a:blip r:embed="rId4"/>
          <a:stretch>
            <a:fillRect/>
          </a:stretch>
        </p:blipFill>
        <p:spPr>
          <a:xfrm>
            <a:off x="1137642" y="5260641"/>
            <a:ext cx="10468985" cy="916322"/>
          </a:xfrm>
          <a:prstGeom prst="rect">
            <a:avLst/>
          </a:prstGeom>
        </p:spPr>
      </p:pic>
    </p:spTree>
    <p:extLst>
      <p:ext uri="{BB962C8B-B14F-4D97-AF65-F5344CB8AC3E}">
        <p14:creationId xmlns:p14="http://schemas.microsoft.com/office/powerpoint/2010/main" val="27650250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547CA-E504-88A3-5908-0EC855123D26}"/>
              </a:ext>
            </a:extLst>
          </p:cNvPr>
          <p:cNvSpPr>
            <a:spLocks noGrp="1"/>
          </p:cNvSpPr>
          <p:nvPr>
            <p:ph type="title"/>
          </p:nvPr>
        </p:nvSpPr>
        <p:spPr/>
        <p:txBody>
          <a:bodyPr/>
          <a:lstStyle/>
          <a:p>
            <a:r>
              <a:rPr lang="en-IN" dirty="0"/>
              <a:t>Result</a:t>
            </a:r>
          </a:p>
        </p:txBody>
      </p:sp>
      <p:sp>
        <p:nvSpPr>
          <p:cNvPr id="3" name="Content Placeholder 2">
            <a:extLst>
              <a:ext uri="{FF2B5EF4-FFF2-40B4-BE49-F238E27FC236}">
                <a16:creationId xmlns:a16="http://schemas.microsoft.com/office/drawing/2014/main" id="{327E5635-D193-5149-1EF3-AFA24BECB088}"/>
              </a:ext>
            </a:extLst>
          </p:cNvPr>
          <p:cNvSpPr>
            <a:spLocks noGrp="1"/>
          </p:cNvSpPr>
          <p:nvPr>
            <p:ph idx="1"/>
          </p:nvPr>
        </p:nvSpPr>
        <p:spPr/>
        <p:txBody>
          <a:bodyPr/>
          <a:lstStyle/>
          <a:p>
            <a:r>
              <a:rPr lang="en-IN" dirty="0"/>
              <a:t>Check Metasploit: ping should have stopped</a:t>
            </a:r>
          </a:p>
          <a:p>
            <a:endParaRPr lang="en-IN" dirty="0"/>
          </a:p>
          <a:p>
            <a:r>
              <a:rPr lang="en-IN" dirty="0"/>
              <a:t>On Kali: </a:t>
            </a:r>
            <a:r>
              <a:rPr lang="en-IN" b="1" dirty="0"/>
              <a:t>iptables -</a:t>
            </a:r>
            <a:r>
              <a:rPr lang="en-IN" b="1" dirty="0" err="1"/>
              <a:t>vnL</a:t>
            </a:r>
            <a:endParaRPr lang="en-IN" dirty="0"/>
          </a:p>
        </p:txBody>
      </p:sp>
      <p:pic>
        <p:nvPicPr>
          <p:cNvPr id="5" name="Picture 4">
            <a:extLst>
              <a:ext uri="{FF2B5EF4-FFF2-40B4-BE49-F238E27FC236}">
                <a16:creationId xmlns:a16="http://schemas.microsoft.com/office/drawing/2014/main" id="{B035C7AF-2134-CC06-682F-4188327E8B6F}"/>
              </a:ext>
            </a:extLst>
          </p:cNvPr>
          <p:cNvPicPr>
            <a:picLocks noChangeAspect="1"/>
          </p:cNvPicPr>
          <p:nvPr/>
        </p:nvPicPr>
        <p:blipFill>
          <a:blip r:embed="rId2"/>
          <a:stretch>
            <a:fillRect/>
          </a:stretch>
        </p:blipFill>
        <p:spPr>
          <a:xfrm>
            <a:off x="838200" y="3498350"/>
            <a:ext cx="10550154" cy="1464067"/>
          </a:xfrm>
          <a:prstGeom prst="rect">
            <a:avLst/>
          </a:prstGeom>
        </p:spPr>
      </p:pic>
      <p:sp>
        <p:nvSpPr>
          <p:cNvPr id="4" name="Callout: Line with Border and Accent Bar 3">
            <a:extLst>
              <a:ext uri="{FF2B5EF4-FFF2-40B4-BE49-F238E27FC236}">
                <a16:creationId xmlns:a16="http://schemas.microsoft.com/office/drawing/2014/main" id="{91828A99-145C-FBDD-5972-3CB9D01969AF}"/>
              </a:ext>
            </a:extLst>
          </p:cNvPr>
          <p:cNvSpPr/>
          <p:nvPr/>
        </p:nvSpPr>
        <p:spPr>
          <a:xfrm>
            <a:off x="8404260" y="1438185"/>
            <a:ext cx="3667874" cy="1695236"/>
          </a:xfrm>
          <a:prstGeom prst="accen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L = List rules</a:t>
            </a:r>
          </a:p>
          <a:p>
            <a:pPr algn="ctr"/>
            <a:r>
              <a:rPr lang="en-IN" dirty="0"/>
              <a:t>v = Display detailed information</a:t>
            </a:r>
          </a:p>
          <a:p>
            <a:pPr algn="ctr"/>
            <a:r>
              <a:rPr lang="en-IN" dirty="0"/>
              <a:t>n = Display IP addresses and port numbers in numeric format</a:t>
            </a:r>
          </a:p>
        </p:txBody>
      </p:sp>
    </p:spTree>
    <p:extLst>
      <p:ext uri="{BB962C8B-B14F-4D97-AF65-F5344CB8AC3E}">
        <p14:creationId xmlns:p14="http://schemas.microsoft.com/office/powerpoint/2010/main" val="1415310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98949-33DB-EBE9-CE27-1762D3664E1A}"/>
              </a:ext>
            </a:extLst>
          </p:cNvPr>
          <p:cNvSpPr>
            <a:spLocks noGrp="1"/>
          </p:cNvSpPr>
          <p:nvPr>
            <p:ph type="title"/>
          </p:nvPr>
        </p:nvSpPr>
        <p:spPr/>
        <p:txBody>
          <a:bodyPr/>
          <a:lstStyle/>
          <a:p>
            <a:r>
              <a:rPr lang="en-IN" dirty="0"/>
              <a:t>Exercise 2: Do not Allow Kali Machine to Access www.ubuntu.com</a:t>
            </a:r>
          </a:p>
        </p:txBody>
      </p:sp>
      <p:sp>
        <p:nvSpPr>
          <p:cNvPr id="3" name="Content Placeholder 2">
            <a:extLst>
              <a:ext uri="{FF2B5EF4-FFF2-40B4-BE49-F238E27FC236}">
                <a16:creationId xmlns:a16="http://schemas.microsoft.com/office/drawing/2014/main" id="{C1B4323C-9806-02D3-B768-5508320D7EE9}"/>
              </a:ext>
            </a:extLst>
          </p:cNvPr>
          <p:cNvSpPr>
            <a:spLocks noGrp="1"/>
          </p:cNvSpPr>
          <p:nvPr>
            <p:ph idx="1"/>
          </p:nvPr>
        </p:nvSpPr>
        <p:spPr/>
        <p:txBody>
          <a:bodyPr>
            <a:normAutofit fontScale="62500" lnSpcReduction="20000"/>
          </a:bodyPr>
          <a:lstStyle/>
          <a:p>
            <a:r>
              <a:rPr lang="en-IN" dirty="0"/>
              <a:t>How to construct this command:</a:t>
            </a:r>
          </a:p>
          <a:p>
            <a:r>
              <a:rPr lang="en-IN" dirty="0"/>
              <a:t>We are going to filter traffic, so we are using the </a:t>
            </a:r>
            <a:r>
              <a:rPr lang="en-IN" i="1" dirty="0"/>
              <a:t>filter</a:t>
            </a:r>
            <a:r>
              <a:rPr lang="en-IN" dirty="0"/>
              <a:t> table</a:t>
            </a:r>
          </a:p>
          <a:p>
            <a:r>
              <a:rPr lang="en-IN" dirty="0">
                <a:solidFill>
                  <a:srgbClr val="C00000"/>
                </a:solidFill>
              </a:rPr>
              <a:t>iptables -t filter</a:t>
            </a:r>
          </a:p>
          <a:p>
            <a:r>
              <a:rPr lang="en-IN" dirty="0"/>
              <a:t>We are going to append a new rule</a:t>
            </a:r>
          </a:p>
          <a:p>
            <a:r>
              <a:rPr lang="en-IN" dirty="0">
                <a:solidFill>
                  <a:srgbClr val="C00000"/>
                </a:solidFill>
              </a:rPr>
              <a:t>iptables -t filter -A</a:t>
            </a:r>
          </a:p>
          <a:p>
            <a:r>
              <a:rPr lang="en-IN" dirty="0"/>
              <a:t>We want to match the outgoing traffic, which means the output chain</a:t>
            </a:r>
          </a:p>
          <a:p>
            <a:r>
              <a:rPr lang="en-IN" dirty="0">
                <a:solidFill>
                  <a:srgbClr val="C00000"/>
                </a:solidFill>
              </a:rPr>
              <a:t>iptables -t filter –A OUTPUT</a:t>
            </a:r>
          </a:p>
          <a:p>
            <a:r>
              <a:rPr lang="en-IN" dirty="0"/>
              <a:t>We want to match the outgoing traffic, which means the output chain</a:t>
            </a:r>
          </a:p>
          <a:p>
            <a:r>
              <a:rPr lang="en-IN" dirty="0">
                <a:solidFill>
                  <a:srgbClr val="C00000"/>
                </a:solidFill>
              </a:rPr>
              <a:t>iptables -t filter –A OUTPUT</a:t>
            </a:r>
          </a:p>
          <a:p>
            <a:r>
              <a:rPr lang="en-IN" dirty="0"/>
              <a:t>Matching conditions: protocol = TCP, destination port = 80, URL: www.ubuntu.com</a:t>
            </a:r>
          </a:p>
          <a:p>
            <a:r>
              <a:rPr lang="en-IN" dirty="0">
                <a:solidFill>
                  <a:srgbClr val="C00000"/>
                </a:solidFill>
              </a:rPr>
              <a:t>iptables -t filter -A OUTPUT -p </a:t>
            </a:r>
            <a:r>
              <a:rPr lang="en-IN" dirty="0" err="1">
                <a:solidFill>
                  <a:srgbClr val="C00000"/>
                </a:solidFill>
              </a:rPr>
              <a:t>tcp</a:t>
            </a:r>
            <a:r>
              <a:rPr lang="en-IN" dirty="0">
                <a:solidFill>
                  <a:srgbClr val="C00000"/>
                </a:solidFill>
              </a:rPr>
              <a:t> --</a:t>
            </a:r>
            <a:r>
              <a:rPr lang="en-IN" dirty="0" err="1">
                <a:solidFill>
                  <a:srgbClr val="C00000"/>
                </a:solidFill>
              </a:rPr>
              <a:t>dport</a:t>
            </a:r>
            <a:r>
              <a:rPr lang="en-IN" dirty="0">
                <a:solidFill>
                  <a:srgbClr val="C00000"/>
                </a:solidFill>
              </a:rPr>
              <a:t> 80 -d www.ubuntu.com</a:t>
            </a:r>
          </a:p>
          <a:p>
            <a:r>
              <a:rPr lang="en-IN" dirty="0"/>
              <a:t>Execute (j)ump to the following result: drop the packet</a:t>
            </a:r>
          </a:p>
          <a:p>
            <a:r>
              <a:rPr lang="en-IN" dirty="0">
                <a:solidFill>
                  <a:srgbClr val="C00000"/>
                </a:solidFill>
              </a:rPr>
              <a:t>iptables -t filter -A OUTPUT -p </a:t>
            </a:r>
            <a:r>
              <a:rPr lang="en-IN" dirty="0" err="1">
                <a:solidFill>
                  <a:srgbClr val="C00000"/>
                </a:solidFill>
              </a:rPr>
              <a:t>tcp</a:t>
            </a:r>
            <a:r>
              <a:rPr lang="en-IN" dirty="0">
                <a:solidFill>
                  <a:srgbClr val="C00000"/>
                </a:solidFill>
              </a:rPr>
              <a:t> --</a:t>
            </a:r>
            <a:r>
              <a:rPr lang="en-IN" dirty="0" err="1">
                <a:solidFill>
                  <a:srgbClr val="C00000"/>
                </a:solidFill>
              </a:rPr>
              <a:t>dport</a:t>
            </a:r>
            <a:r>
              <a:rPr lang="en-IN" dirty="0">
                <a:solidFill>
                  <a:srgbClr val="C00000"/>
                </a:solidFill>
              </a:rPr>
              <a:t> 80 -d www.ubuntu.com -j DROP</a:t>
            </a:r>
          </a:p>
          <a:p>
            <a:endParaRPr lang="en-IN" dirty="0">
              <a:solidFill>
                <a:srgbClr val="C00000"/>
              </a:solidFill>
            </a:endParaRPr>
          </a:p>
        </p:txBody>
      </p:sp>
    </p:spTree>
    <p:extLst>
      <p:ext uri="{BB962C8B-B14F-4D97-AF65-F5344CB8AC3E}">
        <p14:creationId xmlns:p14="http://schemas.microsoft.com/office/powerpoint/2010/main" val="26911724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7E9AB-7236-00C3-E7E9-AE8E66D37567}"/>
              </a:ext>
            </a:extLst>
          </p:cNvPr>
          <p:cNvSpPr>
            <a:spLocks noGrp="1"/>
          </p:cNvSpPr>
          <p:nvPr>
            <p:ph type="title"/>
          </p:nvPr>
        </p:nvSpPr>
        <p:spPr/>
        <p:txBody>
          <a:bodyPr/>
          <a:lstStyle/>
          <a:p>
            <a:r>
              <a:rPr lang="en-IN" dirty="0"/>
              <a:t>Let us first check if the page is accessible</a:t>
            </a:r>
          </a:p>
        </p:txBody>
      </p:sp>
      <p:sp>
        <p:nvSpPr>
          <p:cNvPr id="3" name="Content Placeholder 2">
            <a:extLst>
              <a:ext uri="{FF2B5EF4-FFF2-40B4-BE49-F238E27FC236}">
                <a16:creationId xmlns:a16="http://schemas.microsoft.com/office/drawing/2014/main" id="{B3791755-293F-F480-22E6-43364E16910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DC35D2F-A5B7-E675-5D20-8A5C296E06D1}"/>
              </a:ext>
            </a:extLst>
          </p:cNvPr>
          <p:cNvPicPr>
            <a:picLocks noChangeAspect="1"/>
          </p:cNvPicPr>
          <p:nvPr/>
        </p:nvPicPr>
        <p:blipFill>
          <a:blip r:embed="rId2"/>
          <a:stretch>
            <a:fillRect/>
          </a:stretch>
        </p:blipFill>
        <p:spPr>
          <a:xfrm>
            <a:off x="1966737" y="1485285"/>
            <a:ext cx="7518786" cy="4483330"/>
          </a:xfrm>
          <a:prstGeom prst="rect">
            <a:avLst/>
          </a:prstGeom>
        </p:spPr>
      </p:pic>
    </p:spTree>
    <p:extLst>
      <p:ext uri="{BB962C8B-B14F-4D97-AF65-F5344CB8AC3E}">
        <p14:creationId xmlns:p14="http://schemas.microsoft.com/office/powerpoint/2010/main" val="29476446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AAA68-98C6-420F-3299-DCD936B9EB3E}"/>
              </a:ext>
            </a:extLst>
          </p:cNvPr>
          <p:cNvSpPr>
            <a:spLocks noGrp="1"/>
          </p:cNvSpPr>
          <p:nvPr>
            <p:ph type="title"/>
          </p:nvPr>
        </p:nvSpPr>
        <p:spPr/>
        <p:txBody>
          <a:bodyPr/>
          <a:lstStyle/>
          <a:p>
            <a:r>
              <a:rPr lang="en-IN" dirty="0"/>
              <a:t>Now Add iptables Rule for Port 80 and 443 Also</a:t>
            </a:r>
          </a:p>
        </p:txBody>
      </p:sp>
      <p:sp>
        <p:nvSpPr>
          <p:cNvPr id="3" name="Content Placeholder 2">
            <a:extLst>
              <a:ext uri="{FF2B5EF4-FFF2-40B4-BE49-F238E27FC236}">
                <a16:creationId xmlns:a16="http://schemas.microsoft.com/office/drawing/2014/main" id="{0DCC5888-60D4-6BF6-DA55-893C709ED670}"/>
              </a:ext>
            </a:extLst>
          </p:cNvPr>
          <p:cNvSpPr>
            <a:spLocks noGrp="1"/>
          </p:cNvSpPr>
          <p:nvPr>
            <p:ph idx="1"/>
          </p:nvPr>
        </p:nvSpPr>
        <p:spPr/>
        <p:txBody>
          <a:bodyPr/>
          <a:lstStyle/>
          <a:p>
            <a:r>
              <a:rPr lang="en-IN" dirty="0">
                <a:solidFill>
                  <a:srgbClr val="C00000"/>
                </a:solidFill>
              </a:rPr>
              <a:t>iptables -t filter -A OUTPUT -p </a:t>
            </a:r>
            <a:r>
              <a:rPr lang="en-IN" dirty="0" err="1">
                <a:solidFill>
                  <a:srgbClr val="C00000"/>
                </a:solidFill>
              </a:rPr>
              <a:t>tcp</a:t>
            </a:r>
            <a:r>
              <a:rPr lang="en-IN" dirty="0">
                <a:solidFill>
                  <a:srgbClr val="C00000"/>
                </a:solidFill>
              </a:rPr>
              <a:t> --</a:t>
            </a:r>
            <a:r>
              <a:rPr lang="en-IN" dirty="0" err="1">
                <a:solidFill>
                  <a:srgbClr val="C00000"/>
                </a:solidFill>
              </a:rPr>
              <a:t>dport</a:t>
            </a:r>
            <a:r>
              <a:rPr lang="en-IN" dirty="0">
                <a:solidFill>
                  <a:srgbClr val="C00000"/>
                </a:solidFill>
              </a:rPr>
              <a:t> 80 -d www.ubuntu.com -j DROP</a:t>
            </a:r>
          </a:p>
          <a:p>
            <a:r>
              <a:rPr lang="en-IN" dirty="0">
                <a:solidFill>
                  <a:srgbClr val="C00000"/>
                </a:solidFill>
              </a:rPr>
              <a:t>iptables -t filter -A OUTPUT -p </a:t>
            </a:r>
            <a:r>
              <a:rPr lang="en-IN" dirty="0" err="1">
                <a:solidFill>
                  <a:srgbClr val="C00000"/>
                </a:solidFill>
              </a:rPr>
              <a:t>tcp</a:t>
            </a:r>
            <a:r>
              <a:rPr lang="en-IN" dirty="0">
                <a:solidFill>
                  <a:srgbClr val="C00000"/>
                </a:solidFill>
              </a:rPr>
              <a:t> --</a:t>
            </a:r>
            <a:r>
              <a:rPr lang="en-IN" dirty="0" err="1">
                <a:solidFill>
                  <a:srgbClr val="C00000"/>
                </a:solidFill>
              </a:rPr>
              <a:t>dport</a:t>
            </a:r>
            <a:r>
              <a:rPr lang="en-IN" dirty="0">
                <a:solidFill>
                  <a:srgbClr val="C00000"/>
                </a:solidFill>
              </a:rPr>
              <a:t> 443 -d www.ubuntu.com -j DROP</a:t>
            </a:r>
            <a:endParaRPr lang="en-IN" dirty="0"/>
          </a:p>
          <a:p>
            <a:endParaRPr lang="en-IN" dirty="0"/>
          </a:p>
        </p:txBody>
      </p:sp>
      <p:pic>
        <p:nvPicPr>
          <p:cNvPr id="5" name="Picture 4">
            <a:extLst>
              <a:ext uri="{FF2B5EF4-FFF2-40B4-BE49-F238E27FC236}">
                <a16:creationId xmlns:a16="http://schemas.microsoft.com/office/drawing/2014/main" id="{0873EEB2-E279-0126-007C-88FDD14D1BE5}"/>
              </a:ext>
            </a:extLst>
          </p:cNvPr>
          <p:cNvPicPr>
            <a:picLocks noChangeAspect="1"/>
          </p:cNvPicPr>
          <p:nvPr/>
        </p:nvPicPr>
        <p:blipFill>
          <a:blip r:embed="rId2"/>
          <a:stretch>
            <a:fillRect/>
          </a:stretch>
        </p:blipFill>
        <p:spPr>
          <a:xfrm>
            <a:off x="1489302" y="3785796"/>
            <a:ext cx="9213395" cy="1443749"/>
          </a:xfrm>
          <a:prstGeom prst="rect">
            <a:avLst/>
          </a:prstGeom>
        </p:spPr>
      </p:pic>
    </p:spTree>
    <p:extLst>
      <p:ext uri="{BB962C8B-B14F-4D97-AF65-F5344CB8AC3E}">
        <p14:creationId xmlns:p14="http://schemas.microsoft.com/office/powerpoint/2010/main" val="2704561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B7DAC-14CA-F6FF-8C3D-AB83F684CC8E}"/>
              </a:ext>
            </a:extLst>
          </p:cNvPr>
          <p:cNvSpPr>
            <a:spLocks noGrp="1"/>
          </p:cNvSpPr>
          <p:nvPr>
            <p:ph type="title"/>
          </p:nvPr>
        </p:nvSpPr>
        <p:spPr/>
        <p:txBody>
          <a:bodyPr/>
          <a:lstStyle/>
          <a:p>
            <a:r>
              <a:rPr lang="en-IN" dirty="0"/>
              <a:t>Now Try Accessing www.ubuntu.com Again</a:t>
            </a:r>
          </a:p>
        </p:txBody>
      </p:sp>
      <p:sp>
        <p:nvSpPr>
          <p:cNvPr id="3" name="Content Placeholder 2">
            <a:extLst>
              <a:ext uri="{FF2B5EF4-FFF2-40B4-BE49-F238E27FC236}">
                <a16:creationId xmlns:a16="http://schemas.microsoft.com/office/drawing/2014/main" id="{DAC16004-2A1A-EB2F-0EE5-2A61568DB9D8}"/>
              </a:ext>
            </a:extLst>
          </p:cNvPr>
          <p:cNvSpPr>
            <a:spLocks noGrp="1"/>
          </p:cNvSpPr>
          <p:nvPr>
            <p:ph idx="1"/>
          </p:nvPr>
        </p:nvSpPr>
        <p:spPr/>
        <p:txBody>
          <a:bodyPr/>
          <a:lstStyle/>
          <a:p>
            <a:r>
              <a:rPr lang="en-IN" dirty="0"/>
              <a:t>Specifically try </a:t>
            </a:r>
            <a:r>
              <a:rPr lang="en-IN" dirty="0">
                <a:hlinkClick r:id="rId2"/>
              </a:rPr>
              <a:t>www.ubuntu.com</a:t>
            </a:r>
            <a:r>
              <a:rPr lang="en-IN" dirty="0"/>
              <a:t> (As mentioned in our filtering rule)</a:t>
            </a:r>
          </a:p>
        </p:txBody>
      </p:sp>
      <p:pic>
        <p:nvPicPr>
          <p:cNvPr id="5" name="Picture 4">
            <a:extLst>
              <a:ext uri="{FF2B5EF4-FFF2-40B4-BE49-F238E27FC236}">
                <a16:creationId xmlns:a16="http://schemas.microsoft.com/office/drawing/2014/main" id="{416E1E0D-FDEF-7051-FE33-06724B605453}"/>
              </a:ext>
            </a:extLst>
          </p:cNvPr>
          <p:cNvPicPr>
            <a:picLocks noChangeAspect="1"/>
          </p:cNvPicPr>
          <p:nvPr/>
        </p:nvPicPr>
        <p:blipFill>
          <a:blip r:embed="rId3"/>
          <a:stretch>
            <a:fillRect/>
          </a:stretch>
        </p:blipFill>
        <p:spPr>
          <a:xfrm>
            <a:off x="1518030" y="2496591"/>
            <a:ext cx="7429882" cy="3899100"/>
          </a:xfrm>
          <a:prstGeom prst="rect">
            <a:avLst/>
          </a:prstGeom>
        </p:spPr>
      </p:pic>
    </p:spTree>
    <p:extLst>
      <p:ext uri="{BB962C8B-B14F-4D97-AF65-F5344CB8AC3E}">
        <p14:creationId xmlns:p14="http://schemas.microsoft.com/office/powerpoint/2010/main" val="26845693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802DA-8D5A-57BF-41A5-542F178810A6}"/>
              </a:ext>
            </a:extLst>
          </p:cNvPr>
          <p:cNvSpPr>
            <a:spLocks noGrp="1"/>
          </p:cNvSpPr>
          <p:nvPr>
            <p:ph type="title"/>
          </p:nvPr>
        </p:nvSpPr>
        <p:spPr/>
        <p:txBody>
          <a:bodyPr/>
          <a:lstStyle/>
          <a:p>
            <a:r>
              <a:rPr lang="en-IN" dirty="0"/>
              <a:t>Verify</a:t>
            </a:r>
          </a:p>
        </p:txBody>
      </p:sp>
      <p:sp>
        <p:nvSpPr>
          <p:cNvPr id="3" name="Content Placeholder 2">
            <a:extLst>
              <a:ext uri="{FF2B5EF4-FFF2-40B4-BE49-F238E27FC236}">
                <a16:creationId xmlns:a16="http://schemas.microsoft.com/office/drawing/2014/main" id="{EE3E0693-32C9-B6CF-58DF-51C10C875FD7}"/>
              </a:ext>
            </a:extLst>
          </p:cNvPr>
          <p:cNvSpPr>
            <a:spLocks noGrp="1"/>
          </p:cNvSpPr>
          <p:nvPr>
            <p:ph idx="1"/>
          </p:nvPr>
        </p:nvSpPr>
        <p:spPr/>
        <p:txBody>
          <a:bodyPr/>
          <a:lstStyle/>
          <a:p>
            <a:r>
              <a:rPr lang="en-IN" b="1" dirty="0"/>
              <a:t>iptables -</a:t>
            </a:r>
            <a:r>
              <a:rPr lang="en-IN" b="1" dirty="0" err="1"/>
              <a:t>vnL</a:t>
            </a:r>
            <a:endParaRPr lang="en-IN" b="1" dirty="0"/>
          </a:p>
        </p:txBody>
      </p:sp>
      <p:pic>
        <p:nvPicPr>
          <p:cNvPr id="5" name="Picture 4">
            <a:extLst>
              <a:ext uri="{FF2B5EF4-FFF2-40B4-BE49-F238E27FC236}">
                <a16:creationId xmlns:a16="http://schemas.microsoft.com/office/drawing/2014/main" id="{1991A754-A7C5-4042-6953-8EAFA799AA9D}"/>
              </a:ext>
            </a:extLst>
          </p:cNvPr>
          <p:cNvPicPr>
            <a:picLocks noChangeAspect="1"/>
          </p:cNvPicPr>
          <p:nvPr/>
        </p:nvPicPr>
        <p:blipFill>
          <a:blip r:embed="rId2"/>
          <a:stretch>
            <a:fillRect/>
          </a:stretch>
        </p:blipFill>
        <p:spPr>
          <a:xfrm>
            <a:off x="1401659" y="2267654"/>
            <a:ext cx="8995788" cy="4148395"/>
          </a:xfrm>
          <a:prstGeom prst="rect">
            <a:avLst/>
          </a:prstGeom>
        </p:spPr>
      </p:pic>
    </p:spTree>
    <p:extLst>
      <p:ext uri="{BB962C8B-B14F-4D97-AF65-F5344CB8AC3E}">
        <p14:creationId xmlns:p14="http://schemas.microsoft.com/office/powerpoint/2010/main" val="26981642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29368-0AF7-0657-DE14-EDB1178B48A9}"/>
              </a:ext>
            </a:extLst>
          </p:cNvPr>
          <p:cNvSpPr>
            <a:spLocks noGrp="1"/>
          </p:cNvSpPr>
          <p:nvPr>
            <p:ph type="title"/>
          </p:nvPr>
        </p:nvSpPr>
        <p:spPr/>
        <p:txBody>
          <a:bodyPr/>
          <a:lstStyle/>
          <a:p>
            <a:r>
              <a:rPr lang="en-IN" dirty="0"/>
              <a:t>Prevent an External/Remote Host from Pretending to be Local to your Network</a:t>
            </a:r>
          </a:p>
        </p:txBody>
      </p:sp>
      <p:sp>
        <p:nvSpPr>
          <p:cNvPr id="3" name="Content Placeholder 2">
            <a:extLst>
              <a:ext uri="{FF2B5EF4-FFF2-40B4-BE49-F238E27FC236}">
                <a16:creationId xmlns:a16="http://schemas.microsoft.com/office/drawing/2014/main" id="{07F6CF15-BBE0-50CC-E96E-B3B1824B3EE1}"/>
              </a:ext>
            </a:extLst>
          </p:cNvPr>
          <p:cNvSpPr>
            <a:spLocks noGrp="1"/>
          </p:cNvSpPr>
          <p:nvPr>
            <p:ph idx="1"/>
          </p:nvPr>
        </p:nvSpPr>
        <p:spPr/>
        <p:txBody>
          <a:bodyPr/>
          <a:lstStyle/>
          <a:p>
            <a:r>
              <a:rPr lang="en-IN" sz="2400" dirty="0"/>
              <a:t>Logically:</a:t>
            </a:r>
          </a:p>
          <a:p>
            <a:pPr lvl="1"/>
            <a:r>
              <a:rPr lang="en-US" sz="2000" dirty="0"/>
              <a:t>iptables -A INPUT -</a:t>
            </a:r>
            <a:r>
              <a:rPr lang="en-US" sz="2000" dirty="0" err="1"/>
              <a:t>i</a:t>
            </a:r>
            <a:r>
              <a:rPr lang="en-US" sz="2000" dirty="0"/>
              <a:t> </a:t>
            </a:r>
            <a:r>
              <a:rPr lang="en-US" sz="2000" dirty="0" err="1"/>
              <a:t>external_interface</a:t>
            </a:r>
            <a:r>
              <a:rPr lang="en-US" sz="2000" dirty="0"/>
              <a:t> -s </a:t>
            </a:r>
            <a:r>
              <a:rPr lang="en-US" sz="2000" dirty="0" err="1"/>
              <a:t>your_IP_address</a:t>
            </a:r>
            <a:r>
              <a:rPr lang="en-US" sz="2000" dirty="0"/>
              <a:t> -j REJECT</a:t>
            </a:r>
            <a:endParaRPr lang="en-IN" sz="2000" dirty="0"/>
          </a:p>
          <a:p>
            <a:r>
              <a:rPr lang="en-IN" sz="2400" dirty="0"/>
              <a:t>Example (Assuming our network address is 192.168.18.0 and 10.0.0.0)</a:t>
            </a:r>
          </a:p>
          <a:p>
            <a:pPr lvl="1"/>
            <a:r>
              <a:rPr lang="en-US" sz="2000" dirty="0"/>
              <a:t>iptables -A INPUT -</a:t>
            </a:r>
            <a:r>
              <a:rPr lang="en-US" sz="2000" dirty="0" err="1"/>
              <a:t>i</a:t>
            </a:r>
            <a:r>
              <a:rPr lang="en-US" sz="2000" dirty="0"/>
              <a:t> eth1 -s 192.168.18.0/24 -j DROP</a:t>
            </a:r>
          </a:p>
          <a:p>
            <a:pPr lvl="1"/>
            <a:r>
              <a:rPr lang="en-US" sz="2000" dirty="0"/>
              <a:t>iptables -A INPUT -</a:t>
            </a:r>
            <a:r>
              <a:rPr lang="en-US" sz="2000" dirty="0" err="1"/>
              <a:t>i</a:t>
            </a:r>
            <a:r>
              <a:rPr lang="en-US" sz="2000" dirty="0"/>
              <a:t> eth1 -s 10.0.0.0/8 -j DROP</a:t>
            </a:r>
            <a:endParaRPr lang="en-IN" dirty="0"/>
          </a:p>
          <a:p>
            <a:pPr lvl="1"/>
            <a:endParaRPr lang="en-IN" dirty="0"/>
          </a:p>
        </p:txBody>
      </p:sp>
      <p:sp>
        <p:nvSpPr>
          <p:cNvPr id="4" name="TextBox 3">
            <a:extLst>
              <a:ext uri="{FF2B5EF4-FFF2-40B4-BE49-F238E27FC236}">
                <a16:creationId xmlns:a16="http://schemas.microsoft.com/office/drawing/2014/main" id="{BBB9F8CB-602E-75DB-5388-87AB12C3864E}"/>
              </a:ext>
            </a:extLst>
          </p:cNvPr>
          <p:cNvSpPr txBox="1"/>
          <p:nvPr/>
        </p:nvSpPr>
        <p:spPr>
          <a:xfrm>
            <a:off x="576637" y="4001294"/>
            <a:ext cx="10853791" cy="2308324"/>
          </a:xfrm>
          <a:prstGeom prst="rect">
            <a:avLst/>
          </a:prstGeom>
          <a:solidFill>
            <a:schemeClr val="accent2">
              <a:lumMod val="40000"/>
              <a:lumOff val="60000"/>
            </a:schemeClr>
          </a:solidFill>
        </p:spPr>
        <p:txBody>
          <a:bodyPr wrap="square" rtlCol="0">
            <a:spAutoFit/>
          </a:bodyPr>
          <a:lstStyle/>
          <a:p>
            <a:r>
              <a:rPr lang="en-IN" sz="2400" b="1" dirty="0"/>
              <a:t>DROP versus REJECT</a:t>
            </a:r>
          </a:p>
          <a:p>
            <a:endParaRPr lang="en-IN" sz="2400" dirty="0"/>
          </a:p>
          <a:p>
            <a:r>
              <a:rPr lang="en-IN" sz="2400" dirty="0"/>
              <a:t>DROP just drops a packet sends a response</a:t>
            </a:r>
          </a:p>
          <a:p>
            <a:endParaRPr lang="en-IN" sz="2400" dirty="0"/>
          </a:p>
          <a:p>
            <a:r>
              <a:rPr lang="en-IN" sz="2400" dirty="0"/>
              <a:t>REJECT drops a packet and also sends a response to the sender – this can be risky for us</a:t>
            </a:r>
          </a:p>
        </p:txBody>
      </p:sp>
    </p:spTree>
    <p:extLst>
      <p:ext uri="{BB962C8B-B14F-4D97-AF65-F5344CB8AC3E}">
        <p14:creationId xmlns:p14="http://schemas.microsoft.com/office/powerpoint/2010/main" val="5989290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E2DB0-16BD-AC2E-48BA-BD33529C92E9}"/>
              </a:ext>
            </a:extLst>
          </p:cNvPr>
          <p:cNvSpPr>
            <a:spLocks noGrp="1"/>
          </p:cNvSpPr>
          <p:nvPr>
            <p:ph type="title"/>
          </p:nvPr>
        </p:nvSpPr>
        <p:spPr/>
        <p:txBody>
          <a:bodyPr/>
          <a:lstStyle/>
          <a:p>
            <a:r>
              <a:rPr lang="en-IN" dirty="0"/>
              <a:t>Understanding iptables Options in Detail</a:t>
            </a:r>
          </a:p>
        </p:txBody>
      </p:sp>
      <p:sp>
        <p:nvSpPr>
          <p:cNvPr id="3" name="Content Placeholder 2">
            <a:extLst>
              <a:ext uri="{FF2B5EF4-FFF2-40B4-BE49-F238E27FC236}">
                <a16:creationId xmlns:a16="http://schemas.microsoft.com/office/drawing/2014/main" id="{C4796732-E54E-4B59-20BA-DCBEAFA867F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A4D2553-2E8D-B628-A676-59F504478495}"/>
              </a:ext>
            </a:extLst>
          </p:cNvPr>
          <p:cNvPicPr>
            <a:picLocks noChangeAspect="1"/>
          </p:cNvPicPr>
          <p:nvPr/>
        </p:nvPicPr>
        <p:blipFill>
          <a:blip r:embed="rId2"/>
          <a:stretch>
            <a:fillRect/>
          </a:stretch>
        </p:blipFill>
        <p:spPr>
          <a:xfrm>
            <a:off x="1243172" y="1292617"/>
            <a:ext cx="9017285" cy="5072223"/>
          </a:xfrm>
          <a:prstGeom prst="rect">
            <a:avLst/>
          </a:prstGeom>
        </p:spPr>
      </p:pic>
    </p:spTree>
    <p:extLst>
      <p:ext uri="{BB962C8B-B14F-4D97-AF65-F5344CB8AC3E}">
        <p14:creationId xmlns:p14="http://schemas.microsoft.com/office/powerpoint/2010/main" val="32948851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32972-6F08-880C-F964-65CCB8AD2D5D}"/>
              </a:ext>
            </a:extLst>
          </p:cNvPr>
          <p:cNvSpPr>
            <a:spLocks noGrp="1"/>
          </p:cNvSpPr>
          <p:nvPr>
            <p:ph type="title"/>
          </p:nvPr>
        </p:nvSpPr>
        <p:spPr/>
        <p:txBody>
          <a:bodyPr/>
          <a:lstStyle/>
          <a:p>
            <a:r>
              <a:rPr lang="en-IN" dirty="0"/>
              <a:t>-A Example</a:t>
            </a:r>
          </a:p>
        </p:txBody>
      </p:sp>
      <p:sp>
        <p:nvSpPr>
          <p:cNvPr id="3" name="Content Placeholder 2">
            <a:extLst>
              <a:ext uri="{FF2B5EF4-FFF2-40B4-BE49-F238E27FC236}">
                <a16:creationId xmlns:a16="http://schemas.microsoft.com/office/drawing/2014/main" id="{D416FBFB-BA0F-D619-984C-1D175C04545C}"/>
              </a:ext>
            </a:extLst>
          </p:cNvPr>
          <p:cNvSpPr>
            <a:spLocks noGrp="1"/>
          </p:cNvSpPr>
          <p:nvPr>
            <p:ph idx="1"/>
          </p:nvPr>
        </p:nvSpPr>
        <p:spPr/>
        <p:txBody>
          <a:bodyPr/>
          <a:lstStyle/>
          <a:p>
            <a:r>
              <a:rPr lang="en-IN" dirty="0"/>
              <a:t>iptables -A INPUT -p </a:t>
            </a:r>
            <a:r>
              <a:rPr lang="en-IN" dirty="0" err="1"/>
              <a:t>tcp</a:t>
            </a:r>
            <a:r>
              <a:rPr lang="en-IN" dirty="0"/>
              <a:t> --</a:t>
            </a:r>
            <a:r>
              <a:rPr lang="en-IN" dirty="0" err="1"/>
              <a:t>dport</a:t>
            </a:r>
            <a:r>
              <a:rPr lang="en-IN" dirty="0"/>
              <a:t> 25 -j DROP</a:t>
            </a:r>
          </a:p>
          <a:p>
            <a:endParaRPr lang="en-IN" dirty="0"/>
          </a:p>
          <a:p>
            <a:r>
              <a:rPr lang="en-IN" dirty="0"/>
              <a:t>On Metasploit:</a:t>
            </a:r>
          </a:p>
          <a:p>
            <a:pPr lvl="1"/>
            <a:r>
              <a:rPr lang="en-IN" dirty="0" err="1"/>
              <a:t>sudo</a:t>
            </a:r>
            <a:r>
              <a:rPr lang="en-IN" dirty="0"/>
              <a:t> </a:t>
            </a:r>
            <a:r>
              <a:rPr lang="en-IN" dirty="0" err="1"/>
              <a:t>su</a:t>
            </a:r>
            <a:endParaRPr lang="en-IN" dirty="0"/>
          </a:p>
          <a:p>
            <a:pPr lvl="1"/>
            <a:r>
              <a:rPr lang="en-IN" dirty="0"/>
              <a:t>iptables -A INPUT -p </a:t>
            </a:r>
            <a:r>
              <a:rPr lang="en-IN" dirty="0" err="1"/>
              <a:t>tcp</a:t>
            </a:r>
            <a:r>
              <a:rPr lang="en-IN" dirty="0"/>
              <a:t> --</a:t>
            </a:r>
            <a:r>
              <a:rPr lang="en-IN" dirty="0" err="1"/>
              <a:t>dport</a:t>
            </a:r>
            <a:r>
              <a:rPr lang="en-IN" dirty="0"/>
              <a:t> 25 -j DROP</a:t>
            </a:r>
          </a:p>
          <a:p>
            <a:r>
              <a:rPr lang="en-IN" dirty="0"/>
              <a:t>Then try scanning port 25 of Metasploit from Kali</a:t>
            </a:r>
          </a:p>
          <a:p>
            <a:pPr lvl="1"/>
            <a:r>
              <a:rPr lang="en-IN" dirty="0" err="1"/>
              <a:t>nmap</a:t>
            </a:r>
            <a:r>
              <a:rPr lang="en-IN" dirty="0"/>
              <a:t> -p 25 192.168.0.28</a:t>
            </a:r>
          </a:p>
          <a:p>
            <a:endParaRPr lang="en-IN" dirty="0"/>
          </a:p>
        </p:txBody>
      </p:sp>
      <p:pic>
        <p:nvPicPr>
          <p:cNvPr id="5" name="Picture 4">
            <a:extLst>
              <a:ext uri="{FF2B5EF4-FFF2-40B4-BE49-F238E27FC236}">
                <a16:creationId xmlns:a16="http://schemas.microsoft.com/office/drawing/2014/main" id="{2AD69F29-469A-D7EA-A2D2-DDD6DAD10CC6}"/>
              </a:ext>
            </a:extLst>
          </p:cNvPr>
          <p:cNvPicPr>
            <a:picLocks noChangeAspect="1"/>
          </p:cNvPicPr>
          <p:nvPr/>
        </p:nvPicPr>
        <p:blipFill>
          <a:blip r:embed="rId2"/>
          <a:stretch>
            <a:fillRect/>
          </a:stretch>
        </p:blipFill>
        <p:spPr>
          <a:xfrm>
            <a:off x="5067514" y="4600478"/>
            <a:ext cx="5550185" cy="1892397"/>
          </a:xfrm>
          <a:prstGeom prst="rect">
            <a:avLst/>
          </a:prstGeom>
        </p:spPr>
      </p:pic>
      <p:sp>
        <p:nvSpPr>
          <p:cNvPr id="6" name="TextBox 5">
            <a:extLst>
              <a:ext uri="{FF2B5EF4-FFF2-40B4-BE49-F238E27FC236}">
                <a16:creationId xmlns:a16="http://schemas.microsoft.com/office/drawing/2014/main" id="{76223AB9-9060-68B4-CE41-E89A4D2E9560}"/>
              </a:ext>
            </a:extLst>
          </p:cNvPr>
          <p:cNvSpPr txBox="1"/>
          <p:nvPr/>
        </p:nvSpPr>
        <p:spPr>
          <a:xfrm>
            <a:off x="1006867" y="5352836"/>
            <a:ext cx="2455524" cy="1015663"/>
          </a:xfrm>
          <a:prstGeom prst="rect">
            <a:avLst/>
          </a:prstGeom>
          <a:solidFill>
            <a:schemeClr val="accent2">
              <a:lumMod val="60000"/>
              <a:lumOff val="40000"/>
            </a:schemeClr>
          </a:solidFill>
        </p:spPr>
        <p:txBody>
          <a:bodyPr wrap="square" rtlCol="0">
            <a:spAutoFit/>
          </a:bodyPr>
          <a:lstStyle/>
          <a:p>
            <a:r>
              <a:rPr lang="en-IN" sz="2000" dirty="0"/>
              <a:t>If </a:t>
            </a:r>
            <a:r>
              <a:rPr lang="en-IN" sz="2000" dirty="0" err="1"/>
              <a:t>nmap</a:t>
            </a:r>
            <a:r>
              <a:rPr lang="en-IN" sz="2000" dirty="0"/>
              <a:t> is not installed, </a:t>
            </a:r>
            <a:r>
              <a:rPr lang="en-IN" sz="2000" b="1" dirty="0" err="1"/>
              <a:t>sudo</a:t>
            </a:r>
            <a:r>
              <a:rPr lang="en-IN" sz="2000" b="1" dirty="0"/>
              <a:t> apt-get install </a:t>
            </a:r>
            <a:r>
              <a:rPr lang="en-IN" sz="2000" b="1" dirty="0" err="1"/>
              <a:t>nmap</a:t>
            </a:r>
            <a:endParaRPr lang="en-IN" sz="2000" b="1" dirty="0"/>
          </a:p>
        </p:txBody>
      </p:sp>
    </p:spTree>
    <p:extLst>
      <p:ext uri="{BB962C8B-B14F-4D97-AF65-F5344CB8AC3E}">
        <p14:creationId xmlns:p14="http://schemas.microsoft.com/office/powerpoint/2010/main" val="21388647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87F1A-C1E1-2BAD-4326-DC1D4F42D505}"/>
              </a:ext>
            </a:extLst>
          </p:cNvPr>
          <p:cNvSpPr>
            <a:spLocks noGrp="1"/>
          </p:cNvSpPr>
          <p:nvPr>
            <p:ph type="title"/>
          </p:nvPr>
        </p:nvSpPr>
        <p:spPr/>
        <p:txBody>
          <a:bodyPr/>
          <a:lstStyle/>
          <a:p>
            <a:r>
              <a:rPr lang="en-IN" dirty="0"/>
              <a:t>Deleting an iptables Rule</a:t>
            </a:r>
          </a:p>
        </p:txBody>
      </p:sp>
      <p:sp>
        <p:nvSpPr>
          <p:cNvPr id="3" name="Content Placeholder 2">
            <a:extLst>
              <a:ext uri="{FF2B5EF4-FFF2-40B4-BE49-F238E27FC236}">
                <a16:creationId xmlns:a16="http://schemas.microsoft.com/office/drawing/2014/main" id="{90920587-8C8A-4A11-4DA4-EB424DC7268C}"/>
              </a:ext>
            </a:extLst>
          </p:cNvPr>
          <p:cNvSpPr>
            <a:spLocks noGrp="1"/>
          </p:cNvSpPr>
          <p:nvPr>
            <p:ph idx="1"/>
          </p:nvPr>
        </p:nvSpPr>
        <p:spPr/>
        <p:txBody>
          <a:bodyPr>
            <a:normAutofit lnSpcReduction="10000"/>
          </a:bodyPr>
          <a:lstStyle/>
          <a:p>
            <a:r>
              <a:rPr lang="en-IN" dirty="0"/>
              <a:t>First see which rules are implemented: </a:t>
            </a:r>
            <a:r>
              <a:rPr lang="en-IN" b="1" dirty="0" err="1"/>
              <a:t>sudo</a:t>
            </a:r>
            <a:r>
              <a:rPr lang="en-IN" b="1" dirty="0"/>
              <a:t> iptables -L </a:t>
            </a:r>
            <a:r>
              <a:rPr lang="en-IN" dirty="0"/>
              <a:t>on </a:t>
            </a:r>
            <a:r>
              <a:rPr lang="en-IN" dirty="0" err="1"/>
              <a:t>Metsploit</a:t>
            </a:r>
            <a:endParaRPr lang="en-IN" dirty="0"/>
          </a:p>
          <a:p>
            <a:r>
              <a:rPr lang="en-IN" dirty="0"/>
              <a:t>Only for INPUT:</a:t>
            </a:r>
            <a:r>
              <a:rPr lang="en-IN" b="1" dirty="0"/>
              <a:t> </a:t>
            </a:r>
            <a:r>
              <a:rPr lang="en-IN" b="1" dirty="0" err="1"/>
              <a:t>sudo</a:t>
            </a:r>
            <a:r>
              <a:rPr lang="en-IN" b="1" dirty="0"/>
              <a:t> iptables –L INPUT</a:t>
            </a:r>
          </a:p>
          <a:p>
            <a:endParaRPr lang="en-IN" b="1" dirty="0"/>
          </a:p>
          <a:p>
            <a:r>
              <a:rPr lang="en-IN" dirty="0"/>
              <a:t>Delete a rule: </a:t>
            </a:r>
            <a:r>
              <a:rPr lang="en-US" b="1" dirty="0" err="1"/>
              <a:t>sudo</a:t>
            </a:r>
            <a:r>
              <a:rPr lang="en-US" b="1" dirty="0"/>
              <a:t> iptables -D [CHAIN] [LINE_NUMBER]</a:t>
            </a:r>
          </a:p>
          <a:p>
            <a:r>
              <a:rPr lang="en-US" b="1" dirty="0" err="1"/>
              <a:t>sudo</a:t>
            </a:r>
            <a:r>
              <a:rPr lang="en-US" b="1" dirty="0"/>
              <a:t> iptables –D INPUT 1</a:t>
            </a:r>
            <a:endParaRPr lang="en-US" dirty="0"/>
          </a:p>
          <a:p>
            <a:endParaRPr lang="en-US" b="1" dirty="0"/>
          </a:p>
          <a:p>
            <a:r>
              <a:rPr lang="en-US" dirty="0"/>
              <a:t>Verify that it got deleted: </a:t>
            </a:r>
            <a:r>
              <a:rPr lang="en-IN" b="1" dirty="0" err="1"/>
              <a:t>sudo</a:t>
            </a:r>
            <a:r>
              <a:rPr lang="en-IN" b="1" dirty="0"/>
              <a:t> iptables –L INPUT</a:t>
            </a:r>
          </a:p>
          <a:p>
            <a:endParaRPr lang="en-IN" b="1" dirty="0"/>
          </a:p>
          <a:p>
            <a:r>
              <a:rPr lang="en-IN" dirty="0"/>
              <a:t>Delete all the rules for input chain: </a:t>
            </a:r>
            <a:r>
              <a:rPr lang="en-IN" b="1" dirty="0" err="1"/>
              <a:t>sudo</a:t>
            </a:r>
            <a:r>
              <a:rPr lang="en-IN" b="1" dirty="0"/>
              <a:t> iptables -F INPUT</a:t>
            </a:r>
          </a:p>
        </p:txBody>
      </p:sp>
    </p:spTree>
    <p:extLst>
      <p:ext uri="{BB962C8B-B14F-4D97-AF65-F5344CB8AC3E}">
        <p14:creationId xmlns:p14="http://schemas.microsoft.com/office/powerpoint/2010/main" val="34629628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0FB7C-CFBB-EADA-39B4-7276CE564E4F}"/>
              </a:ext>
            </a:extLst>
          </p:cNvPr>
          <p:cNvSpPr>
            <a:spLocks noGrp="1"/>
          </p:cNvSpPr>
          <p:nvPr>
            <p:ph type="title"/>
          </p:nvPr>
        </p:nvSpPr>
        <p:spPr/>
        <p:txBody>
          <a:bodyPr/>
          <a:lstStyle/>
          <a:p>
            <a:r>
              <a:rPr lang="en-IN" dirty="0"/>
              <a:t>Let us Test for Web Traffic</a:t>
            </a:r>
          </a:p>
        </p:txBody>
      </p:sp>
      <p:sp>
        <p:nvSpPr>
          <p:cNvPr id="3" name="Content Placeholder 2">
            <a:extLst>
              <a:ext uri="{FF2B5EF4-FFF2-40B4-BE49-F238E27FC236}">
                <a16:creationId xmlns:a16="http://schemas.microsoft.com/office/drawing/2014/main" id="{384DE1CB-F1EB-1C7A-F2C4-063F4B4177BC}"/>
              </a:ext>
            </a:extLst>
          </p:cNvPr>
          <p:cNvSpPr>
            <a:spLocks noGrp="1"/>
          </p:cNvSpPr>
          <p:nvPr>
            <p:ph idx="1"/>
          </p:nvPr>
        </p:nvSpPr>
        <p:spPr/>
        <p:txBody>
          <a:bodyPr/>
          <a:lstStyle/>
          <a:p>
            <a:r>
              <a:rPr lang="en-IN" dirty="0"/>
              <a:t>First install Apache web server on Metasploit: </a:t>
            </a:r>
            <a:r>
              <a:rPr lang="en-IN" b="1" dirty="0"/>
              <a:t>apt install apache2</a:t>
            </a:r>
            <a:r>
              <a:rPr lang="en-IN" dirty="0"/>
              <a:t> and if it does not work, </a:t>
            </a:r>
            <a:r>
              <a:rPr lang="en-IN" b="1" dirty="0"/>
              <a:t>apt-get install apache2</a:t>
            </a:r>
            <a:endParaRPr lang="en-IN" dirty="0"/>
          </a:p>
          <a:p>
            <a:r>
              <a:rPr lang="en-IN" dirty="0"/>
              <a:t>Let us scan port 80 of Metasploit from Kali – Success</a:t>
            </a:r>
          </a:p>
          <a:p>
            <a:r>
              <a:rPr lang="en-IN" dirty="0"/>
              <a:t>On Kali: </a:t>
            </a:r>
            <a:r>
              <a:rPr lang="en-IN" b="1" dirty="0" err="1"/>
              <a:t>nmap</a:t>
            </a:r>
            <a:r>
              <a:rPr lang="en-IN" b="1" dirty="0"/>
              <a:t> -p 80 192.168.0.28</a:t>
            </a:r>
            <a:endParaRPr lang="en-IN" dirty="0"/>
          </a:p>
        </p:txBody>
      </p:sp>
      <p:pic>
        <p:nvPicPr>
          <p:cNvPr id="5" name="Picture 4">
            <a:extLst>
              <a:ext uri="{FF2B5EF4-FFF2-40B4-BE49-F238E27FC236}">
                <a16:creationId xmlns:a16="http://schemas.microsoft.com/office/drawing/2014/main" id="{013E449A-4BC4-7A2F-3F1E-4B3B7E820ED0}"/>
              </a:ext>
            </a:extLst>
          </p:cNvPr>
          <p:cNvPicPr>
            <a:picLocks noChangeAspect="1"/>
          </p:cNvPicPr>
          <p:nvPr/>
        </p:nvPicPr>
        <p:blipFill>
          <a:blip r:embed="rId2"/>
          <a:stretch>
            <a:fillRect/>
          </a:stretch>
        </p:blipFill>
        <p:spPr>
          <a:xfrm>
            <a:off x="2222835" y="4181647"/>
            <a:ext cx="5562737" cy="1705053"/>
          </a:xfrm>
          <a:prstGeom prst="rect">
            <a:avLst/>
          </a:prstGeom>
        </p:spPr>
      </p:pic>
    </p:spTree>
    <p:extLst>
      <p:ext uri="{BB962C8B-B14F-4D97-AF65-F5344CB8AC3E}">
        <p14:creationId xmlns:p14="http://schemas.microsoft.com/office/powerpoint/2010/main" val="35067795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0FB7C-CFBB-EADA-39B4-7276CE564E4F}"/>
              </a:ext>
            </a:extLst>
          </p:cNvPr>
          <p:cNvSpPr>
            <a:spLocks noGrp="1"/>
          </p:cNvSpPr>
          <p:nvPr>
            <p:ph type="title"/>
          </p:nvPr>
        </p:nvSpPr>
        <p:spPr/>
        <p:txBody>
          <a:bodyPr/>
          <a:lstStyle/>
          <a:p>
            <a:r>
              <a:rPr lang="en-IN" dirty="0"/>
              <a:t>Let us Test for Web Traffic</a:t>
            </a:r>
          </a:p>
        </p:txBody>
      </p:sp>
      <p:sp>
        <p:nvSpPr>
          <p:cNvPr id="3" name="Content Placeholder 2">
            <a:extLst>
              <a:ext uri="{FF2B5EF4-FFF2-40B4-BE49-F238E27FC236}">
                <a16:creationId xmlns:a16="http://schemas.microsoft.com/office/drawing/2014/main" id="{384DE1CB-F1EB-1C7A-F2C4-063F4B4177BC}"/>
              </a:ext>
            </a:extLst>
          </p:cNvPr>
          <p:cNvSpPr>
            <a:spLocks noGrp="1"/>
          </p:cNvSpPr>
          <p:nvPr>
            <p:ph idx="1"/>
          </p:nvPr>
        </p:nvSpPr>
        <p:spPr/>
        <p:txBody>
          <a:bodyPr/>
          <a:lstStyle/>
          <a:p>
            <a:r>
              <a:rPr lang="en-IN" dirty="0"/>
              <a:t>Now let us run this command on Metasploit:</a:t>
            </a:r>
          </a:p>
          <a:p>
            <a:r>
              <a:rPr lang="en-IN" b="1" dirty="0"/>
              <a:t>iptables -A INPUT -p </a:t>
            </a:r>
            <a:r>
              <a:rPr lang="en-IN" b="1" dirty="0" err="1"/>
              <a:t>tcp</a:t>
            </a:r>
            <a:r>
              <a:rPr lang="en-IN" b="1" dirty="0"/>
              <a:t> --</a:t>
            </a:r>
            <a:r>
              <a:rPr lang="en-IN" b="1" dirty="0" err="1"/>
              <a:t>dport</a:t>
            </a:r>
            <a:r>
              <a:rPr lang="en-IN" b="1" dirty="0"/>
              <a:t> 80 -j DROP</a:t>
            </a:r>
          </a:p>
          <a:p>
            <a:endParaRPr lang="en-IN" dirty="0"/>
          </a:p>
          <a:p>
            <a:r>
              <a:rPr lang="en-IN" dirty="0"/>
              <a:t>Let us again scan port 80 of Metasploit from Kali</a:t>
            </a:r>
          </a:p>
          <a:p>
            <a:r>
              <a:rPr lang="en-IN" dirty="0"/>
              <a:t>On Kali: </a:t>
            </a:r>
            <a:r>
              <a:rPr lang="en-IN" b="1" dirty="0" err="1"/>
              <a:t>nmap</a:t>
            </a:r>
            <a:r>
              <a:rPr lang="en-IN" b="1" dirty="0"/>
              <a:t> -p 80 192.168.0.28</a:t>
            </a:r>
          </a:p>
          <a:p>
            <a:endParaRPr lang="en-IN" dirty="0"/>
          </a:p>
        </p:txBody>
      </p:sp>
      <p:pic>
        <p:nvPicPr>
          <p:cNvPr id="8" name="Picture 7">
            <a:extLst>
              <a:ext uri="{FF2B5EF4-FFF2-40B4-BE49-F238E27FC236}">
                <a16:creationId xmlns:a16="http://schemas.microsoft.com/office/drawing/2014/main" id="{CFC10C7D-A8FF-F0FD-2716-4B9EE7C9152C}"/>
              </a:ext>
            </a:extLst>
          </p:cNvPr>
          <p:cNvPicPr>
            <a:picLocks noChangeAspect="1"/>
          </p:cNvPicPr>
          <p:nvPr/>
        </p:nvPicPr>
        <p:blipFill>
          <a:blip r:embed="rId2"/>
          <a:stretch>
            <a:fillRect/>
          </a:stretch>
        </p:blipFill>
        <p:spPr>
          <a:xfrm>
            <a:off x="6368562" y="3928769"/>
            <a:ext cx="5105662" cy="1879697"/>
          </a:xfrm>
          <a:prstGeom prst="rect">
            <a:avLst/>
          </a:prstGeom>
        </p:spPr>
      </p:pic>
    </p:spTree>
    <p:extLst>
      <p:ext uri="{BB962C8B-B14F-4D97-AF65-F5344CB8AC3E}">
        <p14:creationId xmlns:p14="http://schemas.microsoft.com/office/powerpoint/2010/main" val="14145658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3AB35-6A94-64FD-D341-E46DC8DA9897}"/>
              </a:ext>
            </a:extLst>
          </p:cNvPr>
          <p:cNvSpPr>
            <a:spLocks noGrp="1"/>
          </p:cNvSpPr>
          <p:nvPr>
            <p:ph type="title"/>
          </p:nvPr>
        </p:nvSpPr>
        <p:spPr/>
        <p:txBody>
          <a:bodyPr/>
          <a:lstStyle/>
          <a:p>
            <a:r>
              <a:rPr lang="en-IN" dirty="0"/>
              <a:t>The -I Option</a:t>
            </a:r>
          </a:p>
        </p:txBody>
      </p:sp>
      <p:sp>
        <p:nvSpPr>
          <p:cNvPr id="3" name="Content Placeholder 2">
            <a:extLst>
              <a:ext uri="{FF2B5EF4-FFF2-40B4-BE49-F238E27FC236}">
                <a16:creationId xmlns:a16="http://schemas.microsoft.com/office/drawing/2014/main" id="{39BF6E0A-C95B-80AA-A5F2-0B496A4D970C}"/>
              </a:ext>
            </a:extLst>
          </p:cNvPr>
          <p:cNvSpPr>
            <a:spLocks noGrp="1"/>
          </p:cNvSpPr>
          <p:nvPr>
            <p:ph idx="1"/>
          </p:nvPr>
        </p:nvSpPr>
        <p:spPr/>
        <p:txBody>
          <a:bodyPr/>
          <a:lstStyle/>
          <a:p>
            <a:r>
              <a:rPr lang="en-IN" dirty="0"/>
              <a:t>-A appends the rule to the end of the specified chain </a:t>
            </a:r>
          </a:p>
          <a:p>
            <a:r>
              <a:rPr lang="en-IN" dirty="0"/>
              <a:t>But -I adds it at a specific place in the chain, as per the user-defined value </a:t>
            </a:r>
            <a:r>
              <a:rPr lang="en-IN" b="1" dirty="0"/>
              <a:t>iptables -I INPUT 2 -p </a:t>
            </a:r>
            <a:r>
              <a:rPr lang="en-IN" b="1" dirty="0" err="1"/>
              <a:t>tcp</a:t>
            </a:r>
            <a:r>
              <a:rPr lang="en-IN" b="1" dirty="0"/>
              <a:t> --</a:t>
            </a:r>
            <a:r>
              <a:rPr lang="en-IN" b="1" dirty="0" err="1"/>
              <a:t>dport</a:t>
            </a:r>
            <a:r>
              <a:rPr lang="en-IN" b="1" dirty="0"/>
              <a:t> 21 -j DROP </a:t>
            </a:r>
            <a:r>
              <a:rPr lang="en-IN" dirty="0"/>
              <a:t>and then </a:t>
            </a:r>
            <a:r>
              <a:rPr lang="en-IN" b="1" dirty="0"/>
              <a:t>iptables -</a:t>
            </a:r>
            <a:r>
              <a:rPr lang="en-IN" b="1" dirty="0" err="1"/>
              <a:t>vnL</a:t>
            </a:r>
            <a:endParaRPr lang="en-IN" dirty="0"/>
          </a:p>
          <a:p>
            <a:pPr lvl="1"/>
            <a:r>
              <a:rPr lang="en-IN" dirty="0"/>
              <a:t>If no value is specified, it is added at the top of the chain</a:t>
            </a:r>
          </a:p>
          <a:p>
            <a:r>
              <a:rPr lang="en-IN" dirty="0"/>
              <a:t>Let us add a rule on Metasploit: </a:t>
            </a:r>
            <a:r>
              <a:rPr lang="en-IN" b="1" dirty="0"/>
              <a:t>iptables -I INPUT -p </a:t>
            </a:r>
            <a:r>
              <a:rPr lang="en-IN" b="1" dirty="0" err="1"/>
              <a:t>udp</a:t>
            </a:r>
            <a:r>
              <a:rPr lang="en-IN" b="1" dirty="0"/>
              <a:t> --</a:t>
            </a:r>
            <a:r>
              <a:rPr lang="en-IN" b="1" dirty="0" err="1"/>
              <a:t>dport</a:t>
            </a:r>
            <a:r>
              <a:rPr lang="en-IN" b="1" dirty="0"/>
              <a:t> 69 -j DROP </a:t>
            </a:r>
            <a:r>
              <a:rPr lang="en-IN" dirty="0"/>
              <a:t>and then </a:t>
            </a:r>
            <a:r>
              <a:rPr lang="en-IN" b="1" dirty="0"/>
              <a:t>iptables -</a:t>
            </a:r>
            <a:r>
              <a:rPr lang="en-IN" b="1" dirty="0" err="1"/>
              <a:t>vnL</a:t>
            </a:r>
            <a:r>
              <a:rPr lang="en-IN" b="1" dirty="0"/>
              <a:t> </a:t>
            </a:r>
            <a:endParaRPr lang="en-IN" dirty="0"/>
          </a:p>
          <a:p>
            <a:endParaRPr lang="en-IN" dirty="0"/>
          </a:p>
          <a:p>
            <a:endParaRPr lang="en-IN" dirty="0"/>
          </a:p>
        </p:txBody>
      </p:sp>
      <p:pic>
        <p:nvPicPr>
          <p:cNvPr id="5" name="Picture 4">
            <a:extLst>
              <a:ext uri="{FF2B5EF4-FFF2-40B4-BE49-F238E27FC236}">
                <a16:creationId xmlns:a16="http://schemas.microsoft.com/office/drawing/2014/main" id="{8146E0E6-7038-BC26-7402-29A7A6EB00BC}"/>
              </a:ext>
            </a:extLst>
          </p:cNvPr>
          <p:cNvPicPr>
            <a:picLocks noChangeAspect="1"/>
          </p:cNvPicPr>
          <p:nvPr/>
        </p:nvPicPr>
        <p:blipFill>
          <a:blip r:embed="rId2"/>
          <a:stretch>
            <a:fillRect/>
          </a:stretch>
        </p:blipFill>
        <p:spPr>
          <a:xfrm>
            <a:off x="3285730" y="5071237"/>
            <a:ext cx="7821490" cy="1586025"/>
          </a:xfrm>
          <a:prstGeom prst="rect">
            <a:avLst/>
          </a:prstGeom>
        </p:spPr>
      </p:pic>
    </p:spTree>
    <p:extLst>
      <p:ext uri="{BB962C8B-B14F-4D97-AF65-F5344CB8AC3E}">
        <p14:creationId xmlns:p14="http://schemas.microsoft.com/office/powerpoint/2010/main" val="35213435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AE2FC-FDF4-C969-68E3-204B7AACCABC}"/>
              </a:ext>
            </a:extLst>
          </p:cNvPr>
          <p:cNvSpPr>
            <a:spLocks noGrp="1"/>
          </p:cNvSpPr>
          <p:nvPr>
            <p:ph type="title"/>
          </p:nvPr>
        </p:nvSpPr>
        <p:spPr/>
        <p:txBody>
          <a:bodyPr/>
          <a:lstStyle/>
          <a:p>
            <a:r>
              <a:rPr lang="en-IN" dirty="0"/>
              <a:t>How are Rules Processed?</a:t>
            </a:r>
          </a:p>
        </p:txBody>
      </p:sp>
      <p:sp>
        <p:nvSpPr>
          <p:cNvPr id="3" name="Content Placeholder 2">
            <a:extLst>
              <a:ext uri="{FF2B5EF4-FFF2-40B4-BE49-F238E27FC236}">
                <a16:creationId xmlns:a16="http://schemas.microsoft.com/office/drawing/2014/main" id="{BB83F862-FDF8-CB83-400F-8FD0AC7BB2CA}"/>
              </a:ext>
            </a:extLst>
          </p:cNvPr>
          <p:cNvSpPr>
            <a:spLocks noGrp="1"/>
          </p:cNvSpPr>
          <p:nvPr>
            <p:ph idx="1"/>
          </p:nvPr>
        </p:nvSpPr>
        <p:spPr/>
        <p:txBody>
          <a:bodyPr/>
          <a:lstStyle/>
          <a:p>
            <a:r>
              <a:rPr lang="en-IN" dirty="0"/>
              <a:t>Top to bottom, in sequence</a:t>
            </a:r>
          </a:p>
          <a:p>
            <a:r>
              <a:rPr lang="en-IN" dirty="0"/>
              <a:t>Hence, it is important to specify the rules precisely where we want them</a:t>
            </a:r>
          </a:p>
          <a:p>
            <a:r>
              <a:rPr lang="en-IN" dirty="0"/>
              <a:t>Add these rules to Metasploit: </a:t>
            </a:r>
          </a:p>
          <a:p>
            <a:pPr lvl="1"/>
            <a:r>
              <a:rPr lang="en-IN" b="1" dirty="0"/>
              <a:t>iptables -I INPUT -p </a:t>
            </a:r>
            <a:r>
              <a:rPr lang="en-IN" b="1" dirty="0" err="1"/>
              <a:t>tcp</a:t>
            </a:r>
            <a:r>
              <a:rPr lang="en-IN" b="1" dirty="0"/>
              <a:t> --</a:t>
            </a:r>
            <a:r>
              <a:rPr lang="en-IN" b="1" dirty="0" err="1"/>
              <a:t>dport</a:t>
            </a:r>
            <a:r>
              <a:rPr lang="en-IN" b="1" dirty="0"/>
              <a:t> 80 -j DROP</a:t>
            </a:r>
          </a:p>
          <a:p>
            <a:pPr lvl="1"/>
            <a:r>
              <a:rPr lang="en-IN" b="1" dirty="0"/>
              <a:t>iptables -I INPUT -p </a:t>
            </a:r>
            <a:r>
              <a:rPr lang="en-IN" b="1" dirty="0" err="1"/>
              <a:t>tcp</a:t>
            </a:r>
            <a:r>
              <a:rPr lang="en-IN" b="1" dirty="0"/>
              <a:t> --</a:t>
            </a:r>
            <a:r>
              <a:rPr lang="en-IN" b="1" dirty="0" err="1"/>
              <a:t>dport</a:t>
            </a:r>
            <a:r>
              <a:rPr lang="en-IN" b="1" dirty="0"/>
              <a:t> 80 -j ACCEPT</a:t>
            </a:r>
          </a:p>
          <a:p>
            <a:r>
              <a:rPr lang="en-IN" dirty="0"/>
              <a:t>Will the traffic to port 80 be accepted or dropped?</a:t>
            </a:r>
          </a:p>
          <a:p>
            <a:r>
              <a:rPr lang="en-IN" dirty="0"/>
              <a:t>From Kali Linux, try this: 192.168.0.28 in the browser</a:t>
            </a:r>
          </a:p>
        </p:txBody>
      </p:sp>
      <p:pic>
        <p:nvPicPr>
          <p:cNvPr id="7" name="Picture 6">
            <a:extLst>
              <a:ext uri="{FF2B5EF4-FFF2-40B4-BE49-F238E27FC236}">
                <a16:creationId xmlns:a16="http://schemas.microsoft.com/office/drawing/2014/main" id="{09D6D4CD-6B26-BF29-5B15-EF135F433109}"/>
              </a:ext>
            </a:extLst>
          </p:cNvPr>
          <p:cNvPicPr>
            <a:picLocks noChangeAspect="1"/>
          </p:cNvPicPr>
          <p:nvPr/>
        </p:nvPicPr>
        <p:blipFill>
          <a:blip r:embed="rId2"/>
          <a:stretch>
            <a:fillRect/>
          </a:stretch>
        </p:blipFill>
        <p:spPr>
          <a:xfrm>
            <a:off x="7304593" y="3429000"/>
            <a:ext cx="4746994" cy="876167"/>
          </a:xfrm>
          <a:prstGeom prst="rect">
            <a:avLst/>
          </a:prstGeom>
        </p:spPr>
      </p:pic>
    </p:spTree>
    <p:extLst>
      <p:ext uri="{BB962C8B-B14F-4D97-AF65-F5344CB8AC3E}">
        <p14:creationId xmlns:p14="http://schemas.microsoft.com/office/powerpoint/2010/main" val="37830522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98285-9347-44D7-8042-68148D842F08}"/>
              </a:ext>
            </a:extLst>
          </p:cNvPr>
          <p:cNvSpPr>
            <a:spLocks noGrp="1"/>
          </p:cNvSpPr>
          <p:nvPr>
            <p:ph type="title"/>
          </p:nvPr>
        </p:nvSpPr>
        <p:spPr/>
        <p:txBody>
          <a:bodyPr/>
          <a:lstStyle/>
          <a:p>
            <a:r>
              <a:rPr lang="en-IN" dirty="0"/>
              <a:t>How are Rules Processed?</a:t>
            </a:r>
          </a:p>
        </p:txBody>
      </p:sp>
      <p:sp>
        <p:nvSpPr>
          <p:cNvPr id="3" name="Content Placeholder 2">
            <a:extLst>
              <a:ext uri="{FF2B5EF4-FFF2-40B4-BE49-F238E27FC236}">
                <a16:creationId xmlns:a16="http://schemas.microsoft.com/office/drawing/2014/main" id="{734D7D6F-5824-A712-5A39-24691DCAF972}"/>
              </a:ext>
            </a:extLst>
          </p:cNvPr>
          <p:cNvSpPr>
            <a:spLocks noGrp="1"/>
          </p:cNvSpPr>
          <p:nvPr>
            <p:ph idx="1"/>
          </p:nvPr>
        </p:nvSpPr>
        <p:spPr/>
        <p:txBody>
          <a:bodyPr/>
          <a:lstStyle/>
          <a:p>
            <a:r>
              <a:rPr lang="en-IN" dirty="0"/>
              <a:t>This is what we get on Kali Linux</a:t>
            </a:r>
          </a:p>
          <a:p>
            <a:endParaRPr lang="en-IN" dirty="0"/>
          </a:p>
          <a:p>
            <a:endParaRPr lang="en-IN" dirty="0"/>
          </a:p>
          <a:p>
            <a:endParaRPr lang="en-IN" dirty="0"/>
          </a:p>
          <a:p>
            <a:endParaRPr lang="en-IN" dirty="0"/>
          </a:p>
          <a:p>
            <a:endParaRPr lang="en-IN" dirty="0"/>
          </a:p>
          <a:p>
            <a:endParaRPr lang="en-IN" dirty="0"/>
          </a:p>
          <a:p>
            <a:r>
              <a:rPr lang="en-IN" dirty="0"/>
              <a:t>Conclusion: ACCEPT got processed, DROP never got processed</a:t>
            </a:r>
          </a:p>
          <a:p>
            <a:endParaRPr lang="en-IN" dirty="0"/>
          </a:p>
        </p:txBody>
      </p:sp>
      <p:pic>
        <p:nvPicPr>
          <p:cNvPr id="5" name="Picture 4">
            <a:extLst>
              <a:ext uri="{FF2B5EF4-FFF2-40B4-BE49-F238E27FC236}">
                <a16:creationId xmlns:a16="http://schemas.microsoft.com/office/drawing/2014/main" id="{6628D3C0-765D-0C57-2BCB-9E1F2E046B97}"/>
              </a:ext>
            </a:extLst>
          </p:cNvPr>
          <p:cNvPicPr>
            <a:picLocks noChangeAspect="1"/>
          </p:cNvPicPr>
          <p:nvPr/>
        </p:nvPicPr>
        <p:blipFill>
          <a:blip r:embed="rId2"/>
          <a:stretch>
            <a:fillRect/>
          </a:stretch>
        </p:blipFill>
        <p:spPr>
          <a:xfrm>
            <a:off x="2453647" y="2385136"/>
            <a:ext cx="5878696" cy="2968508"/>
          </a:xfrm>
          <a:prstGeom prst="rect">
            <a:avLst/>
          </a:prstGeom>
        </p:spPr>
      </p:pic>
    </p:spTree>
    <p:extLst>
      <p:ext uri="{BB962C8B-B14F-4D97-AF65-F5344CB8AC3E}">
        <p14:creationId xmlns:p14="http://schemas.microsoft.com/office/powerpoint/2010/main" val="12459957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65EA4-DAB8-2FE1-0497-71FFEE5C7234}"/>
              </a:ext>
            </a:extLst>
          </p:cNvPr>
          <p:cNvSpPr>
            <a:spLocks noGrp="1"/>
          </p:cNvSpPr>
          <p:nvPr>
            <p:ph type="title"/>
          </p:nvPr>
        </p:nvSpPr>
        <p:spPr/>
        <p:txBody>
          <a:bodyPr/>
          <a:lstStyle/>
          <a:p>
            <a:r>
              <a:rPr lang="en-IN" dirty="0"/>
              <a:t>Remove the Rules and Add in the Reverse Order on Metasploit</a:t>
            </a:r>
          </a:p>
        </p:txBody>
      </p:sp>
      <p:sp>
        <p:nvSpPr>
          <p:cNvPr id="3" name="Content Placeholder 2">
            <a:extLst>
              <a:ext uri="{FF2B5EF4-FFF2-40B4-BE49-F238E27FC236}">
                <a16:creationId xmlns:a16="http://schemas.microsoft.com/office/drawing/2014/main" id="{0A068FEB-426F-015D-E704-A521DE3BA541}"/>
              </a:ext>
            </a:extLst>
          </p:cNvPr>
          <p:cNvSpPr>
            <a:spLocks noGrp="1"/>
          </p:cNvSpPr>
          <p:nvPr>
            <p:ph idx="1"/>
          </p:nvPr>
        </p:nvSpPr>
        <p:spPr/>
        <p:txBody>
          <a:bodyPr/>
          <a:lstStyle/>
          <a:p>
            <a:r>
              <a:rPr lang="en-IN" b="1" dirty="0" err="1"/>
              <a:t>sudo</a:t>
            </a:r>
            <a:r>
              <a:rPr lang="en-IN" b="1" dirty="0"/>
              <a:t> iptables -F INPUT</a:t>
            </a:r>
          </a:p>
          <a:p>
            <a:r>
              <a:rPr lang="en-IN" b="1" dirty="0"/>
              <a:t>iptables -I INPUT -p </a:t>
            </a:r>
            <a:r>
              <a:rPr lang="en-IN" b="1" dirty="0" err="1"/>
              <a:t>tcp</a:t>
            </a:r>
            <a:r>
              <a:rPr lang="en-IN" b="1" dirty="0"/>
              <a:t> --</a:t>
            </a:r>
            <a:r>
              <a:rPr lang="en-IN" b="1" dirty="0" err="1"/>
              <a:t>dport</a:t>
            </a:r>
            <a:r>
              <a:rPr lang="en-IN" b="1" dirty="0"/>
              <a:t> 80 -j ACCEPT</a:t>
            </a:r>
          </a:p>
          <a:p>
            <a:r>
              <a:rPr lang="en-IN" b="1" dirty="0"/>
              <a:t>iptables -I INPUT -p </a:t>
            </a:r>
            <a:r>
              <a:rPr lang="en-IN" b="1" dirty="0" err="1"/>
              <a:t>tcp</a:t>
            </a:r>
            <a:r>
              <a:rPr lang="en-IN" b="1" dirty="0"/>
              <a:t> --</a:t>
            </a:r>
            <a:r>
              <a:rPr lang="en-IN" b="1" dirty="0" err="1"/>
              <a:t>dport</a:t>
            </a:r>
            <a:r>
              <a:rPr lang="en-IN" b="1" dirty="0"/>
              <a:t> 80 -j DROP</a:t>
            </a:r>
          </a:p>
          <a:p>
            <a:r>
              <a:rPr lang="en-IN" b="1" dirty="0"/>
              <a:t>iptables –</a:t>
            </a:r>
            <a:r>
              <a:rPr lang="en-IN" b="1" dirty="0" err="1"/>
              <a:t>vnL</a:t>
            </a:r>
            <a:endParaRPr lang="en-IN" dirty="0"/>
          </a:p>
          <a:p>
            <a:endParaRPr lang="en-IN" dirty="0"/>
          </a:p>
          <a:p>
            <a:r>
              <a:rPr lang="en-IN" dirty="0"/>
              <a:t>Try refreshing in Kali Linux … It will not show the Metasploit home page</a:t>
            </a:r>
          </a:p>
        </p:txBody>
      </p:sp>
    </p:spTree>
    <p:extLst>
      <p:ext uri="{BB962C8B-B14F-4D97-AF65-F5344CB8AC3E}">
        <p14:creationId xmlns:p14="http://schemas.microsoft.com/office/powerpoint/2010/main" val="32008549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F06DC-B9A2-B1B5-35B5-65B4A3B0F5D4}"/>
              </a:ext>
            </a:extLst>
          </p:cNvPr>
          <p:cNvSpPr>
            <a:spLocks noGrp="1"/>
          </p:cNvSpPr>
          <p:nvPr>
            <p:ph type="title"/>
          </p:nvPr>
        </p:nvSpPr>
        <p:spPr/>
        <p:txBody>
          <a:bodyPr/>
          <a:lstStyle/>
          <a:p>
            <a:r>
              <a:rPr lang="en-IN" dirty="0"/>
              <a:t>Where to Write Rules?</a:t>
            </a:r>
          </a:p>
        </p:txBody>
      </p:sp>
      <p:sp>
        <p:nvSpPr>
          <p:cNvPr id="3" name="Content Placeholder 2">
            <a:extLst>
              <a:ext uri="{FF2B5EF4-FFF2-40B4-BE49-F238E27FC236}">
                <a16:creationId xmlns:a16="http://schemas.microsoft.com/office/drawing/2014/main" id="{A3BB5768-6218-1881-9D45-BB3C653FADE0}"/>
              </a:ext>
            </a:extLst>
          </p:cNvPr>
          <p:cNvSpPr>
            <a:spLocks noGrp="1"/>
          </p:cNvSpPr>
          <p:nvPr>
            <p:ph idx="1"/>
          </p:nvPr>
        </p:nvSpPr>
        <p:spPr/>
        <p:txBody>
          <a:bodyPr/>
          <a:lstStyle/>
          <a:p>
            <a:r>
              <a:rPr lang="en-IN" dirty="0"/>
              <a:t>Rules written on terminals are executed immediately, but when the computer restarts, they are removed</a:t>
            </a:r>
          </a:p>
          <a:p>
            <a:r>
              <a:rPr lang="en-IN" dirty="0"/>
              <a:t>In such cases, we can add the rules in a shell script, make it executable, and set it to execute at boot time</a:t>
            </a:r>
          </a:p>
          <a:p>
            <a:r>
              <a:rPr lang="en-IN" dirty="0"/>
              <a:t>Example: On the Metasploit machine</a:t>
            </a:r>
          </a:p>
          <a:p>
            <a:pPr lvl="1"/>
            <a:r>
              <a:rPr lang="en-IN" dirty="0"/>
              <a:t>cd /</a:t>
            </a:r>
          </a:p>
          <a:p>
            <a:pPr lvl="1"/>
            <a:r>
              <a:rPr lang="en-IN" dirty="0" err="1"/>
              <a:t>mkdir</a:t>
            </a:r>
            <a:r>
              <a:rPr lang="en-IN" dirty="0"/>
              <a:t> scripts</a:t>
            </a:r>
          </a:p>
          <a:p>
            <a:pPr lvl="1"/>
            <a:r>
              <a:rPr lang="en-IN" dirty="0"/>
              <a:t>cd scripts</a:t>
            </a:r>
          </a:p>
          <a:p>
            <a:pPr lvl="1"/>
            <a:r>
              <a:rPr lang="en-IN" dirty="0"/>
              <a:t>nano iptables_example.sh</a:t>
            </a:r>
          </a:p>
          <a:p>
            <a:endParaRPr lang="en-IN" dirty="0"/>
          </a:p>
        </p:txBody>
      </p:sp>
    </p:spTree>
    <p:extLst>
      <p:ext uri="{BB962C8B-B14F-4D97-AF65-F5344CB8AC3E}">
        <p14:creationId xmlns:p14="http://schemas.microsoft.com/office/powerpoint/2010/main" val="29917097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6EA14-1717-889B-0B1A-25D2ACBC1B8F}"/>
              </a:ext>
            </a:extLst>
          </p:cNvPr>
          <p:cNvSpPr>
            <a:spLocks noGrp="1"/>
          </p:cNvSpPr>
          <p:nvPr>
            <p:ph type="title"/>
          </p:nvPr>
        </p:nvSpPr>
        <p:spPr/>
        <p:txBody>
          <a:bodyPr/>
          <a:lstStyle/>
          <a:p>
            <a:r>
              <a:rPr lang="en-IN" dirty="0"/>
              <a:t>iptables_example.sh</a:t>
            </a:r>
          </a:p>
        </p:txBody>
      </p:sp>
      <p:sp>
        <p:nvSpPr>
          <p:cNvPr id="3" name="Content Placeholder 2">
            <a:extLst>
              <a:ext uri="{FF2B5EF4-FFF2-40B4-BE49-F238E27FC236}">
                <a16:creationId xmlns:a16="http://schemas.microsoft.com/office/drawing/2014/main" id="{3EFB240A-13DA-2BA1-2AB3-0D03679596B1}"/>
              </a:ext>
            </a:extLst>
          </p:cNvPr>
          <p:cNvSpPr>
            <a:spLocks noGrp="1"/>
          </p:cNvSpPr>
          <p:nvPr>
            <p:ph idx="1"/>
          </p:nvPr>
        </p:nvSpPr>
        <p:spPr/>
        <p:txBody>
          <a:bodyPr/>
          <a:lstStyle/>
          <a:p>
            <a:r>
              <a:rPr lang="en-IN" dirty="0"/>
              <a:t>#!/bin/bash</a:t>
            </a:r>
          </a:p>
          <a:p>
            <a:endParaRPr lang="en-IN" dirty="0"/>
          </a:p>
          <a:p>
            <a:r>
              <a:rPr lang="en-IN" dirty="0"/>
              <a:t># drop incoming </a:t>
            </a:r>
            <a:r>
              <a:rPr lang="en-IN" dirty="0" err="1"/>
              <a:t>ssh</a:t>
            </a:r>
            <a:r>
              <a:rPr lang="en-IN" dirty="0"/>
              <a:t> traffic</a:t>
            </a:r>
          </a:p>
          <a:p>
            <a:r>
              <a:rPr lang="en-IN" dirty="0"/>
              <a:t>iptables -A INPUT -p </a:t>
            </a:r>
            <a:r>
              <a:rPr lang="en-IN" dirty="0" err="1"/>
              <a:t>tcp</a:t>
            </a:r>
            <a:r>
              <a:rPr lang="en-IN" dirty="0"/>
              <a:t> --</a:t>
            </a:r>
            <a:r>
              <a:rPr lang="en-IN" dirty="0" err="1"/>
              <a:t>dport</a:t>
            </a:r>
            <a:r>
              <a:rPr lang="en-IN" dirty="0"/>
              <a:t> 22 -j DROP</a:t>
            </a:r>
          </a:p>
          <a:p>
            <a:endParaRPr lang="en-IN" dirty="0"/>
          </a:p>
          <a:p>
            <a:r>
              <a:rPr lang="en-IN" dirty="0"/>
              <a:t># drop outgoing http and https traffic</a:t>
            </a:r>
          </a:p>
          <a:p>
            <a:r>
              <a:rPr lang="en-IN" dirty="0"/>
              <a:t>iptables -A OUTPUT -p </a:t>
            </a:r>
            <a:r>
              <a:rPr lang="en-IN" dirty="0" err="1"/>
              <a:t>tcp</a:t>
            </a:r>
            <a:r>
              <a:rPr lang="en-IN" dirty="0"/>
              <a:t> --</a:t>
            </a:r>
            <a:r>
              <a:rPr lang="en-IN" dirty="0" err="1"/>
              <a:t>dport</a:t>
            </a:r>
            <a:r>
              <a:rPr lang="en-IN" dirty="0"/>
              <a:t> 80 -j DROP</a:t>
            </a:r>
          </a:p>
          <a:p>
            <a:r>
              <a:rPr lang="en-IN" dirty="0"/>
              <a:t>iptables -A OUTPUT -p </a:t>
            </a:r>
            <a:r>
              <a:rPr lang="en-IN" dirty="0" err="1"/>
              <a:t>tcp</a:t>
            </a:r>
            <a:r>
              <a:rPr lang="en-IN" dirty="0"/>
              <a:t> --</a:t>
            </a:r>
            <a:r>
              <a:rPr lang="en-IN" dirty="0" err="1"/>
              <a:t>dport</a:t>
            </a:r>
            <a:r>
              <a:rPr lang="en-IN" dirty="0"/>
              <a:t> 443 -j DROP</a:t>
            </a:r>
          </a:p>
        </p:txBody>
      </p:sp>
    </p:spTree>
    <p:extLst>
      <p:ext uri="{BB962C8B-B14F-4D97-AF65-F5344CB8AC3E}">
        <p14:creationId xmlns:p14="http://schemas.microsoft.com/office/powerpoint/2010/main" val="21543171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6EA14-1717-889B-0B1A-25D2ACBC1B8F}"/>
              </a:ext>
            </a:extLst>
          </p:cNvPr>
          <p:cNvSpPr>
            <a:spLocks noGrp="1"/>
          </p:cNvSpPr>
          <p:nvPr>
            <p:ph type="title"/>
          </p:nvPr>
        </p:nvSpPr>
        <p:spPr/>
        <p:txBody>
          <a:bodyPr/>
          <a:lstStyle/>
          <a:p>
            <a:r>
              <a:rPr lang="en-IN" dirty="0"/>
              <a:t>Run it</a:t>
            </a:r>
          </a:p>
        </p:txBody>
      </p:sp>
      <p:sp>
        <p:nvSpPr>
          <p:cNvPr id="3" name="Content Placeholder 2">
            <a:extLst>
              <a:ext uri="{FF2B5EF4-FFF2-40B4-BE49-F238E27FC236}">
                <a16:creationId xmlns:a16="http://schemas.microsoft.com/office/drawing/2014/main" id="{3EFB240A-13DA-2BA1-2AB3-0D03679596B1}"/>
              </a:ext>
            </a:extLst>
          </p:cNvPr>
          <p:cNvSpPr>
            <a:spLocks noGrp="1"/>
          </p:cNvSpPr>
          <p:nvPr>
            <p:ph idx="1"/>
          </p:nvPr>
        </p:nvSpPr>
        <p:spPr/>
        <p:txBody>
          <a:bodyPr/>
          <a:lstStyle/>
          <a:p>
            <a:r>
              <a:rPr lang="en-IN" dirty="0" err="1"/>
              <a:t>chmod</a:t>
            </a:r>
            <a:r>
              <a:rPr lang="en-IN" dirty="0"/>
              <a:t> 700 iptables_example.sh</a:t>
            </a:r>
          </a:p>
          <a:p>
            <a:r>
              <a:rPr lang="en-IN" dirty="0"/>
              <a:t>./iptables_example.sh</a:t>
            </a:r>
          </a:p>
          <a:p>
            <a:r>
              <a:rPr lang="en-IN" dirty="0"/>
              <a:t>iptables -</a:t>
            </a:r>
            <a:r>
              <a:rPr lang="en-IN" dirty="0" err="1"/>
              <a:t>vnL</a:t>
            </a:r>
            <a:endParaRPr lang="en-IN" dirty="0"/>
          </a:p>
          <a:p>
            <a:endParaRPr lang="en-IN" dirty="0"/>
          </a:p>
        </p:txBody>
      </p:sp>
      <p:pic>
        <p:nvPicPr>
          <p:cNvPr id="5" name="Picture 4">
            <a:extLst>
              <a:ext uri="{FF2B5EF4-FFF2-40B4-BE49-F238E27FC236}">
                <a16:creationId xmlns:a16="http://schemas.microsoft.com/office/drawing/2014/main" id="{41FC0B39-056C-DFEB-E211-5148FB5232AF}"/>
              </a:ext>
            </a:extLst>
          </p:cNvPr>
          <p:cNvPicPr>
            <a:picLocks noChangeAspect="1"/>
          </p:cNvPicPr>
          <p:nvPr/>
        </p:nvPicPr>
        <p:blipFill>
          <a:blip r:embed="rId2"/>
          <a:stretch>
            <a:fillRect/>
          </a:stretch>
        </p:blipFill>
        <p:spPr>
          <a:xfrm>
            <a:off x="3624126" y="2804321"/>
            <a:ext cx="7729674" cy="3880785"/>
          </a:xfrm>
          <a:prstGeom prst="rect">
            <a:avLst/>
          </a:prstGeom>
        </p:spPr>
      </p:pic>
    </p:spTree>
    <p:extLst>
      <p:ext uri="{BB962C8B-B14F-4D97-AF65-F5344CB8AC3E}">
        <p14:creationId xmlns:p14="http://schemas.microsoft.com/office/powerpoint/2010/main" val="14599651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F6912-7022-F6E4-20CD-56E6EF81E2E5}"/>
              </a:ext>
            </a:extLst>
          </p:cNvPr>
          <p:cNvSpPr>
            <a:spLocks noGrp="1"/>
          </p:cNvSpPr>
          <p:nvPr>
            <p:ph type="title"/>
          </p:nvPr>
        </p:nvSpPr>
        <p:spPr/>
        <p:txBody>
          <a:bodyPr/>
          <a:lstStyle/>
          <a:p>
            <a:r>
              <a:rPr lang="en-IN" dirty="0"/>
              <a:t>Default Policy</a:t>
            </a:r>
          </a:p>
        </p:txBody>
      </p:sp>
      <p:sp>
        <p:nvSpPr>
          <p:cNvPr id="3" name="Content Placeholder 2">
            <a:extLst>
              <a:ext uri="{FF2B5EF4-FFF2-40B4-BE49-F238E27FC236}">
                <a16:creationId xmlns:a16="http://schemas.microsoft.com/office/drawing/2014/main" id="{9E7D6C43-5865-4BAC-99C8-67515ADA691E}"/>
              </a:ext>
            </a:extLst>
          </p:cNvPr>
          <p:cNvSpPr>
            <a:spLocks noGrp="1"/>
          </p:cNvSpPr>
          <p:nvPr>
            <p:ph idx="1"/>
          </p:nvPr>
        </p:nvSpPr>
        <p:spPr/>
        <p:txBody>
          <a:bodyPr/>
          <a:lstStyle/>
          <a:p>
            <a:r>
              <a:rPr lang="en-IN" b="1" dirty="0"/>
              <a:t>Policy</a:t>
            </a:r>
            <a:r>
              <a:rPr lang="en-IN" dirty="0"/>
              <a:t> specifies what happens to the packets when they are not matched against any rule</a:t>
            </a:r>
          </a:p>
          <a:p>
            <a:r>
              <a:rPr lang="en-IN" dirty="0"/>
              <a:t>By default, policy is set to </a:t>
            </a:r>
            <a:r>
              <a:rPr lang="en-IN" i="1" dirty="0"/>
              <a:t>accept all traffic</a:t>
            </a:r>
            <a:endParaRPr lang="en-IN" dirty="0"/>
          </a:p>
          <a:p>
            <a:r>
              <a:rPr lang="en-IN" dirty="0"/>
              <a:t>Policy can be changed only for INPUT, OUTPUT, and FORWARD chains</a:t>
            </a:r>
          </a:p>
          <a:p>
            <a:r>
              <a:rPr lang="en-IN" dirty="0"/>
              <a:t>To change policy, we use the -P option</a:t>
            </a:r>
          </a:p>
        </p:txBody>
      </p:sp>
    </p:spTree>
    <p:extLst>
      <p:ext uri="{BB962C8B-B14F-4D97-AF65-F5344CB8AC3E}">
        <p14:creationId xmlns:p14="http://schemas.microsoft.com/office/powerpoint/2010/main" val="5651777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F6912-7022-F6E4-20CD-56E6EF81E2E5}"/>
              </a:ext>
            </a:extLst>
          </p:cNvPr>
          <p:cNvSpPr>
            <a:spLocks noGrp="1"/>
          </p:cNvSpPr>
          <p:nvPr>
            <p:ph type="title"/>
          </p:nvPr>
        </p:nvSpPr>
        <p:spPr/>
        <p:txBody>
          <a:bodyPr/>
          <a:lstStyle/>
          <a:p>
            <a:r>
              <a:rPr lang="en-IN" dirty="0"/>
              <a:t>Default Policy</a:t>
            </a:r>
          </a:p>
        </p:txBody>
      </p:sp>
      <p:sp>
        <p:nvSpPr>
          <p:cNvPr id="3" name="Content Placeholder 2">
            <a:extLst>
              <a:ext uri="{FF2B5EF4-FFF2-40B4-BE49-F238E27FC236}">
                <a16:creationId xmlns:a16="http://schemas.microsoft.com/office/drawing/2014/main" id="{9E7D6C43-5865-4BAC-99C8-67515ADA691E}"/>
              </a:ext>
            </a:extLst>
          </p:cNvPr>
          <p:cNvSpPr>
            <a:spLocks noGrp="1"/>
          </p:cNvSpPr>
          <p:nvPr>
            <p:ph idx="1"/>
          </p:nvPr>
        </p:nvSpPr>
        <p:spPr/>
        <p:txBody>
          <a:bodyPr/>
          <a:lstStyle/>
          <a:p>
            <a:r>
              <a:rPr lang="en-IN" dirty="0"/>
              <a:t>Default policy can be seen by using the </a:t>
            </a:r>
            <a:r>
              <a:rPr lang="en-IN" b="1" dirty="0"/>
              <a:t>iptables -</a:t>
            </a:r>
            <a:r>
              <a:rPr lang="en-IN" b="1" dirty="0" err="1"/>
              <a:t>vnL</a:t>
            </a:r>
            <a:r>
              <a:rPr lang="en-IN" b="1" dirty="0"/>
              <a:t> </a:t>
            </a:r>
            <a:r>
              <a:rPr lang="en-IN" dirty="0"/>
              <a:t>command</a:t>
            </a:r>
          </a:p>
        </p:txBody>
      </p:sp>
      <p:pic>
        <p:nvPicPr>
          <p:cNvPr id="5" name="Picture 4">
            <a:extLst>
              <a:ext uri="{FF2B5EF4-FFF2-40B4-BE49-F238E27FC236}">
                <a16:creationId xmlns:a16="http://schemas.microsoft.com/office/drawing/2014/main" id="{3A42E336-DFED-C82D-71E7-D297E3614F0F}"/>
              </a:ext>
            </a:extLst>
          </p:cNvPr>
          <p:cNvPicPr>
            <a:picLocks noChangeAspect="1"/>
          </p:cNvPicPr>
          <p:nvPr/>
        </p:nvPicPr>
        <p:blipFill>
          <a:blip r:embed="rId2"/>
          <a:stretch>
            <a:fillRect/>
          </a:stretch>
        </p:blipFill>
        <p:spPr>
          <a:xfrm>
            <a:off x="931440" y="2475548"/>
            <a:ext cx="7122471" cy="3575931"/>
          </a:xfrm>
          <a:prstGeom prst="rect">
            <a:avLst/>
          </a:prstGeom>
        </p:spPr>
      </p:pic>
      <p:sp>
        <p:nvSpPr>
          <p:cNvPr id="6" name="TextBox 5">
            <a:extLst>
              <a:ext uri="{FF2B5EF4-FFF2-40B4-BE49-F238E27FC236}">
                <a16:creationId xmlns:a16="http://schemas.microsoft.com/office/drawing/2014/main" id="{62A9A251-910C-3E52-959E-9144E5BE17CB}"/>
              </a:ext>
            </a:extLst>
          </p:cNvPr>
          <p:cNvSpPr txBox="1"/>
          <p:nvPr/>
        </p:nvSpPr>
        <p:spPr>
          <a:xfrm>
            <a:off x="2640458" y="2681555"/>
            <a:ext cx="684000" cy="216000"/>
          </a:xfrm>
          <a:prstGeom prst="rect">
            <a:avLst/>
          </a:prstGeom>
          <a:solidFill>
            <a:schemeClr val="accent4">
              <a:lumMod val="20000"/>
              <a:lumOff val="80000"/>
              <a:alpha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DD2CEB05-B651-D0F6-87BB-FC3930C1F40D}"/>
              </a:ext>
            </a:extLst>
          </p:cNvPr>
          <p:cNvSpPr txBox="1"/>
          <p:nvPr/>
        </p:nvSpPr>
        <p:spPr>
          <a:xfrm>
            <a:off x="2844229" y="4253481"/>
            <a:ext cx="684000" cy="216000"/>
          </a:xfrm>
          <a:prstGeom prst="rect">
            <a:avLst/>
          </a:prstGeom>
          <a:solidFill>
            <a:schemeClr val="accent4">
              <a:lumMod val="20000"/>
              <a:lumOff val="80000"/>
              <a:alpha val="50000"/>
            </a:schemeClr>
          </a:solidFill>
        </p:spPr>
        <p:txBody>
          <a:bodyPr wrap="square" rtlCol="0">
            <a:spAutoFit/>
          </a:bodyPr>
          <a:lstStyle/>
          <a:p>
            <a:endParaRPr lang="en-IN" dirty="0"/>
          </a:p>
        </p:txBody>
      </p:sp>
      <p:sp>
        <p:nvSpPr>
          <p:cNvPr id="8" name="TextBox 7">
            <a:extLst>
              <a:ext uri="{FF2B5EF4-FFF2-40B4-BE49-F238E27FC236}">
                <a16:creationId xmlns:a16="http://schemas.microsoft.com/office/drawing/2014/main" id="{D0D57DBC-68D3-D391-7FFC-73223D0C8C1D}"/>
              </a:ext>
            </a:extLst>
          </p:cNvPr>
          <p:cNvSpPr txBox="1"/>
          <p:nvPr/>
        </p:nvSpPr>
        <p:spPr>
          <a:xfrm>
            <a:off x="2788490" y="4883098"/>
            <a:ext cx="684000" cy="216000"/>
          </a:xfrm>
          <a:prstGeom prst="rect">
            <a:avLst/>
          </a:prstGeom>
          <a:solidFill>
            <a:schemeClr val="accent4">
              <a:lumMod val="20000"/>
              <a:lumOff val="80000"/>
              <a:alpha val="50000"/>
            </a:schemeClr>
          </a:solidFill>
        </p:spPr>
        <p:txBody>
          <a:bodyPr wrap="square" rtlCol="0">
            <a:spAutoFit/>
          </a:bodyPr>
          <a:lstStyle/>
          <a:p>
            <a:endParaRPr lang="en-IN" dirty="0"/>
          </a:p>
        </p:txBody>
      </p:sp>
    </p:spTree>
    <p:extLst>
      <p:ext uri="{BB962C8B-B14F-4D97-AF65-F5344CB8AC3E}">
        <p14:creationId xmlns:p14="http://schemas.microsoft.com/office/powerpoint/2010/main" val="16234039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C6898-353A-D715-6707-C1068C2D2D6C}"/>
              </a:ext>
            </a:extLst>
          </p:cNvPr>
          <p:cNvSpPr>
            <a:spLocks noGrp="1"/>
          </p:cNvSpPr>
          <p:nvPr>
            <p:ph type="title"/>
          </p:nvPr>
        </p:nvSpPr>
        <p:spPr/>
        <p:txBody>
          <a:bodyPr/>
          <a:lstStyle/>
          <a:p>
            <a:r>
              <a:rPr lang="en-IN" dirty="0"/>
              <a:t>Changing the Policy </a:t>
            </a:r>
          </a:p>
        </p:txBody>
      </p:sp>
      <p:sp>
        <p:nvSpPr>
          <p:cNvPr id="3" name="Content Placeholder 2">
            <a:extLst>
              <a:ext uri="{FF2B5EF4-FFF2-40B4-BE49-F238E27FC236}">
                <a16:creationId xmlns:a16="http://schemas.microsoft.com/office/drawing/2014/main" id="{2F98FDB9-04E8-C9DB-D66F-1EC5F6E16DEB}"/>
              </a:ext>
            </a:extLst>
          </p:cNvPr>
          <p:cNvSpPr>
            <a:spLocks noGrp="1"/>
          </p:cNvSpPr>
          <p:nvPr>
            <p:ph idx="1"/>
          </p:nvPr>
        </p:nvSpPr>
        <p:spPr/>
        <p:txBody>
          <a:bodyPr/>
          <a:lstStyle/>
          <a:p>
            <a:r>
              <a:rPr lang="en-IN" dirty="0"/>
              <a:t>First reset the input and policy on Metasploit</a:t>
            </a:r>
          </a:p>
          <a:p>
            <a:pPr lvl="1"/>
            <a:r>
              <a:rPr lang="en-IN" b="1" dirty="0" err="1"/>
              <a:t>sudo</a:t>
            </a:r>
            <a:r>
              <a:rPr lang="en-IN" b="1" dirty="0"/>
              <a:t> iptables -F INPUT</a:t>
            </a:r>
          </a:p>
          <a:p>
            <a:pPr lvl="1"/>
            <a:r>
              <a:rPr lang="en-IN" b="1" dirty="0" err="1"/>
              <a:t>sudo</a:t>
            </a:r>
            <a:r>
              <a:rPr lang="en-IN" b="1" dirty="0"/>
              <a:t> iptables -F INPUT</a:t>
            </a:r>
          </a:p>
          <a:p>
            <a:r>
              <a:rPr lang="en-IN" dirty="0"/>
              <a:t>Verify the status</a:t>
            </a:r>
          </a:p>
          <a:p>
            <a:pPr lvl="1"/>
            <a:r>
              <a:rPr lang="en-IN" dirty="0"/>
              <a:t>iptables -</a:t>
            </a:r>
            <a:r>
              <a:rPr lang="en-IN" dirty="0" err="1"/>
              <a:t>vnL</a:t>
            </a:r>
            <a:endParaRPr lang="en-IN" dirty="0"/>
          </a:p>
        </p:txBody>
      </p:sp>
    </p:spTree>
    <p:extLst>
      <p:ext uri="{BB962C8B-B14F-4D97-AF65-F5344CB8AC3E}">
        <p14:creationId xmlns:p14="http://schemas.microsoft.com/office/powerpoint/2010/main" val="31725551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C6898-353A-D715-6707-C1068C2D2D6C}"/>
              </a:ext>
            </a:extLst>
          </p:cNvPr>
          <p:cNvSpPr>
            <a:spLocks noGrp="1"/>
          </p:cNvSpPr>
          <p:nvPr>
            <p:ph type="title"/>
          </p:nvPr>
        </p:nvSpPr>
        <p:spPr/>
        <p:txBody>
          <a:bodyPr/>
          <a:lstStyle/>
          <a:p>
            <a:r>
              <a:rPr lang="en-IN" dirty="0"/>
              <a:t>Changing the Policy </a:t>
            </a:r>
          </a:p>
        </p:txBody>
      </p:sp>
      <p:sp>
        <p:nvSpPr>
          <p:cNvPr id="3" name="Content Placeholder 2">
            <a:extLst>
              <a:ext uri="{FF2B5EF4-FFF2-40B4-BE49-F238E27FC236}">
                <a16:creationId xmlns:a16="http://schemas.microsoft.com/office/drawing/2014/main" id="{2F98FDB9-04E8-C9DB-D66F-1EC5F6E16DEB}"/>
              </a:ext>
            </a:extLst>
          </p:cNvPr>
          <p:cNvSpPr>
            <a:spLocks noGrp="1"/>
          </p:cNvSpPr>
          <p:nvPr>
            <p:ph idx="1"/>
          </p:nvPr>
        </p:nvSpPr>
        <p:spPr/>
        <p:txBody>
          <a:bodyPr/>
          <a:lstStyle/>
          <a:p>
            <a:r>
              <a:rPr lang="en-IN" dirty="0"/>
              <a:t>Check whether we can ping Metasploit</a:t>
            </a:r>
          </a:p>
          <a:p>
            <a:r>
              <a:rPr lang="en-IN" dirty="0"/>
              <a:t>From Kali Linux machine</a:t>
            </a:r>
          </a:p>
          <a:p>
            <a:pPr lvl="1"/>
            <a:r>
              <a:rPr lang="en-IN" b="1" dirty="0"/>
              <a:t>ping 192.168.0.28</a:t>
            </a:r>
          </a:p>
          <a:p>
            <a:r>
              <a:rPr lang="en-IN" dirty="0"/>
              <a:t>If ping is successful</a:t>
            </a:r>
          </a:p>
          <a:p>
            <a:pPr lvl="1"/>
            <a:r>
              <a:rPr lang="en-IN" dirty="0"/>
              <a:t>On the Metasploit machine: </a:t>
            </a:r>
            <a:r>
              <a:rPr lang="en-IN" b="1" dirty="0"/>
              <a:t>iptables -P INPUT DROP</a:t>
            </a:r>
            <a:r>
              <a:rPr lang="en-IN" dirty="0"/>
              <a:t> and </a:t>
            </a:r>
            <a:r>
              <a:rPr lang="en-IN" b="1" dirty="0"/>
              <a:t>iptables -</a:t>
            </a:r>
            <a:r>
              <a:rPr lang="en-IN" b="1" dirty="0" err="1"/>
              <a:t>vnL</a:t>
            </a:r>
            <a:endParaRPr lang="en-IN" dirty="0"/>
          </a:p>
          <a:p>
            <a:pPr lvl="1"/>
            <a:endParaRPr lang="en-IN" b="1" dirty="0"/>
          </a:p>
        </p:txBody>
      </p:sp>
      <p:pic>
        <p:nvPicPr>
          <p:cNvPr id="5" name="Picture 4">
            <a:extLst>
              <a:ext uri="{FF2B5EF4-FFF2-40B4-BE49-F238E27FC236}">
                <a16:creationId xmlns:a16="http://schemas.microsoft.com/office/drawing/2014/main" id="{AEF5BD61-E72B-470C-4E1B-770AE058C33E}"/>
              </a:ext>
            </a:extLst>
          </p:cNvPr>
          <p:cNvPicPr>
            <a:picLocks noChangeAspect="1"/>
          </p:cNvPicPr>
          <p:nvPr/>
        </p:nvPicPr>
        <p:blipFill>
          <a:blip r:embed="rId2"/>
          <a:stretch>
            <a:fillRect/>
          </a:stretch>
        </p:blipFill>
        <p:spPr>
          <a:xfrm>
            <a:off x="2732634" y="4103676"/>
            <a:ext cx="6726732" cy="2208224"/>
          </a:xfrm>
          <a:prstGeom prst="rect">
            <a:avLst/>
          </a:prstGeom>
        </p:spPr>
      </p:pic>
      <p:sp>
        <p:nvSpPr>
          <p:cNvPr id="6" name="TextBox 5">
            <a:extLst>
              <a:ext uri="{FF2B5EF4-FFF2-40B4-BE49-F238E27FC236}">
                <a16:creationId xmlns:a16="http://schemas.microsoft.com/office/drawing/2014/main" id="{698CB686-EDFE-52A8-75CF-35767BD22828}"/>
              </a:ext>
            </a:extLst>
          </p:cNvPr>
          <p:cNvSpPr txBox="1"/>
          <p:nvPr/>
        </p:nvSpPr>
        <p:spPr>
          <a:xfrm>
            <a:off x="4407612" y="4623370"/>
            <a:ext cx="431516" cy="184936"/>
          </a:xfrm>
          <a:prstGeom prst="rect">
            <a:avLst/>
          </a:prstGeom>
          <a:solidFill>
            <a:schemeClr val="accent4">
              <a:lumMod val="20000"/>
              <a:lumOff val="80000"/>
              <a:alpha val="50000"/>
            </a:schemeClr>
          </a:solidFill>
        </p:spPr>
        <p:txBody>
          <a:bodyPr wrap="square" rtlCol="0">
            <a:spAutoFit/>
          </a:bodyPr>
          <a:lstStyle/>
          <a:p>
            <a:endParaRPr lang="en-IN" dirty="0"/>
          </a:p>
        </p:txBody>
      </p:sp>
    </p:spTree>
    <p:extLst>
      <p:ext uri="{BB962C8B-B14F-4D97-AF65-F5344CB8AC3E}">
        <p14:creationId xmlns:p14="http://schemas.microsoft.com/office/powerpoint/2010/main" val="31232141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C08C9-2BBA-9FD3-3488-BF03303F63B1}"/>
              </a:ext>
            </a:extLst>
          </p:cNvPr>
          <p:cNvSpPr>
            <a:spLocks noGrp="1"/>
          </p:cNvSpPr>
          <p:nvPr>
            <p:ph type="title"/>
          </p:nvPr>
        </p:nvSpPr>
        <p:spPr/>
        <p:txBody>
          <a:bodyPr/>
          <a:lstStyle/>
          <a:p>
            <a:r>
              <a:rPr lang="en-IN" dirty="0"/>
              <a:t>Retry Ping</a:t>
            </a:r>
          </a:p>
        </p:txBody>
      </p:sp>
      <p:sp>
        <p:nvSpPr>
          <p:cNvPr id="3" name="Content Placeholder 2">
            <a:extLst>
              <a:ext uri="{FF2B5EF4-FFF2-40B4-BE49-F238E27FC236}">
                <a16:creationId xmlns:a16="http://schemas.microsoft.com/office/drawing/2014/main" id="{978EB41C-C861-A98D-471C-9017F1BB8DA7}"/>
              </a:ext>
            </a:extLst>
          </p:cNvPr>
          <p:cNvSpPr>
            <a:spLocks noGrp="1"/>
          </p:cNvSpPr>
          <p:nvPr>
            <p:ph idx="1"/>
          </p:nvPr>
        </p:nvSpPr>
        <p:spPr/>
        <p:txBody>
          <a:bodyPr/>
          <a:lstStyle/>
          <a:p>
            <a:r>
              <a:rPr lang="en-IN" dirty="0"/>
              <a:t>Check whether we can ping Metasploit</a:t>
            </a:r>
          </a:p>
          <a:p>
            <a:r>
              <a:rPr lang="en-IN" dirty="0"/>
              <a:t>From Kali Linux machine</a:t>
            </a:r>
          </a:p>
          <a:p>
            <a:pPr lvl="1"/>
            <a:r>
              <a:rPr lang="en-IN" b="1" dirty="0"/>
              <a:t>ping 192.168.0.28</a:t>
            </a:r>
          </a:p>
          <a:p>
            <a:r>
              <a:rPr lang="en-IN" dirty="0"/>
              <a:t>Should not succeed – as expected, it is stuck now</a:t>
            </a:r>
          </a:p>
          <a:p>
            <a:endParaRPr lang="en-IN" dirty="0"/>
          </a:p>
          <a:p>
            <a:endParaRPr lang="en-IN" dirty="0"/>
          </a:p>
          <a:p>
            <a:r>
              <a:rPr lang="en-IN" dirty="0"/>
              <a:t>Reverse the policy on Metasploit and recheck – the Kali Linux ping should start progressing</a:t>
            </a:r>
          </a:p>
        </p:txBody>
      </p:sp>
      <p:pic>
        <p:nvPicPr>
          <p:cNvPr id="5" name="Picture 4">
            <a:extLst>
              <a:ext uri="{FF2B5EF4-FFF2-40B4-BE49-F238E27FC236}">
                <a16:creationId xmlns:a16="http://schemas.microsoft.com/office/drawing/2014/main" id="{3B623F5E-268C-A830-3D87-7AEAFD13F3F4}"/>
              </a:ext>
            </a:extLst>
          </p:cNvPr>
          <p:cNvPicPr>
            <a:picLocks noChangeAspect="1"/>
          </p:cNvPicPr>
          <p:nvPr/>
        </p:nvPicPr>
        <p:blipFill>
          <a:blip r:embed="rId2"/>
          <a:stretch>
            <a:fillRect/>
          </a:stretch>
        </p:blipFill>
        <p:spPr>
          <a:xfrm>
            <a:off x="1585604" y="3788469"/>
            <a:ext cx="5780967" cy="1036528"/>
          </a:xfrm>
          <a:prstGeom prst="rect">
            <a:avLst/>
          </a:prstGeom>
        </p:spPr>
      </p:pic>
    </p:spTree>
    <p:extLst>
      <p:ext uri="{BB962C8B-B14F-4D97-AF65-F5344CB8AC3E}">
        <p14:creationId xmlns:p14="http://schemas.microsoft.com/office/powerpoint/2010/main" val="33810282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3F3BD-543C-CBDF-3E11-9D8A0C576EF9}"/>
              </a:ext>
            </a:extLst>
          </p:cNvPr>
          <p:cNvSpPr>
            <a:spLocks noGrp="1"/>
          </p:cNvSpPr>
          <p:nvPr>
            <p:ph type="title"/>
          </p:nvPr>
        </p:nvSpPr>
        <p:spPr/>
        <p:txBody>
          <a:bodyPr/>
          <a:lstStyle/>
          <a:p>
            <a:r>
              <a:rPr lang="en-IN" dirty="0"/>
              <a:t>Setting the Firewall to the Default State of Linux</a:t>
            </a:r>
          </a:p>
        </p:txBody>
      </p:sp>
      <p:sp>
        <p:nvSpPr>
          <p:cNvPr id="3" name="Content Placeholder 2">
            <a:extLst>
              <a:ext uri="{FF2B5EF4-FFF2-40B4-BE49-F238E27FC236}">
                <a16:creationId xmlns:a16="http://schemas.microsoft.com/office/drawing/2014/main" id="{6249EF45-DC99-044A-CD97-F6A32EFAA412}"/>
              </a:ext>
            </a:extLst>
          </p:cNvPr>
          <p:cNvSpPr>
            <a:spLocks noGrp="1"/>
          </p:cNvSpPr>
          <p:nvPr>
            <p:ph idx="1"/>
          </p:nvPr>
        </p:nvSpPr>
        <p:spPr/>
        <p:txBody>
          <a:bodyPr>
            <a:normAutofit fontScale="32500" lnSpcReduction="20000"/>
          </a:bodyPr>
          <a:lstStyle/>
          <a:p>
            <a:r>
              <a:rPr lang="en-IN" sz="8000" dirty="0"/>
              <a:t>At the very beginning of the set up, we need to be sure that we start with a very clean slate. This script may be useful for this:</a:t>
            </a:r>
            <a:endParaRPr lang="en-IN" dirty="0"/>
          </a:p>
          <a:p>
            <a:endParaRPr lang="en-IN" dirty="0"/>
          </a:p>
          <a:p>
            <a:r>
              <a:rPr lang="en-IN" dirty="0"/>
              <a:t>#!/bin/bash</a:t>
            </a:r>
          </a:p>
          <a:p>
            <a:endParaRPr lang="en-IN" dirty="0"/>
          </a:p>
          <a:p>
            <a:r>
              <a:rPr lang="en-IN" dirty="0"/>
              <a:t># 1. Set the ACCEPT policy</a:t>
            </a:r>
          </a:p>
          <a:p>
            <a:r>
              <a:rPr lang="en-IN" dirty="0"/>
              <a:t>iptables -P INPUT ACCEPT</a:t>
            </a:r>
          </a:p>
          <a:p>
            <a:r>
              <a:rPr lang="en-IN" dirty="0"/>
              <a:t>iptables -P OUTPUT ACCEPT</a:t>
            </a:r>
          </a:p>
          <a:p>
            <a:r>
              <a:rPr lang="en-IN" dirty="0"/>
              <a:t>iptables -P FORWARD ACCEPT</a:t>
            </a:r>
          </a:p>
          <a:p>
            <a:endParaRPr lang="en-IN" dirty="0"/>
          </a:p>
          <a:p>
            <a:r>
              <a:rPr lang="en-IN" dirty="0"/>
              <a:t># 2. Flush all the tables</a:t>
            </a:r>
          </a:p>
          <a:p>
            <a:r>
              <a:rPr lang="en-IN" dirty="0"/>
              <a:t>iptables -t filter -F</a:t>
            </a:r>
          </a:p>
          <a:p>
            <a:r>
              <a:rPr lang="en-IN" dirty="0"/>
              <a:t>iptables -t </a:t>
            </a:r>
            <a:r>
              <a:rPr lang="en-IN" dirty="0" err="1"/>
              <a:t>nat</a:t>
            </a:r>
            <a:r>
              <a:rPr lang="en-IN" dirty="0"/>
              <a:t> -F</a:t>
            </a:r>
          </a:p>
          <a:p>
            <a:r>
              <a:rPr lang="en-IN" dirty="0"/>
              <a:t>iptables -t mangle -F</a:t>
            </a:r>
          </a:p>
          <a:p>
            <a:r>
              <a:rPr lang="en-IN" dirty="0"/>
              <a:t>iptables -t raw -F</a:t>
            </a:r>
          </a:p>
          <a:p>
            <a:endParaRPr lang="en-IN" dirty="0"/>
          </a:p>
          <a:p>
            <a:r>
              <a:rPr lang="en-IN" dirty="0"/>
              <a:t>#3. Delete user-defined chains</a:t>
            </a:r>
          </a:p>
          <a:p>
            <a:r>
              <a:rPr lang="en-IN" dirty="0"/>
              <a:t>iptables -X</a:t>
            </a:r>
          </a:p>
        </p:txBody>
      </p:sp>
    </p:spTree>
    <p:extLst>
      <p:ext uri="{BB962C8B-B14F-4D97-AF65-F5344CB8AC3E}">
        <p14:creationId xmlns:p14="http://schemas.microsoft.com/office/powerpoint/2010/main" val="18770015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5EF04-2932-4975-4D7D-4A5FC1BB4F14}"/>
              </a:ext>
            </a:extLst>
          </p:cNvPr>
          <p:cNvSpPr>
            <a:spLocks noGrp="1"/>
          </p:cNvSpPr>
          <p:nvPr>
            <p:ph type="title"/>
          </p:nvPr>
        </p:nvSpPr>
        <p:spPr/>
        <p:txBody>
          <a:bodyPr/>
          <a:lstStyle/>
          <a:p>
            <a:r>
              <a:rPr lang="en-IN" dirty="0"/>
              <a:t>Blocking All Traffic</a:t>
            </a:r>
          </a:p>
        </p:txBody>
      </p:sp>
      <p:sp>
        <p:nvSpPr>
          <p:cNvPr id="3" name="Content Placeholder 2">
            <a:extLst>
              <a:ext uri="{FF2B5EF4-FFF2-40B4-BE49-F238E27FC236}">
                <a16:creationId xmlns:a16="http://schemas.microsoft.com/office/drawing/2014/main" id="{0BFE0835-2521-D102-27BD-1311AA5DEA11}"/>
              </a:ext>
            </a:extLst>
          </p:cNvPr>
          <p:cNvSpPr>
            <a:spLocks noGrp="1"/>
          </p:cNvSpPr>
          <p:nvPr>
            <p:ph idx="1"/>
          </p:nvPr>
        </p:nvSpPr>
        <p:spPr/>
        <p:txBody>
          <a:bodyPr/>
          <a:lstStyle/>
          <a:p>
            <a:r>
              <a:rPr lang="en-IN" dirty="0"/>
              <a:t>iptables -F</a:t>
            </a:r>
          </a:p>
          <a:p>
            <a:r>
              <a:rPr lang="en-IN" dirty="0"/>
              <a:t>iptables -A INPUT -j REJECT</a:t>
            </a:r>
          </a:p>
          <a:p>
            <a:r>
              <a:rPr lang="en-IN" dirty="0"/>
              <a:t>iptables -A OUTPUT -j REJECT</a:t>
            </a:r>
          </a:p>
          <a:p>
            <a:r>
              <a:rPr lang="en-IN" dirty="0"/>
              <a:t>iptables -A FORWARD -j REJECT</a:t>
            </a:r>
          </a:p>
          <a:p>
            <a:endParaRPr lang="en-IN" dirty="0"/>
          </a:p>
        </p:txBody>
      </p:sp>
    </p:spTree>
    <p:extLst>
      <p:ext uri="{BB962C8B-B14F-4D97-AF65-F5344CB8AC3E}">
        <p14:creationId xmlns:p14="http://schemas.microsoft.com/office/powerpoint/2010/main" val="34049027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54E12-F44F-A5BD-2400-B03FD2868B66}"/>
              </a:ext>
            </a:extLst>
          </p:cNvPr>
          <p:cNvSpPr>
            <a:spLocks noGrp="1"/>
          </p:cNvSpPr>
          <p:nvPr>
            <p:ph type="title"/>
          </p:nvPr>
        </p:nvSpPr>
        <p:spPr/>
        <p:txBody>
          <a:bodyPr/>
          <a:lstStyle/>
          <a:p>
            <a:r>
              <a:rPr lang="en-IN" dirty="0"/>
              <a:t>Filtering by IP or Network Address</a:t>
            </a:r>
          </a:p>
        </p:txBody>
      </p:sp>
      <p:sp>
        <p:nvSpPr>
          <p:cNvPr id="3" name="Content Placeholder 2">
            <a:extLst>
              <a:ext uri="{FF2B5EF4-FFF2-40B4-BE49-F238E27FC236}">
                <a16:creationId xmlns:a16="http://schemas.microsoft.com/office/drawing/2014/main" id="{5580E84A-36C3-A354-ECCD-FABE4792A8F1}"/>
              </a:ext>
            </a:extLst>
          </p:cNvPr>
          <p:cNvSpPr>
            <a:spLocks noGrp="1"/>
          </p:cNvSpPr>
          <p:nvPr>
            <p:ph idx="1"/>
          </p:nvPr>
        </p:nvSpPr>
        <p:spPr/>
        <p:txBody>
          <a:bodyPr/>
          <a:lstStyle/>
          <a:p>
            <a:pPr marL="0" indent="0">
              <a:buNone/>
            </a:pPr>
            <a:r>
              <a:rPr lang="en-IN" dirty="0"/>
              <a:t>1. Match by Source IP or Network Address</a:t>
            </a:r>
          </a:p>
          <a:p>
            <a:pPr lvl="1"/>
            <a:r>
              <a:rPr lang="en-IN" dirty="0"/>
              <a:t>Match: </a:t>
            </a:r>
            <a:r>
              <a:rPr lang="en-IN" dirty="0">
                <a:solidFill>
                  <a:srgbClr val="FF0000"/>
                </a:solidFill>
              </a:rPr>
              <a:t>-s</a:t>
            </a:r>
            <a:r>
              <a:rPr lang="en-IN" dirty="0"/>
              <a:t> IP, </a:t>
            </a:r>
            <a:r>
              <a:rPr lang="en-IN" dirty="0">
                <a:solidFill>
                  <a:srgbClr val="FF0000"/>
                </a:solidFill>
              </a:rPr>
              <a:t>--source </a:t>
            </a:r>
            <a:r>
              <a:rPr lang="en-IN" dirty="0"/>
              <a:t>IP</a:t>
            </a:r>
          </a:p>
          <a:p>
            <a:pPr lvl="1"/>
            <a:r>
              <a:rPr lang="en-IN" dirty="0"/>
              <a:t>Example: iptables -A INPUT -s 100.0.0.0/16 -j DROP</a:t>
            </a:r>
          </a:p>
          <a:p>
            <a:pPr lvl="1"/>
            <a:endParaRPr lang="en-IN" dirty="0"/>
          </a:p>
          <a:p>
            <a:pPr marL="0" indent="0">
              <a:buNone/>
            </a:pPr>
            <a:r>
              <a:rPr lang="en-IN" dirty="0"/>
              <a:t>2. Match by Destination IP or Destination Address</a:t>
            </a:r>
          </a:p>
          <a:p>
            <a:pPr lvl="1"/>
            <a:r>
              <a:rPr lang="en-IN" dirty="0"/>
              <a:t>Match: </a:t>
            </a:r>
            <a:r>
              <a:rPr lang="en-IN" dirty="0">
                <a:solidFill>
                  <a:srgbClr val="FF0000"/>
                </a:solidFill>
              </a:rPr>
              <a:t>-d</a:t>
            </a:r>
            <a:r>
              <a:rPr lang="en-IN" dirty="0"/>
              <a:t> IP, </a:t>
            </a:r>
            <a:r>
              <a:rPr lang="en-IN" dirty="0">
                <a:solidFill>
                  <a:srgbClr val="FF0000"/>
                </a:solidFill>
              </a:rPr>
              <a:t>--destination </a:t>
            </a:r>
            <a:r>
              <a:rPr lang="en-IN" dirty="0"/>
              <a:t>IP</a:t>
            </a:r>
          </a:p>
          <a:p>
            <a:pPr lvl="1"/>
            <a:r>
              <a:rPr lang="en-IN" dirty="0"/>
              <a:t>Example: iptables -A OUTPUT -d www.ubuntu.com -j DROP</a:t>
            </a:r>
          </a:p>
          <a:p>
            <a:endParaRPr lang="en-IN" dirty="0"/>
          </a:p>
        </p:txBody>
      </p:sp>
    </p:spTree>
    <p:extLst>
      <p:ext uri="{BB962C8B-B14F-4D97-AF65-F5344CB8AC3E}">
        <p14:creationId xmlns:p14="http://schemas.microsoft.com/office/powerpoint/2010/main" val="12560605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D642C-5C92-8263-6F7B-858513129F5C}"/>
              </a:ext>
            </a:extLst>
          </p:cNvPr>
          <p:cNvSpPr>
            <a:spLocks noGrp="1"/>
          </p:cNvSpPr>
          <p:nvPr>
            <p:ph type="title"/>
          </p:nvPr>
        </p:nvSpPr>
        <p:spPr/>
        <p:txBody>
          <a:bodyPr/>
          <a:lstStyle/>
          <a:p>
            <a:r>
              <a:rPr lang="en-IN" dirty="0"/>
              <a:t>Example: Filter by Source IP Address</a:t>
            </a:r>
          </a:p>
        </p:txBody>
      </p:sp>
      <p:sp>
        <p:nvSpPr>
          <p:cNvPr id="3" name="Content Placeholder 2">
            <a:extLst>
              <a:ext uri="{FF2B5EF4-FFF2-40B4-BE49-F238E27FC236}">
                <a16:creationId xmlns:a16="http://schemas.microsoft.com/office/drawing/2014/main" id="{9543D7C9-5BA2-3E35-6A3B-FC31BF9178B6}"/>
              </a:ext>
            </a:extLst>
          </p:cNvPr>
          <p:cNvSpPr>
            <a:spLocks noGrp="1"/>
          </p:cNvSpPr>
          <p:nvPr>
            <p:ph idx="1"/>
          </p:nvPr>
        </p:nvSpPr>
        <p:spPr/>
        <p:txBody>
          <a:bodyPr/>
          <a:lstStyle/>
          <a:p>
            <a:r>
              <a:rPr lang="en-IN" dirty="0"/>
              <a:t>Check Kali Linux IP address (</a:t>
            </a:r>
            <a:r>
              <a:rPr lang="en-IN" dirty="0" err="1"/>
              <a:t>ifconfig</a:t>
            </a:r>
            <a:r>
              <a:rPr lang="en-IN" dirty="0"/>
              <a:t>) – suppose it is 192.168.0.36</a:t>
            </a:r>
          </a:p>
          <a:p>
            <a:r>
              <a:rPr lang="en-IN" dirty="0"/>
              <a:t>From Kali Linux, ping Metasploit machine</a:t>
            </a:r>
          </a:p>
          <a:p>
            <a:pPr lvl="1"/>
            <a:r>
              <a:rPr lang="en-IN" dirty="0"/>
              <a:t>Ping should be successful</a:t>
            </a:r>
          </a:p>
          <a:p>
            <a:r>
              <a:rPr lang="en-IN" dirty="0"/>
              <a:t>On Metasploit, add the filtering rule:</a:t>
            </a:r>
          </a:p>
          <a:p>
            <a:pPr lvl="1"/>
            <a:r>
              <a:rPr lang="en-IN" b="1" dirty="0"/>
              <a:t>iptables -A INPUT -s 192.168.0.36 -j DROP</a:t>
            </a:r>
          </a:p>
          <a:p>
            <a:pPr lvl="1"/>
            <a:r>
              <a:rPr lang="en-IN" dirty="0"/>
              <a:t>Now ping should stop (verify on Metasploit: </a:t>
            </a:r>
            <a:r>
              <a:rPr lang="en-IN" b="1" dirty="0"/>
              <a:t>iptables -</a:t>
            </a:r>
            <a:r>
              <a:rPr lang="en-IN" b="1" dirty="0" err="1"/>
              <a:t>vnL</a:t>
            </a:r>
            <a:r>
              <a:rPr lang="en-IN" dirty="0"/>
              <a:t>)</a:t>
            </a:r>
          </a:p>
        </p:txBody>
      </p:sp>
      <p:pic>
        <p:nvPicPr>
          <p:cNvPr id="5" name="Picture 4">
            <a:extLst>
              <a:ext uri="{FF2B5EF4-FFF2-40B4-BE49-F238E27FC236}">
                <a16:creationId xmlns:a16="http://schemas.microsoft.com/office/drawing/2014/main" id="{C8953FC8-E64E-E01C-0E56-1A5D40B08C37}"/>
              </a:ext>
            </a:extLst>
          </p:cNvPr>
          <p:cNvPicPr>
            <a:picLocks noChangeAspect="1"/>
          </p:cNvPicPr>
          <p:nvPr/>
        </p:nvPicPr>
        <p:blipFill>
          <a:blip r:embed="rId2"/>
          <a:stretch>
            <a:fillRect/>
          </a:stretch>
        </p:blipFill>
        <p:spPr>
          <a:xfrm>
            <a:off x="750817" y="4632931"/>
            <a:ext cx="5485597" cy="1678969"/>
          </a:xfrm>
          <a:prstGeom prst="rect">
            <a:avLst/>
          </a:prstGeom>
        </p:spPr>
      </p:pic>
      <p:pic>
        <p:nvPicPr>
          <p:cNvPr id="7" name="Picture 6">
            <a:extLst>
              <a:ext uri="{FF2B5EF4-FFF2-40B4-BE49-F238E27FC236}">
                <a16:creationId xmlns:a16="http://schemas.microsoft.com/office/drawing/2014/main" id="{83D73B90-9FD0-793E-6232-338B00FD4E52}"/>
              </a:ext>
            </a:extLst>
          </p:cNvPr>
          <p:cNvPicPr>
            <a:picLocks noChangeAspect="1"/>
          </p:cNvPicPr>
          <p:nvPr/>
        </p:nvPicPr>
        <p:blipFill>
          <a:blip r:embed="rId3"/>
          <a:stretch>
            <a:fillRect/>
          </a:stretch>
        </p:blipFill>
        <p:spPr>
          <a:xfrm>
            <a:off x="6484938" y="4632931"/>
            <a:ext cx="5707062" cy="1325563"/>
          </a:xfrm>
          <a:prstGeom prst="rect">
            <a:avLst/>
          </a:prstGeom>
        </p:spPr>
      </p:pic>
    </p:spTree>
    <p:extLst>
      <p:ext uri="{BB962C8B-B14F-4D97-AF65-F5344CB8AC3E}">
        <p14:creationId xmlns:p14="http://schemas.microsoft.com/office/powerpoint/2010/main" val="37715039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5F22F-5932-0730-A6B0-17A0CE7B5894}"/>
              </a:ext>
            </a:extLst>
          </p:cNvPr>
          <p:cNvSpPr>
            <a:spLocks noGrp="1"/>
          </p:cNvSpPr>
          <p:nvPr>
            <p:ph type="title"/>
          </p:nvPr>
        </p:nvSpPr>
        <p:spPr/>
        <p:txBody>
          <a:bodyPr/>
          <a:lstStyle/>
          <a:p>
            <a:r>
              <a:rPr lang="en-IN" dirty="0"/>
              <a:t>Example: Filter by Destination IP </a:t>
            </a:r>
            <a:r>
              <a:rPr lang="en-IN" dirty="0" err="1"/>
              <a:t>Nework</a:t>
            </a:r>
            <a:r>
              <a:rPr lang="en-IN" dirty="0"/>
              <a:t> Address</a:t>
            </a:r>
          </a:p>
        </p:txBody>
      </p:sp>
      <p:sp>
        <p:nvSpPr>
          <p:cNvPr id="3" name="Content Placeholder 2">
            <a:extLst>
              <a:ext uri="{FF2B5EF4-FFF2-40B4-BE49-F238E27FC236}">
                <a16:creationId xmlns:a16="http://schemas.microsoft.com/office/drawing/2014/main" id="{9C57A8AB-7B12-C003-F4CA-3D089269A07A}"/>
              </a:ext>
            </a:extLst>
          </p:cNvPr>
          <p:cNvSpPr>
            <a:spLocks noGrp="1"/>
          </p:cNvSpPr>
          <p:nvPr>
            <p:ph idx="1"/>
          </p:nvPr>
        </p:nvSpPr>
        <p:spPr/>
        <p:txBody>
          <a:bodyPr/>
          <a:lstStyle/>
          <a:p>
            <a:r>
              <a:rPr lang="en-IN" dirty="0"/>
              <a:t>From Metasploit, let us first ping an IP address 8.8.8.8 – Should be successful</a:t>
            </a:r>
          </a:p>
          <a:p>
            <a:endParaRPr lang="en-IN" dirty="0"/>
          </a:p>
          <a:p>
            <a:endParaRPr lang="en-IN" dirty="0"/>
          </a:p>
          <a:p>
            <a:r>
              <a:rPr lang="en-IN" dirty="0"/>
              <a:t>Stop the ping and add a rule: </a:t>
            </a:r>
            <a:r>
              <a:rPr lang="en-IN" b="1" dirty="0"/>
              <a:t>iptables -A OUTPUT -d 8.0.0.0/8 -j DROP</a:t>
            </a:r>
            <a:r>
              <a:rPr lang="en-IN" dirty="0"/>
              <a:t> try </a:t>
            </a:r>
            <a:r>
              <a:rPr lang="en-IN" b="1" dirty="0"/>
              <a:t>ping 8.8.8.8</a:t>
            </a:r>
            <a:r>
              <a:rPr lang="en-IN" dirty="0"/>
              <a:t> again</a:t>
            </a:r>
          </a:p>
          <a:p>
            <a:endParaRPr lang="en-IN" dirty="0"/>
          </a:p>
        </p:txBody>
      </p:sp>
      <p:pic>
        <p:nvPicPr>
          <p:cNvPr id="5" name="Picture 4">
            <a:extLst>
              <a:ext uri="{FF2B5EF4-FFF2-40B4-BE49-F238E27FC236}">
                <a16:creationId xmlns:a16="http://schemas.microsoft.com/office/drawing/2014/main" id="{7B30AA3A-4315-51B8-118A-F604D84B9738}"/>
              </a:ext>
            </a:extLst>
          </p:cNvPr>
          <p:cNvPicPr>
            <a:picLocks noChangeAspect="1"/>
          </p:cNvPicPr>
          <p:nvPr/>
        </p:nvPicPr>
        <p:blipFill>
          <a:blip r:embed="rId2"/>
          <a:stretch>
            <a:fillRect/>
          </a:stretch>
        </p:blipFill>
        <p:spPr>
          <a:xfrm>
            <a:off x="2971639" y="2313662"/>
            <a:ext cx="5186042" cy="1349214"/>
          </a:xfrm>
          <a:prstGeom prst="rect">
            <a:avLst/>
          </a:prstGeom>
        </p:spPr>
      </p:pic>
      <p:pic>
        <p:nvPicPr>
          <p:cNvPr id="7" name="Picture 6">
            <a:extLst>
              <a:ext uri="{FF2B5EF4-FFF2-40B4-BE49-F238E27FC236}">
                <a16:creationId xmlns:a16="http://schemas.microsoft.com/office/drawing/2014/main" id="{1A1F3B70-43D4-8834-F78C-CCCF7FA18C34}"/>
              </a:ext>
            </a:extLst>
          </p:cNvPr>
          <p:cNvPicPr>
            <a:picLocks noChangeAspect="1"/>
          </p:cNvPicPr>
          <p:nvPr/>
        </p:nvPicPr>
        <p:blipFill>
          <a:blip r:embed="rId3"/>
          <a:stretch>
            <a:fillRect/>
          </a:stretch>
        </p:blipFill>
        <p:spPr>
          <a:xfrm>
            <a:off x="3234864" y="4595093"/>
            <a:ext cx="7019549" cy="1581870"/>
          </a:xfrm>
          <a:prstGeom prst="rect">
            <a:avLst/>
          </a:prstGeom>
        </p:spPr>
      </p:pic>
    </p:spTree>
    <p:extLst>
      <p:ext uri="{BB962C8B-B14F-4D97-AF65-F5344CB8AC3E}">
        <p14:creationId xmlns:p14="http://schemas.microsoft.com/office/powerpoint/2010/main" val="25912000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2A2D8-FAF5-D5B1-4CBB-C5C79EA06117}"/>
              </a:ext>
            </a:extLst>
          </p:cNvPr>
          <p:cNvSpPr>
            <a:spLocks noGrp="1"/>
          </p:cNvSpPr>
          <p:nvPr>
            <p:ph type="title"/>
          </p:nvPr>
        </p:nvSpPr>
        <p:spPr/>
        <p:txBody>
          <a:bodyPr/>
          <a:lstStyle/>
          <a:p>
            <a:r>
              <a:rPr lang="en-IN" dirty="0"/>
              <a:t>Example: Filter by Domain Name</a:t>
            </a:r>
          </a:p>
        </p:txBody>
      </p:sp>
      <p:sp>
        <p:nvSpPr>
          <p:cNvPr id="3" name="Content Placeholder 2">
            <a:extLst>
              <a:ext uri="{FF2B5EF4-FFF2-40B4-BE49-F238E27FC236}">
                <a16:creationId xmlns:a16="http://schemas.microsoft.com/office/drawing/2014/main" id="{00505B1E-B348-993F-067F-664957A9FA0A}"/>
              </a:ext>
            </a:extLst>
          </p:cNvPr>
          <p:cNvSpPr>
            <a:spLocks noGrp="1"/>
          </p:cNvSpPr>
          <p:nvPr>
            <p:ph idx="1"/>
          </p:nvPr>
        </p:nvSpPr>
        <p:spPr/>
        <p:txBody>
          <a:bodyPr/>
          <a:lstStyle/>
          <a:p>
            <a:r>
              <a:rPr lang="en-IN" dirty="0"/>
              <a:t>Suppose we want to ban traffic going to </a:t>
            </a:r>
            <a:r>
              <a:rPr lang="en-IN" dirty="0">
                <a:hlinkClick r:id="rId2"/>
              </a:rPr>
              <a:t>www.ubuntu.com</a:t>
            </a:r>
            <a:endParaRPr lang="en-IN" dirty="0"/>
          </a:p>
          <a:p>
            <a:r>
              <a:rPr lang="en-IN" dirty="0"/>
              <a:t>We can of course use its IP address and filter traffic as shown in the earlier examples</a:t>
            </a:r>
          </a:p>
          <a:p>
            <a:r>
              <a:rPr lang="en-IN" dirty="0"/>
              <a:t>To find a website’s IP address, we can use </a:t>
            </a:r>
            <a:r>
              <a:rPr lang="en-IN" b="1" dirty="0" err="1"/>
              <a:t>nslookup</a:t>
            </a:r>
            <a:r>
              <a:rPr lang="en-IN" b="1" dirty="0"/>
              <a:t> </a:t>
            </a:r>
            <a:r>
              <a:rPr lang="en-IN" dirty="0"/>
              <a:t>or </a:t>
            </a:r>
            <a:r>
              <a:rPr lang="en-IN" b="1" dirty="0"/>
              <a:t>dig </a:t>
            </a:r>
            <a:r>
              <a:rPr lang="en-IN" dirty="0"/>
              <a:t>command</a:t>
            </a:r>
          </a:p>
        </p:txBody>
      </p:sp>
      <p:pic>
        <p:nvPicPr>
          <p:cNvPr id="5" name="Picture 4">
            <a:extLst>
              <a:ext uri="{FF2B5EF4-FFF2-40B4-BE49-F238E27FC236}">
                <a16:creationId xmlns:a16="http://schemas.microsoft.com/office/drawing/2014/main" id="{74AF8C98-A924-2FC4-028E-C1C354397AC4}"/>
              </a:ext>
            </a:extLst>
          </p:cNvPr>
          <p:cNvPicPr>
            <a:picLocks noChangeAspect="1"/>
          </p:cNvPicPr>
          <p:nvPr/>
        </p:nvPicPr>
        <p:blipFill>
          <a:blip r:embed="rId3"/>
          <a:stretch>
            <a:fillRect/>
          </a:stretch>
        </p:blipFill>
        <p:spPr>
          <a:xfrm>
            <a:off x="335432" y="4023766"/>
            <a:ext cx="5109871" cy="1935100"/>
          </a:xfrm>
          <a:prstGeom prst="rect">
            <a:avLst/>
          </a:prstGeom>
        </p:spPr>
      </p:pic>
      <p:pic>
        <p:nvPicPr>
          <p:cNvPr id="7" name="Picture 6">
            <a:extLst>
              <a:ext uri="{FF2B5EF4-FFF2-40B4-BE49-F238E27FC236}">
                <a16:creationId xmlns:a16="http://schemas.microsoft.com/office/drawing/2014/main" id="{CD31B6D1-05A6-1601-DEE7-6C233DD3F7A9}"/>
              </a:ext>
            </a:extLst>
          </p:cNvPr>
          <p:cNvPicPr>
            <a:picLocks noChangeAspect="1"/>
          </p:cNvPicPr>
          <p:nvPr/>
        </p:nvPicPr>
        <p:blipFill>
          <a:blip r:embed="rId4"/>
          <a:stretch>
            <a:fillRect/>
          </a:stretch>
        </p:blipFill>
        <p:spPr>
          <a:xfrm>
            <a:off x="5794833" y="4023766"/>
            <a:ext cx="5480471" cy="1842778"/>
          </a:xfrm>
          <a:prstGeom prst="rect">
            <a:avLst/>
          </a:prstGeom>
        </p:spPr>
      </p:pic>
    </p:spTree>
    <p:extLst>
      <p:ext uri="{BB962C8B-B14F-4D97-AF65-F5344CB8AC3E}">
        <p14:creationId xmlns:p14="http://schemas.microsoft.com/office/powerpoint/2010/main" val="23173712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86732-4AD4-A36B-3D61-9DFF9B6B360E}"/>
              </a:ext>
            </a:extLst>
          </p:cNvPr>
          <p:cNvSpPr>
            <a:spLocks noGrp="1"/>
          </p:cNvSpPr>
          <p:nvPr>
            <p:ph type="title"/>
          </p:nvPr>
        </p:nvSpPr>
        <p:spPr/>
        <p:txBody>
          <a:bodyPr/>
          <a:lstStyle/>
          <a:p>
            <a:r>
              <a:rPr lang="en-IN" dirty="0"/>
              <a:t>Example: Filter by Domain Name</a:t>
            </a:r>
          </a:p>
        </p:txBody>
      </p:sp>
      <p:sp>
        <p:nvSpPr>
          <p:cNvPr id="3" name="Content Placeholder 2">
            <a:extLst>
              <a:ext uri="{FF2B5EF4-FFF2-40B4-BE49-F238E27FC236}">
                <a16:creationId xmlns:a16="http://schemas.microsoft.com/office/drawing/2014/main" id="{AFECAD96-C2DA-6600-8D76-60739BE4B135}"/>
              </a:ext>
            </a:extLst>
          </p:cNvPr>
          <p:cNvSpPr>
            <a:spLocks noGrp="1"/>
          </p:cNvSpPr>
          <p:nvPr>
            <p:ph idx="1"/>
          </p:nvPr>
        </p:nvSpPr>
        <p:spPr/>
        <p:txBody>
          <a:bodyPr/>
          <a:lstStyle/>
          <a:p>
            <a:r>
              <a:rPr lang="en-IN" dirty="0"/>
              <a:t>As we can see, there are many IP addresses for </a:t>
            </a:r>
            <a:r>
              <a:rPr lang="en-IN" dirty="0">
                <a:hlinkClick r:id="rId2"/>
              </a:rPr>
              <a:t>www.ubuntu.com</a:t>
            </a:r>
            <a:endParaRPr lang="en-IN" dirty="0"/>
          </a:p>
          <a:p>
            <a:r>
              <a:rPr lang="en-IN" dirty="0"/>
              <a:t>Hence, we would need to write many filtering rules</a:t>
            </a:r>
          </a:p>
          <a:p>
            <a:r>
              <a:rPr lang="en-IN" dirty="0"/>
              <a:t>Easier option: filter on the basis of domain name</a:t>
            </a:r>
          </a:p>
          <a:p>
            <a:pPr lvl="1"/>
            <a:r>
              <a:rPr lang="en-IN" b="1" dirty="0"/>
              <a:t>iptables -A OUTPUT -d </a:t>
            </a:r>
            <a:r>
              <a:rPr lang="en-IN" b="1" dirty="0">
                <a:hlinkClick r:id="rId2"/>
              </a:rPr>
              <a:t>www.ubuntu.com</a:t>
            </a:r>
            <a:r>
              <a:rPr lang="en-IN" b="1" dirty="0"/>
              <a:t> -j DROP</a:t>
            </a:r>
          </a:p>
          <a:p>
            <a:pPr lvl="1"/>
            <a:r>
              <a:rPr lang="en-IN" dirty="0"/>
              <a:t>It will automatically do it for all the IP addresses belonging to this site</a:t>
            </a:r>
          </a:p>
          <a:p>
            <a:pPr lvl="1"/>
            <a:r>
              <a:rPr lang="en-IN" dirty="0"/>
              <a:t>(Also verify using </a:t>
            </a:r>
            <a:r>
              <a:rPr lang="en-IN" b="1" dirty="0"/>
              <a:t>iptables -</a:t>
            </a:r>
            <a:r>
              <a:rPr lang="en-IN" b="1" dirty="0" err="1"/>
              <a:t>vnL</a:t>
            </a:r>
            <a:r>
              <a:rPr lang="en-IN" dirty="0"/>
              <a:t>)</a:t>
            </a:r>
          </a:p>
        </p:txBody>
      </p:sp>
      <p:pic>
        <p:nvPicPr>
          <p:cNvPr id="5" name="Picture 4">
            <a:extLst>
              <a:ext uri="{FF2B5EF4-FFF2-40B4-BE49-F238E27FC236}">
                <a16:creationId xmlns:a16="http://schemas.microsoft.com/office/drawing/2014/main" id="{DC2B5AC7-70F9-5C02-1B6D-7F06A71A96B6}"/>
              </a:ext>
            </a:extLst>
          </p:cNvPr>
          <p:cNvPicPr>
            <a:picLocks noChangeAspect="1"/>
          </p:cNvPicPr>
          <p:nvPr/>
        </p:nvPicPr>
        <p:blipFill>
          <a:blip r:embed="rId3"/>
          <a:stretch>
            <a:fillRect/>
          </a:stretch>
        </p:blipFill>
        <p:spPr>
          <a:xfrm>
            <a:off x="637306" y="4579512"/>
            <a:ext cx="10515600" cy="1732388"/>
          </a:xfrm>
          <a:prstGeom prst="rect">
            <a:avLst/>
          </a:prstGeom>
        </p:spPr>
      </p:pic>
    </p:spTree>
    <p:extLst>
      <p:ext uri="{BB962C8B-B14F-4D97-AF65-F5344CB8AC3E}">
        <p14:creationId xmlns:p14="http://schemas.microsoft.com/office/powerpoint/2010/main" val="2864162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1115B-F608-2BFA-B354-6D46F853C71B}"/>
              </a:ext>
            </a:extLst>
          </p:cNvPr>
          <p:cNvSpPr>
            <a:spLocks noGrp="1"/>
          </p:cNvSpPr>
          <p:nvPr>
            <p:ph type="title"/>
          </p:nvPr>
        </p:nvSpPr>
        <p:spPr/>
        <p:txBody>
          <a:bodyPr/>
          <a:lstStyle/>
          <a:p>
            <a:r>
              <a:rPr lang="en-IN" dirty="0"/>
              <a:t>Example: Filter by Domain Name</a:t>
            </a:r>
          </a:p>
        </p:txBody>
      </p:sp>
      <p:sp>
        <p:nvSpPr>
          <p:cNvPr id="3" name="Content Placeholder 2">
            <a:extLst>
              <a:ext uri="{FF2B5EF4-FFF2-40B4-BE49-F238E27FC236}">
                <a16:creationId xmlns:a16="http://schemas.microsoft.com/office/drawing/2014/main" id="{934DA175-6EDD-558F-7BF4-D29C2B7CFB02}"/>
              </a:ext>
            </a:extLst>
          </p:cNvPr>
          <p:cNvSpPr>
            <a:spLocks noGrp="1"/>
          </p:cNvSpPr>
          <p:nvPr>
            <p:ph idx="1"/>
          </p:nvPr>
        </p:nvSpPr>
        <p:spPr/>
        <p:txBody>
          <a:bodyPr/>
          <a:lstStyle/>
          <a:p>
            <a:r>
              <a:rPr lang="en-IN" dirty="0"/>
              <a:t>Repeat this on Kali Linux and also check if we can open </a:t>
            </a:r>
            <a:r>
              <a:rPr lang="en-IN" dirty="0">
                <a:hlinkClick r:id="rId2"/>
              </a:rPr>
              <a:t>www.ubuntu.com</a:t>
            </a:r>
            <a:r>
              <a:rPr lang="en-IN" dirty="0"/>
              <a:t> in the browser</a:t>
            </a:r>
          </a:p>
          <a:p>
            <a:endParaRPr lang="en-IN" dirty="0"/>
          </a:p>
          <a:p>
            <a:r>
              <a:rPr lang="en-IN" dirty="0"/>
              <a:t>Another point: Do not use this technique for sites such as google.com or facebook.com, which are likely to have dozens or even hundreds of IP addresses</a:t>
            </a:r>
          </a:p>
          <a:p>
            <a:r>
              <a:rPr lang="en-IN" dirty="0"/>
              <a:t>The DNS server will return only a few of them, and only they will be filtered</a:t>
            </a:r>
          </a:p>
          <a:p>
            <a:r>
              <a:rPr lang="en-IN" dirty="0"/>
              <a:t>In such a case, we should use an application gateway</a:t>
            </a:r>
          </a:p>
        </p:txBody>
      </p:sp>
    </p:spTree>
    <p:extLst>
      <p:ext uri="{BB962C8B-B14F-4D97-AF65-F5344CB8AC3E}">
        <p14:creationId xmlns:p14="http://schemas.microsoft.com/office/powerpoint/2010/main" val="36585121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48445-5C95-15DC-8985-4DA15351BE17}"/>
              </a:ext>
            </a:extLst>
          </p:cNvPr>
          <p:cNvSpPr>
            <a:spLocks noGrp="1"/>
          </p:cNvSpPr>
          <p:nvPr>
            <p:ph type="title"/>
          </p:nvPr>
        </p:nvSpPr>
        <p:spPr/>
        <p:txBody>
          <a:bodyPr/>
          <a:lstStyle/>
          <a:p>
            <a:r>
              <a:rPr lang="en-IN" dirty="0"/>
              <a:t>Blocking Incoming Service Requests</a:t>
            </a:r>
          </a:p>
        </p:txBody>
      </p:sp>
      <p:sp>
        <p:nvSpPr>
          <p:cNvPr id="3" name="Content Placeholder 2">
            <a:extLst>
              <a:ext uri="{FF2B5EF4-FFF2-40B4-BE49-F238E27FC236}">
                <a16:creationId xmlns:a16="http://schemas.microsoft.com/office/drawing/2014/main" id="{7DB952A4-52E8-D9BE-8A4C-F01F54994D69}"/>
              </a:ext>
            </a:extLst>
          </p:cNvPr>
          <p:cNvSpPr>
            <a:spLocks noGrp="1"/>
          </p:cNvSpPr>
          <p:nvPr>
            <p:ph idx="1"/>
          </p:nvPr>
        </p:nvSpPr>
        <p:spPr/>
        <p:txBody>
          <a:bodyPr/>
          <a:lstStyle/>
          <a:p>
            <a:r>
              <a:rPr lang="en-IN" dirty="0"/>
              <a:t>This can be used to block connections to a particular service, e.g. HTTP</a:t>
            </a:r>
          </a:p>
          <a:p>
            <a:r>
              <a:rPr lang="en-IN" dirty="0"/>
              <a:t>To block all incoming HTTP traffic: </a:t>
            </a:r>
          </a:p>
          <a:p>
            <a:pPr marL="0" indent="0">
              <a:buNone/>
            </a:pPr>
            <a:r>
              <a:rPr lang="en-IN" b="1" dirty="0"/>
              <a:t> iptables -A INPUT -p </a:t>
            </a:r>
            <a:r>
              <a:rPr lang="en-IN" b="1" dirty="0" err="1"/>
              <a:t>tcp</a:t>
            </a:r>
            <a:r>
              <a:rPr lang="en-IN" b="1" dirty="0"/>
              <a:t> --</a:t>
            </a:r>
            <a:r>
              <a:rPr lang="en-IN" b="1" dirty="0" err="1"/>
              <a:t>dport</a:t>
            </a:r>
            <a:r>
              <a:rPr lang="en-IN" b="1" dirty="0"/>
              <a:t> www -j REJECT</a:t>
            </a:r>
          </a:p>
          <a:p>
            <a:r>
              <a:rPr lang="en-IN" dirty="0"/>
              <a:t>To block all incoming HTTP traffic but to allow local HTTP traffic: </a:t>
            </a:r>
          </a:p>
          <a:p>
            <a:pPr marL="0" indent="0">
              <a:buNone/>
            </a:pPr>
            <a:r>
              <a:rPr lang="en-US" b="1" dirty="0"/>
              <a:t>iptables -A INPUT -p </a:t>
            </a:r>
            <a:r>
              <a:rPr lang="en-US" b="1" dirty="0" err="1"/>
              <a:t>tcp</a:t>
            </a:r>
            <a:r>
              <a:rPr lang="en-US" b="1" dirty="0"/>
              <a:t> -</a:t>
            </a:r>
            <a:r>
              <a:rPr lang="en-US" b="1" dirty="0" err="1"/>
              <a:t>i</a:t>
            </a:r>
            <a:r>
              <a:rPr lang="en-US" b="1" dirty="0"/>
              <a:t> lo --</a:t>
            </a:r>
            <a:r>
              <a:rPr lang="en-US" b="1" dirty="0" err="1"/>
              <a:t>dport</a:t>
            </a:r>
            <a:r>
              <a:rPr lang="en-US" b="1" dirty="0"/>
              <a:t> www -j ACCEPT</a:t>
            </a:r>
          </a:p>
          <a:p>
            <a:pPr marL="0" indent="0">
              <a:buNone/>
            </a:pPr>
            <a:r>
              <a:rPr lang="en-US" b="1" dirty="0"/>
              <a:t>iptables -A INPUT -p </a:t>
            </a:r>
            <a:r>
              <a:rPr lang="en-US" b="1" dirty="0" err="1"/>
              <a:t>tcp</a:t>
            </a:r>
            <a:r>
              <a:rPr lang="en-US" b="1" dirty="0"/>
              <a:t> --</a:t>
            </a:r>
            <a:r>
              <a:rPr lang="en-US" b="1" dirty="0" err="1"/>
              <a:t>dport</a:t>
            </a:r>
            <a:r>
              <a:rPr lang="en-US" b="1" dirty="0"/>
              <a:t> www -j REJECT</a:t>
            </a:r>
            <a:endParaRPr lang="en-IN" b="1" dirty="0"/>
          </a:p>
          <a:p>
            <a:pPr marL="0" indent="0">
              <a:buNone/>
            </a:pPr>
            <a:endParaRPr lang="en-IN" b="1" dirty="0"/>
          </a:p>
        </p:txBody>
      </p:sp>
    </p:spTree>
    <p:extLst>
      <p:ext uri="{BB962C8B-B14F-4D97-AF65-F5344CB8AC3E}">
        <p14:creationId xmlns:p14="http://schemas.microsoft.com/office/powerpoint/2010/main" val="39907861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BCA59-BE9F-3A1C-FE96-ABF6806E6A9C}"/>
              </a:ext>
            </a:extLst>
          </p:cNvPr>
          <p:cNvSpPr>
            <a:spLocks noGrp="1"/>
          </p:cNvSpPr>
          <p:nvPr>
            <p:ph type="title"/>
          </p:nvPr>
        </p:nvSpPr>
        <p:spPr/>
        <p:txBody>
          <a:bodyPr/>
          <a:lstStyle/>
          <a:p>
            <a:r>
              <a:rPr lang="en-IN" dirty="0"/>
              <a:t>Blocking Outgoing Access to All Web Servers on a Network</a:t>
            </a:r>
          </a:p>
        </p:txBody>
      </p:sp>
      <p:sp>
        <p:nvSpPr>
          <p:cNvPr id="3" name="Content Placeholder 2">
            <a:extLst>
              <a:ext uri="{FF2B5EF4-FFF2-40B4-BE49-F238E27FC236}">
                <a16:creationId xmlns:a16="http://schemas.microsoft.com/office/drawing/2014/main" id="{550BEF3E-F051-E0FC-E3F7-E9210CB86394}"/>
              </a:ext>
            </a:extLst>
          </p:cNvPr>
          <p:cNvSpPr>
            <a:spLocks noGrp="1"/>
          </p:cNvSpPr>
          <p:nvPr>
            <p:ph idx="1"/>
          </p:nvPr>
        </p:nvSpPr>
        <p:spPr/>
        <p:txBody>
          <a:bodyPr/>
          <a:lstStyle/>
          <a:p>
            <a:r>
              <a:rPr lang="en-US" b="1" dirty="0"/>
              <a:t>iptables -A OUTPUT -p </a:t>
            </a:r>
            <a:r>
              <a:rPr lang="en-US" b="1" dirty="0" err="1"/>
              <a:t>tcp</a:t>
            </a:r>
            <a:r>
              <a:rPr lang="en-US" b="1" dirty="0"/>
              <a:t> -d 64.58.76.0/24 --</a:t>
            </a:r>
            <a:r>
              <a:rPr lang="en-US" b="1" dirty="0" err="1"/>
              <a:t>dport</a:t>
            </a:r>
            <a:r>
              <a:rPr lang="en-US" b="1" dirty="0"/>
              <a:t> www -j REJECT</a:t>
            </a:r>
          </a:p>
          <a:p>
            <a:endParaRPr lang="en-US" b="1" dirty="0"/>
          </a:p>
          <a:p>
            <a:r>
              <a:rPr lang="en-US" dirty="0"/>
              <a:t>Address is CIDR, so /24 is fine</a:t>
            </a:r>
            <a:endParaRPr lang="en-IN" dirty="0"/>
          </a:p>
        </p:txBody>
      </p:sp>
    </p:spTree>
    <p:extLst>
      <p:ext uri="{BB962C8B-B14F-4D97-AF65-F5344CB8AC3E}">
        <p14:creationId xmlns:p14="http://schemas.microsoft.com/office/powerpoint/2010/main" val="25136761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4DC8B-6D8C-9CA4-1EEE-4EB6A9A07366}"/>
              </a:ext>
            </a:extLst>
          </p:cNvPr>
          <p:cNvSpPr>
            <a:spLocks noGrp="1"/>
          </p:cNvSpPr>
          <p:nvPr>
            <p:ph type="title"/>
          </p:nvPr>
        </p:nvSpPr>
        <p:spPr/>
        <p:txBody>
          <a:bodyPr/>
          <a:lstStyle/>
          <a:p>
            <a:r>
              <a:rPr lang="en-IN" dirty="0"/>
              <a:t>Controlling Access based on MAC Addresses</a:t>
            </a:r>
          </a:p>
        </p:txBody>
      </p:sp>
      <p:sp>
        <p:nvSpPr>
          <p:cNvPr id="3" name="Content Placeholder 2">
            <a:extLst>
              <a:ext uri="{FF2B5EF4-FFF2-40B4-BE49-F238E27FC236}">
                <a16:creationId xmlns:a16="http://schemas.microsoft.com/office/drawing/2014/main" id="{977BB467-9057-AEB7-B644-3FBFB190CD62}"/>
              </a:ext>
            </a:extLst>
          </p:cNvPr>
          <p:cNvSpPr>
            <a:spLocks noGrp="1"/>
          </p:cNvSpPr>
          <p:nvPr>
            <p:ph idx="1"/>
          </p:nvPr>
        </p:nvSpPr>
        <p:spPr/>
        <p:txBody>
          <a:bodyPr/>
          <a:lstStyle/>
          <a:p>
            <a:r>
              <a:rPr lang="en-IN" dirty="0"/>
              <a:t>Only allow a machine with a specific MAC address to access the network</a:t>
            </a:r>
          </a:p>
          <a:p>
            <a:r>
              <a:rPr lang="en-IN" dirty="0"/>
              <a:t>iptables -F INPUT</a:t>
            </a:r>
          </a:p>
          <a:p>
            <a:r>
              <a:rPr lang="en-IN" dirty="0"/>
              <a:t>iptables -A INPUT -</a:t>
            </a:r>
            <a:r>
              <a:rPr lang="en-IN" dirty="0" err="1"/>
              <a:t>i</a:t>
            </a:r>
            <a:r>
              <a:rPr lang="en-IN" dirty="0"/>
              <a:t> lo -j ACCEPT</a:t>
            </a:r>
          </a:p>
          <a:p>
            <a:r>
              <a:rPr lang="en-IN" dirty="0"/>
              <a:t>iptables -A INPUT -m mac --mac-source 12:34:56:89:90:ab -j ACCEPT</a:t>
            </a:r>
          </a:p>
          <a:p>
            <a:r>
              <a:rPr lang="en-IN" dirty="0"/>
              <a:t>iptables -A INPUT -j REJECT</a:t>
            </a:r>
          </a:p>
        </p:txBody>
      </p:sp>
    </p:spTree>
    <p:extLst>
      <p:ext uri="{BB962C8B-B14F-4D97-AF65-F5344CB8AC3E}">
        <p14:creationId xmlns:p14="http://schemas.microsoft.com/office/powerpoint/2010/main" val="38483090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DB9F1-1622-189B-3D5B-FA79361F130E}"/>
              </a:ext>
            </a:extLst>
          </p:cNvPr>
          <p:cNvSpPr>
            <a:spLocks noGrp="1"/>
          </p:cNvSpPr>
          <p:nvPr>
            <p:ph type="title"/>
          </p:nvPr>
        </p:nvSpPr>
        <p:spPr/>
        <p:txBody>
          <a:bodyPr/>
          <a:lstStyle/>
          <a:p>
            <a:r>
              <a:rPr lang="en-IN" dirty="0"/>
              <a:t>Stateful Packet Inspection (SPI) Firewall</a:t>
            </a:r>
          </a:p>
        </p:txBody>
      </p:sp>
      <p:sp>
        <p:nvSpPr>
          <p:cNvPr id="3" name="Content Placeholder 2">
            <a:extLst>
              <a:ext uri="{FF2B5EF4-FFF2-40B4-BE49-F238E27FC236}">
                <a16:creationId xmlns:a16="http://schemas.microsoft.com/office/drawing/2014/main" id="{676087A3-A925-5C82-8550-156F2A2619C4}"/>
              </a:ext>
            </a:extLst>
          </p:cNvPr>
          <p:cNvSpPr>
            <a:spLocks noGrp="1"/>
          </p:cNvSpPr>
          <p:nvPr>
            <p:ph idx="1"/>
          </p:nvPr>
        </p:nvSpPr>
        <p:spPr/>
        <p:txBody>
          <a:bodyPr/>
          <a:lstStyle/>
          <a:p>
            <a:r>
              <a:rPr lang="en-IN" dirty="0">
                <a:solidFill>
                  <a:srgbClr val="FF0000"/>
                </a:solidFill>
              </a:rPr>
              <a:t>Connection tracking = Stateful firewall</a:t>
            </a:r>
          </a:p>
          <a:p>
            <a:r>
              <a:rPr lang="en-IN" b="1" dirty="0"/>
              <a:t>Connection tracking</a:t>
            </a:r>
            <a:r>
              <a:rPr lang="en-IN" dirty="0"/>
              <a:t>: Ability to maintain </a:t>
            </a:r>
            <a:r>
              <a:rPr lang="en-IN" b="1" dirty="0"/>
              <a:t>state information</a:t>
            </a:r>
            <a:r>
              <a:rPr lang="en-IN" dirty="0"/>
              <a:t> about connections</a:t>
            </a:r>
          </a:p>
          <a:p>
            <a:r>
              <a:rPr lang="en-IN" dirty="0"/>
              <a:t>Stateful firewalls are </a:t>
            </a:r>
            <a:r>
              <a:rPr lang="en-IN" u="sng" dirty="0"/>
              <a:t>more secure</a:t>
            </a:r>
            <a:r>
              <a:rPr lang="en-IN" dirty="0"/>
              <a:t> than stateless firewalls</a:t>
            </a:r>
          </a:p>
          <a:p>
            <a:r>
              <a:rPr lang="en-IN" dirty="0"/>
              <a:t>Stateful firewalls decide to accept or drop packets </a:t>
            </a:r>
            <a:r>
              <a:rPr lang="en-IN" u="sng" dirty="0"/>
              <a:t>based on the relationship</a:t>
            </a:r>
            <a:r>
              <a:rPr lang="en-IN" dirty="0"/>
              <a:t> of these packets with other packets</a:t>
            </a:r>
          </a:p>
          <a:p>
            <a:r>
              <a:rPr lang="en-IN" b="1" dirty="0" err="1"/>
              <a:t>Netfilter</a:t>
            </a:r>
            <a:r>
              <a:rPr lang="en-IN" dirty="0"/>
              <a:t> is a stateful firewall</a:t>
            </a:r>
          </a:p>
        </p:txBody>
      </p:sp>
    </p:spTree>
    <p:extLst>
      <p:ext uri="{BB962C8B-B14F-4D97-AF65-F5344CB8AC3E}">
        <p14:creationId xmlns:p14="http://schemas.microsoft.com/office/powerpoint/2010/main" val="1559874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41BCE-309B-CC99-B24F-0263BAB025DE}"/>
              </a:ext>
            </a:extLst>
          </p:cNvPr>
          <p:cNvSpPr>
            <a:spLocks noGrp="1"/>
          </p:cNvSpPr>
          <p:nvPr>
            <p:ph type="title"/>
          </p:nvPr>
        </p:nvSpPr>
        <p:spPr/>
        <p:txBody>
          <a:bodyPr/>
          <a:lstStyle/>
          <a:p>
            <a:r>
              <a:rPr lang="en-IN" dirty="0"/>
              <a:t>Packet States</a:t>
            </a:r>
          </a:p>
        </p:txBody>
      </p:sp>
      <p:sp>
        <p:nvSpPr>
          <p:cNvPr id="3" name="Content Placeholder 2">
            <a:extLst>
              <a:ext uri="{FF2B5EF4-FFF2-40B4-BE49-F238E27FC236}">
                <a16:creationId xmlns:a16="http://schemas.microsoft.com/office/drawing/2014/main" id="{A9AFCD1D-7030-F8F2-B82A-E575F5DCB419}"/>
              </a:ext>
            </a:extLst>
          </p:cNvPr>
          <p:cNvSpPr>
            <a:spLocks noGrp="1"/>
          </p:cNvSpPr>
          <p:nvPr>
            <p:ph idx="1"/>
          </p:nvPr>
        </p:nvSpPr>
        <p:spPr/>
        <p:txBody>
          <a:bodyPr/>
          <a:lstStyle/>
          <a:p>
            <a:r>
              <a:rPr lang="en-IN" dirty="0">
                <a:solidFill>
                  <a:srgbClr val="FF0000"/>
                </a:solidFill>
              </a:rPr>
              <a:t>Connection tracking = Stateful firewall</a:t>
            </a:r>
          </a:p>
          <a:p>
            <a:r>
              <a:rPr lang="en-IN" b="1" dirty="0"/>
              <a:t>Packet states</a:t>
            </a:r>
          </a:p>
          <a:p>
            <a:pPr lvl="1"/>
            <a:r>
              <a:rPr lang="en-IN" dirty="0">
                <a:solidFill>
                  <a:srgbClr val="FF0000"/>
                </a:solidFill>
              </a:rPr>
              <a:t>Connection tracking</a:t>
            </a:r>
            <a:r>
              <a:rPr lang="en-IN" dirty="0"/>
              <a:t>:</a:t>
            </a:r>
            <a:r>
              <a:rPr lang="en-IN" dirty="0">
                <a:solidFill>
                  <a:srgbClr val="FF0000"/>
                </a:solidFill>
              </a:rPr>
              <a:t> </a:t>
            </a:r>
            <a:r>
              <a:rPr lang="en-IN" dirty="0"/>
              <a:t>The first packet in a connection</a:t>
            </a:r>
          </a:p>
          <a:p>
            <a:pPr lvl="1"/>
            <a:r>
              <a:rPr lang="en-IN" dirty="0">
                <a:solidFill>
                  <a:srgbClr val="FF0000"/>
                </a:solidFill>
              </a:rPr>
              <a:t>Established</a:t>
            </a:r>
            <a:r>
              <a:rPr lang="en-IN" dirty="0"/>
              <a:t>:</a:t>
            </a:r>
            <a:r>
              <a:rPr lang="en-IN" dirty="0">
                <a:solidFill>
                  <a:srgbClr val="FF0000"/>
                </a:solidFill>
              </a:rPr>
              <a:t> </a:t>
            </a:r>
            <a:r>
              <a:rPr lang="en-IN" dirty="0"/>
              <a:t>Packets that are part of an existing connection</a:t>
            </a:r>
          </a:p>
          <a:p>
            <a:pPr lvl="1"/>
            <a:r>
              <a:rPr lang="en-IN" dirty="0">
                <a:solidFill>
                  <a:srgbClr val="FF0000"/>
                </a:solidFill>
              </a:rPr>
              <a:t>Related</a:t>
            </a:r>
            <a:r>
              <a:rPr lang="en-IN" dirty="0"/>
              <a:t>:</a:t>
            </a:r>
            <a:r>
              <a:rPr lang="en-IN" dirty="0">
                <a:solidFill>
                  <a:srgbClr val="FF0000"/>
                </a:solidFill>
              </a:rPr>
              <a:t> </a:t>
            </a:r>
            <a:r>
              <a:rPr lang="en-IN" dirty="0"/>
              <a:t>Packets that are a part of an existing connection and are requesting a new connection (e.g. FTP)</a:t>
            </a:r>
          </a:p>
          <a:p>
            <a:pPr lvl="1"/>
            <a:r>
              <a:rPr lang="en-IN" dirty="0">
                <a:solidFill>
                  <a:srgbClr val="FF0000"/>
                </a:solidFill>
              </a:rPr>
              <a:t>Invalid</a:t>
            </a:r>
            <a:r>
              <a:rPr lang="en-IN" dirty="0"/>
              <a:t>:</a:t>
            </a:r>
            <a:r>
              <a:rPr lang="en-IN" dirty="0">
                <a:solidFill>
                  <a:srgbClr val="FF0000"/>
                </a:solidFill>
              </a:rPr>
              <a:t> </a:t>
            </a:r>
            <a:r>
              <a:rPr lang="en-IN" dirty="0"/>
              <a:t>Packets that are not a part of an existing connection</a:t>
            </a:r>
          </a:p>
          <a:p>
            <a:pPr lvl="1"/>
            <a:r>
              <a:rPr lang="en-IN" dirty="0">
                <a:solidFill>
                  <a:srgbClr val="FF0000"/>
                </a:solidFill>
              </a:rPr>
              <a:t>Untracked</a:t>
            </a:r>
            <a:r>
              <a:rPr lang="en-IN" dirty="0"/>
              <a:t>:</a:t>
            </a:r>
            <a:r>
              <a:rPr lang="en-IN" dirty="0">
                <a:solidFill>
                  <a:srgbClr val="FF0000"/>
                </a:solidFill>
              </a:rPr>
              <a:t> </a:t>
            </a:r>
            <a:r>
              <a:rPr lang="en-IN" dirty="0"/>
              <a:t>Packets marked with an </a:t>
            </a:r>
            <a:r>
              <a:rPr lang="en-IN" i="1" dirty="0"/>
              <a:t>NOTRACK</a:t>
            </a:r>
            <a:r>
              <a:rPr lang="en-IN" dirty="0"/>
              <a:t> target</a:t>
            </a:r>
          </a:p>
          <a:p>
            <a:r>
              <a:rPr lang="en-IN" dirty="0"/>
              <a:t>Connection tracking can be used even if the protocol is stateless, such as UDP or ICMP</a:t>
            </a:r>
          </a:p>
          <a:p>
            <a:pPr lvl="1"/>
            <a:endParaRPr lang="en-IN" dirty="0"/>
          </a:p>
          <a:p>
            <a:pPr lvl="1"/>
            <a:endParaRPr lang="en-IN" dirty="0"/>
          </a:p>
          <a:p>
            <a:pPr lvl="1"/>
            <a:endParaRPr lang="en-IN" dirty="0"/>
          </a:p>
          <a:p>
            <a:endParaRPr lang="en-IN" dirty="0"/>
          </a:p>
        </p:txBody>
      </p:sp>
    </p:spTree>
    <p:extLst>
      <p:ext uri="{BB962C8B-B14F-4D97-AF65-F5344CB8AC3E}">
        <p14:creationId xmlns:p14="http://schemas.microsoft.com/office/powerpoint/2010/main" val="2770301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2B5-8589-5D85-5942-4179348CAD4A}"/>
              </a:ext>
            </a:extLst>
          </p:cNvPr>
          <p:cNvSpPr>
            <a:spLocks noGrp="1"/>
          </p:cNvSpPr>
          <p:nvPr>
            <p:ph type="title"/>
          </p:nvPr>
        </p:nvSpPr>
        <p:spPr/>
        <p:txBody>
          <a:bodyPr/>
          <a:lstStyle/>
          <a:p>
            <a:r>
              <a:rPr lang="en-IN" dirty="0"/>
              <a:t>Connection Tracking</a:t>
            </a:r>
          </a:p>
        </p:txBody>
      </p:sp>
      <p:sp>
        <p:nvSpPr>
          <p:cNvPr id="3" name="Content Placeholder 2">
            <a:extLst>
              <a:ext uri="{FF2B5EF4-FFF2-40B4-BE49-F238E27FC236}">
                <a16:creationId xmlns:a16="http://schemas.microsoft.com/office/drawing/2014/main" id="{6952344F-0B8F-1AC6-4F5E-123EE332D87D}"/>
              </a:ext>
            </a:extLst>
          </p:cNvPr>
          <p:cNvSpPr>
            <a:spLocks noGrp="1"/>
          </p:cNvSpPr>
          <p:nvPr>
            <p:ph idx="1"/>
          </p:nvPr>
        </p:nvSpPr>
        <p:spPr/>
        <p:txBody>
          <a:bodyPr/>
          <a:lstStyle/>
          <a:p>
            <a:r>
              <a:rPr lang="en-IN" dirty="0">
                <a:solidFill>
                  <a:srgbClr val="FF0000"/>
                </a:solidFill>
              </a:rPr>
              <a:t>-m state --state</a:t>
            </a:r>
            <a:r>
              <a:rPr lang="en-IN" dirty="0"/>
              <a:t>, where state is a comma-separated list of packet states written in uppercase letters</a:t>
            </a:r>
          </a:p>
          <a:p>
            <a:endParaRPr lang="en-IN" dirty="0"/>
          </a:p>
          <a:p>
            <a:r>
              <a:rPr lang="en-IN" dirty="0"/>
              <a:t>Example: Accept packets if they are already a part of an incoming connection</a:t>
            </a:r>
          </a:p>
          <a:p>
            <a:pPr marL="0" indent="0">
              <a:buNone/>
            </a:pPr>
            <a:r>
              <a:rPr lang="en-IN" dirty="0"/>
              <a:t>Iptables -A INPUT -m state --state ESTABLISHED,RELATED -j ACCEPT</a:t>
            </a:r>
          </a:p>
          <a:p>
            <a:endParaRPr lang="en-IN" dirty="0"/>
          </a:p>
          <a:p>
            <a:endParaRPr lang="en-IN" dirty="0"/>
          </a:p>
        </p:txBody>
      </p:sp>
    </p:spTree>
    <p:extLst>
      <p:ext uri="{BB962C8B-B14F-4D97-AF65-F5344CB8AC3E}">
        <p14:creationId xmlns:p14="http://schemas.microsoft.com/office/powerpoint/2010/main" val="44676721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7A67A-5FBE-1B3A-79D3-B7A7898FC27D}"/>
              </a:ext>
            </a:extLst>
          </p:cNvPr>
          <p:cNvSpPr>
            <a:spLocks noGrp="1"/>
          </p:cNvSpPr>
          <p:nvPr>
            <p:ph type="title"/>
          </p:nvPr>
        </p:nvSpPr>
        <p:spPr/>
        <p:txBody>
          <a:bodyPr/>
          <a:lstStyle/>
          <a:p>
            <a:r>
              <a:rPr lang="en-IN" dirty="0"/>
              <a:t>How to Handle State?</a:t>
            </a:r>
          </a:p>
        </p:txBody>
      </p:sp>
      <p:sp>
        <p:nvSpPr>
          <p:cNvPr id="3" name="Content Placeholder 2">
            <a:extLst>
              <a:ext uri="{FF2B5EF4-FFF2-40B4-BE49-F238E27FC236}">
                <a16:creationId xmlns:a16="http://schemas.microsoft.com/office/drawing/2014/main" id="{8595CE3C-200B-9650-88C1-2EE061671F5F}"/>
              </a:ext>
            </a:extLst>
          </p:cNvPr>
          <p:cNvSpPr>
            <a:spLocks noGrp="1"/>
          </p:cNvSpPr>
          <p:nvPr>
            <p:ph idx="1"/>
          </p:nvPr>
        </p:nvSpPr>
        <p:spPr/>
        <p:txBody>
          <a:bodyPr/>
          <a:lstStyle/>
          <a:p>
            <a:r>
              <a:rPr lang="en-US" dirty="0"/>
              <a:t>iptables -F INPUT</a:t>
            </a:r>
          </a:p>
          <a:p>
            <a:r>
              <a:rPr lang="en-US" dirty="0"/>
              <a:t>iptables -A INPUT -m state --state ESTABLISHED -j ACCEPT</a:t>
            </a:r>
          </a:p>
          <a:p>
            <a:r>
              <a:rPr lang="en-US" dirty="0"/>
              <a:t>iptables -A INPUT -j REJECT</a:t>
            </a:r>
          </a:p>
          <a:p>
            <a:endParaRPr lang="en-US" dirty="0"/>
          </a:p>
          <a:p>
            <a:r>
              <a:rPr lang="en-US" b="1" dirty="0" err="1"/>
              <a:t>Statefulness</a:t>
            </a:r>
            <a:r>
              <a:rPr lang="en-US" dirty="0"/>
              <a:t> concept is used here: Permit incoming packets only if they are part of established outgoing connections. All other incoming packets are rejected.</a:t>
            </a:r>
            <a:endParaRPr lang="en-IN" dirty="0"/>
          </a:p>
        </p:txBody>
      </p:sp>
    </p:spTree>
    <p:extLst>
      <p:ext uri="{BB962C8B-B14F-4D97-AF65-F5344CB8AC3E}">
        <p14:creationId xmlns:p14="http://schemas.microsoft.com/office/powerpoint/2010/main" val="115298107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7FFEB-27A2-EEA3-8E28-2E5B51F58691}"/>
              </a:ext>
            </a:extLst>
          </p:cNvPr>
          <p:cNvSpPr>
            <a:spLocks noGrp="1"/>
          </p:cNvSpPr>
          <p:nvPr>
            <p:ph type="title"/>
          </p:nvPr>
        </p:nvSpPr>
        <p:spPr/>
        <p:txBody>
          <a:bodyPr/>
          <a:lstStyle/>
          <a:p>
            <a:r>
              <a:rPr lang="en-IN" dirty="0" err="1"/>
              <a:t>Statefulness</a:t>
            </a:r>
            <a:r>
              <a:rPr lang="en-IN" dirty="0"/>
              <a:t> Example (stateful_script.sh)</a:t>
            </a:r>
          </a:p>
        </p:txBody>
      </p:sp>
      <p:sp>
        <p:nvSpPr>
          <p:cNvPr id="3" name="Content Placeholder 2">
            <a:extLst>
              <a:ext uri="{FF2B5EF4-FFF2-40B4-BE49-F238E27FC236}">
                <a16:creationId xmlns:a16="http://schemas.microsoft.com/office/drawing/2014/main" id="{8548FFF0-420E-AC98-947C-92EBD16A712C}"/>
              </a:ext>
            </a:extLst>
          </p:cNvPr>
          <p:cNvSpPr>
            <a:spLocks noGrp="1"/>
          </p:cNvSpPr>
          <p:nvPr>
            <p:ph idx="1"/>
          </p:nvPr>
        </p:nvSpPr>
        <p:spPr/>
        <p:txBody>
          <a:bodyPr>
            <a:normAutofit fontScale="25000" lnSpcReduction="20000"/>
          </a:bodyPr>
          <a:lstStyle/>
          <a:p>
            <a:r>
              <a:rPr lang="en-IN" dirty="0"/>
              <a:t>Create the following script on </a:t>
            </a:r>
            <a:r>
              <a:rPr lang="en-IN" dirty="0" err="1"/>
              <a:t>Metasploi</a:t>
            </a:r>
            <a:r>
              <a:rPr lang="en-IN" dirty="0"/>
              <a:t>#!/bin/bash</a:t>
            </a:r>
          </a:p>
          <a:p>
            <a:endParaRPr lang="en-IN" dirty="0"/>
          </a:p>
          <a:p>
            <a:r>
              <a:rPr lang="en-IN" dirty="0"/>
              <a:t># Flush all the tables</a:t>
            </a:r>
          </a:p>
          <a:p>
            <a:r>
              <a:rPr lang="en-IN" dirty="0"/>
              <a:t>iptables -F</a:t>
            </a:r>
          </a:p>
          <a:p>
            <a:endParaRPr lang="en-IN" dirty="0"/>
          </a:p>
          <a:p>
            <a:r>
              <a:rPr lang="en-IN" dirty="0"/>
              <a:t># Allow local traffic</a:t>
            </a:r>
          </a:p>
          <a:p>
            <a:r>
              <a:rPr lang="en-IN" dirty="0"/>
              <a:t>iptables -A INPUT -</a:t>
            </a:r>
            <a:r>
              <a:rPr lang="en-IN" dirty="0" err="1"/>
              <a:t>i</a:t>
            </a:r>
            <a:r>
              <a:rPr lang="en-IN" dirty="0"/>
              <a:t> lo -j ACCEPT</a:t>
            </a:r>
          </a:p>
          <a:p>
            <a:r>
              <a:rPr lang="en-IN" dirty="0"/>
              <a:t>iptables -A OUTPUT -o lo -j ACCEPT</a:t>
            </a:r>
          </a:p>
          <a:p>
            <a:endParaRPr lang="en-IN" dirty="0"/>
          </a:p>
          <a:p>
            <a:r>
              <a:rPr lang="en-IN" dirty="0"/>
              <a:t># Drop traffic that is not related/stateful</a:t>
            </a:r>
          </a:p>
          <a:p>
            <a:r>
              <a:rPr lang="en-IN" dirty="0"/>
              <a:t>iptables -A INPUT -m state --state INVALID -j DROP</a:t>
            </a:r>
          </a:p>
          <a:p>
            <a:r>
              <a:rPr lang="en-IN" dirty="0"/>
              <a:t>iptables -A OUTPUT -m state --state INVALID -j DROP</a:t>
            </a:r>
          </a:p>
          <a:p>
            <a:endParaRPr lang="en-IN" dirty="0"/>
          </a:p>
          <a:p>
            <a:r>
              <a:rPr lang="en-IN" dirty="0"/>
              <a:t># Allow traffic only in the related/stateful </a:t>
            </a:r>
          </a:p>
          <a:p>
            <a:r>
              <a:rPr lang="en-IN" dirty="0"/>
              <a:t>iptables -A INPUT -m state --state ESTABLISHED,RELATED -j ACCEPT</a:t>
            </a:r>
          </a:p>
          <a:p>
            <a:r>
              <a:rPr lang="en-IN" dirty="0"/>
              <a:t>iptables -A OUTPUT -m state --state NEW,ESTABLISHED,RELATED -j ACCEPT</a:t>
            </a:r>
          </a:p>
          <a:p>
            <a:endParaRPr lang="en-IN" dirty="0"/>
          </a:p>
          <a:p>
            <a:r>
              <a:rPr lang="en-IN" dirty="0"/>
              <a:t># Drop everything else</a:t>
            </a:r>
          </a:p>
          <a:p>
            <a:r>
              <a:rPr lang="en-IN" dirty="0"/>
              <a:t>iptables -P INPUT DROP</a:t>
            </a:r>
          </a:p>
          <a:p>
            <a:r>
              <a:rPr lang="en-IN" dirty="0"/>
              <a:t>iptables -P OUTPUT DROP</a:t>
            </a:r>
          </a:p>
          <a:p>
            <a:endParaRPr lang="en-IN" dirty="0"/>
          </a:p>
        </p:txBody>
      </p:sp>
    </p:spTree>
    <p:extLst>
      <p:ext uri="{BB962C8B-B14F-4D97-AF65-F5344CB8AC3E}">
        <p14:creationId xmlns:p14="http://schemas.microsoft.com/office/powerpoint/2010/main" val="31678480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2BF65-F99C-FF3C-84E8-DB7B10162DA7}"/>
              </a:ext>
            </a:extLst>
          </p:cNvPr>
          <p:cNvSpPr>
            <a:spLocks noGrp="1"/>
          </p:cNvSpPr>
          <p:nvPr>
            <p:ph type="title"/>
          </p:nvPr>
        </p:nvSpPr>
        <p:spPr/>
        <p:txBody>
          <a:bodyPr/>
          <a:lstStyle/>
          <a:p>
            <a:r>
              <a:rPr lang="en-IN" dirty="0"/>
              <a:t>Testing</a:t>
            </a:r>
          </a:p>
        </p:txBody>
      </p:sp>
      <p:sp>
        <p:nvSpPr>
          <p:cNvPr id="3" name="Content Placeholder 2">
            <a:extLst>
              <a:ext uri="{FF2B5EF4-FFF2-40B4-BE49-F238E27FC236}">
                <a16:creationId xmlns:a16="http://schemas.microsoft.com/office/drawing/2014/main" id="{85415B20-3002-774B-7E75-CB5C24CAF3F1}"/>
              </a:ext>
            </a:extLst>
          </p:cNvPr>
          <p:cNvSpPr>
            <a:spLocks noGrp="1"/>
          </p:cNvSpPr>
          <p:nvPr>
            <p:ph idx="1"/>
          </p:nvPr>
        </p:nvSpPr>
        <p:spPr/>
        <p:txBody>
          <a:bodyPr/>
          <a:lstStyle/>
          <a:p>
            <a:r>
              <a:rPr lang="en-IN" dirty="0"/>
              <a:t>Save and execute this script on Metasploit</a:t>
            </a:r>
          </a:p>
          <a:p>
            <a:r>
              <a:rPr lang="en-IN" dirty="0"/>
              <a:t>Try pinging Kali Linux from Metasploit – Success</a:t>
            </a:r>
          </a:p>
        </p:txBody>
      </p:sp>
      <p:pic>
        <p:nvPicPr>
          <p:cNvPr id="5" name="Picture 4">
            <a:extLst>
              <a:ext uri="{FF2B5EF4-FFF2-40B4-BE49-F238E27FC236}">
                <a16:creationId xmlns:a16="http://schemas.microsoft.com/office/drawing/2014/main" id="{690B3637-0ACD-ABFF-F8DD-B4BF33DC1F25}"/>
              </a:ext>
            </a:extLst>
          </p:cNvPr>
          <p:cNvPicPr>
            <a:picLocks noChangeAspect="1"/>
          </p:cNvPicPr>
          <p:nvPr/>
        </p:nvPicPr>
        <p:blipFill>
          <a:blip r:embed="rId2"/>
          <a:stretch>
            <a:fillRect/>
          </a:stretch>
        </p:blipFill>
        <p:spPr>
          <a:xfrm>
            <a:off x="1419672" y="2898169"/>
            <a:ext cx="7210101" cy="2033427"/>
          </a:xfrm>
          <a:prstGeom prst="rect">
            <a:avLst/>
          </a:prstGeom>
        </p:spPr>
      </p:pic>
    </p:spTree>
    <p:extLst>
      <p:ext uri="{BB962C8B-B14F-4D97-AF65-F5344CB8AC3E}">
        <p14:creationId xmlns:p14="http://schemas.microsoft.com/office/powerpoint/2010/main" val="22190572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2BF65-F99C-FF3C-84E8-DB7B10162DA7}"/>
              </a:ext>
            </a:extLst>
          </p:cNvPr>
          <p:cNvSpPr>
            <a:spLocks noGrp="1"/>
          </p:cNvSpPr>
          <p:nvPr>
            <p:ph type="title"/>
          </p:nvPr>
        </p:nvSpPr>
        <p:spPr/>
        <p:txBody>
          <a:bodyPr/>
          <a:lstStyle/>
          <a:p>
            <a:r>
              <a:rPr lang="en-IN" dirty="0"/>
              <a:t>Testing</a:t>
            </a:r>
          </a:p>
        </p:txBody>
      </p:sp>
      <p:sp>
        <p:nvSpPr>
          <p:cNvPr id="3" name="Content Placeholder 2">
            <a:extLst>
              <a:ext uri="{FF2B5EF4-FFF2-40B4-BE49-F238E27FC236}">
                <a16:creationId xmlns:a16="http://schemas.microsoft.com/office/drawing/2014/main" id="{85415B20-3002-774B-7E75-CB5C24CAF3F1}"/>
              </a:ext>
            </a:extLst>
          </p:cNvPr>
          <p:cNvSpPr>
            <a:spLocks noGrp="1"/>
          </p:cNvSpPr>
          <p:nvPr>
            <p:ph idx="1"/>
          </p:nvPr>
        </p:nvSpPr>
        <p:spPr/>
        <p:txBody>
          <a:bodyPr/>
          <a:lstStyle/>
          <a:p>
            <a:r>
              <a:rPr lang="en-IN" dirty="0"/>
              <a:t>Try pinging 8.8.8.8 from Metasploit – Success</a:t>
            </a:r>
          </a:p>
          <a:p>
            <a:endParaRPr lang="en-IN" dirty="0"/>
          </a:p>
          <a:p>
            <a:endParaRPr lang="en-IN" dirty="0"/>
          </a:p>
          <a:p>
            <a:endParaRPr lang="en-IN" dirty="0"/>
          </a:p>
          <a:p>
            <a:r>
              <a:rPr lang="en-IN" dirty="0"/>
              <a:t>Try accessing HTTP: curl </a:t>
            </a:r>
            <a:r>
              <a:rPr lang="en-IN" dirty="0">
                <a:hlinkClick r:id="rId2"/>
              </a:rPr>
              <a:t>www.google.com</a:t>
            </a:r>
            <a:r>
              <a:rPr lang="en-IN" dirty="0"/>
              <a:t> - Success</a:t>
            </a:r>
          </a:p>
        </p:txBody>
      </p:sp>
      <p:pic>
        <p:nvPicPr>
          <p:cNvPr id="6" name="Picture 5">
            <a:extLst>
              <a:ext uri="{FF2B5EF4-FFF2-40B4-BE49-F238E27FC236}">
                <a16:creationId xmlns:a16="http://schemas.microsoft.com/office/drawing/2014/main" id="{6F71B172-9640-B27A-9AD1-18CA7E64B1C9}"/>
              </a:ext>
            </a:extLst>
          </p:cNvPr>
          <p:cNvPicPr>
            <a:picLocks noChangeAspect="1"/>
          </p:cNvPicPr>
          <p:nvPr/>
        </p:nvPicPr>
        <p:blipFill>
          <a:blip r:embed="rId3"/>
          <a:stretch>
            <a:fillRect/>
          </a:stretch>
        </p:blipFill>
        <p:spPr>
          <a:xfrm>
            <a:off x="1690491" y="2228210"/>
            <a:ext cx="5543835" cy="1536779"/>
          </a:xfrm>
          <a:prstGeom prst="rect">
            <a:avLst/>
          </a:prstGeom>
        </p:spPr>
      </p:pic>
      <p:pic>
        <p:nvPicPr>
          <p:cNvPr id="8" name="Picture 7">
            <a:extLst>
              <a:ext uri="{FF2B5EF4-FFF2-40B4-BE49-F238E27FC236}">
                <a16:creationId xmlns:a16="http://schemas.microsoft.com/office/drawing/2014/main" id="{645BAC3D-BCEB-0730-459B-AD4FBF5C022C}"/>
              </a:ext>
            </a:extLst>
          </p:cNvPr>
          <p:cNvPicPr>
            <a:picLocks noChangeAspect="1"/>
          </p:cNvPicPr>
          <p:nvPr/>
        </p:nvPicPr>
        <p:blipFill>
          <a:blip r:embed="rId4"/>
          <a:stretch>
            <a:fillRect/>
          </a:stretch>
        </p:blipFill>
        <p:spPr>
          <a:xfrm>
            <a:off x="1454185" y="4454420"/>
            <a:ext cx="7448933" cy="2038455"/>
          </a:xfrm>
          <a:prstGeom prst="rect">
            <a:avLst/>
          </a:prstGeom>
        </p:spPr>
      </p:pic>
    </p:spTree>
    <p:extLst>
      <p:ext uri="{BB962C8B-B14F-4D97-AF65-F5344CB8AC3E}">
        <p14:creationId xmlns:p14="http://schemas.microsoft.com/office/powerpoint/2010/main" val="340855092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A2E1D-2A8E-F733-BAA1-C271CE3AE962}"/>
              </a:ext>
            </a:extLst>
          </p:cNvPr>
          <p:cNvSpPr>
            <a:spLocks noGrp="1"/>
          </p:cNvSpPr>
          <p:nvPr>
            <p:ph type="title"/>
          </p:nvPr>
        </p:nvSpPr>
        <p:spPr/>
        <p:txBody>
          <a:bodyPr/>
          <a:lstStyle/>
          <a:p>
            <a:r>
              <a:rPr lang="en-IN" dirty="0"/>
              <a:t>Testing</a:t>
            </a:r>
          </a:p>
        </p:txBody>
      </p:sp>
      <p:sp>
        <p:nvSpPr>
          <p:cNvPr id="3" name="Content Placeholder 2">
            <a:extLst>
              <a:ext uri="{FF2B5EF4-FFF2-40B4-BE49-F238E27FC236}">
                <a16:creationId xmlns:a16="http://schemas.microsoft.com/office/drawing/2014/main" id="{D5997D42-1089-6836-984C-D2FD3E9A6AE5}"/>
              </a:ext>
            </a:extLst>
          </p:cNvPr>
          <p:cNvSpPr>
            <a:spLocks noGrp="1"/>
          </p:cNvSpPr>
          <p:nvPr>
            <p:ph idx="1"/>
          </p:nvPr>
        </p:nvSpPr>
        <p:spPr/>
        <p:txBody>
          <a:bodyPr/>
          <a:lstStyle/>
          <a:p>
            <a:r>
              <a:rPr lang="en-IN" dirty="0"/>
              <a:t>Now try pinging Metasploit from Kali – Will not work</a:t>
            </a:r>
          </a:p>
          <a:p>
            <a:endParaRPr lang="en-IN" dirty="0"/>
          </a:p>
        </p:txBody>
      </p:sp>
      <p:pic>
        <p:nvPicPr>
          <p:cNvPr id="9" name="Picture 8">
            <a:extLst>
              <a:ext uri="{FF2B5EF4-FFF2-40B4-BE49-F238E27FC236}">
                <a16:creationId xmlns:a16="http://schemas.microsoft.com/office/drawing/2014/main" id="{0234C90F-BFF4-84E0-0A66-5C59C737B279}"/>
              </a:ext>
            </a:extLst>
          </p:cNvPr>
          <p:cNvPicPr>
            <a:picLocks noChangeAspect="1"/>
          </p:cNvPicPr>
          <p:nvPr/>
        </p:nvPicPr>
        <p:blipFill>
          <a:blip r:embed="rId2"/>
          <a:stretch>
            <a:fillRect/>
          </a:stretch>
        </p:blipFill>
        <p:spPr>
          <a:xfrm>
            <a:off x="992129" y="2466034"/>
            <a:ext cx="7289952" cy="1581983"/>
          </a:xfrm>
          <a:prstGeom prst="rect">
            <a:avLst/>
          </a:prstGeom>
        </p:spPr>
      </p:pic>
    </p:spTree>
    <p:extLst>
      <p:ext uri="{BB962C8B-B14F-4D97-AF65-F5344CB8AC3E}">
        <p14:creationId xmlns:p14="http://schemas.microsoft.com/office/powerpoint/2010/main" val="34331640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BF68A-ACF7-35FB-1DDE-74BAF4ADB725}"/>
              </a:ext>
            </a:extLst>
          </p:cNvPr>
          <p:cNvSpPr>
            <a:spLocks noGrp="1"/>
          </p:cNvSpPr>
          <p:nvPr>
            <p:ph type="title"/>
          </p:nvPr>
        </p:nvSpPr>
        <p:spPr/>
        <p:txBody>
          <a:bodyPr/>
          <a:lstStyle/>
          <a:p>
            <a:r>
              <a:rPr lang="en-IN" dirty="0"/>
              <a:t>Log Packets </a:t>
            </a:r>
          </a:p>
        </p:txBody>
      </p:sp>
      <p:sp>
        <p:nvSpPr>
          <p:cNvPr id="3" name="Content Placeholder 2">
            <a:extLst>
              <a:ext uri="{FF2B5EF4-FFF2-40B4-BE49-F238E27FC236}">
                <a16:creationId xmlns:a16="http://schemas.microsoft.com/office/drawing/2014/main" id="{D510A1A7-A00B-2544-09E7-7535F6EFA320}"/>
              </a:ext>
            </a:extLst>
          </p:cNvPr>
          <p:cNvSpPr>
            <a:spLocks noGrp="1"/>
          </p:cNvSpPr>
          <p:nvPr>
            <p:ph idx="1"/>
          </p:nvPr>
        </p:nvSpPr>
        <p:spPr/>
        <p:txBody>
          <a:bodyPr/>
          <a:lstStyle/>
          <a:p>
            <a:r>
              <a:rPr lang="en-IN" dirty="0"/>
              <a:t>On target machine (IP 192.168.0.35)</a:t>
            </a:r>
          </a:p>
          <a:p>
            <a:pPr lvl="1"/>
            <a:r>
              <a:rPr lang="en-IN" b="1" dirty="0"/>
              <a:t>iptables -A INPUT -s 192.168.0.31/24 -j LOG --log-level 4</a:t>
            </a:r>
          </a:p>
          <a:p>
            <a:r>
              <a:rPr lang="en-IN" dirty="0"/>
              <a:t>On source machine (IP 192.168.0.31)</a:t>
            </a:r>
          </a:p>
          <a:p>
            <a:pPr lvl="1"/>
            <a:r>
              <a:rPr lang="en-IN" b="1" dirty="0"/>
              <a:t>ping 192.168.0.35</a:t>
            </a:r>
          </a:p>
          <a:p>
            <a:endParaRPr lang="en-IN" dirty="0"/>
          </a:p>
          <a:p>
            <a:r>
              <a:rPr lang="en-IN" dirty="0"/>
              <a:t>We have told the target machine to log all requests coming from the source machine</a:t>
            </a:r>
          </a:p>
          <a:p>
            <a:r>
              <a:rPr lang="en-IN" dirty="0"/>
              <a:t>To verify, on the target machine: </a:t>
            </a:r>
            <a:r>
              <a:rPr lang="en-IN" b="1" dirty="0"/>
              <a:t>tail  -f  /var/log/kern.log</a:t>
            </a:r>
            <a:endParaRPr lang="en-IN" dirty="0"/>
          </a:p>
        </p:txBody>
      </p:sp>
    </p:spTree>
    <p:extLst>
      <p:ext uri="{BB962C8B-B14F-4D97-AF65-F5344CB8AC3E}">
        <p14:creationId xmlns:p14="http://schemas.microsoft.com/office/powerpoint/2010/main" val="12973366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3049F-82C6-8B79-C5CE-BE84996BB1E9}"/>
              </a:ext>
            </a:extLst>
          </p:cNvPr>
          <p:cNvSpPr>
            <a:spLocks noGrp="1"/>
          </p:cNvSpPr>
          <p:nvPr>
            <p:ph type="title"/>
          </p:nvPr>
        </p:nvSpPr>
        <p:spPr/>
        <p:txBody>
          <a:bodyPr/>
          <a:lstStyle/>
          <a:p>
            <a:r>
              <a:rPr lang="en-IN" dirty="0"/>
              <a:t>Creating a Custom Chain to Log and Drop</a:t>
            </a:r>
          </a:p>
        </p:txBody>
      </p:sp>
      <p:sp>
        <p:nvSpPr>
          <p:cNvPr id="3" name="Content Placeholder 2">
            <a:extLst>
              <a:ext uri="{FF2B5EF4-FFF2-40B4-BE49-F238E27FC236}">
                <a16:creationId xmlns:a16="http://schemas.microsoft.com/office/drawing/2014/main" id="{F81B6945-7478-8A1D-48FE-11F85AE6F7D0}"/>
              </a:ext>
            </a:extLst>
          </p:cNvPr>
          <p:cNvSpPr>
            <a:spLocks noGrp="1"/>
          </p:cNvSpPr>
          <p:nvPr>
            <p:ph idx="1"/>
          </p:nvPr>
        </p:nvSpPr>
        <p:spPr/>
        <p:txBody>
          <a:bodyPr>
            <a:normAutofit lnSpcReduction="10000"/>
          </a:bodyPr>
          <a:lstStyle/>
          <a:p>
            <a:r>
              <a:rPr lang="en-IN" dirty="0"/>
              <a:t>On the first/source machine (192.168.0.31)</a:t>
            </a:r>
          </a:p>
          <a:p>
            <a:pPr lvl="1"/>
            <a:r>
              <a:rPr lang="en-IN" b="1" dirty="0"/>
              <a:t>ping 192.168.0.35</a:t>
            </a:r>
          </a:p>
          <a:p>
            <a:r>
              <a:rPr lang="en-IN" dirty="0"/>
              <a:t>On the second/target machine (192.168.0.35)</a:t>
            </a:r>
          </a:p>
          <a:p>
            <a:pPr lvl="1"/>
            <a:r>
              <a:rPr lang="en-IN" b="1" dirty="0"/>
              <a:t>iptables -N LOG_DROP</a:t>
            </a:r>
          </a:p>
          <a:p>
            <a:pPr lvl="1"/>
            <a:r>
              <a:rPr lang="en-IN" b="1" dirty="0"/>
              <a:t>iptables -A LOG_DROP -j LOG --log-level 6</a:t>
            </a:r>
          </a:p>
          <a:p>
            <a:pPr lvl="1"/>
            <a:r>
              <a:rPr lang="en-IN" b="1" dirty="0"/>
              <a:t>iptables -A LOG_DROP -j DROP</a:t>
            </a:r>
          </a:p>
          <a:p>
            <a:pPr lvl="1"/>
            <a:r>
              <a:rPr lang="en-IN" b="1" dirty="0"/>
              <a:t>iptables -A INPUT -p </a:t>
            </a:r>
            <a:r>
              <a:rPr lang="en-IN" b="1" dirty="0" err="1"/>
              <a:t>icmp</a:t>
            </a:r>
            <a:r>
              <a:rPr lang="en-IN" b="1" dirty="0"/>
              <a:t> --</a:t>
            </a:r>
            <a:r>
              <a:rPr lang="en-IN" b="1" dirty="0" err="1"/>
              <a:t>icmp</a:t>
            </a:r>
            <a:r>
              <a:rPr lang="en-IN" b="1" dirty="0"/>
              <a:t>-type echo-request -j LOG_DROP</a:t>
            </a:r>
          </a:p>
          <a:p>
            <a:r>
              <a:rPr lang="en-IN" dirty="0"/>
              <a:t>Now </a:t>
            </a:r>
            <a:r>
              <a:rPr lang="en-IN" i="1" dirty="0"/>
              <a:t>ping </a:t>
            </a:r>
            <a:r>
              <a:rPr lang="en-IN" dirty="0"/>
              <a:t>should stop</a:t>
            </a:r>
          </a:p>
          <a:p>
            <a:r>
              <a:rPr lang="en-IN" dirty="0"/>
              <a:t>On the second machine, </a:t>
            </a:r>
            <a:r>
              <a:rPr lang="en-IN" b="1" dirty="0"/>
              <a:t>tail -f /var/log/kern.log   </a:t>
            </a:r>
            <a:r>
              <a:rPr lang="en-IN" dirty="0"/>
              <a:t>(See next slide)</a:t>
            </a:r>
          </a:p>
          <a:p>
            <a:pPr marL="457200" lvl="1" indent="0">
              <a:buNone/>
            </a:pPr>
            <a:r>
              <a:rPr lang="en-IN" dirty="0"/>
              <a:t>	</a:t>
            </a:r>
          </a:p>
        </p:txBody>
      </p:sp>
      <p:sp>
        <p:nvSpPr>
          <p:cNvPr id="4" name="TextBox 3">
            <a:extLst>
              <a:ext uri="{FF2B5EF4-FFF2-40B4-BE49-F238E27FC236}">
                <a16:creationId xmlns:a16="http://schemas.microsoft.com/office/drawing/2014/main" id="{C65038D8-547C-9139-0A4F-6B8CA9620CE6}"/>
              </a:ext>
            </a:extLst>
          </p:cNvPr>
          <p:cNvSpPr txBox="1"/>
          <p:nvPr/>
        </p:nvSpPr>
        <p:spPr>
          <a:xfrm>
            <a:off x="8291245" y="1500027"/>
            <a:ext cx="3339101" cy="2585323"/>
          </a:xfrm>
          <a:prstGeom prst="rect">
            <a:avLst/>
          </a:prstGeom>
          <a:solidFill>
            <a:schemeClr val="accent2">
              <a:lumMod val="40000"/>
              <a:lumOff val="60000"/>
            </a:schemeClr>
          </a:solidFill>
        </p:spPr>
        <p:txBody>
          <a:bodyPr wrap="square" rtlCol="0">
            <a:spAutoFit/>
          </a:bodyPr>
          <a:lstStyle/>
          <a:p>
            <a:pPr marL="342900" indent="-342900">
              <a:buAutoNum type="arabicPeriod"/>
            </a:pPr>
            <a:r>
              <a:rPr lang="en-IN" b="1" dirty="0"/>
              <a:t>Create a new custom list of rules</a:t>
            </a:r>
          </a:p>
          <a:p>
            <a:pPr marL="342900" indent="-342900">
              <a:buAutoNum type="arabicPeriod"/>
            </a:pPr>
            <a:r>
              <a:rPr lang="en-IN" b="1" dirty="0"/>
              <a:t>Specify that we want logging at level 6 (most detailed)</a:t>
            </a:r>
          </a:p>
          <a:p>
            <a:pPr marL="342900" indent="-342900">
              <a:buAutoNum type="arabicPeriod"/>
            </a:pPr>
            <a:r>
              <a:rPr lang="en-IN" b="1" dirty="0"/>
              <a:t>Add a rule that says what should be the action if our custom chain is activated</a:t>
            </a:r>
          </a:p>
          <a:p>
            <a:pPr marL="342900" indent="-342900">
              <a:buAutoNum type="arabicPeriod"/>
            </a:pPr>
            <a:r>
              <a:rPr lang="en-IN" b="1" dirty="0"/>
              <a:t>Apply the custom chain as a target to a specific rule</a:t>
            </a:r>
          </a:p>
        </p:txBody>
      </p:sp>
      <p:sp>
        <p:nvSpPr>
          <p:cNvPr id="5" name="TextBox 4">
            <a:extLst>
              <a:ext uri="{FF2B5EF4-FFF2-40B4-BE49-F238E27FC236}">
                <a16:creationId xmlns:a16="http://schemas.microsoft.com/office/drawing/2014/main" id="{DE43B064-C8DF-A884-1514-27DCF73D6D0C}"/>
              </a:ext>
            </a:extLst>
          </p:cNvPr>
          <p:cNvSpPr txBox="1"/>
          <p:nvPr/>
        </p:nvSpPr>
        <p:spPr>
          <a:xfrm>
            <a:off x="1280845" y="5569545"/>
            <a:ext cx="10215937" cy="707886"/>
          </a:xfrm>
          <a:prstGeom prst="rect">
            <a:avLst/>
          </a:prstGeom>
          <a:solidFill>
            <a:schemeClr val="accent6">
              <a:lumMod val="40000"/>
              <a:lumOff val="60000"/>
            </a:schemeClr>
          </a:solidFill>
        </p:spPr>
        <p:txBody>
          <a:bodyPr wrap="square" rtlCol="0">
            <a:spAutoFit/>
          </a:bodyPr>
          <a:lstStyle/>
          <a:p>
            <a:r>
              <a:rPr lang="en-IN" sz="2000" dirty="0"/>
              <a:t>Normal statement for INPUT chain: </a:t>
            </a:r>
            <a:r>
              <a:rPr lang="en-IN" sz="2000" b="1" dirty="0"/>
              <a:t>iptables -A INPUT -p </a:t>
            </a:r>
            <a:r>
              <a:rPr lang="en-IN" sz="2000" b="1" dirty="0" err="1"/>
              <a:t>icmp</a:t>
            </a:r>
            <a:r>
              <a:rPr lang="en-IN" sz="2000" b="1" dirty="0"/>
              <a:t> --</a:t>
            </a:r>
            <a:r>
              <a:rPr lang="en-IN" sz="2000" b="1" dirty="0" err="1"/>
              <a:t>icmp</a:t>
            </a:r>
            <a:r>
              <a:rPr lang="en-IN" sz="2000" b="1" dirty="0"/>
              <a:t>-type echo-request -j </a:t>
            </a:r>
            <a:r>
              <a:rPr lang="en-IN" sz="2000" b="1" dirty="0">
                <a:solidFill>
                  <a:srgbClr val="FF0000"/>
                </a:solidFill>
              </a:rPr>
              <a:t>DROP</a:t>
            </a:r>
            <a:r>
              <a:rPr lang="en-IN" sz="2000" dirty="0"/>
              <a:t>, but for our custom chain: </a:t>
            </a:r>
            <a:r>
              <a:rPr lang="en-IN" sz="2000" b="1" dirty="0"/>
              <a:t>iptables -A INPUT -p </a:t>
            </a:r>
            <a:r>
              <a:rPr lang="en-IN" sz="2000" b="1" dirty="0" err="1"/>
              <a:t>icmp</a:t>
            </a:r>
            <a:r>
              <a:rPr lang="en-IN" sz="2000" b="1" dirty="0"/>
              <a:t> --</a:t>
            </a:r>
            <a:r>
              <a:rPr lang="en-IN" sz="2000" b="1" dirty="0" err="1"/>
              <a:t>icmp</a:t>
            </a:r>
            <a:r>
              <a:rPr lang="en-IN" sz="2000" b="1" dirty="0"/>
              <a:t>-type echo-request -j </a:t>
            </a:r>
            <a:r>
              <a:rPr lang="en-IN" sz="2000" b="1" dirty="0">
                <a:solidFill>
                  <a:srgbClr val="FF0000"/>
                </a:solidFill>
              </a:rPr>
              <a:t>LOG_DROP</a:t>
            </a:r>
            <a:endParaRPr lang="en-IN" sz="2000" dirty="0">
              <a:solidFill>
                <a:srgbClr val="FF0000"/>
              </a:solidFill>
            </a:endParaRPr>
          </a:p>
        </p:txBody>
      </p:sp>
    </p:spTree>
    <p:extLst>
      <p:ext uri="{BB962C8B-B14F-4D97-AF65-F5344CB8AC3E}">
        <p14:creationId xmlns:p14="http://schemas.microsoft.com/office/powerpoint/2010/main" val="319320046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C09CF-9E32-7BBA-95F5-B6B8D8D0F69A}"/>
              </a:ext>
            </a:extLst>
          </p:cNvPr>
          <p:cNvSpPr>
            <a:spLocks noGrp="1"/>
          </p:cNvSpPr>
          <p:nvPr>
            <p:ph type="title"/>
          </p:nvPr>
        </p:nvSpPr>
        <p:spPr/>
        <p:txBody>
          <a:bodyPr/>
          <a:lstStyle/>
          <a:p>
            <a:r>
              <a:rPr lang="en-IN" dirty="0"/>
              <a:t>Log output</a:t>
            </a:r>
          </a:p>
        </p:txBody>
      </p:sp>
      <p:sp>
        <p:nvSpPr>
          <p:cNvPr id="3" name="Content Placeholder 2">
            <a:extLst>
              <a:ext uri="{FF2B5EF4-FFF2-40B4-BE49-F238E27FC236}">
                <a16:creationId xmlns:a16="http://schemas.microsoft.com/office/drawing/2014/main" id="{F3FA8719-1BE1-936B-3819-168681E0219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6BDCBB3-C1EC-6523-C726-A7E3038D1F37}"/>
              </a:ext>
            </a:extLst>
          </p:cNvPr>
          <p:cNvPicPr>
            <a:picLocks noChangeAspect="1"/>
          </p:cNvPicPr>
          <p:nvPr/>
        </p:nvPicPr>
        <p:blipFill>
          <a:blip r:embed="rId2"/>
          <a:stretch>
            <a:fillRect/>
          </a:stretch>
        </p:blipFill>
        <p:spPr>
          <a:xfrm>
            <a:off x="334765" y="2725040"/>
            <a:ext cx="11347763" cy="2029345"/>
          </a:xfrm>
          <a:prstGeom prst="rect">
            <a:avLst/>
          </a:prstGeom>
        </p:spPr>
      </p:pic>
    </p:spTree>
    <p:extLst>
      <p:ext uri="{BB962C8B-B14F-4D97-AF65-F5344CB8AC3E}">
        <p14:creationId xmlns:p14="http://schemas.microsoft.com/office/powerpoint/2010/main" val="27303472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C37BE-8E1E-788F-4D2D-CBB9711361C1}"/>
              </a:ext>
            </a:extLst>
          </p:cNvPr>
          <p:cNvSpPr>
            <a:spLocks noGrp="1"/>
          </p:cNvSpPr>
          <p:nvPr>
            <p:ph type="title"/>
          </p:nvPr>
        </p:nvSpPr>
        <p:spPr/>
        <p:txBody>
          <a:bodyPr/>
          <a:lstStyle/>
          <a:p>
            <a:r>
              <a:rPr lang="en-IN" dirty="0"/>
              <a:t>What does </a:t>
            </a:r>
            <a:r>
              <a:rPr lang="en-IN" b="1" dirty="0"/>
              <a:t>iptables -</a:t>
            </a:r>
            <a:r>
              <a:rPr lang="en-IN" b="1" dirty="0" err="1"/>
              <a:t>vnL</a:t>
            </a:r>
            <a:r>
              <a:rPr lang="en-IN" dirty="0"/>
              <a:t> Show?</a:t>
            </a:r>
          </a:p>
        </p:txBody>
      </p:sp>
      <p:sp>
        <p:nvSpPr>
          <p:cNvPr id="3" name="Content Placeholder 2">
            <a:extLst>
              <a:ext uri="{FF2B5EF4-FFF2-40B4-BE49-F238E27FC236}">
                <a16:creationId xmlns:a16="http://schemas.microsoft.com/office/drawing/2014/main" id="{4A71747B-731C-6760-52CA-0DDE604AFC96}"/>
              </a:ext>
            </a:extLst>
          </p:cNvPr>
          <p:cNvSpPr>
            <a:spLocks noGrp="1"/>
          </p:cNvSpPr>
          <p:nvPr>
            <p:ph idx="1"/>
          </p:nvPr>
        </p:nvSpPr>
        <p:spPr/>
        <p:txBody>
          <a:bodyPr/>
          <a:lstStyle/>
          <a:p>
            <a:r>
              <a:rPr lang="en-IN" dirty="0"/>
              <a:t>Our custom chain is working on the INPUT chain, as expected</a:t>
            </a:r>
          </a:p>
        </p:txBody>
      </p:sp>
      <p:pic>
        <p:nvPicPr>
          <p:cNvPr id="5" name="Picture 4">
            <a:extLst>
              <a:ext uri="{FF2B5EF4-FFF2-40B4-BE49-F238E27FC236}">
                <a16:creationId xmlns:a16="http://schemas.microsoft.com/office/drawing/2014/main" id="{B4BFFCD8-76A8-50BF-9DA6-B7D7A25DCF47}"/>
              </a:ext>
            </a:extLst>
          </p:cNvPr>
          <p:cNvPicPr>
            <a:picLocks noChangeAspect="1"/>
          </p:cNvPicPr>
          <p:nvPr/>
        </p:nvPicPr>
        <p:blipFill>
          <a:blip r:embed="rId2"/>
          <a:stretch>
            <a:fillRect/>
          </a:stretch>
        </p:blipFill>
        <p:spPr>
          <a:xfrm>
            <a:off x="838200" y="2769330"/>
            <a:ext cx="10400446" cy="3004746"/>
          </a:xfrm>
          <a:prstGeom prst="rect">
            <a:avLst/>
          </a:prstGeom>
        </p:spPr>
      </p:pic>
    </p:spTree>
    <p:extLst>
      <p:ext uri="{BB962C8B-B14F-4D97-AF65-F5344CB8AC3E}">
        <p14:creationId xmlns:p14="http://schemas.microsoft.com/office/powerpoint/2010/main" val="164285125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CF50F-42E5-7ABB-B652-43483FE3208A}"/>
              </a:ext>
            </a:extLst>
          </p:cNvPr>
          <p:cNvSpPr>
            <a:spLocks noGrp="1"/>
          </p:cNvSpPr>
          <p:nvPr>
            <p:ph type="title"/>
          </p:nvPr>
        </p:nvSpPr>
        <p:spPr/>
        <p:txBody>
          <a:bodyPr/>
          <a:lstStyle/>
          <a:p>
            <a:r>
              <a:rPr lang="en-IN" dirty="0"/>
              <a:t>Flushing</a:t>
            </a:r>
          </a:p>
        </p:txBody>
      </p:sp>
      <p:sp>
        <p:nvSpPr>
          <p:cNvPr id="3" name="Content Placeholder 2">
            <a:extLst>
              <a:ext uri="{FF2B5EF4-FFF2-40B4-BE49-F238E27FC236}">
                <a16:creationId xmlns:a16="http://schemas.microsoft.com/office/drawing/2014/main" id="{E83F4C04-162F-4D8F-ECDD-F8918E386D35}"/>
              </a:ext>
            </a:extLst>
          </p:cNvPr>
          <p:cNvSpPr>
            <a:spLocks noGrp="1"/>
          </p:cNvSpPr>
          <p:nvPr>
            <p:ph idx="1"/>
          </p:nvPr>
        </p:nvSpPr>
        <p:spPr/>
        <p:txBody>
          <a:bodyPr/>
          <a:lstStyle/>
          <a:p>
            <a:r>
              <a:rPr lang="en-IN" dirty="0"/>
              <a:t>Remember, we now need </a:t>
            </a:r>
            <a:r>
              <a:rPr lang="en-IN" b="1" dirty="0"/>
              <a:t>iptables -F </a:t>
            </a:r>
            <a:r>
              <a:rPr lang="en-IN" dirty="0"/>
              <a:t>and </a:t>
            </a:r>
            <a:r>
              <a:rPr lang="en-IN" b="1" dirty="0"/>
              <a:t>iptables -X </a:t>
            </a:r>
          </a:p>
          <a:p>
            <a:r>
              <a:rPr lang="en-IN" dirty="0"/>
              <a:t>The first command will flush all rules, but will keep an entry of our custom chain (empty) </a:t>
            </a:r>
          </a:p>
          <a:p>
            <a:r>
              <a:rPr lang="en-IN" dirty="0"/>
              <a:t>The second command will remove this empty custom chain also</a:t>
            </a:r>
          </a:p>
        </p:txBody>
      </p:sp>
    </p:spTree>
    <p:extLst>
      <p:ext uri="{BB962C8B-B14F-4D97-AF65-F5344CB8AC3E}">
        <p14:creationId xmlns:p14="http://schemas.microsoft.com/office/powerpoint/2010/main" val="432238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4874</Words>
  <Application>Microsoft Office PowerPoint</Application>
  <PresentationFormat>Widescreen</PresentationFormat>
  <Paragraphs>534</Paragraphs>
  <Slides>98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98</vt:i4>
      </vt:variant>
    </vt:vector>
  </HeadingPairs>
  <TitlesOfParts>
    <vt:vector size="102" baseType="lpstr">
      <vt:lpstr>Arial</vt:lpstr>
      <vt:lpstr>Calibri</vt:lpstr>
      <vt:lpstr>Calibri Light</vt:lpstr>
      <vt:lpstr>Office Theme</vt:lpstr>
      <vt:lpstr>Application Gateway (Proxy)</vt:lpstr>
      <vt:lpstr>Basic Concept</vt:lpstr>
      <vt:lpstr>Example</vt:lpstr>
      <vt:lpstr>De-Militarized Zone (DMZ)</vt:lpstr>
      <vt:lpstr>DMZ Basics</vt:lpstr>
      <vt:lpstr>Using a Single Firewall</vt:lpstr>
      <vt:lpstr>Using a Single Firewall</vt:lpstr>
      <vt:lpstr>Solution? DMZ</vt:lpstr>
      <vt:lpstr>Why a DMZ?</vt:lpstr>
      <vt:lpstr>DMZ Advantages</vt:lpstr>
      <vt:lpstr>Screened Host Firewall</vt:lpstr>
      <vt:lpstr>Bastion Host Concept</vt:lpstr>
      <vt:lpstr>Bastion Host Example</vt:lpstr>
      <vt:lpstr>Bastion Host Example</vt:lpstr>
      <vt:lpstr>Screened Host Firewall</vt:lpstr>
      <vt:lpstr>Screened Host Firewall - Single Homed Bastion Host</vt:lpstr>
      <vt:lpstr>Screened Host Firewall - Single Homed Bastion Host</vt:lpstr>
      <vt:lpstr>Screened Host Firewall - Dual Homed Bastion Host</vt:lpstr>
      <vt:lpstr>Honeypot</vt:lpstr>
      <vt:lpstr>NextGen Firewall</vt:lpstr>
      <vt:lpstr>NextGen Firewall</vt:lpstr>
      <vt:lpstr>Hands-on with CISCO ASA</vt:lpstr>
      <vt:lpstr>Cisco ASA</vt:lpstr>
      <vt:lpstr>Zone Concept</vt:lpstr>
      <vt:lpstr>Zones and DMZ</vt:lpstr>
      <vt:lpstr>Create the following Topology</vt:lpstr>
      <vt:lpstr>Basic steps in asa firewall</vt:lpstr>
      <vt:lpstr>Basic steps in asa firewall</vt:lpstr>
      <vt:lpstr>Create VLAN 1 and make interface e0/1 a part of it</vt:lpstr>
      <vt:lpstr>Create VLAN 2 and make interface e0/0 a part of it</vt:lpstr>
      <vt:lpstr>Router Configuration now …</vt:lpstr>
      <vt:lpstr>Now the Server … </vt:lpstr>
      <vt:lpstr>PC Configurations</vt:lpstr>
      <vt:lpstr>Back to asa … Default Route for Outgoing Packets</vt:lpstr>
      <vt:lpstr>Configure OSPF on the Router</vt:lpstr>
      <vt:lpstr>Create Object Network and Enable NAT on asa</vt:lpstr>
      <vt:lpstr>Try ping on PC0 and PC1 – Should not work</vt:lpstr>
      <vt:lpstr>Create and Apply ACL on asa</vt:lpstr>
      <vt:lpstr>Check the ping Screen Again</vt:lpstr>
      <vt:lpstr>iptables</vt:lpstr>
      <vt:lpstr>iptables</vt:lpstr>
      <vt:lpstr>More Technical Details</vt:lpstr>
      <vt:lpstr>Chain Traversal</vt:lpstr>
      <vt:lpstr>iptables Command</vt:lpstr>
      <vt:lpstr>iptables Hands-on</vt:lpstr>
      <vt:lpstr>Requirements</vt:lpstr>
      <vt:lpstr>Kali Linux - Login as su</vt:lpstr>
      <vt:lpstr>Check IP Addresses of Both</vt:lpstr>
      <vt:lpstr>Exercise 1: Try Adding a Rule Using iptables</vt:lpstr>
      <vt:lpstr>PowerPoint Presentation</vt:lpstr>
      <vt:lpstr>Result</vt:lpstr>
      <vt:lpstr>Exercise 2: Do not Allow Kali Machine to Access www.ubuntu.com</vt:lpstr>
      <vt:lpstr>Let us first check if the page is accessible</vt:lpstr>
      <vt:lpstr>Now Add iptables Rule for Port 80 and 443 Also</vt:lpstr>
      <vt:lpstr>Now Try Accessing www.ubuntu.com Again</vt:lpstr>
      <vt:lpstr>Verify</vt:lpstr>
      <vt:lpstr>Prevent an External/Remote Host from Pretending to be Local to your Network</vt:lpstr>
      <vt:lpstr>Understanding iptables Options in Detail</vt:lpstr>
      <vt:lpstr>-A Example</vt:lpstr>
      <vt:lpstr>Deleting an iptables Rule</vt:lpstr>
      <vt:lpstr>Let us Test for Web Traffic</vt:lpstr>
      <vt:lpstr>Let us Test for Web Traffic</vt:lpstr>
      <vt:lpstr>The -I Option</vt:lpstr>
      <vt:lpstr>How are Rules Processed?</vt:lpstr>
      <vt:lpstr>How are Rules Processed?</vt:lpstr>
      <vt:lpstr>Remove the Rules and Add in the Reverse Order on Metasploit</vt:lpstr>
      <vt:lpstr>Where to Write Rules?</vt:lpstr>
      <vt:lpstr>iptables_example.sh</vt:lpstr>
      <vt:lpstr>Run it</vt:lpstr>
      <vt:lpstr>Default Policy</vt:lpstr>
      <vt:lpstr>Default Policy</vt:lpstr>
      <vt:lpstr>Changing the Policy </vt:lpstr>
      <vt:lpstr>Changing the Policy </vt:lpstr>
      <vt:lpstr>Retry Ping</vt:lpstr>
      <vt:lpstr>Setting the Firewall to the Default State of Linux</vt:lpstr>
      <vt:lpstr>Blocking All Traffic</vt:lpstr>
      <vt:lpstr>Filtering by IP or Network Address</vt:lpstr>
      <vt:lpstr>Example: Filter by Source IP Address</vt:lpstr>
      <vt:lpstr>Example: Filter by Destination IP Nework Address</vt:lpstr>
      <vt:lpstr>Example: Filter by Domain Name</vt:lpstr>
      <vt:lpstr>Example: Filter by Domain Name</vt:lpstr>
      <vt:lpstr>Example: Filter by Domain Name</vt:lpstr>
      <vt:lpstr>Blocking Incoming Service Requests</vt:lpstr>
      <vt:lpstr>Blocking Outgoing Access to All Web Servers on a Network</vt:lpstr>
      <vt:lpstr>Controlling Access based on MAC Addresses</vt:lpstr>
      <vt:lpstr>Stateful Packet Inspection (SPI) Firewall</vt:lpstr>
      <vt:lpstr>Packet States</vt:lpstr>
      <vt:lpstr>Connection Tracking</vt:lpstr>
      <vt:lpstr>How to Handle State?</vt:lpstr>
      <vt:lpstr>Statefulness Example (stateful_script.sh)</vt:lpstr>
      <vt:lpstr>Testing</vt:lpstr>
      <vt:lpstr>Testing</vt:lpstr>
      <vt:lpstr>Testing</vt:lpstr>
      <vt:lpstr>Log Packets </vt:lpstr>
      <vt:lpstr>Creating a Custom Chain to Log and Drop</vt:lpstr>
      <vt:lpstr>Log output</vt:lpstr>
      <vt:lpstr>What does iptables -vnL Show?</vt:lpstr>
      <vt:lpstr>Flushing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Gateway (Proxy)</dc:title>
  <dc:creator>Atul Kahate</dc:creator>
  <cp:lastModifiedBy>Atul Kahate</cp:lastModifiedBy>
  <cp:revision>1</cp:revision>
  <dcterms:created xsi:type="dcterms:W3CDTF">2023-01-19T11:14:20Z</dcterms:created>
  <dcterms:modified xsi:type="dcterms:W3CDTF">2023-01-19T11:14:47Z</dcterms:modified>
</cp:coreProperties>
</file>