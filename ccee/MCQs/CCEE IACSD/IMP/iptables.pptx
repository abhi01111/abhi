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6" r:id="rId2"/>
    <p:sldId id="307" r:id="rId3"/>
    <p:sldId id="308" r:id="rId4"/>
    <p:sldId id="309" r:id="rId5"/>
    <p:sldId id="310" r:id="rId6"/>
    <p:sldId id="312" r:id="rId7"/>
    <p:sldId id="313" r:id="rId8"/>
    <p:sldId id="311" r:id="rId9"/>
    <p:sldId id="314" r:id="rId10"/>
    <p:sldId id="315" r:id="rId11"/>
    <p:sldId id="316" r:id="rId12"/>
    <p:sldId id="317" r:id="rId13"/>
    <p:sldId id="318" r:id="rId14"/>
    <p:sldId id="319" r:id="rId15"/>
    <p:sldId id="320" r:id="rId16"/>
    <p:sldId id="321" r:id="rId17"/>
    <p:sldId id="322" r:id="rId18"/>
    <p:sldId id="348" r:id="rId19"/>
    <p:sldId id="323" r:id="rId20"/>
    <p:sldId id="324" r:id="rId21"/>
    <p:sldId id="325" r:id="rId22"/>
    <p:sldId id="326" r:id="rId23"/>
    <p:sldId id="327" r:id="rId24"/>
    <p:sldId id="328" r:id="rId25"/>
    <p:sldId id="329" r:id="rId26"/>
    <p:sldId id="330" r:id="rId27"/>
    <p:sldId id="331" r:id="rId28"/>
    <p:sldId id="332" r:id="rId29"/>
    <p:sldId id="333" r:id="rId30"/>
    <p:sldId id="334" r:id="rId31"/>
    <p:sldId id="335" r:id="rId32"/>
    <p:sldId id="336" r:id="rId33"/>
    <p:sldId id="337" r:id="rId34"/>
    <p:sldId id="338" r:id="rId35"/>
    <p:sldId id="33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2" d="100"/>
          <a:sy n="62" d="100"/>
        </p:scale>
        <p:origin x="82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233D4-609B-46F7-0F8C-48F15C3338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4B6E36B-8F6A-6037-E524-44CA7248C1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ABFA8B-78AA-16DE-78B6-B4556B217751}"/>
              </a:ext>
            </a:extLst>
          </p:cNvPr>
          <p:cNvSpPr>
            <a:spLocks noGrp="1"/>
          </p:cNvSpPr>
          <p:nvPr>
            <p:ph type="dt" sz="half" idx="10"/>
          </p:nvPr>
        </p:nvSpPr>
        <p:spPr/>
        <p:txBody>
          <a:bodyPr/>
          <a:lstStyle/>
          <a:p>
            <a:fld id="{539E3CBC-5AC9-49E2-B38A-F94CE9CBD8C6}" type="datetimeFigureOut">
              <a:rPr lang="en-IN" smtClean="0"/>
              <a:t>18-01-2023</a:t>
            </a:fld>
            <a:endParaRPr lang="en-IN"/>
          </a:p>
        </p:txBody>
      </p:sp>
      <p:sp>
        <p:nvSpPr>
          <p:cNvPr id="5" name="Footer Placeholder 4">
            <a:extLst>
              <a:ext uri="{FF2B5EF4-FFF2-40B4-BE49-F238E27FC236}">
                <a16:creationId xmlns:a16="http://schemas.microsoft.com/office/drawing/2014/main" id="{039C0FD6-C8C9-87D6-4943-9266A09D6E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ADE500-0D89-DC8F-F56D-17E871BFC229}"/>
              </a:ext>
            </a:extLst>
          </p:cNvPr>
          <p:cNvSpPr>
            <a:spLocks noGrp="1"/>
          </p:cNvSpPr>
          <p:nvPr>
            <p:ph type="sldNum" sz="quarter" idx="12"/>
          </p:nvPr>
        </p:nvSpPr>
        <p:spPr/>
        <p:txBody>
          <a:bodyPr/>
          <a:lstStyle/>
          <a:p>
            <a:fld id="{FC9EECB3-DBFB-48F9-8E33-C1FC2D504E17}" type="slidenum">
              <a:rPr lang="en-IN" smtClean="0"/>
              <a:t>‹#›</a:t>
            </a:fld>
            <a:endParaRPr lang="en-IN"/>
          </a:p>
        </p:txBody>
      </p:sp>
    </p:spTree>
    <p:extLst>
      <p:ext uri="{BB962C8B-B14F-4D97-AF65-F5344CB8AC3E}">
        <p14:creationId xmlns:p14="http://schemas.microsoft.com/office/powerpoint/2010/main" val="517748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38B4A-F96D-744D-B22D-109F374DCB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716633C-E2D0-3512-FC5E-FD969CCB6A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1D5F74-94E6-7953-DDFB-7F39E1483915}"/>
              </a:ext>
            </a:extLst>
          </p:cNvPr>
          <p:cNvSpPr>
            <a:spLocks noGrp="1"/>
          </p:cNvSpPr>
          <p:nvPr>
            <p:ph type="dt" sz="half" idx="10"/>
          </p:nvPr>
        </p:nvSpPr>
        <p:spPr/>
        <p:txBody>
          <a:bodyPr/>
          <a:lstStyle/>
          <a:p>
            <a:fld id="{539E3CBC-5AC9-49E2-B38A-F94CE9CBD8C6}" type="datetimeFigureOut">
              <a:rPr lang="en-IN" smtClean="0"/>
              <a:t>18-01-2023</a:t>
            </a:fld>
            <a:endParaRPr lang="en-IN"/>
          </a:p>
        </p:txBody>
      </p:sp>
      <p:sp>
        <p:nvSpPr>
          <p:cNvPr id="5" name="Footer Placeholder 4">
            <a:extLst>
              <a:ext uri="{FF2B5EF4-FFF2-40B4-BE49-F238E27FC236}">
                <a16:creationId xmlns:a16="http://schemas.microsoft.com/office/drawing/2014/main" id="{34C60A9A-E4F3-653E-7A3E-8E9DE5F460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88EBEF-BE79-9B3C-FF86-225C924C7832}"/>
              </a:ext>
            </a:extLst>
          </p:cNvPr>
          <p:cNvSpPr>
            <a:spLocks noGrp="1"/>
          </p:cNvSpPr>
          <p:nvPr>
            <p:ph type="sldNum" sz="quarter" idx="12"/>
          </p:nvPr>
        </p:nvSpPr>
        <p:spPr/>
        <p:txBody>
          <a:bodyPr/>
          <a:lstStyle/>
          <a:p>
            <a:fld id="{FC9EECB3-DBFB-48F9-8E33-C1FC2D504E17}" type="slidenum">
              <a:rPr lang="en-IN" smtClean="0"/>
              <a:t>‹#›</a:t>
            </a:fld>
            <a:endParaRPr lang="en-IN"/>
          </a:p>
        </p:txBody>
      </p:sp>
    </p:spTree>
    <p:extLst>
      <p:ext uri="{BB962C8B-B14F-4D97-AF65-F5344CB8AC3E}">
        <p14:creationId xmlns:p14="http://schemas.microsoft.com/office/powerpoint/2010/main" val="2087321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85DBC-C9DB-FCC2-3E8D-88C035EF33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62FE5C7-7617-71A6-994B-F99B3A38E2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E0AD4C-2453-E9E6-EBF8-7506E34D15FB}"/>
              </a:ext>
            </a:extLst>
          </p:cNvPr>
          <p:cNvSpPr>
            <a:spLocks noGrp="1"/>
          </p:cNvSpPr>
          <p:nvPr>
            <p:ph type="dt" sz="half" idx="10"/>
          </p:nvPr>
        </p:nvSpPr>
        <p:spPr/>
        <p:txBody>
          <a:bodyPr/>
          <a:lstStyle/>
          <a:p>
            <a:fld id="{539E3CBC-5AC9-49E2-B38A-F94CE9CBD8C6}" type="datetimeFigureOut">
              <a:rPr lang="en-IN" smtClean="0"/>
              <a:t>18-01-2023</a:t>
            </a:fld>
            <a:endParaRPr lang="en-IN"/>
          </a:p>
        </p:txBody>
      </p:sp>
      <p:sp>
        <p:nvSpPr>
          <p:cNvPr id="5" name="Footer Placeholder 4">
            <a:extLst>
              <a:ext uri="{FF2B5EF4-FFF2-40B4-BE49-F238E27FC236}">
                <a16:creationId xmlns:a16="http://schemas.microsoft.com/office/drawing/2014/main" id="{353D349E-57F7-CE25-F04D-3B693F887C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8CF0A4-E874-D14E-FB8B-3A54C40F5C29}"/>
              </a:ext>
            </a:extLst>
          </p:cNvPr>
          <p:cNvSpPr>
            <a:spLocks noGrp="1"/>
          </p:cNvSpPr>
          <p:nvPr>
            <p:ph type="sldNum" sz="quarter" idx="12"/>
          </p:nvPr>
        </p:nvSpPr>
        <p:spPr/>
        <p:txBody>
          <a:bodyPr/>
          <a:lstStyle/>
          <a:p>
            <a:fld id="{FC9EECB3-DBFB-48F9-8E33-C1FC2D504E17}" type="slidenum">
              <a:rPr lang="en-IN" smtClean="0"/>
              <a:t>‹#›</a:t>
            </a:fld>
            <a:endParaRPr lang="en-IN"/>
          </a:p>
        </p:txBody>
      </p:sp>
    </p:spTree>
    <p:extLst>
      <p:ext uri="{BB962C8B-B14F-4D97-AF65-F5344CB8AC3E}">
        <p14:creationId xmlns:p14="http://schemas.microsoft.com/office/powerpoint/2010/main" val="2552680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24F05-EC3F-5DB7-4A11-C12C7BC88C1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0ED737-6B22-3EA2-52C2-6B653D6DA2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13EE23D-0A10-2208-04E2-2455D6D449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771273-A53A-6897-A960-9AB643269C69}"/>
              </a:ext>
            </a:extLst>
          </p:cNvPr>
          <p:cNvSpPr>
            <a:spLocks noGrp="1"/>
          </p:cNvSpPr>
          <p:nvPr>
            <p:ph type="dt" sz="half" idx="10"/>
          </p:nvPr>
        </p:nvSpPr>
        <p:spPr/>
        <p:txBody>
          <a:bodyPr/>
          <a:lstStyle/>
          <a:p>
            <a:fld id="{539E3CBC-5AC9-49E2-B38A-F94CE9CBD8C6}" type="datetimeFigureOut">
              <a:rPr lang="en-IN" smtClean="0"/>
              <a:t>18-01-2023</a:t>
            </a:fld>
            <a:endParaRPr lang="en-IN"/>
          </a:p>
        </p:txBody>
      </p:sp>
      <p:sp>
        <p:nvSpPr>
          <p:cNvPr id="6" name="Footer Placeholder 5">
            <a:extLst>
              <a:ext uri="{FF2B5EF4-FFF2-40B4-BE49-F238E27FC236}">
                <a16:creationId xmlns:a16="http://schemas.microsoft.com/office/drawing/2014/main" id="{509B5C4B-3A79-5170-65F5-4ECBDCAA8F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8BF410-CD88-8431-E76D-B355A4A3D525}"/>
              </a:ext>
            </a:extLst>
          </p:cNvPr>
          <p:cNvSpPr>
            <a:spLocks noGrp="1"/>
          </p:cNvSpPr>
          <p:nvPr>
            <p:ph type="sldNum" sz="quarter" idx="12"/>
          </p:nvPr>
        </p:nvSpPr>
        <p:spPr/>
        <p:txBody>
          <a:bodyPr/>
          <a:lstStyle/>
          <a:p>
            <a:fld id="{FC9EECB3-DBFB-48F9-8E33-C1FC2D504E17}" type="slidenum">
              <a:rPr lang="en-IN" smtClean="0"/>
              <a:t>‹#›</a:t>
            </a:fld>
            <a:endParaRPr lang="en-IN"/>
          </a:p>
        </p:txBody>
      </p:sp>
    </p:spTree>
    <p:extLst>
      <p:ext uri="{BB962C8B-B14F-4D97-AF65-F5344CB8AC3E}">
        <p14:creationId xmlns:p14="http://schemas.microsoft.com/office/powerpoint/2010/main" val="2535491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90F83-CA15-B0C7-6BC7-F2C7132CD4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239F59-51C0-F9D3-0E33-78DFD71572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F89FA6-1186-61FC-7581-F39638BC08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7613185-8C50-C3AC-7B9F-29E9B22DAE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DD5BA1-5FED-3AC7-F267-14EF4501B4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B140FB4-4E0B-FB9D-62C3-61F694AF7DDC}"/>
              </a:ext>
            </a:extLst>
          </p:cNvPr>
          <p:cNvSpPr>
            <a:spLocks noGrp="1"/>
          </p:cNvSpPr>
          <p:nvPr>
            <p:ph type="dt" sz="half" idx="10"/>
          </p:nvPr>
        </p:nvSpPr>
        <p:spPr/>
        <p:txBody>
          <a:bodyPr/>
          <a:lstStyle/>
          <a:p>
            <a:fld id="{539E3CBC-5AC9-49E2-B38A-F94CE9CBD8C6}" type="datetimeFigureOut">
              <a:rPr lang="en-IN" smtClean="0"/>
              <a:t>18-01-2023</a:t>
            </a:fld>
            <a:endParaRPr lang="en-IN"/>
          </a:p>
        </p:txBody>
      </p:sp>
      <p:sp>
        <p:nvSpPr>
          <p:cNvPr id="8" name="Footer Placeholder 7">
            <a:extLst>
              <a:ext uri="{FF2B5EF4-FFF2-40B4-BE49-F238E27FC236}">
                <a16:creationId xmlns:a16="http://schemas.microsoft.com/office/drawing/2014/main" id="{752807B0-BBD5-A18C-C649-DE7578157F3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8878D2E-42D0-782C-BEA0-69689AC01C66}"/>
              </a:ext>
            </a:extLst>
          </p:cNvPr>
          <p:cNvSpPr>
            <a:spLocks noGrp="1"/>
          </p:cNvSpPr>
          <p:nvPr>
            <p:ph type="sldNum" sz="quarter" idx="12"/>
          </p:nvPr>
        </p:nvSpPr>
        <p:spPr/>
        <p:txBody>
          <a:bodyPr/>
          <a:lstStyle/>
          <a:p>
            <a:fld id="{FC9EECB3-DBFB-48F9-8E33-C1FC2D504E17}" type="slidenum">
              <a:rPr lang="en-IN" smtClean="0"/>
              <a:t>‹#›</a:t>
            </a:fld>
            <a:endParaRPr lang="en-IN"/>
          </a:p>
        </p:txBody>
      </p:sp>
    </p:spTree>
    <p:extLst>
      <p:ext uri="{BB962C8B-B14F-4D97-AF65-F5344CB8AC3E}">
        <p14:creationId xmlns:p14="http://schemas.microsoft.com/office/powerpoint/2010/main" val="787613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4A97C-453C-F0EE-D4F2-C3938B9DF54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A53A744-2090-902B-C9DA-8E1BA00489C5}"/>
              </a:ext>
            </a:extLst>
          </p:cNvPr>
          <p:cNvSpPr>
            <a:spLocks noGrp="1"/>
          </p:cNvSpPr>
          <p:nvPr>
            <p:ph type="dt" sz="half" idx="10"/>
          </p:nvPr>
        </p:nvSpPr>
        <p:spPr/>
        <p:txBody>
          <a:bodyPr/>
          <a:lstStyle/>
          <a:p>
            <a:fld id="{539E3CBC-5AC9-49E2-B38A-F94CE9CBD8C6}" type="datetimeFigureOut">
              <a:rPr lang="en-IN" smtClean="0"/>
              <a:t>18-01-2023</a:t>
            </a:fld>
            <a:endParaRPr lang="en-IN"/>
          </a:p>
        </p:txBody>
      </p:sp>
      <p:sp>
        <p:nvSpPr>
          <p:cNvPr id="4" name="Footer Placeholder 3">
            <a:extLst>
              <a:ext uri="{FF2B5EF4-FFF2-40B4-BE49-F238E27FC236}">
                <a16:creationId xmlns:a16="http://schemas.microsoft.com/office/drawing/2014/main" id="{A4FA9864-1B42-5E8B-EB91-B9806211C9C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C7D053B-4BE5-99B1-B9A0-AAFF96BDE2BF}"/>
              </a:ext>
            </a:extLst>
          </p:cNvPr>
          <p:cNvSpPr>
            <a:spLocks noGrp="1"/>
          </p:cNvSpPr>
          <p:nvPr>
            <p:ph type="sldNum" sz="quarter" idx="12"/>
          </p:nvPr>
        </p:nvSpPr>
        <p:spPr/>
        <p:txBody>
          <a:bodyPr/>
          <a:lstStyle/>
          <a:p>
            <a:fld id="{FC9EECB3-DBFB-48F9-8E33-C1FC2D504E17}" type="slidenum">
              <a:rPr lang="en-IN" smtClean="0"/>
              <a:t>‹#›</a:t>
            </a:fld>
            <a:endParaRPr lang="en-IN"/>
          </a:p>
        </p:txBody>
      </p:sp>
    </p:spTree>
    <p:extLst>
      <p:ext uri="{BB962C8B-B14F-4D97-AF65-F5344CB8AC3E}">
        <p14:creationId xmlns:p14="http://schemas.microsoft.com/office/powerpoint/2010/main" val="3800625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3D9F28-C6EC-0ED0-2CDB-937EDD78233E}"/>
              </a:ext>
            </a:extLst>
          </p:cNvPr>
          <p:cNvSpPr>
            <a:spLocks noGrp="1"/>
          </p:cNvSpPr>
          <p:nvPr>
            <p:ph type="dt" sz="half" idx="10"/>
          </p:nvPr>
        </p:nvSpPr>
        <p:spPr/>
        <p:txBody>
          <a:bodyPr/>
          <a:lstStyle/>
          <a:p>
            <a:fld id="{539E3CBC-5AC9-49E2-B38A-F94CE9CBD8C6}" type="datetimeFigureOut">
              <a:rPr lang="en-IN" smtClean="0"/>
              <a:t>18-01-2023</a:t>
            </a:fld>
            <a:endParaRPr lang="en-IN"/>
          </a:p>
        </p:txBody>
      </p:sp>
      <p:sp>
        <p:nvSpPr>
          <p:cNvPr id="3" name="Footer Placeholder 2">
            <a:extLst>
              <a:ext uri="{FF2B5EF4-FFF2-40B4-BE49-F238E27FC236}">
                <a16:creationId xmlns:a16="http://schemas.microsoft.com/office/drawing/2014/main" id="{A9108B3A-1685-D9B3-2FC4-D751DE05A52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3852343-931F-A3E8-FA9A-9CDD153A2ADE}"/>
              </a:ext>
            </a:extLst>
          </p:cNvPr>
          <p:cNvSpPr>
            <a:spLocks noGrp="1"/>
          </p:cNvSpPr>
          <p:nvPr>
            <p:ph type="sldNum" sz="quarter" idx="12"/>
          </p:nvPr>
        </p:nvSpPr>
        <p:spPr/>
        <p:txBody>
          <a:bodyPr/>
          <a:lstStyle/>
          <a:p>
            <a:fld id="{FC9EECB3-DBFB-48F9-8E33-C1FC2D504E17}" type="slidenum">
              <a:rPr lang="en-IN" smtClean="0"/>
              <a:t>‹#›</a:t>
            </a:fld>
            <a:endParaRPr lang="en-IN"/>
          </a:p>
        </p:txBody>
      </p:sp>
    </p:spTree>
    <p:extLst>
      <p:ext uri="{BB962C8B-B14F-4D97-AF65-F5344CB8AC3E}">
        <p14:creationId xmlns:p14="http://schemas.microsoft.com/office/powerpoint/2010/main" val="678102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73F69-8113-08B5-4D30-5E79513506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3525993-6FE6-7ECB-426B-EC78D1E0EB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C72B8D9-71C1-54B9-337F-ACCAB5E5CB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713270-A6B4-512E-4531-74BA7AB19473}"/>
              </a:ext>
            </a:extLst>
          </p:cNvPr>
          <p:cNvSpPr>
            <a:spLocks noGrp="1"/>
          </p:cNvSpPr>
          <p:nvPr>
            <p:ph type="dt" sz="half" idx="10"/>
          </p:nvPr>
        </p:nvSpPr>
        <p:spPr/>
        <p:txBody>
          <a:bodyPr/>
          <a:lstStyle/>
          <a:p>
            <a:fld id="{539E3CBC-5AC9-49E2-B38A-F94CE9CBD8C6}" type="datetimeFigureOut">
              <a:rPr lang="en-IN" smtClean="0"/>
              <a:t>18-01-2023</a:t>
            </a:fld>
            <a:endParaRPr lang="en-IN"/>
          </a:p>
        </p:txBody>
      </p:sp>
      <p:sp>
        <p:nvSpPr>
          <p:cNvPr id="6" name="Footer Placeholder 5">
            <a:extLst>
              <a:ext uri="{FF2B5EF4-FFF2-40B4-BE49-F238E27FC236}">
                <a16:creationId xmlns:a16="http://schemas.microsoft.com/office/drawing/2014/main" id="{0699200B-08EB-850C-9F92-ADE7D4E580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A13AD1C-1FCC-783E-0CD1-C51D37B06303}"/>
              </a:ext>
            </a:extLst>
          </p:cNvPr>
          <p:cNvSpPr>
            <a:spLocks noGrp="1"/>
          </p:cNvSpPr>
          <p:nvPr>
            <p:ph type="sldNum" sz="quarter" idx="12"/>
          </p:nvPr>
        </p:nvSpPr>
        <p:spPr/>
        <p:txBody>
          <a:bodyPr/>
          <a:lstStyle/>
          <a:p>
            <a:fld id="{FC9EECB3-DBFB-48F9-8E33-C1FC2D504E17}" type="slidenum">
              <a:rPr lang="en-IN" smtClean="0"/>
              <a:t>‹#›</a:t>
            </a:fld>
            <a:endParaRPr lang="en-IN"/>
          </a:p>
        </p:txBody>
      </p:sp>
    </p:spTree>
    <p:extLst>
      <p:ext uri="{BB962C8B-B14F-4D97-AF65-F5344CB8AC3E}">
        <p14:creationId xmlns:p14="http://schemas.microsoft.com/office/powerpoint/2010/main" val="4269817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D709A-0CF9-A647-10B0-3FF9CD2D68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5CAB7FF-7A17-8AC8-7AAA-46B5E4C6DA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176FF25-656B-2884-DF96-04C7E1F95D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36AFDF-F76D-8D3C-E2B4-153D451A00BA}"/>
              </a:ext>
            </a:extLst>
          </p:cNvPr>
          <p:cNvSpPr>
            <a:spLocks noGrp="1"/>
          </p:cNvSpPr>
          <p:nvPr>
            <p:ph type="dt" sz="half" idx="10"/>
          </p:nvPr>
        </p:nvSpPr>
        <p:spPr/>
        <p:txBody>
          <a:bodyPr/>
          <a:lstStyle/>
          <a:p>
            <a:fld id="{539E3CBC-5AC9-49E2-B38A-F94CE9CBD8C6}" type="datetimeFigureOut">
              <a:rPr lang="en-IN" smtClean="0"/>
              <a:t>18-01-2023</a:t>
            </a:fld>
            <a:endParaRPr lang="en-IN"/>
          </a:p>
        </p:txBody>
      </p:sp>
      <p:sp>
        <p:nvSpPr>
          <p:cNvPr id="6" name="Footer Placeholder 5">
            <a:extLst>
              <a:ext uri="{FF2B5EF4-FFF2-40B4-BE49-F238E27FC236}">
                <a16:creationId xmlns:a16="http://schemas.microsoft.com/office/drawing/2014/main" id="{F2E4E6AA-287A-36DC-F90C-6C86E310C7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0C3C3B-E13D-2B3F-6263-67D5F9909A30}"/>
              </a:ext>
            </a:extLst>
          </p:cNvPr>
          <p:cNvSpPr>
            <a:spLocks noGrp="1"/>
          </p:cNvSpPr>
          <p:nvPr>
            <p:ph type="sldNum" sz="quarter" idx="12"/>
          </p:nvPr>
        </p:nvSpPr>
        <p:spPr/>
        <p:txBody>
          <a:bodyPr/>
          <a:lstStyle/>
          <a:p>
            <a:fld id="{FC9EECB3-DBFB-48F9-8E33-C1FC2D504E17}" type="slidenum">
              <a:rPr lang="en-IN" smtClean="0"/>
              <a:t>‹#›</a:t>
            </a:fld>
            <a:endParaRPr lang="en-IN"/>
          </a:p>
        </p:txBody>
      </p:sp>
    </p:spTree>
    <p:extLst>
      <p:ext uri="{BB962C8B-B14F-4D97-AF65-F5344CB8AC3E}">
        <p14:creationId xmlns:p14="http://schemas.microsoft.com/office/powerpoint/2010/main" val="2128622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7D51C-171D-1BFD-5B90-9BCA7482D7E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3D9CE6B-4FAE-BD49-8FA3-613E1B8ABB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40F98B-7234-F0F7-B43E-D54566F142BF}"/>
              </a:ext>
            </a:extLst>
          </p:cNvPr>
          <p:cNvSpPr>
            <a:spLocks noGrp="1"/>
          </p:cNvSpPr>
          <p:nvPr>
            <p:ph type="dt" sz="half" idx="10"/>
          </p:nvPr>
        </p:nvSpPr>
        <p:spPr/>
        <p:txBody>
          <a:bodyPr/>
          <a:lstStyle/>
          <a:p>
            <a:fld id="{539E3CBC-5AC9-49E2-B38A-F94CE9CBD8C6}" type="datetimeFigureOut">
              <a:rPr lang="en-IN" smtClean="0"/>
              <a:t>18-01-2023</a:t>
            </a:fld>
            <a:endParaRPr lang="en-IN"/>
          </a:p>
        </p:txBody>
      </p:sp>
      <p:sp>
        <p:nvSpPr>
          <p:cNvPr id="5" name="Footer Placeholder 4">
            <a:extLst>
              <a:ext uri="{FF2B5EF4-FFF2-40B4-BE49-F238E27FC236}">
                <a16:creationId xmlns:a16="http://schemas.microsoft.com/office/drawing/2014/main" id="{1A473CF4-E994-A0E1-6529-6BAF8A5AA0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3083BA-4436-0D87-FE89-28D1E6E74496}"/>
              </a:ext>
            </a:extLst>
          </p:cNvPr>
          <p:cNvSpPr>
            <a:spLocks noGrp="1"/>
          </p:cNvSpPr>
          <p:nvPr>
            <p:ph type="sldNum" sz="quarter" idx="12"/>
          </p:nvPr>
        </p:nvSpPr>
        <p:spPr/>
        <p:txBody>
          <a:bodyPr/>
          <a:lstStyle/>
          <a:p>
            <a:fld id="{FC9EECB3-DBFB-48F9-8E33-C1FC2D504E17}" type="slidenum">
              <a:rPr lang="en-IN" smtClean="0"/>
              <a:t>‹#›</a:t>
            </a:fld>
            <a:endParaRPr lang="en-IN"/>
          </a:p>
        </p:txBody>
      </p:sp>
    </p:spTree>
    <p:extLst>
      <p:ext uri="{BB962C8B-B14F-4D97-AF65-F5344CB8AC3E}">
        <p14:creationId xmlns:p14="http://schemas.microsoft.com/office/powerpoint/2010/main" val="968333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B5BEA5-A1A5-A8A3-1CBF-48E2342929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90F598-D375-A636-486F-A0E5AE230D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0D2528-CFCF-695F-21F6-C82603A7D1F4}"/>
              </a:ext>
            </a:extLst>
          </p:cNvPr>
          <p:cNvSpPr>
            <a:spLocks noGrp="1"/>
          </p:cNvSpPr>
          <p:nvPr>
            <p:ph type="dt" sz="half" idx="10"/>
          </p:nvPr>
        </p:nvSpPr>
        <p:spPr/>
        <p:txBody>
          <a:bodyPr/>
          <a:lstStyle/>
          <a:p>
            <a:fld id="{539E3CBC-5AC9-49E2-B38A-F94CE9CBD8C6}" type="datetimeFigureOut">
              <a:rPr lang="en-IN" smtClean="0"/>
              <a:t>18-01-2023</a:t>
            </a:fld>
            <a:endParaRPr lang="en-IN"/>
          </a:p>
        </p:txBody>
      </p:sp>
      <p:sp>
        <p:nvSpPr>
          <p:cNvPr id="5" name="Footer Placeholder 4">
            <a:extLst>
              <a:ext uri="{FF2B5EF4-FFF2-40B4-BE49-F238E27FC236}">
                <a16:creationId xmlns:a16="http://schemas.microsoft.com/office/drawing/2014/main" id="{C751AB41-5CEE-FE40-AAFD-0B71ACF409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AFB23E-C45B-CD61-96B3-52FFFE5DB4D4}"/>
              </a:ext>
            </a:extLst>
          </p:cNvPr>
          <p:cNvSpPr>
            <a:spLocks noGrp="1"/>
          </p:cNvSpPr>
          <p:nvPr>
            <p:ph type="sldNum" sz="quarter" idx="12"/>
          </p:nvPr>
        </p:nvSpPr>
        <p:spPr/>
        <p:txBody>
          <a:bodyPr/>
          <a:lstStyle/>
          <a:p>
            <a:fld id="{FC9EECB3-DBFB-48F9-8E33-C1FC2D504E17}" type="slidenum">
              <a:rPr lang="en-IN" smtClean="0"/>
              <a:t>‹#›</a:t>
            </a:fld>
            <a:endParaRPr lang="en-IN"/>
          </a:p>
        </p:txBody>
      </p:sp>
    </p:spTree>
    <p:extLst>
      <p:ext uri="{BB962C8B-B14F-4D97-AF65-F5344CB8AC3E}">
        <p14:creationId xmlns:p14="http://schemas.microsoft.com/office/powerpoint/2010/main" val="3910289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7B7D98-0511-1EA7-F565-B81824AB96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985241C-56C8-B37A-484A-D396890F4D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8BE771-22AF-8000-E038-78D624D211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9E3CBC-5AC9-49E2-B38A-F94CE9CBD8C6}" type="datetimeFigureOut">
              <a:rPr lang="en-IN" smtClean="0"/>
              <a:t>18-01-2023</a:t>
            </a:fld>
            <a:endParaRPr lang="en-IN"/>
          </a:p>
        </p:txBody>
      </p:sp>
      <p:sp>
        <p:nvSpPr>
          <p:cNvPr id="5" name="Footer Placeholder 4">
            <a:extLst>
              <a:ext uri="{FF2B5EF4-FFF2-40B4-BE49-F238E27FC236}">
                <a16:creationId xmlns:a16="http://schemas.microsoft.com/office/drawing/2014/main" id="{4E623CF2-0D4A-54B4-765B-788A805F51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7F537D9-338F-3617-06CB-5D5F1BAC4B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9EECB3-DBFB-48F9-8E33-C1FC2D504E17}" type="slidenum">
              <a:rPr lang="en-IN" smtClean="0"/>
              <a:t>‹#›</a:t>
            </a:fld>
            <a:endParaRPr lang="en-IN"/>
          </a:p>
        </p:txBody>
      </p:sp>
    </p:spTree>
    <p:extLst>
      <p:ext uri="{BB962C8B-B14F-4D97-AF65-F5344CB8AC3E}">
        <p14:creationId xmlns:p14="http://schemas.microsoft.com/office/powerpoint/2010/main" val="39868675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hyperlink" Target="https://www.netfilter.or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www.ubuntu.com/"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25CAE-A974-442B-C3A4-271516CC46F0}"/>
              </a:ext>
            </a:extLst>
          </p:cNvPr>
          <p:cNvSpPr>
            <a:spLocks noGrp="1"/>
          </p:cNvSpPr>
          <p:nvPr>
            <p:ph type="title"/>
          </p:nvPr>
        </p:nvSpPr>
        <p:spPr/>
        <p:txBody>
          <a:bodyPr/>
          <a:lstStyle/>
          <a:p>
            <a:r>
              <a:rPr lang="en-IN" dirty="0"/>
              <a:t>iptables</a:t>
            </a:r>
          </a:p>
        </p:txBody>
      </p:sp>
      <p:sp>
        <p:nvSpPr>
          <p:cNvPr id="5" name="Text Placeholder 4">
            <a:extLst>
              <a:ext uri="{FF2B5EF4-FFF2-40B4-BE49-F238E27FC236}">
                <a16:creationId xmlns:a16="http://schemas.microsoft.com/office/drawing/2014/main" id="{C78F179A-0A57-3385-EE69-5D89C46524DF}"/>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064989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F592A-49F6-6FDD-F66A-5F9512CF22DF}"/>
              </a:ext>
            </a:extLst>
          </p:cNvPr>
          <p:cNvSpPr>
            <a:spLocks noGrp="1"/>
          </p:cNvSpPr>
          <p:nvPr>
            <p:ph type="title"/>
          </p:nvPr>
        </p:nvSpPr>
        <p:spPr/>
        <p:txBody>
          <a:bodyPr/>
          <a:lstStyle/>
          <a:p>
            <a:r>
              <a:rPr lang="en-IN" dirty="0"/>
              <a:t>iptables</a:t>
            </a:r>
          </a:p>
        </p:txBody>
      </p:sp>
      <p:sp>
        <p:nvSpPr>
          <p:cNvPr id="3" name="Content Placeholder 2">
            <a:extLst>
              <a:ext uri="{FF2B5EF4-FFF2-40B4-BE49-F238E27FC236}">
                <a16:creationId xmlns:a16="http://schemas.microsoft.com/office/drawing/2014/main" id="{99F39336-CC82-1CAB-C7A7-00E2BABC353B}"/>
              </a:ext>
            </a:extLst>
          </p:cNvPr>
          <p:cNvSpPr>
            <a:spLocks noGrp="1"/>
          </p:cNvSpPr>
          <p:nvPr>
            <p:ph idx="1"/>
          </p:nvPr>
        </p:nvSpPr>
        <p:spPr/>
        <p:txBody>
          <a:bodyPr>
            <a:normAutofit fontScale="77500" lnSpcReduction="20000"/>
          </a:bodyPr>
          <a:lstStyle/>
          <a:p>
            <a:r>
              <a:rPr lang="en-IN" dirty="0"/>
              <a:t>The firewall solution in Linux is </a:t>
            </a:r>
            <a:r>
              <a:rPr lang="en-IN" dirty="0" err="1"/>
              <a:t>netfilter</a:t>
            </a:r>
            <a:r>
              <a:rPr lang="en-IN" dirty="0"/>
              <a:t> (</a:t>
            </a:r>
            <a:r>
              <a:rPr lang="en-IN" dirty="0">
                <a:hlinkClick r:id="rId2"/>
              </a:rPr>
              <a:t>https://www.netfilter.org/</a:t>
            </a:r>
            <a:r>
              <a:rPr lang="en-IN" dirty="0"/>
              <a:t>).</a:t>
            </a:r>
          </a:p>
          <a:p>
            <a:r>
              <a:rPr lang="en-IN" dirty="0"/>
              <a:t>It is a packet filter inside Linux kernel.</a:t>
            </a:r>
          </a:p>
          <a:p>
            <a:r>
              <a:rPr lang="en-IN" dirty="0"/>
              <a:t>Enables</a:t>
            </a:r>
          </a:p>
          <a:p>
            <a:pPr lvl="1"/>
            <a:r>
              <a:rPr lang="en-IN" dirty="0"/>
              <a:t>Packet filtering</a:t>
            </a:r>
          </a:p>
          <a:p>
            <a:pPr lvl="1"/>
            <a:r>
              <a:rPr lang="en-IN" dirty="0"/>
              <a:t>NAT/PAT (Port)</a:t>
            </a:r>
          </a:p>
          <a:p>
            <a:pPr lvl="1"/>
            <a:r>
              <a:rPr lang="en-IN" dirty="0"/>
              <a:t>Packet logging</a:t>
            </a:r>
          </a:p>
          <a:p>
            <a:pPr lvl="1"/>
            <a:r>
              <a:rPr lang="en-IN" dirty="0"/>
              <a:t>etc</a:t>
            </a:r>
          </a:p>
          <a:p>
            <a:r>
              <a:rPr lang="en-US" dirty="0"/>
              <a:t>The </a:t>
            </a:r>
            <a:r>
              <a:rPr lang="en-US" dirty="0" err="1"/>
              <a:t>netfilter</a:t>
            </a:r>
            <a:r>
              <a:rPr lang="en-US" dirty="0"/>
              <a:t> project is controlled by </a:t>
            </a:r>
            <a:r>
              <a:rPr lang="en-US" b="1" dirty="0"/>
              <a:t>iptables</a:t>
            </a:r>
            <a:r>
              <a:rPr lang="en-US" dirty="0"/>
              <a:t> and its successor </a:t>
            </a:r>
            <a:r>
              <a:rPr lang="en-US" b="1" dirty="0" err="1"/>
              <a:t>nftables</a:t>
            </a:r>
            <a:r>
              <a:rPr lang="en-US" dirty="0"/>
              <a:t>.</a:t>
            </a:r>
          </a:p>
          <a:p>
            <a:r>
              <a:rPr lang="en-US" dirty="0"/>
              <a:t>iptables is a generic firewall software that allows you to define rulesets. Each rule within an IP table consists of a number of classifiers (iptables matches) and one connected action (iptables target).</a:t>
            </a:r>
          </a:p>
          <a:p>
            <a:r>
              <a:rPr lang="en-US" dirty="0" err="1"/>
              <a:t>nftables</a:t>
            </a:r>
            <a:r>
              <a:rPr lang="en-US" dirty="0"/>
              <a:t> is the successor of iptables, it allows for much more flexible, scalable and performance packet classification. This is where all the fancy new features are developed.</a:t>
            </a:r>
            <a:endParaRPr lang="en-IN" dirty="0"/>
          </a:p>
        </p:txBody>
      </p:sp>
      <p:sp>
        <p:nvSpPr>
          <p:cNvPr id="4" name="Callout: Line with Border and Accent Bar 3">
            <a:extLst>
              <a:ext uri="{FF2B5EF4-FFF2-40B4-BE49-F238E27FC236}">
                <a16:creationId xmlns:a16="http://schemas.microsoft.com/office/drawing/2014/main" id="{D50F68ED-062E-348C-7CB1-33C62B2F6144}"/>
              </a:ext>
            </a:extLst>
          </p:cNvPr>
          <p:cNvSpPr/>
          <p:nvPr/>
        </p:nvSpPr>
        <p:spPr>
          <a:xfrm>
            <a:off x="6096000" y="2321959"/>
            <a:ext cx="5359685" cy="1479479"/>
          </a:xfrm>
          <a:prstGeom prst="accentBorderCallout1">
            <a:avLst>
              <a:gd name="adj1" fmla="val 18750"/>
              <a:gd name="adj2" fmla="val -8333"/>
              <a:gd name="adj3" fmla="val 107639"/>
              <a:gd name="adj4" fmla="val -66895"/>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t>Netfilter is an infrastructure; it is the basic API that the Linux 2.4 kernel offers for applications that want to view and manipulate network packets. Iptables is an interface that uses Netfilter to classify and act on packets.</a:t>
            </a:r>
            <a:endParaRPr lang="en-IN"/>
          </a:p>
        </p:txBody>
      </p:sp>
    </p:spTree>
    <p:extLst>
      <p:ext uri="{BB962C8B-B14F-4D97-AF65-F5344CB8AC3E}">
        <p14:creationId xmlns:p14="http://schemas.microsoft.com/office/powerpoint/2010/main" val="1066379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EE649-4EEB-A1FB-F595-F112C94A233F}"/>
              </a:ext>
            </a:extLst>
          </p:cNvPr>
          <p:cNvSpPr>
            <a:spLocks noGrp="1"/>
          </p:cNvSpPr>
          <p:nvPr>
            <p:ph type="title"/>
          </p:nvPr>
        </p:nvSpPr>
        <p:spPr/>
        <p:txBody>
          <a:bodyPr/>
          <a:lstStyle/>
          <a:p>
            <a:r>
              <a:rPr lang="en-IN" dirty="0"/>
              <a:t>More Technical Details</a:t>
            </a:r>
          </a:p>
        </p:txBody>
      </p:sp>
      <p:sp>
        <p:nvSpPr>
          <p:cNvPr id="3" name="Content Placeholder 2">
            <a:extLst>
              <a:ext uri="{FF2B5EF4-FFF2-40B4-BE49-F238E27FC236}">
                <a16:creationId xmlns:a16="http://schemas.microsoft.com/office/drawing/2014/main" id="{0CABED81-EA2D-E3F7-07CF-1347B3260026}"/>
              </a:ext>
            </a:extLst>
          </p:cNvPr>
          <p:cNvSpPr>
            <a:spLocks noGrp="1"/>
          </p:cNvSpPr>
          <p:nvPr>
            <p:ph idx="1"/>
          </p:nvPr>
        </p:nvSpPr>
        <p:spPr/>
        <p:txBody>
          <a:bodyPr/>
          <a:lstStyle/>
          <a:p>
            <a:r>
              <a:rPr lang="en-IN" dirty="0" err="1"/>
              <a:t>netfilter</a:t>
            </a:r>
            <a:r>
              <a:rPr lang="en-IN" dirty="0"/>
              <a:t> belongs to the kernel space and iptables belongs to the user space</a:t>
            </a:r>
          </a:p>
          <a:p>
            <a:r>
              <a:rPr lang="en-IN" dirty="0"/>
              <a:t>Only root user can configure the </a:t>
            </a:r>
            <a:r>
              <a:rPr lang="en-IN" dirty="0" err="1"/>
              <a:t>netfilter</a:t>
            </a:r>
            <a:r>
              <a:rPr lang="en-IN" dirty="0"/>
              <a:t> framework</a:t>
            </a:r>
          </a:p>
          <a:p>
            <a:endParaRPr lang="en-IN" dirty="0"/>
          </a:p>
        </p:txBody>
      </p:sp>
    </p:spTree>
    <p:extLst>
      <p:ext uri="{BB962C8B-B14F-4D97-AF65-F5344CB8AC3E}">
        <p14:creationId xmlns:p14="http://schemas.microsoft.com/office/powerpoint/2010/main" val="801733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8BAD0-7B44-74A1-9AC2-B8720A00EF10}"/>
              </a:ext>
            </a:extLst>
          </p:cNvPr>
          <p:cNvSpPr>
            <a:spLocks noGrp="1"/>
          </p:cNvSpPr>
          <p:nvPr>
            <p:ph type="title"/>
          </p:nvPr>
        </p:nvSpPr>
        <p:spPr/>
        <p:txBody>
          <a:bodyPr/>
          <a:lstStyle/>
          <a:p>
            <a:r>
              <a:rPr lang="en-IN" dirty="0"/>
              <a:t>Chain Traversal</a:t>
            </a:r>
          </a:p>
        </p:txBody>
      </p:sp>
      <p:sp>
        <p:nvSpPr>
          <p:cNvPr id="3" name="Content Placeholder 2">
            <a:extLst>
              <a:ext uri="{FF2B5EF4-FFF2-40B4-BE49-F238E27FC236}">
                <a16:creationId xmlns:a16="http://schemas.microsoft.com/office/drawing/2014/main" id="{7FD05E5B-D7C3-F528-90F2-D6B0B4032FB5}"/>
              </a:ext>
            </a:extLst>
          </p:cNvPr>
          <p:cNvSpPr>
            <a:spLocks noGrp="1"/>
          </p:cNvSpPr>
          <p:nvPr>
            <p:ph idx="1"/>
          </p:nvPr>
        </p:nvSpPr>
        <p:spPr/>
        <p:txBody>
          <a:bodyPr>
            <a:normAutofit fontScale="92500" lnSpcReduction="10000"/>
          </a:bodyPr>
          <a:lstStyle/>
          <a:p>
            <a:r>
              <a:rPr lang="en-IN" dirty="0">
                <a:solidFill>
                  <a:srgbClr val="FF0000"/>
                </a:solidFill>
              </a:rPr>
              <a:t>Incoming traffic</a:t>
            </a:r>
            <a:r>
              <a:rPr lang="en-IN" dirty="0"/>
              <a:t> is filtered on the </a:t>
            </a:r>
            <a:r>
              <a:rPr lang="en-IN" dirty="0">
                <a:solidFill>
                  <a:srgbClr val="0070C0"/>
                </a:solidFill>
              </a:rPr>
              <a:t>input chain </a:t>
            </a:r>
            <a:r>
              <a:rPr lang="en-IN" dirty="0"/>
              <a:t>of the </a:t>
            </a:r>
            <a:r>
              <a:rPr lang="en-IN" dirty="0">
                <a:solidFill>
                  <a:srgbClr val="C00000"/>
                </a:solidFill>
              </a:rPr>
              <a:t>filter table</a:t>
            </a:r>
          </a:p>
          <a:p>
            <a:r>
              <a:rPr lang="en-IN" dirty="0">
                <a:solidFill>
                  <a:srgbClr val="FF0000"/>
                </a:solidFill>
              </a:rPr>
              <a:t>Outgoing traffic</a:t>
            </a:r>
            <a:r>
              <a:rPr lang="en-IN" dirty="0"/>
              <a:t> is filtered on the </a:t>
            </a:r>
            <a:r>
              <a:rPr lang="en-IN" dirty="0">
                <a:solidFill>
                  <a:srgbClr val="0070C0"/>
                </a:solidFill>
              </a:rPr>
              <a:t>output chain </a:t>
            </a:r>
            <a:r>
              <a:rPr lang="en-IN" dirty="0"/>
              <a:t>of the </a:t>
            </a:r>
            <a:r>
              <a:rPr lang="en-IN" dirty="0">
                <a:solidFill>
                  <a:srgbClr val="C00000"/>
                </a:solidFill>
              </a:rPr>
              <a:t>filter table</a:t>
            </a:r>
          </a:p>
          <a:p>
            <a:r>
              <a:rPr lang="en-IN" dirty="0">
                <a:solidFill>
                  <a:srgbClr val="FF0000"/>
                </a:solidFill>
              </a:rPr>
              <a:t>Routed traffic</a:t>
            </a:r>
            <a:r>
              <a:rPr lang="en-IN" dirty="0"/>
              <a:t> is filtered on the </a:t>
            </a:r>
            <a:r>
              <a:rPr lang="en-IN" dirty="0">
                <a:solidFill>
                  <a:srgbClr val="0070C0"/>
                </a:solidFill>
              </a:rPr>
              <a:t>forward chain </a:t>
            </a:r>
            <a:r>
              <a:rPr lang="en-IN" dirty="0"/>
              <a:t>of the </a:t>
            </a:r>
            <a:r>
              <a:rPr lang="en-IN" dirty="0">
                <a:solidFill>
                  <a:srgbClr val="C00000"/>
                </a:solidFill>
              </a:rPr>
              <a:t>filter table</a:t>
            </a:r>
          </a:p>
          <a:p>
            <a:endParaRPr lang="en-IN" dirty="0">
              <a:solidFill>
                <a:srgbClr val="C00000"/>
              </a:solidFill>
            </a:endParaRPr>
          </a:p>
          <a:p>
            <a:r>
              <a:rPr lang="en-IN" dirty="0">
                <a:solidFill>
                  <a:srgbClr val="FF0000"/>
                </a:solidFill>
              </a:rPr>
              <a:t>SNAT/Masquerade</a:t>
            </a:r>
            <a:r>
              <a:rPr lang="en-IN" dirty="0"/>
              <a:t> is filtered on the </a:t>
            </a:r>
            <a:r>
              <a:rPr lang="en-IN" dirty="0" err="1">
                <a:solidFill>
                  <a:srgbClr val="0070C0"/>
                </a:solidFill>
              </a:rPr>
              <a:t>postrouting</a:t>
            </a:r>
            <a:r>
              <a:rPr lang="en-IN" dirty="0">
                <a:solidFill>
                  <a:srgbClr val="0070C0"/>
                </a:solidFill>
              </a:rPr>
              <a:t> chain </a:t>
            </a:r>
            <a:r>
              <a:rPr lang="en-IN" dirty="0"/>
              <a:t>of the </a:t>
            </a:r>
            <a:r>
              <a:rPr lang="en-IN" dirty="0" err="1">
                <a:solidFill>
                  <a:srgbClr val="C00000"/>
                </a:solidFill>
              </a:rPr>
              <a:t>nat</a:t>
            </a:r>
            <a:r>
              <a:rPr lang="en-IN" dirty="0">
                <a:solidFill>
                  <a:srgbClr val="C00000"/>
                </a:solidFill>
              </a:rPr>
              <a:t> table</a:t>
            </a:r>
          </a:p>
          <a:p>
            <a:r>
              <a:rPr lang="en-IN" dirty="0">
                <a:solidFill>
                  <a:srgbClr val="FF0000"/>
                </a:solidFill>
              </a:rPr>
              <a:t>DNAT/Port forwarding </a:t>
            </a:r>
            <a:r>
              <a:rPr lang="en-IN" dirty="0"/>
              <a:t>is filtered on the </a:t>
            </a:r>
            <a:r>
              <a:rPr lang="en-IN" dirty="0" err="1">
                <a:solidFill>
                  <a:srgbClr val="0070C0"/>
                </a:solidFill>
              </a:rPr>
              <a:t>prerouting</a:t>
            </a:r>
            <a:r>
              <a:rPr lang="en-IN" dirty="0">
                <a:solidFill>
                  <a:srgbClr val="0070C0"/>
                </a:solidFill>
              </a:rPr>
              <a:t> chain </a:t>
            </a:r>
            <a:r>
              <a:rPr lang="en-IN" dirty="0"/>
              <a:t>of the </a:t>
            </a:r>
            <a:r>
              <a:rPr lang="en-IN" dirty="0" err="1">
                <a:solidFill>
                  <a:srgbClr val="C00000"/>
                </a:solidFill>
              </a:rPr>
              <a:t>nat</a:t>
            </a:r>
            <a:r>
              <a:rPr lang="en-IN" dirty="0">
                <a:solidFill>
                  <a:srgbClr val="C00000"/>
                </a:solidFill>
              </a:rPr>
              <a:t> table</a:t>
            </a:r>
          </a:p>
          <a:p>
            <a:endParaRPr lang="en-IN" dirty="0">
              <a:solidFill>
                <a:srgbClr val="C00000"/>
              </a:solidFill>
            </a:endParaRPr>
          </a:p>
          <a:p>
            <a:r>
              <a:rPr lang="en-IN" dirty="0"/>
              <a:t>To modify values from the packet’s headers, add rules to the </a:t>
            </a:r>
            <a:r>
              <a:rPr lang="en-IN" dirty="0">
                <a:solidFill>
                  <a:srgbClr val="C00000"/>
                </a:solidFill>
              </a:rPr>
              <a:t>mangle table</a:t>
            </a:r>
          </a:p>
          <a:p>
            <a:r>
              <a:rPr lang="en-IN" dirty="0"/>
              <a:t>To skip the connection tracking, add rules with </a:t>
            </a:r>
            <a:r>
              <a:rPr lang="en-IN" dirty="0">
                <a:solidFill>
                  <a:srgbClr val="0070C0"/>
                </a:solidFill>
              </a:rPr>
              <a:t>NOTRACK target</a:t>
            </a:r>
            <a:r>
              <a:rPr lang="en-IN" dirty="0">
                <a:solidFill>
                  <a:srgbClr val="C00000"/>
                </a:solidFill>
              </a:rPr>
              <a:t> </a:t>
            </a:r>
            <a:r>
              <a:rPr lang="en-IN" dirty="0"/>
              <a:t>to the </a:t>
            </a:r>
            <a:r>
              <a:rPr lang="en-IN" dirty="0">
                <a:solidFill>
                  <a:srgbClr val="C00000"/>
                </a:solidFill>
              </a:rPr>
              <a:t>raw table</a:t>
            </a:r>
          </a:p>
          <a:p>
            <a:endParaRPr lang="en-IN" dirty="0">
              <a:solidFill>
                <a:srgbClr val="C00000"/>
              </a:solidFill>
            </a:endParaRPr>
          </a:p>
          <a:p>
            <a:endParaRPr lang="en-IN" dirty="0">
              <a:solidFill>
                <a:srgbClr val="C00000"/>
              </a:solidFill>
            </a:endParaRPr>
          </a:p>
          <a:p>
            <a:endParaRPr lang="en-IN" dirty="0">
              <a:solidFill>
                <a:srgbClr val="C00000"/>
              </a:solidFill>
            </a:endParaRPr>
          </a:p>
          <a:p>
            <a:endParaRPr lang="en-IN" dirty="0">
              <a:solidFill>
                <a:srgbClr val="C00000"/>
              </a:solidFill>
            </a:endParaRPr>
          </a:p>
          <a:p>
            <a:endParaRPr lang="en-IN" dirty="0"/>
          </a:p>
        </p:txBody>
      </p:sp>
    </p:spTree>
    <p:extLst>
      <p:ext uri="{BB962C8B-B14F-4D97-AF65-F5344CB8AC3E}">
        <p14:creationId xmlns:p14="http://schemas.microsoft.com/office/powerpoint/2010/main" val="2959190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6E456-CD24-1588-CF70-9E527C17DC2B}"/>
              </a:ext>
            </a:extLst>
          </p:cNvPr>
          <p:cNvSpPr>
            <a:spLocks noGrp="1"/>
          </p:cNvSpPr>
          <p:nvPr>
            <p:ph type="title"/>
          </p:nvPr>
        </p:nvSpPr>
        <p:spPr/>
        <p:txBody>
          <a:bodyPr/>
          <a:lstStyle/>
          <a:p>
            <a:r>
              <a:rPr lang="en-IN" dirty="0"/>
              <a:t>iptables Command</a:t>
            </a:r>
          </a:p>
        </p:txBody>
      </p:sp>
      <p:sp>
        <p:nvSpPr>
          <p:cNvPr id="3" name="Content Placeholder 2">
            <a:extLst>
              <a:ext uri="{FF2B5EF4-FFF2-40B4-BE49-F238E27FC236}">
                <a16:creationId xmlns:a16="http://schemas.microsoft.com/office/drawing/2014/main" id="{2298F22A-9E5C-E2E8-ED7C-0A3535A4F73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A08AB786-CBAF-A379-2F75-CA70A0A93522}"/>
              </a:ext>
            </a:extLst>
          </p:cNvPr>
          <p:cNvPicPr>
            <a:picLocks noChangeAspect="1"/>
          </p:cNvPicPr>
          <p:nvPr/>
        </p:nvPicPr>
        <p:blipFill>
          <a:blip r:embed="rId2"/>
          <a:stretch>
            <a:fillRect/>
          </a:stretch>
        </p:blipFill>
        <p:spPr>
          <a:xfrm>
            <a:off x="1244759" y="1454589"/>
            <a:ext cx="9358172" cy="4494081"/>
          </a:xfrm>
          <a:prstGeom prst="rect">
            <a:avLst/>
          </a:prstGeom>
        </p:spPr>
      </p:pic>
    </p:spTree>
    <p:extLst>
      <p:ext uri="{BB962C8B-B14F-4D97-AF65-F5344CB8AC3E}">
        <p14:creationId xmlns:p14="http://schemas.microsoft.com/office/powerpoint/2010/main" val="2845655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66AAC6-8F02-4DC4-9B94-A0BB5C91BCBA}"/>
              </a:ext>
            </a:extLst>
          </p:cNvPr>
          <p:cNvSpPr>
            <a:spLocks noGrp="1"/>
          </p:cNvSpPr>
          <p:nvPr>
            <p:ph type="title"/>
          </p:nvPr>
        </p:nvSpPr>
        <p:spPr/>
        <p:txBody>
          <a:bodyPr/>
          <a:lstStyle/>
          <a:p>
            <a:r>
              <a:rPr lang="en-IN" dirty="0"/>
              <a:t>iptables Hands-on</a:t>
            </a:r>
          </a:p>
        </p:txBody>
      </p:sp>
      <p:sp>
        <p:nvSpPr>
          <p:cNvPr id="5" name="Text Placeholder 4">
            <a:extLst>
              <a:ext uri="{FF2B5EF4-FFF2-40B4-BE49-F238E27FC236}">
                <a16:creationId xmlns:a16="http://schemas.microsoft.com/office/drawing/2014/main" id="{886E9980-533A-927B-0448-02CCE63B490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723370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04798F-4539-5A04-4922-7493F24AF46B}"/>
              </a:ext>
            </a:extLst>
          </p:cNvPr>
          <p:cNvSpPr>
            <a:spLocks noGrp="1"/>
          </p:cNvSpPr>
          <p:nvPr>
            <p:ph type="title"/>
          </p:nvPr>
        </p:nvSpPr>
        <p:spPr/>
        <p:txBody>
          <a:bodyPr/>
          <a:lstStyle/>
          <a:p>
            <a:r>
              <a:rPr lang="en-IN" dirty="0"/>
              <a:t>Requirements</a:t>
            </a:r>
          </a:p>
        </p:txBody>
      </p:sp>
      <p:sp>
        <p:nvSpPr>
          <p:cNvPr id="5" name="Content Placeholder 4">
            <a:extLst>
              <a:ext uri="{FF2B5EF4-FFF2-40B4-BE49-F238E27FC236}">
                <a16:creationId xmlns:a16="http://schemas.microsoft.com/office/drawing/2014/main" id="{4B918F7D-5031-EF52-68C7-A448108CB7D4}"/>
              </a:ext>
            </a:extLst>
          </p:cNvPr>
          <p:cNvSpPr>
            <a:spLocks noGrp="1"/>
          </p:cNvSpPr>
          <p:nvPr>
            <p:ph idx="1"/>
          </p:nvPr>
        </p:nvSpPr>
        <p:spPr/>
        <p:txBody>
          <a:bodyPr/>
          <a:lstStyle/>
          <a:p>
            <a:r>
              <a:rPr lang="en-IN" dirty="0"/>
              <a:t>Oracle VirtualBox</a:t>
            </a:r>
          </a:p>
          <a:p>
            <a:r>
              <a:rPr lang="en-IN" dirty="0"/>
              <a:t>Install Some </a:t>
            </a:r>
            <a:r>
              <a:rPr lang="en-IN" dirty="0" err="1"/>
              <a:t>linux</a:t>
            </a:r>
            <a:r>
              <a:rPr lang="en-IN" dirty="0"/>
              <a:t> (e.g. Kali Linux)</a:t>
            </a:r>
          </a:p>
          <a:p>
            <a:r>
              <a:rPr lang="en-IN" dirty="0"/>
              <a:t>Install a second VM (e.g. Metasploit machine)</a:t>
            </a:r>
          </a:p>
        </p:txBody>
      </p:sp>
    </p:spTree>
    <p:extLst>
      <p:ext uri="{BB962C8B-B14F-4D97-AF65-F5344CB8AC3E}">
        <p14:creationId xmlns:p14="http://schemas.microsoft.com/office/powerpoint/2010/main" val="149226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B0425-0761-CD2C-9396-2DB620DFAB8E}"/>
              </a:ext>
            </a:extLst>
          </p:cNvPr>
          <p:cNvSpPr>
            <a:spLocks noGrp="1"/>
          </p:cNvSpPr>
          <p:nvPr>
            <p:ph type="title"/>
          </p:nvPr>
        </p:nvSpPr>
        <p:spPr/>
        <p:txBody>
          <a:bodyPr/>
          <a:lstStyle/>
          <a:p>
            <a:r>
              <a:rPr lang="en-IN" dirty="0"/>
              <a:t>Kali Linux - Login as </a:t>
            </a:r>
            <a:r>
              <a:rPr lang="en-IN" dirty="0" err="1"/>
              <a:t>su</a:t>
            </a:r>
            <a:endParaRPr lang="en-IN" dirty="0"/>
          </a:p>
        </p:txBody>
      </p:sp>
      <p:sp>
        <p:nvSpPr>
          <p:cNvPr id="3" name="Content Placeholder 2">
            <a:extLst>
              <a:ext uri="{FF2B5EF4-FFF2-40B4-BE49-F238E27FC236}">
                <a16:creationId xmlns:a16="http://schemas.microsoft.com/office/drawing/2014/main" id="{B2567D54-F8C2-BADE-BF78-CF41850FB5D4}"/>
              </a:ext>
            </a:extLst>
          </p:cNvPr>
          <p:cNvSpPr>
            <a:spLocks noGrp="1"/>
          </p:cNvSpPr>
          <p:nvPr>
            <p:ph idx="1"/>
          </p:nvPr>
        </p:nvSpPr>
        <p:spPr/>
        <p:txBody>
          <a:bodyPr/>
          <a:lstStyle/>
          <a:p>
            <a:r>
              <a:rPr lang="en-IN" dirty="0"/>
              <a:t>On the Kali Linux VM, </a:t>
            </a:r>
            <a:r>
              <a:rPr lang="en-IN" b="1" dirty="0" err="1"/>
              <a:t>sudo</a:t>
            </a:r>
            <a:r>
              <a:rPr lang="en-IN" b="1" dirty="0"/>
              <a:t> </a:t>
            </a:r>
            <a:r>
              <a:rPr lang="en-IN" b="1" dirty="0" err="1"/>
              <a:t>su</a:t>
            </a:r>
            <a:r>
              <a:rPr lang="en-IN" dirty="0"/>
              <a:t> and password for your user id</a:t>
            </a:r>
          </a:p>
          <a:p>
            <a:endParaRPr lang="en-IN" dirty="0"/>
          </a:p>
          <a:p>
            <a:endParaRPr lang="en-IN" dirty="0"/>
          </a:p>
          <a:p>
            <a:endParaRPr lang="en-IN" dirty="0"/>
          </a:p>
          <a:p>
            <a:endParaRPr lang="en-IN" dirty="0"/>
          </a:p>
          <a:p>
            <a:r>
              <a:rPr lang="en-IN" dirty="0"/>
              <a:t>iptables -L</a:t>
            </a:r>
          </a:p>
        </p:txBody>
      </p:sp>
      <p:pic>
        <p:nvPicPr>
          <p:cNvPr id="5" name="Picture 4">
            <a:extLst>
              <a:ext uri="{FF2B5EF4-FFF2-40B4-BE49-F238E27FC236}">
                <a16:creationId xmlns:a16="http://schemas.microsoft.com/office/drawing/2014/main" id="{41DEBA51-E515-6174-791A-536B8351C332}"/>
              </a:ext>
            </a:extLst>
          </p:cNvPr>
          <p:cNvPicPr>
            <a:picLocks noChangeAspect="1"/>
          </p:cNvPicPr>
          <p:nvPr/>
        </p:nvPicPr>
        <p:blipFill>
          <a:blip r:embed="rId2"/>
          <a:stretch>
            <a:fillRect/>
          </a:stretch>
        </p:blipFill>
        <p:spPr>
          <a:xfrm>
            <a:off x="1989156" y="2554153"/>
            <a:ext cx="4661647" cy="1553882"/>
          </a:xfrm>
          <a:prstGeom prst="rect">
            <a:avLst/>
          </a:prstGeom>
        </p:spPr>
      </p:pic>
      <p:pic>
        <p:nvPicPr>
          <p:cNvPr id="7" name="Picture 6">
            <a:extLst>
              <a:ext uri="{FF2B5EF4-FFF2-40B4-BE49-F238E27FC236}">
                <a16:creationId xmlns:a16="http://schemas.microsoft.com/office/drawing/2014/main" id="{73F4C946-ADCF-823D-32B5-0CDA2D81E8A3}"/>
              </a:ext>
            </a:extLst>
          </p:cNvPr>
          <p:cNvPicPr>
            <a:picLocks noChangeAspect="1"/>
          </p:cNvPicPr>
          <p:nvPr/>
        </p:nvPicPr>
        <p:blipFill>
          <a:blip r:embed="rId3"/>
          <a:stretch>
            <a:fillRect/>
          </a:stretch>
        </p:blipFill>
        <p:spPr>
          <a:xfrm>
            <a:off x="3813779" y="4222424"/>
            <a:ext cx="6172701" cy="2517204"/>
          </a:xfrm>
          <a:prstGeom prst="rect">
            <a:avLst/>
          </a:prstGeom>
        </p:spPr>
      </p:pic>
    </p:spTree>
    <p:extLst>
      <p:ext uri="{BB962C8B-B14F-4D97-AF65-F5344CB8AC3E}">
        <p14:creationId xmlns:p14="http://schemas.microsoft.com/office/powerpoint/2010/main" val="2412528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3EE71-50B7-2F8A-3886-8F33A94EF6F2}"/>
              </a:ext>
            </a:extLst>
          </p:cNvPr>
          <p:cNvSpPr>
            <a:spLocks noGrp="1"/>
          </p:cNvSpPr>
          <p:nvPr>
            <p:ph type="title"/>
          </p:nvPr>
        </p:nvSpPr>
        <p:spPr/>
        <p:txBody>
          <a:bodyPr/>
          <a:lstStyle/>
          <a:p>
            <a:r>
              <a:rPr lang="en-IN" dirty="0"/>
              <a:t>Check IP Addresses of Both</a:t>
            </a:r>
          </a:p>
        </p:txBody>
      </p:sp>
      <p:sp>
        <p:nvSpPr>
          <p:cNvPr id="3" name="Content Placeholder 2">
            <a:extLst>
              <a:ext uri="{FF2B5EF4-FFF2-40B4-BE49-F238E27FC236}">
                <a16:creationId xmlns:a16="http://schemas.microsoft.com/office/drawing/2014/main" id="{A719DEC0-477B-286A-E122-DBD3B0F895EA}"/>
              </a:ext>
            </a:extLst>
          </p:cNvPr>
          <p:cNvSpPr>
            <a:spLocks noGrp="1"/>
          </p:cNvSpPr>
          <p:nvPr>
            <p:ph idx="1"/>
          </p:nvPr>
        </p:nvSpPr>
        <p:spPr/>
        <p:txBody>
          <a:bodyPr/>
          <a:lstStyle/>
          <a:p>
            <a:r>
              <a:rPr lang="en-IN" dirty="0"/>
              <a:t>Kali Linux: </a:t>
            </a:r>
            <a:r>
              <a:rPr lang="en-IN" b="1" dirty="0" err="1"/>
              <a:t>ifconfig</a:t>
            </a:r>
            <a:endParaRPr lang="en-IN" b="1" dirty="0"/>
          </a:p>
          <a:p>
            <a:endParaRPr lang="en-IN" b="1" dirty="0"/>
          </a:p>
          <a:p>
            <a:endParaRPr lang="en-IN" b="1" dirty="0"/>
          </a:p>
          <a:p>
            <a:endParaRPr lang="en-IN" b="1" dirty="0"/>
          </a:p>
          <a:p>
            <a:endParaRPr lang="en-IN" b="1" dirty="0"/>
          </a:p>
          <a:p>
            <a:r>
              <a:rPr lang="en-IN" dirty="0"/>
              <a:t>Metasploit: </a:t>
            </a:r>
            <a:r>
              <a:rPr lang="en-IN" b="1" dirty="0" err="1"/>
              <a:t>ifconfig</a:t>
            </a:r>
            <a:endParaRPr lang="en-IN" dirty="0"/>
          </a:p>
        </p:txBody>
      </p:sp>
      <p:pic>
        <p:nvPicPr>
          <p:cNvPr id="5" name="Picture 4">
            <a:extLst>
              <a:ext uri="{FF2B5EF4-FFF2-40B4-BE49-F238E27FC236}">
                <a16:creationId xmlns:a16="http://schemas.microsoft.com/office/drawing/2014/main" id="{A3BFDDB9-D15B-FC46-F110-EE1ED4A7DDDC}"/>
              </a:ext>
            </a:extLst>
          </p:cNvPr>
          <p:cNvPicPr>
            <a:picLocks noChangeAspect="1"/>
          </p:cNvPicPr>
          <p:nvPr/>
        </p:nvPicPr>
        <p:blipFill>
          <a:blip r:embed="rId2"/>
          <a:stretch>
            <a:fillRect/>
          </a:stretch>
        </p:blipFill>
        <p:spPr>
          <a:xfrm>
            <a:off x="915853" y="2404144"/>
            <a:ext cx="5962956" cy="1720938"/>
          </a:xfrm>
          <a:prstGeom prst="rect">
            <a:avLst/>
          </a:prstGeom>
        </p:spPr>
      </p:pic>
      <p:pic>
        <p:nvPicPr>
          <p:cNvPr id="7" name="Picture 6">
            <a:extLst>
              <a:ext uri="{FF2B5EF4-FFF2-40B4-BE49-F238E27FC236}">
                <a16:creationId xmlns:a16="http://schemas.microsoft.com/office/drawing/2014/main" id="{15E674A6-3501-24A9-B6C8-85FBA81548D6}"/>
              </a:ext>
            </a:extLst>
          </p:cNvPr>
          <p:cNvPicPr>
            <a:picLocks noChangeAspect="1"/>
          </p:cNvPicPr>
          <p:nvPr/>
        </p:nvPicPr>
        <p:blipFill>
          <a:blip r:embed="rId3"/>
          <a:stretch>
            <a:fillRect/>
          </a:stretch>
        </p:blipFill>
        <p:spPr>
          <a:xfrm>
            <a:off x="1837993" y="4900530"/>
            <a:ext cx="6186124" cy="1488777"/>
          </a:xfrm>
          <a:prstGeom prst="rect">
            <a:avLst/>
          </a:prstGeom>
        </p:spPr>
      </p:pic>
    </p:spTree>
    <p:extLst>
      <p:ext uri="{BB962C8B-B14F-4D97-AF65-F5344CB8AC3E}">
        <p14:creationId xmlns:p14="http://schemas.microsoft.com/office/powerpoint/2010/main" val="638900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7D413-6E83-D431-653E-3613C05D9935}"/>
              </a:ext>
            </a:extLst>
          </p:cNvPr>
          <p:cNvSpPr>
            <a:spLocks noGrp="1"/>
          </p:cNvSpPr>
          <p:nvPr>
            <p:ph type="title"/>
          </p:nvPr>
        </p:nvSpPr>
        <p:spPr/>
        <p:txBody>
          <a:bodyPr/>
          <a:lstStyle/>
          <a:p>
            <a:r>
              <a:rPr lang="en-IN" dirty="0"/>
              <a:t>Exercise 1: Try Adding a Rule Using iptables</a:t>
            </a:r>
          </a:p>
        </p:txBody>
      </p:sp>
      <p:sp>
        <p:nvSpPr>
          <p:cNvPr id="3" name="Content Placeholder 2">
            <a:extLst>
              <a:ext uri="{FF2B5EF4-FFF2-40B4-BE49-F238E27FC236}">
                <a16:creationId xmlns:a16="http://schemas.microsoft.com/office/drawing/2014/main" id="{E980B2B0-2A30-95E2-F710-A3AA8EFE511C}"/>
              </a:ext>
            </a:extLst>
          </p:cNvPr>
          <p:cNvSpPr>
            <a:spLocks noGrp="1"/>
          </p:cNvSpPr>
          <p:nvPr>
            <p:ph idx="1"/>
          </p:nvPr>
        </p:nvSpPr>
        <p:spPr/>
        <p:txBody>
          <a:bodyPr/>
          <a:lstStyle/>
          <a:p>
            <a:r>
              <a:rPr lang="en-IN" dirty="0"/>
              <a:t>Kali Linux IP address was 192.168.0.36</a:t>
            </a:r>
          </a:p>
          <a:p>
            <a:r>
              <a:rPr lang="en-IN" dirty="0"/>
              <a:t>Metasploit IP address was 192.168.0.28</a:t>
            </a:r>
          </a:p>
          <a:p>
            <a:endParaRPr lang="en-IN" dirty="0"/>
          </a:p>
          <a:p>
            <a:r>
              <a:rPr lang="en-IN" dirty="0"/>
              <a:t>Ping Kali from Metasploit – Make sure it works</a:t>
            </a:r>
          </a:p>
          <a:p>
            <a:r>
              <a:rPr lang="en-IN" dirty="0"/>
              <a:t>Then add iptables rule to Kali to drop the packet</a:t>
            </a:r>
          </a:p>
          <a:p>
            <a:r>
              <a:rPr lang="en-IN" dirty="0"/>
              <a:t>Metasploit ping to Kali should stop</a:t>
            </a:r>
          </a:p>
        </p:txBody>
      </p:sp>
    </p:spTree>
    <p:extLst>
      <p:ext uri="{BB962C8B-B14F-4D97-AF65-F5344CB8AC3E}">
        <p14:creationId xmlns:p14="http://schemas.microsoft.com/office/powerpoint/2010/main" val="1107502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704B7-252F-07AF-C8AD-BF4462D1EE8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28146FB-812C-8659-6C51-5EEC6AA1A638}"/>
              </a:ext>
            </a:extLst>
          </p:cNvPr>
          <p:cNvSpPr>
            <a:spLocks noGrp="1"/>
          </p:cNvSpPr>
          <p:nvPr>
            <p:ph idx="1"/>
          </p:nvPr>
        </p:nvSpPr>
        <p:spPr/>
        <p:txBody>
          <a:bodyPr/>
          <a:lstStyle/>
          <a:p>
            <a:r>
              <a:rPr lang="en-IN" dirty="0"/>
              <a:t>On Metasploit: </a:t>
            </a:r>
            <a:r>
              <a:rPr lang="en-IN" b="1" dirty="0"/>
              <a:t>ping 192.168.0.36</a:t>
            </a:r>
          </a:p>
          <a:p>
            <a:endParaRPr lang="en-IN" b="1" dirty="0"/>
          </a:p>
          <a:p>
            <a:endParaRPr lang="en-IN" b="1" dirty="0"/>
          </a:p>
          <a:p>
            <a:endParaRPr lang="en-IN" b="1" dirty="0"/>
          </a:p>
          <a:p>
            <a:endParaRPr lang="en-IN" b="1" dirty="0"/>
          </a:p>
          <a:p>
            <a:r>
              <a:rPr lang="en-IN" dirty="0"/>
              <a:t>On Kali: </a:t>
            </a:r>
            <a:r>
              <a:rPr lang="en-IN" b="1" dirty="0"/>
              <a:t>iptables -t filter -A INPUT -p </a:t>
            </a:r>
            <a:r>
              <a:rPr lang="en-IN" b="1" dirty="0" err="1"/>
              <a:t>icmp</a:t>
            </a:r>
            <a:r>
              <a:rPr lang="en-IN" b="1" dirty="0"/>
              <a:t> --</a:t>
            </a:r>
            <a:r>
              <a:rPr lang="en-IN" b="1" dirty="0" err="1"/>
              <a:t>icmp</a:t>
            </a:r>
            <a:r>
              <a:rPr lang="en-IN" b="1" dirty="0"/>
              <a:t>-type echo-request -j DROP</a:t>
            </a:r>
          </a:p>
        </p:txBody>
      </p:sp>
      <p:pic>
        <p:nvPicPr>
          <p:cNvPr id="5" name="Picture 4">
            <a:extLst>
              <a:ext uri="{FF2B5EF4-FFF2-40B4-BE49-F238E27FC236}">
                <a16:creationId xmlns:a16="http://schemas.microsoft.com/office/drawing/2014/main" id="{730D8194-B452-EC61-87ED-CACB00591756}"/>
              </a:ext>
            </a:extLst>
          </p:cNvPr>
          <p:cNvPicPr>
            <a:picLocks noChangeAspect="1"/>
          </p:cNvPicPr>
          <p:nvPr/>
        </p:nvPicPr>
        <p:blipFill>
          <a:blip r:embed="rId2"/>
          <a:stretch>
            <a:fillRect/>
          </a:stretch>
        </p:blipFill>
        <p:spPr>
          <a:xfrm>
            <a:off x="1113608" y="2336763"/>
            <a:ext cx="8646840" cy="355065"/>
          </a:xfrm>
          <a:prstGeom prst="rect">
            <a:avLst/>
          </a:prstGeom>
        </p:spPr>
      </p:pic>
      <p:pic>
        <p:nvPicPr>
          <p:cNvPr id="7" name="Picture 6">
            <a:extLst>
              <a:ext uri="{FF2B5EF4-FFF2-40B4-BE49-F238E27FC236}">
                <a16:creationId xmlns:a16="http://schemas.microsoft.com/office/drawing/2014/main" id="{CFB4A1B8-57CD-6BEE-93CD-03CC2BEF72B3}"/>
              </a:ext>
            </a:extLst>
          </p:cNvPr>
          <p:cNvPicPr>
            <a:picLocks noChangeAspect="1"/>
          </p:cNvPicPr>
          <p:nvPr/>
        </p:nvPicPr>
        <p:blipFill>
          <a:blip r:embed="rId3"/>
          <a:stretch>
            <a:fillRect/>
          </a:stretch>
        </p:blipFill>
        <p:spPr>
          <a:xfrm>
            <a:off x="1113608" y="2668711"/>
            <a:ext cx="8646840" cy="1707236"/>
          </a:xfrm>
          <a:prstGeom prst="rect">
            <a:avLst/>
          </a:prstGeom>
        </p:spPr>
      </p:pic>
      <p:pic>
        <p:nvPicPr>
          <p:cNvPr id="9" name="Picture 8">
            <a:extLst>
              <a:ext uri="{FF2B5EF4-FFF2-40B4-BE49-F238E27FC236}">
                <a16:creationId xmlns:a16="http://schemas.microsoft.com/office/drawing/2014/main" id="{8CFFB3A5-2BBC-402F-6C79-5208EB2C4CE6}"/>
              </a:ext>
            </a:extLst>
          </p:cNvPr>
          <p:cNvPicPr>
            <a:picLocks noChangeAspect="1"/>
          </p:cNvPicPr>
          <p:nvPr/>
        </p:nvPicPr>
        <p:blipFill>
          <a:blip r:embed="rId4"/>
          <a:stretch>
            <a:fillRect/>
          </a:stretch>
        </p:blipFill>
        <p:spPr>
          <a:xfrm>
            <a:off x="1137642" y="5260641"/>
            <a:ext cx="10468985" cy="916322"/>
          </a:xfrm>
          <a:prstGeom prst="rect">
            <a:avLst/>
          </a:prstGeom>
        </p:spPr>
      </p:pic>
    </p:spTree>
    <p:extLst>
      <p:ext uri="{BB962C8B-B14F-4D97-AF65-F5344CB8AC3E}">
        <p14:creationId xmlns:p14="http://schemas.microsoft.com/office/powerpoint/2010/main" val="2765025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547CA-E504-88A3-5908-0EC855123D26}"/>
              </a:ext>
            </a:extLst>
          </p:cNvPr>
          <p:cNvSpPr>
            <a:spLocks noGrp="1"/>
          </p:cNvSpPr>
          <p:nvPr>
            <p:ph type="title"/>
          </p:nvPr>
        </p:nvSpPr>
        <p:spPr/>
        <p:txBody>
          <a:bodyPr/>
          <a:lstStyle/>
          <a:p>
            <a:r>
              <a:rPr lang="en-IN" dirty="0"/>
              <a:t>Result</a:t>
            </a:r>
          </a:p>
        </p:txBody>
      </p:sp>
      <p:sp>
        <p:nvSpPr>
          <p:cNvPr id="3" name="Content Placeholder 2">
            <a:extLst>
              <a:ext uri="{FF2B5EF4-FFF2-40B4-BE49-F238E27FC236}">
                <a16:creationId xmlns:a16="http://schemas.microsoft.com/office/drawing/2014/main" id="{327E5635-D193-5149-1EF3-AFA24BECB088}"/>
              </a:ext>
            </a:extLst>
          </p:cNvPr>
          <p:cNvSpPr>
            <a:spLocks noGrp="1"/>
          </p:cNvSpPr>
          <p:nvPr>
            <p:ph idx="1"/>
          </p:nvPr>
        </p:nvSpPr>
        <p:spPr/>
        <p:txBody>
          <a:bodyPr/>
          <a:lstStyle/>
          <a:p>
            <a:r>
              <a:rPr lang="en-IN" dirty="0"/>
              <a:t>Check Metasploit: ping should have stopped</a:t>
            </a:r>
          </a:p>
          <a:p>
            <a:endParaRPr lang="en-IN" dirty="0"/>
          </a:p>
          <a:p>
            <a:r>
              <a:rPr lang="en-IN" dirty="0"/>
              <a:t>On Kali: </a:t>
            </a:r>
            <a:r>
              <a:rPr lang="en-IN" b="1" dirty="0"/>
              <a:t>iptables -</a:t>
            </a:r>
            <a:r>
              <a:rPr lang="en-IN" b="1" dirty="0" err="1"/>
              <a:t>vnL</a:t>
            </a:r>
            <a:endParaRPr lang="en-IN" dirty="0"/>
          </a:p>
        </p:txBody>
      </p:sp>
      <p:pic>
        <p:nvPicPr>
          <p:cNvPr id="5" name="Picture 4">
            <a:extLst>
              <a:ext uri="{FF2B5EF4-FFF2-40B4-BE49-F238E27FC236}">
                <a16:creationId xmlns:a16="http://schemas.microsoft.com/office/drawing/2014/main" id="{B035C7AF-2134-CC06-682F-4188327E8B6F}"/>
              </a:ext>
            </a:extLst>
          </p:cNvPr>
          <p:cNvPicPr>
            <a:picLocks noChangeAspect="1"/>
          </p:cNvPicPr>
          <p:nvPr/>
        </p:nvPicPr>
        <p:blipFill>
          <a:blip r:embed="rId2"/>
          <a:stretch>
            <a:fillRect/>
          </a:stretch>
        </p:blipFill>
        <p:spPr>
          <a:xfrm>
            <a:off x="838200" y="3498350"/>
            <a:ext cx="10550154" cy="1464067"/>
          </a:xfrm>
          <a:prstGeom prst="rect">
            <a:avLst/>
          </a:prstGeom>
        </p:spPr>
      </p:pic>
      <p:sp>
        <p:nvSpPr>
          <p:cNvPr id="4" name="Callout: Line with Border and Accent Bar 3">
            <a:extLst>
              <a:ext uri="{FF2B5EF4-FFF2-40B4-BE49-F238E27FC236}">
                <a16:creationId xmlns:a16="http://schemas.microsoft.com/office/drawing/2014/main" id="{91828A99-145C-FBDD-5972-3CB9D01969AF}"/>
              </a:ext>
            </a:extLst>
          </p:cNvPr>
          <p:cNvSpPr/>
          <p:nvPr/>
        </p:nvSpPr>
        <p:spPr>
          <a:xfrm>
            <a:off x="8404260" y="1438185"/>
            <a:ext cx="3667874" cy="1695236"/>
          </a:xfrm>
          <a:prstGeom prst="accentBorderCallout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L = List rules</a:t>
            </a:r>
          </a:p>
          <a:p>
            <a:pPr algn="ctr"/>
            <a:r>
              <a:rPr lang="en-IN" dirty="0"/>
              <a:t>v = Display detailed information</a:t>
            </a:r>
          </a:p>
          <a:p>
            <a:pPr algn="ctr"/>
            <a:r>
              <a:rPr lang="en-IN" dirty="0"/>
              <a:t>n = Display IP addresses and port numbers in numeric format</a:t>
            </a:r>
          </a:p>
        </p:txBody>
      </p:sp>
    </p:spTree>
    <p:extLst>
      <p:ext uri="{BB962C8B-B14F-4D97-AF65-F5344CB8AC3E}">
        <p14:creationId xmlns:p14="http://schemas.microsoft.com/office/powerpoint/2010/main" val="1415310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98949-33DB-EBE9-CE27-1762D3664E1A}"/>
              </a:ext>
            </a:extLst>
          </p:cNvPr>
          <p:cNvSpPr>
            <a:spLocks noGrp="1"/>
          </p:cNvSpPr>
          <p:nvPr>
            <p:ph type="title"/>
          </p:nvPr>
        </p:nvSpPr>
        <p:spPr/>
        <p:txBody>
          <a:bodyPr/>
          <a:lstStyle/>
          <a:p>
            <a:r>
              <a:rPr lang="en-IN" dirty="0"/>
              <a:t>Exercise 2: Do not Allow Kali Machine to Access www.ubuntu.com</a:t>
            </a:r>
          </a:p>
        </p:txBody>
      </p:sp>
      <p:sp>
        <p:nvSpPr>
          <p:cNvPr id="3" name="Content Placeholder 2">
            <a:extLst>
              <a:ext uri="{FF2B5EF4-FFF2-40B4-BE49-F238E27FC236}">
                <a16:creationId xmlns:a16="http://schemas.microsoft.com/office/drawing/2014/main" id="{C1B4323C-9806-02D3-B768-5508320D7EE9}"/>
              </a:ext>
            </a:extLst>
          </p:cNvPr>
          <p:cNvSpPr>
            <a:spLocks noGrp="1"/>
          </p:cNvSpPr>
          <p:nvPr>
            <p:ph idx="1"/>
          </p:nvPr>
        </p:nvSpPr>
        <p:spPr/>
        <p:txBody>
          <a:bodyPr>
            <a:normAutofit fontScale="62500" lnSpcReduction="20000"/>
          </a:bodyPr>
          <a:lstStyle/>
          <a:p>
            <a:r>
              <a:rPr lang="en-IN" dirty="0"/>
              <a:t>How to construct this command:</a:t>
            </a:r>
          </a:p>
          <a:p>
            <a:r>
              <a:rPr lang="en-IN" dirty="0"/>
              <a:t>We are going to filter traffic, so we are using the </a:t>
            </a:r>
            <a:r>
              <a:rPr lang="en-IN" i="1" dirty="0"/>
              <a:t>filter</a:t>
            </a:r>
            <a:r>
              <a:rPr lang="en-IN" dirty="0"/>
              <a:t> table</a:t>
            </a:r>
          </a:p>
          <a:p>
            <a:r>
              <a:rPr lang="en-IN" dirty="0">
                <a:solidFill>
                  <a:srgbClr val="C00000"/>
                </a:solidFill>
              </a:rPr>
              <a:t>iptables -t filter</a:t>
            </a:r>
          </a:p>
          <a:p>
            <a:r>
              <a:rPr lang="en-IN" dirty="0"/>
              <a:t>We are going to append a new rule</a:t>
            </a:r>
          </a:p>
          <a:p>
            <a:r>
              <a:rPr lang="en-IN" dirty="0">
                <a:solidFill>
                  <a:srgbClr val="C00000"/>
                </a:solidFill>
              </a:rPr>
              <a:t>iptables -t filter -A</a:t>
            </a:r>
          </a:p>
          <a:p>
            <a:r>
              <a:rPr lang="en-IN" dirty="0"/>
              <a:t>We want to match the outgoing traffic, which means the output chain</a:t>
            </a:r>
          </a:p>
          <a:p>
            <a:r>
              <a:rPr lang="en-IN" dirty="0">
                <a:solidFill>
                  <a:srgbClr val="C00000"/>
                </a:solidFill>
              </a:rPr>
              <a:t>iptables -t filter –A OUTPUT</a:t>
            </a:r>
          </a:p>
          <a:p>
            <a:r>
              <a:rPr lang="en-IN" dirty="0"/>
              <a:t>We want to match the outgoing traffic, which means the output chain</a:t>
            </a:r>
          </a:p>
          <a:p>
            <a:r>
              <a:rPr lang="en-IN" dirty="0">
                <a:solidFill>
                  <a:srgbClr val="C00000"/>
                </a:solidFill>
              </a:rPr>
              <a:t>iptables -t filter –A OUTPUT</a:t>
            </a:r>
          </a:p>
          <a:p>
            <a:r>
              <a:rPr lang="en-IN" dirty="0"/>
              <a:t>Matching conditions: protocol = TCP, destination port = 80, URL: www.ubuntu.com</a:t>
            </a:r>
          </a:p>
          <a:p>
            <a:r>
              <a:rPr lang="en-IN" dirty="0">
                <a:solidFill>
                  <a:srgbClr val="C00000"/>
                </a:solidFill>
              </a:rPr>
              <a:t>iptables -t filter -A OUTPUT -p </a:t>
            </a:r>
            <a:r>
              <a:rPr lang="en-IN" dirty="0" err="1">
                <a:solidFill>
                  <a:srgbClr val="C00000"/>
                </a:solidFill>
              </a:rPr>
              <a:t>tcp</a:t>
            </a:r>
            <a:r>
              <a:rPr lang="en-IN" dirty="0">
                <a:solidFill>
                  <a:srgbClr val="C00000"/>
                </a:solidFill>
              </a:rPr>
              <a:t> --</a:t>
            </a:r>
            <a:r>
              <a:rPr lang="en-IN" dirty="0" err="1">
                <a:solidFill>
                  <a:srgbClr val="C00000"/>
                </a:solidFill>
              </a:rPr>
              <a:t>dport</a:t>
            </a:r>
            <a:r>
              <a:rPr lang="en-IN" dirty="0">
                <a:solidFill>
                  <a:srgbClr val="C00000"/>
                </a:solidFill>
              </a:rPr>
              <a:t> 80 -d www.ubuntu.com</a:t>
            </a:r>
          </a:p>
          <a:p>
            <a:r>
              <a:rPr lang="en-IN" dirty="0"/>
              <a:t>Execute (j)ump to the following result: drop the packet</a:t>
            </a:r>
          </a:p>
          <a:p>
            <a:r>
              <a:rPr lang="en-IN" dirty="0">
                <a:solidFill>
                  <a:srgbClr val="C00000"/>
                </a:solidFill>
              </a:rPr>
              <a:t>iptables -t filter -A OUTPUT -p </a:t>
            </a:r>
            <a:r>
              <a:rPr lang="en-IN" dirty="0" err="1">
                <a:solidFill>
                  <a:srgbClr val="C00000"/>
                </a:solidFill>
              </a:rPr>
              <a:t>tcp</a:t>
            </a:r>
            <a:r>
              <a:rPr lang="en-IN" dirty="0">
                <a:solidFill>
                  <a:srgbClr val="C00000"/>
                </a:solidFill>
              </a:rPr>
              <a:t> --</a:t>
            </a:r>
            <a:r>
              <a:rPr lang="en-IN" dirty="0" err="1">
                <a:solidFill>
                  <a:srgbClr val="C00000"/>
                </a:solidFill>
              </a:rPr>
              <a:t>dport</a:t>
            </a:r>
            <a:r>
              <a:rPr lang="en-IN" dirty="0">
                <a:solidFill>
                  <a:srgbClr val="C00000"/>
                </a:solidFill>
              </a:rPr>
              <a:t> 80 -d www.ubuntu.com -j DROP</a:t>
            </a:r>
          </a:p>
          <a:p>
            <a:endParaRPr lang="en-IN" dirty="0">
              <a:solidFill>
                <a:srgbClr val="C00000"/>
              </a:solidFill>
            </a:endParaRPr>
          </a:p>
        </p:txBody>
      </p:sp>
    </p:spTree>
    <p:extLst>
      <p:ext uri="{BB962C8B-B14F-4D97-AF65-F5344CB8AC3E}">
        <p14:creationId xmlns:p14="http://schemas.microsoft.com/office/powerpoint/2010/main" val="2691172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7E9AB-7236-00C3-E7E9-AE8E66D37567}"/>
              </a:ext>
            </a:extLst>
          </p:cNvPr>
          <p:cNvSpPr>
            <a:spLocks noGrp="1"/>
          </p:cNvSpPr>
          <p:nvPr>
            <p:ph type="title"/>
          </p:nvPr>
        </p:nvSpPr>
        <p:spPr/>
        <p:txBody>
          <a:bodyPr/>
          <a:lstStyle/>
          <a:p>
            <a:r>
              <a:rPr lang="en-IN" dirty="0"/>
              <a:t>Let us first check if the page is accessible</a:t>
            </a:r>
          </a:p>
        </p:txBody>
      </p:sp>
      <p:sp>
        <p:nvSpPr>
          <p:cNvPr id="3" name="Content Placeholder 2">
            <a:extLst>
              <a:ext uri="{FF2B5EF4-FFF2-40B4-BE49-F238E27FC236}">
                <a16:creationId xmlns:a16="http://schemas.microsoft.com/office/drawing/2014/main" id="{B3791755-293F-F480-22E6-43364E16910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DC35D2F-A5B7-E675-5D20-8A5C296E06D1}"/>
              </a:ext>
            </a:extLst>
          </p:cNvPr>
          <p:cNvPicPr>
            <a:picLocks noChangeAspect="1"/>
          </p:cNvPicPr>
          <p:nvPr/>
        </p:nvPicPr>
        <p:blipFill>
          <a:blip r:embed="rId2"/>
          <a:stretch>
            <a:fillRect/>
          </a:stretch>
        </p:blipFill>
        <p:spPr>
          <a:xfrm>
            <a:off x="1966737" y="1485285"/>
            <a:ext cx="7518786" cy="4483330"/>
          </a:xfrm>
          <a:prstGeom prst="rect">
            <a:avLst/>
          </a:prstGeom>
        </p:spPr>
      </p:pic>
    </p:spTree>
    <p:extLst>
      <p:ext uri="{BB962C8B-B14F-4D97-AF65-F5344CB8AC3E}">
        <p14:creationId xmlns:p14="http://schemas.microsoft.com/office/powerpoint/2010/main" val="2947644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AAA68-98C6-420F-3299-DCD936B9EB3E}"/>
              </a:ext>
            </a:extLst>
          </p:cNvPr>
          <p:cNvSpPr>
            <a:spLocks noGrp="1"/>
          </p:cNvSpPr>
          <p:nvPr>
            <p:ph type="title"/>
          </p:nvPr>
        </p:nvSpPr>
        <p:spPr/>
        <p:txBody>
          <a:bodyPr/>
          <a:lstStyle/>
          <a:p>
            <a:r>
              <a:rPr lang="en-IN" dirty="0"/>
              <a:t>Now Add iptables Rule for Port 80 and 443 Also</a:t>
            </a:r>
          </a:p>
        </p:txBody>
      </p:sp>
      <p:sp>
        <p:nvSpPr>
          <p:cNvPr id="3" name="Content Placeholder 2">
            <a:extLst>
              <a:ext uri="{FF2B5EF4-FFF2-40B4-BE49-F238E27FC236}">
                <a16:creationId xmlns:a16="http://schemas.microsoft.com/office/drawing/2014/main" id="{0DCC5888-60D4-6BF6-DA55-893C709ED670}"/>
              </a:ext>
            </a:extLst>
          </p:cNvPr>
          <p:cNvSpPr>
            <a:spLocks noGrp="1"/>
          </p:cNvSpPr>
          <p:nvPr>
            <p:ph idx="1"/>
          </p:nvPr>
        </p:nvSpPr>
        <p:spPr/>
        <p:txBody>
          <a:bodyPr/>
          <a:lstStyle/>
          <a:p>
            <a:r>
              <a:rPr lang="en-IN" dirty="0">
                <a:solidFill>
                  <a:srgbClr val="C00000"/>
                </a:solidFill>
              </a:rPr>
              <a:t>iptables -t filter -A OUTPUT -p </a:t>
            </a:r>
            <a:r>
              <a:rPr lang="en-IN" dirty="0" err="1">
                <a:solidFill>
                  <a:srgbClr val="C00000"/>
                </a:solidFill>
              </a:rPr>
              <a:t>tcp</a:t>
            </a:r>
            <a:r>
              <a:rPr lang="en-IN" dirty="0">
                <a:solidFill>
                  <a:srgbClr val="C00000"/>
                </a:solidFill>
              </a:rPr>
              <a:t> --</a:t>
            </a:r>
            <a:r>
              <a:rPr lang="en-IN" dirty="0" err="1">
                <a:solidFill>
                  <a:srgbClr val="C00000"/>
                </a:solidFill>
              </a:rPr>
              <a:t>dport</a:t>
            </a:r>
            <a:r>
              <a:rPr lang="en-IN" dirty="0">
                <a:solidFill>
                  <a:srgbClr val="C00000"/>
                </a:solidFill>
              </a:rPr>
              <a:t> 80 -d www.ubuntu.com -j DROP</a:t>
            </a:r>
          </a:p>
          <a:p>
            <a:r>
              <a:rPr lang="en-IN" dirty="0">
                <a:solidFill>
                  <a:srgbClr val="C00000"/>
                </a:solidFill>
              </a:rPr>
              <a:t>iptables -t filter -A OUTPUT -p </a:t>
            </a:r>
            <a:r>
              <a:rPr lang="en-IN" dirty="0" err="1">
                <a:solidFill>
                  <a:srgbClr val="C00000"/>
                </a:solidFill>
              </a:rPr>
              <a:t>tcp</a:t>
            </a:r>
            <a:r>
              <a:rPr lang="en-IN" dirty="0">
                <a:solidFill>
                  <a:srgbClr val="C00000"/>
                </a:solidFill>
              </a:rPr>
              <a:t> --</a:t>
            </a:r>
            <a:r>
              <a:rPr lang="en-IN" dirty="0" err="1">
                <a:solidFill>
                  <a:srgbClr val="C00000"/>
                </a:solidFill>
              </a:rPr>
              <a:t>dport</a:t>
            </a:r>
            <a:r>
              <a:rPr lang="en-IN" dirty="0">
                <a:solidFill>
                  <a:srgbClr val="C00000"/>
                </a:solidFill>
              </a:rPr>
              <a:t> 443 -d www.ubuntu.com -j DROP</a:t>
            </a:r>
            <a:endParaRPr lang="en-IN" dirty="0"/>
          </a:p>
          <a:p>
            <a:endParaRPr lang="en-IN" dirty="0"/>
          </a:p>
        </p:txBody>
      </p:sp>
      <p:pic>
        <p:nvPicPr>
          <p:cNvPr id="5" name="Picture 4">
            <a:extLst>
              <a:ext uri="{FF2B5EF4-FFF2-40B4-BE49-F238E27FC236}">
                <a16:creationId xmlns:a16="http://schemas.microsoft.com/office/drawing/2014/main" id="{0873EEB2-E279-0126-007C-88FDD14D1BE5}"/>
              </a:ext>
            </a:extLst>
          </p:cNvPr>
          <p:cNvPicPr>
            <a:picLocks noChangeAspect="1"/>
          </p:cNvPicPr>
          <p:nvPr/>
        </p:nvPicPr>
        <p:blipFill>
          <a:blip r:embed="rId2"/>
          <a:stretch>
            <a:fillRect/>
          </a:stretch>
        </p:blipFill>
        <p:spPr>
          <a:xfrm>
            <a:off x="1489302" y="3785796"/>
            <a:ext cx="9213395" cy="1443749"/>
          </a:xfrm>
          <a:prstGeom prst="rect">
            <a:avLst/>
          </a:prstGeom>
        </p:spPr>
      </p:pic>
    </p:spTree>
    <p:extLst>
      <p:ext uri="{BB962C8B-B14F-4D97-AF65-F5344CB8AC3E}">
        <p14:creationId xmlns:p14="http://schemas.microsoft.com/office/powerpoint/2010/main" val="270456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B7DAC-14CA-F6FF-8C3D-AB83F684CC8E}"/>
              </a:ext>
            </a:extLst>
          </p:cNvPr>
          <p:cNvSpPr>
            <a:spLocks noGrp="1"/>
          </p:cNvSpPr>
          <p:nvPr>
            <p:ph type="title"/>
          </p:nvPr>
        </p:nvSpPr>
        <p:spPr/>
        <p:txBody>
          <a:bodyPr/>
          <a:lstStyle/>
          <a:p>
            <a:r>
              <a:rPr lang="en-IN" dirty="0"/>
              <a:t>Now Try Accessing www.ubuntu.com Again</a:t>
            </a:r>
          </a:p>
        </p:txBody>
      </p:sp>
      <p:sp>
        <p:nvSpPr>
          <p:cNvPr id="3" name="Content Placeholder 2">
            <a:extLst>
              <a:ext uri="{FF2B5EF4-FFF2-40B4-BE49-F238E27FC236}">
                <a16:creationId xmlns:a16="http://schemas.microsoft.com/office/drawing/2014/main" id="{DAC16004-2A1A-EB2F-0EE5-2A61568DB9D8}"/>
              </a:ext>
            </a:extLst>
          </p:cNvPr>
          <p:cNvSpPr>
            <a:spLocks noGrp="1"/>
          </p:cNvSpPr>
          <p:nvPr>
            <p:ph idx="1"/>
          </p:nvPr>
        </p:nvSpPr>
        <p:spPr/>
        <p:txBody>
          <a:bodyPr/>
          <a:lstStyle/>
          <a:p>
            <a:r>
              <a:rPr lang="en-IN" dirty="0"/>
              <a:t>Specifically try </a:t>
            </a:r>
            <a:r>
              <a:rPr lang="en-IN" dirty="0">
                <a:hlinkClick r:id="rId2"/>
              </a:rPr>
              <a:t>www.ubuntu.com</a:t>
            </a:r>
            <a:r>
              <a:rPr lang="en-IN" dirty="0"/>
              <a:t> (As mentioned in our filtering rule)</a:t>
            </a:r>
          </a:p>
        </p:txBody>
      </p:sp>
      <p:pic>
        <p:nvPicPr>
          <p:cNvPr id="5" name="Picture 4">
            <a:extLst>
              <a:ext uri="{FF2B5EF4-FFF2-40B4-BE49-F238E27FC236}">
                <a16:creationId xmlns:a16="http://schemas.microsoft.com/office/drawing/2014/main" id="{416E1E0D-FDEF-7051-FE33-06724B605453}"/>
              </a:ext>
            </a:extLst>
          </p:cNvPr>
          <p:cNvPicPr>
            <a:picLocks noChangeAspect="1"/>
          </p:cNvPicPr>
          <p:nvPr/>
        </p:nvPicPr>
        <p:blipFill>
          <a:blip r:embed="rId3"/>
          <a:stretch>
            <a:fillRect/>
          </a:stretch>
        </p:blipFill>
        <p:spPr>
          <a:xfrm>
            <a:off x="1518030" y="2496591"/>
            <a:ext cx="7429882" cy="3899100"/>
          </a:xfrm>
          <a:prstGeom prst="rect">
            <a:avLst/>
          </a:prstGeom>
        </p:spPr>
      </p:pic>
    </p:spTree>
    <p:extLst>
      <p:ext uri="{BB962C8B-B14F-4D97-AF65-F5344CB8AC3E}">
        <p14:creationId xmlns:p14="http://schemas.microsoft.com/office/powerpoint/2010/main" val="26845693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802DA-8D5A-57BF-41A5-542F178810A6}"/>
              </a:ext>
            </a:extLst>
          </p:cNvPr>
          <p:cNvSpPr>
            <a:spLocks noGrp="1"/>
          </p:cNvSpPr>
          <p:nvPr>
            <p:ph type="title"/>
          </p:nvPr>
        </p:nvSpPr>
        <p:spPr/>
        <p:txBody>
          <a:bodyPr/>
          <a:lstStyle/>
          <a:p>
            <a:r>
              <a:rPr lang="en-IN" dirty="0"/>
              <a:t>Verify</a:t>
            </a:r>
          </a:p>
        </p:txBody>
      </p:sp>
      <p:sp>
        <p:nvSpPr>
          <p:cNvPr id="3" name="Content Placeholder 2">
            <a:extLst>
              <a:ext uri="{FF2B5EF4-FFF2-40B4-BE49-F238E27FC236}">
                <a16:creationId xmlns:a16="http://schemas.microsoft.com/office/drawing/2014/main" id="{EE3E0693-32C9-B6CF-58DF-51C10C875FD7}"/>
              </a:ext>
            </a:extLst>
          </p:cNvPr>
          <p:cNvSpPr>
            <a:spLocks noGrp="1"/>
          </p:cNvSpPr>
          <p:nvPr>
            <p:ph idx="1"/>
          </p:nvPr>
        </p:nvSpPr>
        <p:spPr/>
        <p:txBody>
          <a:bodyPr/>
          <a:lstStyle/>
          <a:p>
            <a:r>
              <a:rPr lang="en-IN" b="1" dirty="0"/>
              <a:t>iptables -</a:t>
            </a:r>
            <a:r>
              <a:rPr lang="en-IN" b="1" dirty="0" err="1"/>
              <a:t>vnL</a:t>
            </a:r>
            <a:endParaRPr lang="en-IN" b="1" dirty="0"/>
          </a:p>
        </p:txBody>
      </p:sp>
      <p:pic>
        <p:nvPicPr>
          <p:cNvPr id="5" name="Picture 4">
            <a:extLst>
              <a:ext uri="{FF2B5EF4-FFF2-40B4-BE49-F238E27FC236}">
                <a16:creationId xmlns:a16="http://schemas.microsoft.com/office/drawing/2014/main" id="{1991A754-A7C5-4042-6953-8EAFA799AA9D}"/>
              </a:ext>
            </a:extLst>
          </p:cNvPr>
          <p:cNvPicPr>
            <a:picLocks noChangeAspect="1"/>
          </p:cNvPicPr>
          <p:nvPr/>
        </p:nvPicPr>
        <p:blipFill>
          <a:blip r:embed="rId2"/>
          <a:stretch>
            <a:fillRect/>
          </a:stretch>
        </p:blipFill>
        <p:spPr>
          <a:xfrm>
            <a:off x="1401659" y="2267654"/>
            <a:ext cx="8995788" cy="4148395"/>
          </a:xfrm>
          <a:prstGeom prst="rect">
            <a:avLst/>
          </a:prstGeom>
        </p:spPr>
      </p:pic>
    </p:spTree>
    <p:extLst>
      <p:ext uri="{BB962C8B-B14F-4D97-AF65-F5344CB8AC3E}">
        <p14:creationId xmlns:p14="http://schemas.microsoft.com/office/powerpoint/2010/main" val="2698164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29368-0AF7-0657-DE14-EDB1178B48A9}"/>
              </a:ext>
            </a:extLst>
          </p:cNvPr>
          <p:cNvSpPr>
            <a:spLocks noGrp="1"/>
          </p:cNvSpPr>
          <p:nvPr>
            <p:ph type="title"/>
          </p:nvPr>
        </p:nvSpPr>
        <p:spPr/>
        <p:txBody>
          <a:bodyPr/>
          <a:lstStyle/>
          <a:p>
            <a:r>
              <a:rPr lang="en-IN" dirty="0"/>
              <a:t>Prevent an External/Remote Host from Pretending to be Local to your Network</a:t>
            </a:r>
          </a:p>
        </p:txBody>
      </p:sp>
      <p:sp>
        <p:nvSpPr>
          <p:cNvPr id="3" name="Content Placeholder 2">
            <a:extLst>
              <a:ext uri="{FF2B5EF4-FFF2-40B4-BE49-F238E27FC236}">
                <a16:creationId xmlns:a16="http://schemas.microsoft.com/office/drawing/2014/main" id="{07F6CF15-BBE0-50CC-E96E-B3B1824B3EE1}"/>
              </a:ext>
            </a:extLst>
          </p:cNvPr>
          <p:cNvSpPr>
            <a:spLocks noGrp="1"/>
          </p:cNvSpPr>
          <p:nvPr>
            <p:ph idx="1"/>
          </p:nvPr>
        </p:nvSpPr>
        <p:spPr/>
        <p:txBody>
          <a:bodyPr/>
          <a:lstStyle/>
          <a:p>
            <a:r>
              <a:rPr lang="en-IN" sz="2400" dirty="0"/>
              <a:t>Logically:</a:t>
            </a:r>
          </a:p>
          <a:p>
            <a:pPr lvl="1"/>
            <a:r>
              <a:rPr lang="en-US" sz="2000" dirty="0"/>
              <a:t>iptables -A INPUT -</a:t>
            </a:r>
            <a:r>
              <a:rPr lang="en-US" sz="2000" dirty="0" err="1"/>
              <a:t>i</a:t>
            </a:r>
            <a:r>
              <a:rPr lang="en-US" sz="2000" dirty="0"/>
              <a:t> </a:t>
            </a:r>
            <a:r>
              <a:rPr lang="en-US" sz="2000" dirty="0" err="1"/>
              <a:t>external_interface</a:t>
            </a:r>
            <a:r>
              <a:rPr lang="en-US" sz="2000" dirty="0"/>
              <a:t> -s </a:t>
            </a:r>
            <a:r>
              <a:rPr lang="en-US" sz="2000" dirty="0" err="1"/>
              <a:t>your_IP_address</a:t>
            </a:r>
            <a:r>
              <a:rPr lang="en-US" sz="2000" dirty="0"/>
              <a:t> -j REJECT</a:t>
            </a:r>
            <a:endParaRPr lang="en-IN" sz="2000" dirty="0"/>
          </a:p>
          <a:p>
            <a:r>
              <a:rPr lang="en-IN" sz="2400" dirty="0"/>
              <a:t>Example (Assuming our network address is 192.168.18.0)</a:t>
            </a:r>
          </a:p>
          <a:p>
            <a:pPr lvl="1"/>
            <a:r>
              <a:rPr lang="en-IN" sz="2000" dirty="0"/>
              <a:t>iptables -A INPUT -</a:t>
            </a:r>
            <a:r>
              <a:rPr lang="en-IN" sz="2000" dirty="0" err="1"/>
              <a:t>i</a:t>
            </a:r>
            <a:r>
              <a:rPr lang="en-IN" sz="2000" dirty="0"/>
              <a:t> </a:t>
            </a:r>
            <a:r>
              <a:rPr lang="en-IN" sz="2000" dirty="0" err="1"/>
              <a:t>external_interface</a:t>
            </a:r>
            <a:r>
              <a:rPr lang="en-IN" sz="2000" dirty="0"/>
              <a:t> -s 192.168.0.0/24 -j REJECT</a:t>
            </a:r>
            <a:endParaRPr lang="en-IN" dirty="0"/>
          </a:p>
          <a:p>
            <a:pPr lvl="1"/>
            <a:endParaRPr lang="en-IN" dirty="0"/>
          </a:p>
        </p:txBody>
      </p:sp>
      <p:sp>
        <p:nvSpPr>
          <p:cNvPr id="4" name="TextBox 3">
            <a:extLst>
              <a:ext uri="{FF2B5EF4-FFF2-40B4-BE49-F238E27FC236}">
                <a16:creationId xmlns:a16="http://schemas.microsoft.com/office/drawing/2014/main" id="{BBB9F8CB-602E-75DB-5388-87AB12C3864E}"/>
              </a:ext>
            </a:extLst>
          </p:cNvPr>
          <p:cNvSpPr txBox="1"/>
          <p:nvPr/>
        </p:nvSpPr>
        <p:spPr>
          <a:xfrm>
            <a:off x="308225" y="3441680"/>
            <a:ext cx="11383766" cy="3416320"/>
          </a:xfrm>
          <a:prstGeom prst="rect">
            <a:avLst/>
          </a:prstGeom>
          <a:solidFill>
            <a:schemeClr val="accent2">
              <a:lumMod val="40000"/>
              <a:lumOff val="60000"/>
            </a:schemeClr>
          </a:solidFill>
        </p:spPr>
        <p:txBody>
          <a:bodyPr wrap="square" rtlCol="0">
            <a:spAutoFit/>
          </a:bodyPr>
          <a:lstStyle/>
          <a:p>
            <a:r>
              <a:rPr lang="en-IN" b="1" dirty="0"/>
              <a:t>DROP versus REJECT</a:t>
            </a:r>
          </a:p>
          <a:p>
            <a:endParaRPr lang="en-IN" dirty="0"/>
          </a:p>
          <a:p>
            <a:r>
              <a:rPr lang="en-US" dirty="0"/>
              <a:t>The Linux firewall can refuse packets in two manners. iptables calls them DROP and REJECT, while </a:t>
            </a:r>
            <a:r>
              <a:rPr lang="en-US" dirty="0" err="1"/>
              <a:t>ipchains</a:t>
            </a:r>
            <a:r>
              <a:rPr lang="en-US" dirty="0"/>
              <a:t> uses the terminology DENY and REJECT. DROP (or DENY) simply swallows the packet, never to be seen again, and emits no response. REJECT, in contrast, responds to the packet with a friendly message back to the sender, something like "Hello, I have rejected your packet."</a:t>
            </a:r>
          </a:p>
          <a:p>
            <a:endParaRPr lang="en-IN" dirty="0"/>
          </a:p>
          <a:p>
            <a:r>
              <a:rPr lang="en-US" dirty="0"/>
              <a:t>REJECT can leave you open to denial of service attacks, with you as the unwitting patsy. Suppose a Hostile Third Party sends you packets with a forged source address from a victim site, V. In response, you reject the packets, returning them not to the Hostile Third Party, but to victim V, owner of the source address. Voilà—you are unintentionally</a:t>
            </a:r>
          </a:p>
          <a:p>
            <a:r>
              <a:rPr lang="en-US" dirty="0"/>
              <a:t>flooding V with rejections. If you're a large site with hundreds or thousands of hosts, you might choose DROP to prevent them from being abused in such a manner.</a:t>
            </a:r>
            <a:endParaRPr lang="en-IN" dirty="0"/>
          </a:p>
        </p:txBody>
      </p:sp>
    </p:spTree>
    <p:extLst>
      <p:ext uri="{BB962C8B-B14F-4D97-AF65-F5344CB8AC3E}">
        <p14:creationId xmlns:p14="http://schemas.microsoft.com/office/powerpoint/2010/main" val="598929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E2DB0-16BD-AC2E-48BA-BD33529C92E9}"/>
              </a:ext>
            </a:extLst>
          </p:cNvPr>
          <p:cNvSpPr>
            <a:spLocks noGrp="1"/>
          </p:cNvSpPr>
          <p:nvPr>
            <p:ph type="title"/>
          </p:nvPr>
        </p:nvSpPr>
        <p:spPr/>
        <p:txBody>
          <a:bodyPr/>
          <a:lstStyle/>
          <a:p>
            <a:r>
              <a:rPr lang="en-IN" dirty="0"/>
              <a:t>Understanding iptables Options in Detail</a:t>
            </a:r>
          </a:p>
        </p:txBody>
      </p:sp>
      <p:sp>
        <p:nvSpPr>
          <p:cNvPr id="3" name="Content Placeholder 2">
            <a:extLst>
              <a:ext uri="{FF2B5EF4-FFF2-40B4-BE49-F238E27FC236}">
                <a16:creationId xmlns:a16="http://schemas.microsoft.com/office/drawing/2014/main" id="{C4796732-E54E-4B59-20BA-DCBEAFA867F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CA4D2553-2E8D-B628-A676-59F504478495}"/>
              </a:ext>
            </a:extLst>
          </p:cNvPr>
          <p:cNvPicPr>
            <a:picLocks noChangeAspect="1"/>
          </p:cNvPicPr>
          <p:nvPr/>
        </p:nvPicPr>
        <p:blipFill>
          <a:blip r:embed="rId2"/>
          <a:stretch>
            <a:fillRect/>
          </a:stretch>
        </p:blipFill>
        <p:spPr>
          <a:xfrm>
            <a:off x="1243172" y="1292617"/>
            <a:ext cx="9017285" cy="5072223"/>
          </a:xfrm>
          <a:prstGeom prst="rect">
            <a:avLst/>
          </a:prstGeom>
        </p:spPr>
      </p:pic>
    </p:spTree>
    <p:extLst>
      <p:ext uri="{BB962C8B-B14F-4D97-AF65-F5344CB8AC3E}">
        <p14:creationId xmlns:p14="http://schemas.microsoft.com/office/powerpoint/2010/main" val="3294885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32972-6F08-880C-F964-65CCB8AD2D5D}"/>
              </a:ext>
            </a:extLst>
          </p:cNvPr>
          <p:cNvSpPr>
            <a:spLocks noGrp="1"/>
          </p:cNvSpPr>
          <p:nvPr>
            <p:ph type="title"/>
          </p:nvPr>
        </p:nvSpPr>
        <p:spPr/>
        <p:txBody>
          <a:bodyPr/>
          <a:lstStyle/>
          <a:p>
            <a:r>
              <a:rPr lang="en-IN" dirty="0"/>
              <a:t>-A Example</a:t>
            </a:r>
          </a:p>
        </p:txBody>
      </p:sp>
      <p:sp>
        <p:nvSpPr>
          <p:cNvPr id="3" name="Content Placeholder 2">
            <a:extLst>
              <a:ext uri="{FF2B5EF4-FFF2-40B4-BE49-F238E27FC236}">
                <a16:creationId xmlns:a16="http://schemas.microsoft.com/office/drawing/2014/main" id="{D416FBFB-BA0F-D619-984C-1D175C04545C}"/>
              </a:ext>
            </a:extLst>
          </p:cNvPr>
          <p:cNvSpPr>
            <a:spLocks noGrp="1"/>
          </p:cNvSpPr>
          <p:nvPr>
            <p:ph idx="1"/>
          </p:nvPr>
        </p:nvSpPr>
        <p:spPr/>
        <p:txBody>
          <a:bodyPr/>
          <a:lstStyle/>
          <a:p>
            <a:r>
              <a:rPr lang="en-IN" dirty="0"/>
              <a:t>iptables -A INPUT -p </a:t>
            </a:r>
            <a:r>
              <a:rPr lang="en-IN" dirty="0" err="1"/>
              <a:t>tcp</a:t>
            </a:r>
            <a:r>
              <a:rPr lang="en-IN" dirty="0"/>
              <a:t> --</a:t>
            </a:r>
            <a:r>
              <a:rPr lang="en-IN" dirty="0" err="1"/>
              <a:t>dport</a:t>
            </a:r>
            <a:r>
              <a:rPr lang="en-IN" dirty="0"/>
              <a:t> 25 -j DROP</a:t>
            </a:r>
          </a:p>
          <a:p>
            <a:endParaRPr lang="en-IN" dirty="0"/>
          </a:p>
          <a:p>
            <a:r>
              <a:rPr lang="en-IN" dirty="0"/>
              <a:t>On Metasploit:</a:t>
            </a:r>
          </a:p>
          <a:p>
            <a:pPr lvl="1"/>
            <a:r>
              <a:rPr lang="en-IN" dirty="0" err="1"/>
              <a:t>sudo</a:t>
            </a:r>
            <a:r>
              <a:rPr lang="en-IN" dirty="0"/>
              <a:t> </a:t>
            </a:r>
            <a:r>
              <a:rPr lang="en-IN" dirty="0" err="1"/>
              <a:t>su</a:t>
            </a:r>
            <a:endParaRPr lang="en-IN" dirty="0"/>
          </a:p>
          <a:p>
            <a:pPr lvl="1"/>
            <a:r>
              <a:rPr lang="en-IN" dirty="0"/>
              <a:t>iptables -A INPUT -p </a:t>
            </a:r>
            <a:r>
              <a:rPr lang="en-IN" dirty="0" err="1"/>
              <a:t>tcp</a:t>
            </a:r>
            <a:r>
              <a:rPr lang="en-IN" dirty="0"/>
              <a:t> --</a:t>
            </a:r>
            <a:r>
              <a:rPr lang="en-IN" dirty="0" err="1"/>
              <a:t>dport</a:t>
            </a:r>
            <a:r>
              <a:rPr lang="en-IN" dirty="0"/>
              <a:t> 25 -j DROP</a:t>
            </a:r>
          </a:p>
          <a:p>
            <a:r>
              <a:rPr lang="en-IN" dirty="0"/>
              <a:t>Then try scanning port 25 of Metasploit from Kali</a:t>
            </a:r>
          </a:p>
          <a:p>
            <a:pPr lvl="1"/>
            <a:r>
              <a:rPr lang="en-IN" dirty="0" err="1"/>
              <a:t>nmap</a:t>
            </a:r>
            <a:r>
              <a:rPr lang="en-IN" dirty="0"/>
              <a:t> -p 25 192.168.0.28</a:t>
            </a:r>
          </a:p>
          <a:p>
            <a:endParaRPr lang="en-IN" dirty="0"/>
          </a:p>
        </p:txBody>
      </p:sp>
      <p:pic>
        <p:nvPicPr>
          <p:cNvPr id="5" name="Picture 4">
            <a:extLst>
              <a:ext uri="{FF2B5EF4-FFF2-40B4-BE49-F238E27FC236}">
                <a16:creationId xmlns:a16="http://schemas.microsoft.com/office/drawing/2014/main" id="{2AD69F29-469A-D7EA-A2D2-DDD6DAD10CC6}"/>
              </a:ext>
            </a:extLst>
          </p:cNvPr>
          <p:cNvPicPr>
            <a:picLocks noChangeAspect="1"/>
          </p:cNvPicPr>
          <p:nvPr/>
        </p:nvPicPr>
        <p:blipFill>
          <a:blip r:embed="rId2"/>
          <a:stretch>
            <a:fillRect/>
          </a:stretch>
        </p:blipFill>
        <p:spPr>
          <a:xfrm>
            <a:off x="5067514" y="4600478"/>
            <a:ext cx="5550185" cy="1892397"/>
          </a:xfrm>
          <a:prstGeom prst="rect">
            <a:avLst/>
          </a:prstGeom>
        </p:spPr>
      </p:pic>
      <p:sp>
        <p:nvSpPr>
          <p:cNvPr id="6" name="TextBox 5">
            <a:extLst>
              <a:ext uri="{FF2B5EF4-FFF2-40B4-BE49-F238E27FC236}">
                <a16:creationId xmlns:a16="http://schemas.microsoft.com/office/drawing/2014/main" id="{76223AB9-9060-68B4-CE41-E89A4D2E9560}"/>
              </a:ext>
            </a:extLst>
          </p:cNvPr>
          <p:cNvSpPr txBox="1"/>
          <p:nvPr/>
        </p:nvSpPr>
        <p:spPr>
          <a:xfrm>
            <a:off x="1006867" y="5352836"/>
            <a:ext cx="2455524" cy="1015663"/>
          </a:xfrm>
          <a:prstGeom prst="rect">
            <a:avLst/>
          </a:prstGeom>
          <a:solidFill>
            <a:schemeClr val="accent2">
              <a:lumMod val="60000"/>
              <a:lumOff val="40000"/>
            </a:schemeClr>
          </a:solidFill>
        </p:spPr>
        <p:txBody>
          <a:bodyPr wrap="square" rtlCol="0">
            <a:spAutoFit/>
          </a:bodyPr>
          <a:lstStyle/>
          <a:p>
            <a:r>
              <a:rPr lang="en-IN" sz="2000" dirty="0"/>
              <a:t>If </a:t>
            </a:r>
            <a:r>
              <a:rPr lang="en-IN" sz="2000" dirty="0" err="1"/>
              <a:t>nmap</a:t>
            </a:r>
            <a:r>
              <a:rPr lang="en-IN" sz="2000" dirty="0"/>
              <a:t> is not installed, </a:t>
            </a:r>
            <a:r>
              <a:rPr lang="en-IN" sz="2000" b="1" dirty="0" err="1"/>
              <a:t>sudo</a:t>
            </a:r>
            <a:r>
              <a:rPr lang="en-IN" sz="2000" b="1" dirty="0"/>
              <a:t> apt-get install </a:t>
            </a:r>
            <a:r>
              <a:rPr lang="en-IN" sz="2000" b="1" dirty="0" err="1"/>
              <a:t>nmap</a:t>
            </a:r>
            <a:endParaRPr lang="en-IN" sz="2000" b="1" dirty="0"/>
          </a:p>
        </p:txBody>
      </p:sp>
    </p:spTree>
    <p:extLst>
      <p:ext uri="{BB962C8B-B14F-4D97-AF65-F5344CB8AC3E}">
        <p14:creationId xmlns:p14="http://schemas.microsoft.com/office/powerpoint/2010/main" val="2138864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87F1A-C1E1-2BAD-4326-DC1D4F42D505}"/>
              </a:ext>
            </a:extLst>
          </p:cNvPr>
          <p:cNvSpPr>
            <a:spLocks noGrp="1"/>
          </p:cNvSpPr>
          <p:nvPr>
            <p:ph type="title"/>
          </p:nvPr>
        </p:nvSpPr>
        <p:spPr/>
        <p:txBody>
          <a:bodyPr/>
          <a:lstStyle/>
          <a:p>
            <a:r>
              <a:rPr lang="en-IN" dirty="0"/>
              <a:t>Deleting an iptables Rule</a:t>
            </a:r>
          </a:p>
        </p:txBody>
      </p:sp>
      <p:sp>
        <p:nvSpPr>
          <p:cNvPr id="3" name="Content Placeholder 2">
            <a:extLst>
              <a:ext uri="{FF2B5EF4-FFF2-40B4-BE49-F238E27FC236}">
                <a16:creationId xmlns:a16="http://schemas.microsoft.com/office/drawing/2014/main" id="{90920587-8C8A-4A11-4DA4-EB424DC7268C}"/>
              </a:ext>
            </a:extLst>
          </p:cNvPr>
          <p:cNvSpPr>
            <a:spLocks noGrp="1"/>
          </p:cNvSpPr>
          <p:nvPr>
            <p:ph idx="1"/>
          </p:nvPr>
        </p:nvSpPr>
        <p:spPr/>
        <p:txBody>
          <a:bodyPr>
            <a:normAutofit lnSpcReduction="10000"/>
          </a:bodyPr>
          <a:lstStyle/>
          <a:p>
            <a:r>
              <a:rPr lang="en-IN" dirty="0"/>
              <a:t>First see which rules are implemented: </a:t>
            </a:r>
            <a:r>
              <a:rPr lang="en-IN" b="1" dirty="0" err="1"/>
              <a:t>sudo</a:t>
            </a:r>
            <a:r>
              <a:rPr lang="en-IN" b="1" dirty="0"/>
              <a:t> iptables -L </a:t>
            </a:r>
            <a:r>
              <a:rPr lang="en-IN" dirty="0"/>
              <a:t>on </a:t>
            </a:r>
            <a:r>
              <a:rPr lang="en-IN" dirty="0" err="1"/>
              <a:t>Metsploit</a:t>
            </a:r>
            <a:endParaRPr lang="en-IN" dirty="0"/>
          </a:p>
          <a:p>
            <a:r>
              <a:rPr lang="en-IN" dirty="0"/>
              <a:t>Only for INPUT:</a:t>
            </a:r>
            <a:r>
              <a:rPr lang="en-IN" b="1" dirty="0"/>
              <a:t> </a:t>
            </a:r>
            <a:r>
              <a:rPr lang="en-IN" b="1" dirty="0" err="1"/>
              <a:t>sudo</a:t>
            </a:r>
            <a:r>
              <a:rPr lang="en-IN" b="1" dirty="0"/>
              <a:t> iptables –L INPUT</a:t>
            </a:r>
          </a:p>
          <a:p>
            <a:endParaRPr lang="en-IN" b="1" dirty="0"/>
          </a:p>
          <a:p>
            <a:r>
              <a:rPr lang="en-IN" dirty="0"/>
              <a:t>Delete a rule: </a:t>
            </a:r>
            <a:r>
              <a:rPr lang="en-US" b="1" dirty="0" err="1"/>
              <a:t>sudo</a:t>
            </a:r>
            <a:r>
              <a:rPr lang="en-US" b="1" dirty="0"/>
              <a:t> iptables -D [CHAIN] [LINE_NUMBER]</a:t>
            </a:r>
          </a:p>
          <a:p>
            <a:r>
              <a:rPr lang="en-US" b="1" dirty="0" err="1"/>
              <a:t>sudo</a:t>
            </a:r>
            <a:r>
              <a:rPr lang="en-US" b="1" dirty="0"/>
              <a:t> iptables –D INPUT 1</a:t>
            </a:r>
            <a:endParaRPr lang="en-US" dirty="0"/>
          </a:p>
          <a:p>
            <a:endParaRPr lang="en-US" b="1" dirty="0"/>
          </a:p>
          <a:p>
            <a:r>
              <a:rPr lang="en-US" dirty="0"/>
              <a:t>Verify that it got deleted: </a:t>
            </a:r>
            <a:r>
              <a:rPr lang="en-IN" b="1" dirty="0" err="1"/>
              <a:t>sudo</a:t>
            </a:r>
            <a:r>
              <a:rPr lang="en-IN" b="1" dirty="0"/>
              <a:t> iptables –L INPUT</a:t>
            </a:r>
          </a:p>
          <a:p>
            <a:endParaRPr lang="en-IN" b="1" dirty="0"/>
          </a:p>
          <a:p>
            <a:r>
              <a:rPr lang="en-IN" dirty="0"/>
              <a:t>Delete all the rules for input chain: </a:t>
            </a:r>
            <a:r>
              <a:rPr lang="en-IN" b="1" dirty="0" err="1"/>
              <a:t>sudo</a:t>
            </a:r>
            <a:r>
              <a:rPr lang="en-IN" b="1" dirty="0"/>
              <a:t> iptables -F INPUT</a:t>
            </a:r>
          </a:p>
        </p:txBody>
      </p:sp>
    </p:spTree>
    <p:extLst>
      <p:ext uri="{BB962C8B-B14F-4D97-AF65-F5344CB8AC3E}">
        <p14:creationId xmlns:p14="http://schemas.microsoft.com/office/powerpoint/2010/main" val="34629628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0FB7C-CFBB-EADA-39B4-7276CE564E4F}"/>
              </a:ext>
            </a:extLst>
          </p:cNvPr>
          <p:cNvSpPr>
            <a:spLocks noGrp="1"/>
          </p:cNvSpPr>
          <p:nvPr>
            <p:ph type="title"/>
          </p:nvPr>
        </p:nvSpPr>
        <p:spPr/>
        <p:txBody>
          <a:bodyPr/>
          <a:lstStyle/>
          <a:p>
            <a:r>
              <a:rPr lang="en-IN" dirty="0"/>
              <a:t>Let us Test for Web Traffic</a:t>
            </a:r>
          </a:p>
        </p:txBody>
      </p:sp>
      <p:sp>
        <p:nvSpPr>
          <p:cNvPr id="3" name="Content Placeholder 2">
            <a:extLst>
              <a:ext uri="{FF2B5EF4-FFF2-40B4-BE49-F238E27FC236}">
                <a16:creationId xmlns:a16="http://schemas.microsoft.com/office/drawing/2014/main" id="{384DE1CB-F1EB-1C7A-F2C4-063F4B4177BC}"/>
              </a:ext>
            </a:extLst>
          </p:cNvPr>
          <p:cNvSpPr>
            <a:spLocks noGrp="1"/>
          </p:cNvSpPr>
          <p:nvPr>
            <p:ph idx="1"/>
          </p:nvPr>
        </p:nvSpPr>
        <p:spPr/>
        <p:txBody>
          <a:bodyPr/>
          <a:lstStyle/>
          <a:p>
            <a:r>
              <a:rPr lang="en-IN" dirty="0"/>
              <a:t>First install Apache web server on Metasploit: </a:t>
            </a:r>
            <a:r>
              <a:rPr lang="en-IN" b="1" dirty="0"/>
              <a:t>apt install apache2</a:t>
            </a:r>
            <a:r>
              <a:rPr lang="en-IN" dirty="0"/>
              <a:t> and if it does not work, </a:t>
            </a:r>
            <a:r>
              <a:rPr lang="en-IN" b="1" dirty="0"/>
              <a:t>apt-get install apache2</a:t>
            </a:r>
            <a:endParaRPr lang="en-IN" dirty="0"/>
          </a:p>
          <a:p>
            <a:r>
              <a:rPr lang="en-IN" dirty="0"/>
              <a:t>Let us scan port 80 of Metasploit from Kali – Success</a:t>
            </a:r>
          </a:p>
          <a:p>
            <a:r>
              <a:rPr lang="en-IN" dirty="0"/>
              <a:t>On Kali: </a:t>
            </a:r>
            <a:r>
              <a:rPr lang="en-IN" b="1" dirty="0" err="1"/>
              <a:t>nmap</a:t>
            </a:r>
            <a:r>
              <a:rPr lang="en-IN" b="1" dirty="0"/>
              <a:t> -p 80 192.168.0.28</a:t>
            </a:r>
            <a:endParaRPr lang="en-IN" dirty="0"/>
          </a:p>
        </p:txBody>
      </p:sp>
      <p:pic>
        <p:nvPicPr>
          <p:cNvPr id="5" name="Picture 4">
            <a:extLst>
              <a:ext uri="{FF2B5EF4-FFF2-40B4-BE49-F238E27FC236}">
                <a16:creationId xmlns:a16="http://schemas.microsoft.com/office/drawing/2014/main" id="{013E449A-4BC4-7A2F-3F1E-4B3B7E820ED0}"/>
              </a:ext>
            </a:extLst>
          </p:cNvPr>
          <p:cNvPicPr>
            <a:picLocks noChangeAspect="1"/>
          </p:cNvPicPr>
          <p:nvPr/>
        </p:nvPicPr>
        <p:blipFill>
          <a:blip r:embed="rId2"/>
          <a:stretch>
            <a:fillRect/>
          </a:stretch>
        </p:blipFill>
        <p:spPr>
          <a:xfrm>
            <a:off x="2222835" y="4181647"/>
            <a:ext cx="5562737" cy="1705053"/>
          </a:xfrm>
          <a:prstGeom prst="rect">
            <a:avLst/>
          </a:prstGeom>
        </p:spPr>
      </p:pic>
    </p:spTree>
    <p:extLst>
      <p:ext uri="{BB962C8B-B14F-4D97-AF65-F5344CB8AC3E}">
        <p14:creationId xmlns:p14="http://schemas.microsoft.com/office/powerpoint/2010/main" val="3506779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0FB7C-CFBB-EADA-39B4-7276CE564E4F}"/>
              </a:ext>
            </a:extLst>
          </p:cNvPr>
          <p:cNvSpPr>
            <a:spLocks noGrp="1"/>
          </p:cNvSpPr>
          <p:nvPr>
            <p:ph type="title"/>
          </p:nvPr>
        </p:nvSpPr>
        <p:spPr/>
        <p:txBody>
          <a:bodyPr/>
          <a:lstStyle/>
          <a:p>
            <a:r>
              <a:rPr lang="en-IN" dirty="0"/>
              <a:t>Let us Test for Web Traffic</a:t>
            </a:r>
          </a:p>
        </p:txBody>
      </p:sp>
      <p:sp>
        <p:nvSpPr>
          <p:cNvPr id="3" name="Content Placeholder 2">
            <a:extLst>
              <a:ext uri="{FF2B5EF4-FFF2-40B4-BE49-F238E27FC236}">
                <a16:creationId xmlns:a16="http://schemas.microsoft.com/office/drawing/2014/main" id="{384DE1CB-F1EB-1C7A-F2C4-063F4B4177BC}"/>
              </a:ext>
            </a:extLst>
          </p:cNvPr>
          <p:cNvSpPr>
            <a:spLocks noGrp="1"/>
          </p:cNvSpPr>
          <p:nvPr>
            <p:ph idx="1"/>
          </p:nvPr>
        </p:nvSpPr>
        <p:spPr/>
        <p:txBody>
          <a:bodyPr/>
          <a:lstStyle/>
          <a:p>
            <a:r>
              <a:rPr lang="en-IN" dirty="0"/>
              <a:t>Now let us run this command on Metasploit:</a:t>
            </a:r>
          </a:p>
          <a:p>
            <a:r>
              <a:rPr lang="en-IN" b="1" dirty="0"/>
              <a:t>iptables -A INPUT -p </a:t>
            </a:r>
            <a:r>
              <a:rPr lang="en-IN" b="1" dirty="0" err="1"/>
              <a:t>tcp</a:t>
            </a:r>
            <a:r>
              <a:rPr lang="en-IN" b="1" dirty="0"/>
              <a:t> --</a:t>
            </a:r>
            <a:r>
              <a:rPr lang="en-IN" b="1" dirty="0" err="1"/>
              <a:t>dport</a:t>
            </a:r>
            <a:r>
              <a:rPr lang="en-IN" b="1" dirty="0"/>
              <a:t> 80 -j DROP</a:t>
            </a:r>
          </a:p>
          <a:p>
            <a:endParaRPr lang="en-IN" dirty="0"/>
          </a:p>
          <a:p>
            <a:r>
              <a:rPr lang="en-IN" dirty="0"/>
              <a:t>Let us again scan port 80 of Metasploit from Kali</a:t>
            </a:r>
          </a:p>
          <a:p>
            <a:r>
              <a:rPr lang="en-IN" dirty="0"/>
              <a:t>On Kali: </a:t>
            </a:r>
            <a:r>
              <a:rPr lang="en-IN" b="1" dirty="0" err="1"/>
              <a:t>nmap</a:t>
            </a:r>
            <a:r>
              <a:rPr lang="en-IN" b="1" dirty="0"/>
              <a:t> -p 80 192.168.0.28</a:t>
            </a:r>
          </a:p>
          <a:p>
            <a:endParaRPr lang="en-IN" dirty="0"/>
          </a:p>
        </p:txBody>
      </p:sp>
      <p:pic>
        <p:nvPicPr>
          <p:cNvPr id="8" name="Picture 7">
            <a:extLst>
              <a:ext uri="{FF2B5EF4-FFF2-40B4-BE49-F238E27FC236}">
                <a16:creationId xmlns:a16="http://schemas.microsoft.com/office/drawing/2014/main" id="{CFC10C7D-A8FF-F0FD-2716-4B9EE7C9152C}"/>
              </a:ext>
            </a:extLst>
          </p:cNvPr>
          <p:cNvPicPr>
            <a:picLocks noChangeAspect="1"/>
          </p:cNvPicPr>
          <p:nvPr/>
        </p:nvPicPr>
        <p:blipFill>
          <a:blip r:embed="rId2"/>
          <a:stretch>
            <a:fillRect/>
          </a:stretch>
        </p:blipFill>
        <p:spPr>
          <a:xfrm>
            <a:off x="6368562" y="3928769"/>
            <a:ext cx="5105662" cy="1879697"/>
          </a:xfrm>
          <a:prstGeom prst="rect">
            <a:avLst/>
          </a:prstGeom>
        </p:spPr>
      </p:pic>
    </p:spTree>
    <p:extLst>
      <p:ext uri="{BB962C8B-B14F-4D97-AF65-F5344CB8AC3E}">
        <p14:creationId xmlns:p14="http://schemas.microsoft.com/office/powerpoint/2010/main" val="14145658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3AB35-6A94-64FD-D341-E46DC8DA9897}"/>
              </a:ext>
            </a:extLst>
          </p:cNvPr>
          <p:cNvSpPr>
            <a:spLocks noGrp="1"/>
          </p:cNvSpPr>
          <p:nvPr>
            <p:ph type="title"/>
          </p:nvPr>
        </p:nvSpPr>
        <p:spPr/>
        <p:txBody>
          <a:bodyPr/>
          <a:lstStyle/>
          <a:p>
            <a:r>
              <a:rPr lang="en-IN" dirty="0"/>
              <a:t>The -I Option</a:t>
            </a:r>
          </a:p>
        </p:txBody>
      </p:sp>
      <p:sp>
        <p:nvSpPr>
          <p:cNvPr id="3" name="Content Placeholder 2">
            <a:extLst>
              <a:ext uri="{FF2B5EF4-FFF2-40B4-BE49-F238E27FC236}">
                <a16:creationId xmlns:a16="http://schemas.microsoft.com/office/drawing/2014/main" id="{39BF6E0A-C95B-80AA-A5F2-0B496A4D970C}"/>
              </a:ext>
            </a:extLst>
          </p:cNvPr>
          <p:cNvSpPr>
            <a:spLocks noGrp="1"/>
          </p:cNvSpPr>
          <p:nvPr>
            <p:ph idx="1"/>
          </p:nvPr>
        </p:nvSpPr>
        <p:spPr/>
        <p:txBody>
          <a:bodyPr/>
          <a:lstStyle/>
          <a:p>
            <a:r>
              <a:rPr lang="en-IN" dirty="0"/>
              <a:t>-A appends the rule to the end of the specified chain </a:t>
            </a:r>
          </a:p>
          <a:p>
            <a:r>
              <a:rPr lang="en-IN" dirty="0"/>
              <a:t>But -I adds it at a specific place in the chain, as per the user-defined value </a:t>
            </a:r>
            <a:r>
              <a:rPr lang="en-IN" b="1" dirty="0"/>
              <a:t>iptables -I INPUT 2 -p </a:t>
            </a:r>
            <a:r>
              <a:rPr lang="en-IN" b="1" dirty="0" err="1"/>
              <a:t>tcp</a:t>
            </a:r>
            <a:r>
              <a:rPr lang="en-IN" b="1" dirty="0"/>
              <a:t> --</a:t>
            </a:r>
            <a:r>
              <a:rPr lang="en-IN" b="1" dirty="0" err="1"/>
              <a:t>dport</a:t>
            </a:r>
            <a:r>
              <a:rPr lang="en-IN" b="1" dirty="0"/>
              <a:t> 21 -j DROP </a:t>
            </a:r>
            <a:r>
              <a:rPr lang="en-IN" dirty="0"/>
              <a:t>and then </a:t>
            </a:r>
            <a:r>
              <a:rPr lang="en-IN" b="1" dirty="0"/>
              <a:t>iptables -</a:t>
            </a:r>
            <a:r>
              <a:rPr lang="en-IN" b="1" dirty="0" err="1"/>
              <a:t>vnL</a:t>
            </a:r>
            <a:endParaRPr lang="en-IN" dirty="0"/>
          </a:p>
          <a:p>
            <a:pPr lvl="1"/>
            <a:r>
              <a:rPr lang="en-IN" dirty="0"/>
              <a:t>If no value is specified, it is added at the top of the chain</a:t>
            </a:r>
          </a:p>
          <a:p>
            <a:r>
              <a:rPr lang="en-IN" dirty="0"/>
              <a:t>Let us add a rule on Metasploit: </a:t>
            </a:r>
            <a:r>
              <a:rPr lang="en-IN" b="1" dirty="0"/>
              <a:t>iptables -I INPUT -p </a:t>
            </a:r>
            <a:r>
              <a:rPr lang="en-IN" b="1" dirty="0" err="1"/>
              <a:t>udp</a:t>
            </a:r>
            <a:r>
              <a:rPr lang="en-IN" b="1" dirty="0"/>
              <a:t> --</a:t>
            </a:r>
            <a:r>
              <a:rPr lang="en-IN" b="1" dirty="0" err="1"/>
              <a:t>dport</a:t>
            </a:r>
            <a:r>
              <a:rPr lang="en-IN" b="1" dirty="0"/>
              <a:t> 69 -j DROP </a:t>
            </a:r>
            <a:r>
              <a:rPr lang="en-IN" dirty="0"/>
              <a:t>and then </a:t>
            </a:r>
            <a:r>
              <a:rPr lang="en-IN" b="1" dirty="0"/>
              <a:t>iptables -</a:t>
            </a:r>
            <a:r>
              <a:rPr lang="en-IN" b="1" dirty="0" err="1"/>
              <a:t>vnL</a:t>
            </a:r>
            <a:r>
              <a:rPr lang="en-IN" b="1" dirty="0"/>
              <a:t> </a:t>
            </a:r>
            <a:endParaRPr lang="en-IN" dirty="0"/>
          </a:p>
          <a:p>
            <a:endParaRPr lang="en-IN" dirty="0"/>
          </a:p>
          <a:p>
            <a:endParaRPr lang="en-IN" dirty="0"/>
          </a:p>
        </p:txBody>
      </p:sp>
      <p:pic>
        <p:nvPicPr>
          <p:cNvPr id="5" name="Picture 4">
            <a:extLst>
              <a:ext uri="{FF2B5EF4-FFF2-40B4-BE49-F238E27FC236}">
                <a16:creationId xmlns:a16="http://schemas.microsoft.com/office/drawing/2014/main" id="{8146E0E6-7038-BC26-7402-29A7A6EB00BC}"/>
              </a:ext>
            </a:extLst>
          </p:cNvPr>
          <p:cNvPicPr>
            <a:picLocks noChangeAspect="1"/>
          </p:cNvPicPr>
          <p:nvPr/>
        </p:nvPicPr>
        <p:blipFill>
          <a:blip r:embed="rId2"/>
          <a:stretch>
            <a:fillRect/>
          </a:stretch>
        </p:blipFill>
        <p:spPr>
          <a:xfrm>
            <a:off x="3285730" y="5071237"/>
            <a:ext cx="7821490" cy="1586025"/>
          </a:xfrm>
          <a:prstGeom prst="rect">
            <a:avLst/>
          </a:prstGeom>
        </p:spPr>
      </p:pic>
    </p:spTree>
    <p:extLst>
      <p:ext uri="{BB962C8B-B14F-4D97-AF65-F5344CB8AC3E}">
        <p14:creationId xmlns:p14="http://schemas.microsoft.com/office/powerpoint/2010/main" val="35213435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AE2FC-FDF4-C969-68E3-204B7AACCABC}"/>
              </a:ext>
            </a:extLst>
          </p:cNvPr>
          <p:cNvSpPr>
            <a:spLocks noGrp="1"/>
          </p:cNvSpPr>
          <p:nvPr>
            <p:ph type="title"/>
          </p:nvPr>
        </p:nvSpPr>
        <p:spPr/>
        <p:txBody>
          <a:bodyPr/>
          <a:lstStyle/>
          <a:p>
            <a:r>
              <a:rPr lang="en-IN" dirty="0"/>
              <a:t>How are Rules Processed?</a:t>
            </a:r>
          </a:p>
        </p:txBody>
      </p:sp>
      <p:sp>
        <p:nvSpPr>
          <p:cNvPr id="3" name="Content Placeholder 2">
            <a:extLst>
              <a:ext uri="{FF2B5EF4-FFF2-40B4-BE49-F238E27FC236}">
                <a16:creationId xmlns:a16="http://schemas.microsoft.com/office/drawing/2014/main" id="{BB83F862-FDF8-CB83-400F-8FD0AC7BB2CA}"/>
              </a:ext>
            </a:extLst>
          </p:cNvPr>
          <p:cNvSpPr>
            <a:spLocks noGrp="1"/>
          </p:cNvSpPr>
          <p:nvPr>
            <p:ph idx="1"/>
          </p:nvPr>
        </p:nvSpPr>
        <p:spPr/>
        <p:txBody>
          <a:bodyPr/>
          <a:lstStyle/>
          <a:p>
            <a:r>
              <a:rPr lang="en-IN" dirty="0"/>
              <a:t>Top to bottom, in sequence</a:t>
            </a:r>
          </a:p>
          <a:p>
            <a:r>
              <a:rPr lang="en-IN" dirty="0"/>
              <a:t>Hence, it is important to specify the rules precisely where we want them</a:t>
            </a:r>
          </a:p>
          <a:p>
            <a:r>
              <a:rPr lang="en-IN" dirty="0"/>
              <a:t>Add these rules to Metasploit: </a:t>
            </a:r>
          </a:p>
          <a:p>
            <a:pPr lvl="1"/>
            <a:r>
              <a:rPr lang="en-IN" b="1" dirty="0"/>
              <a:t>iptables -I INPUT -p </a:t>
            </a:r>
            <a:r>
              <a:rPr lang="en-IN" b="1" dirty="0" err="1"/>
              <a:t>tcp</a:t>
            </a:r>
            <a:r>
              <a:rPr lang="en-IN" b="1" dirty="0"/>
              <a:t> --</a:t>
            </a:r>
            <a:r>
              <a:rPr lang="en-IN" b="1" dirty="0" err="1"/>
              <a:t>dport</a:t>
            </a:r>
            <a:r>
              <a:rPr lang="en-IN" b="1" dirty="0"/>
              <a:t> 80 -j DROP</a:t>
            </a:r>
          </a:p>
          <a:p>
            <a:pPr lvl="1"/>
            <a:r>
              <a:rPr lang="en-IN" b="1" dirty="0"/>
              <a:t>iptables -I INPUT -p </a:t>
            </a:r>
            <a:r>
              <a:rPr lang="en-IN" b="1" dirty="0" err="1"/>
              <a:t>tcp</a:t>
            </a:r>
            <a:r>
              <a:rPr lang="en-IN" b="1" dirty="0"/>
              <a:t> --</a:t>
            </a:r>
            <a:r>
              <a:rPr lang="en-IN" b="1" dirty="0" err="1"/>
              <a:t>dport</a:t>
            </a:r>
            <a:r>
              <a:rPr lang="en-IN" b="1" dirty="0"/>
              <a:t> 80 -j ACCEPT</a:t>
            </a:r>
          </a:p>
          <a:p>
            <a:r>
              <a:rPr lang="en-IN" dirty="0"/>
              <a:t>Will the traffic to port 80 be accepted or dropped?</a:t>
            </a:r>
          </a:p>
          <a:p>
            <a:r>
              <a:rPr lang="en-IN" dirty="0"/>
              <a:t>From Kali Linux, try this: 192.168.0.28 in the browser</a:t>
            </a:r>
          </a:p>
        </p:txBody>
      </p:sp>
      <p:pic>
        <p:nvPicPr>
          <p:cNvPr id="7" name="Picture 6">
            <a:extLst>
              <a:ext uri="{FF2B5EF4-FFF2-40B4-BE49-F238E27FC236}">
                <a16:creationId xmlns:a16="http://schemas.microsoft.com/office/drawing/2014/main" id="{09D6D4CD-6B26-BF29-5B15-EF135F433109}"/>
              </a:ext>
            </a:extLst>
          </p:cNvPr>
          <p:cNvPicPr>
            <a:picLocks noChangeAspect="1"/>
          </p:cNvPicPr>
          <p:nvPr/>
        </p:nvPicPr>
        <p:blipFill>
          <a:blip r:embed="rId2"/>
          <a:stretch>
            <a:fillRect/>
          </a:stretch>
        </p:blipFill>
        <p:spPr>
          <a:xfrm>
            <a:off x="7304593" y="3429000"/>
            <a:ext cx="4746994" cy="876167"/>
          </a:xfrm>
          <a:prstGeom prst="rect">
            <a:avLst/>
          </a:prstGeom>
        </p:spPr>
      </p:pic>
    </p:spTree>
    <p:extLst>
      <p:ext uri="{BB962C8B-B14F-4D97-AF65-F5344CB8AC3E}">
        <p14:creationId xmlns:p14="http://schemas.microsoft.com/office/powerpoint/2010/main" val="37830522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98285-9347-44D7-8042-68148D842F08}"/>
              </a:ext>
            </a:extLst>
          </p:cNvPr>
          <p:cNvSpPr>
            <a:spLocks noGrp="1"/>
          </p:cNvSpPr>
          <p:nvPr>
            <p:ph type="title"/>
          </p:nvPr>
        </p:nvSpPr>
        <p:spPr/>
        <p:txBody>
          <a:bodyPr/>
          <a:lstStyle/>
          <a:p>
            <a:r>
              <a:rPr lang="en-IN" dirty="0"/>
              <a:t>How are Rules Processed?</a:t>
            </a:r>
          </a:p>
        </p:txBody>
      </p:sp>
      <p:sp>
        <p:nvSpPr>
          <p:cNvPr id="3" name="Content Placeholder 2">
            <a:extLst>
              <a:ext uri="{FF2B5EF4-FFF2-40B4-BE49-F238E27FC236}">
                <a16:creationId xmlns:a16="http://schemas.microsoft.com/office/drawing/2014/main" id="{734D7D6F-5824-A712-5A39-24691DCAF972}"/>
              </a:ext>
            </a:extLst>
          </p:cNvPr>
          <p:cNvSpPr>
            <a:spLocks noGrp="1"/>
          </p:cNvSpPr>
          <p:nvPr>
            <p:ph idx="1"/>
          </p:nvPr>
        </p:nvSpPr>
        <p:spPr/>
        <p:txBody>
          <a:bodyPr/>
          <a:lstStyle/>
          <a:p>
            <a:r>
              <a:rPr lang="en-IN" dirty="0"/>
              <a:t>This is what we get on Kali Linux</a:t>
            </a:r>
          </a:p>
          <a:p>
            <a:endParaRPr lang="en-IN" dirty="0"/>
          </a:p>
          <a:p>
            <a:endParaRPr lang="en-IN" dirty="0"/>
          </a:p>
          <a:p>
            <a:endParaRPr lang="en-IN" dirty="0"/>
          </a:p>
          <a:p>
            <a:endParaRPr lang="en-IN" dirty="0"/>
          </a:p>
          <a:p>
            <a:endParaRPr lang="en-IN" dirty="0"/>
          </a:p>
          <a:p>
            <a:endParaRPr lang="en-IN" dirty="0"/>
          </a:p>
          <a:p>
            <a:r>
              <a:rPr lang="en-IN" dirty="0"/>
              <a:t>Conclusion: ACCEPT got processed, DROP never got processed</a:t>
            </a:r>
          </a:p>
          <a:p>
            <a:endParaRPr lang="en-IN" dirty="0"/>
          </a:p>
        </p:txBody>
      </p:sp>
      <p:pic>
        <p:nvPicPr>
          <p:cNvPr id="5" name="Picture 4">
            <a:extLst>
              <a:ext uri="{FF2B5EF4-FFF2-40B4-BE49-F238E27FC236}">
                <a16:creationId xmlns:a16="http://schemas.microsoft.com/office/drawing/2014/main" id="{6628D3C0-765D-0C57-2BCB-9E1F2E046B97}"/>
              </a:ext>
            </a:extLst>
          </p:cNvPr>
          <p:cNvPicPr>
            <a:picLocks noChangeAspect="1"/>
          </p:cNvPicPr>
          <p:nvPr/>
        </p:nvPicPr>
        <p:blipFill>
          <a:blip r:embed="rId2"/>
          <a:stretch>
            <a:fillRect/>
          </a:stretch>
        </p:blipFill>
        <p:spPr>
          <a:xfrm>
            <a:off x="2453647" y="2385136"/>
            <a:ext cx="5878696" cy="2968508"/>
          </a:xfrm>
          <a:prstGeom prst="rect">
            <a:avLst/>
          </a:prstGeom>
        </p:spPr>
      </p:pic>
    </p:spTree>
    <p:extLst>
      <p:ext uri="{BB962C8B-B14F-4D97-AF65-F5344CB8AC3E}">
        <p14:creationId xmlns:p14="http://schemas.microsoft.com/office/powerpoint/2010/main" val="12459957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65EA4-DAB8-2FE1-0497-71FFEE5C7234}"/>
              </a:ext>
            </a:extLst>
          </p:cNvPr>
          <p:cNvSpPr>
            <a:spLocks noGrp="1"/>
          </p:cNvSpPr>
          <p:nvPr>
            <p:ph type="title"/>
          </p:nvPr>
        </p:nvSpPr>
        <p:spPr/>
        <p:txBody>
          <a:bodyPr/>
          <a:lstStyle/>
          <a:p>
            <a:r>
              <a:rPr lang="en-IN" dirty="0"/>
              <a:t>Remove the Rules and Add in the Reverse Order on Metasploit</a:t>
            </a:r>
          </a:p>
        </p:txBody>
      </p:sp>
      <p:sp>
        <p:nvSpPr>
          <p:cNvPr id="3" name="Content Placeholder 2">
            <a:extLst>
              <a:ext uri="{FF2B5EF4-FFF2-40B4-BE49-F238E27FC236}">
                <a16:creationId xmlns:a16="http://schemas.microsoft.com/office/drawing/2014/main" id="{0A068FEB-426F-015D-E704-A521DE3BA541}"/>
              </a:ext>
            </a:extLst>
          </p:cNvPr>
          <p:cNvSpPr>
            <a:spLocks noGrp="1"/>
          </p:cNvSpPr>
          <p:nvPr>
            <p:ph idx="1"/>
          </p:nvPr>
        </p:nvSpPr>
        <p:spPr/>
        <p:txBody>
          <a:bodyPr/>
          <a:lstStyle/>
          <a:p>
            <a:r>
              <a:rPr lang="en-IN" b="1" dirty="0" err="1"/>
              <a:t>sudo</a:t>
            </a:r>
            <a:r>
              <a:rPr lang="en-IN" b="1" dirty="0"/>
              <a:t> iptables -F INPUT</a:t>
            </a:r>
          </a:p>
          <a:p>
            <a:r>
              <a:rPr lang="en-IN" b="1" dirty="0"/>
              <a:t>iptables -I INPUT -p </a:t>
            </a:r>
            <a:r>
              <a:rPr lang="en-IN" b="1" dirty="0" err="1"/>
              <a:t>tcp</a:t>
            </a:r>
            <a:r>
              <a:rPr lang="en-IN" b="1" dirty="0"/>
              <a:t> --</a:t>
            </a:r>
            <a:r>
              <a:rPr lang="en-IN" b="1" dirty="0" err="1"/>
              <a:t>dport</a:t>
            </a:r>
            <a:r>
              <a:rPr lang="en-IN" b="1" dirty="0"/>
              <a:t> 80 -j ACCEPT</a:t>
            </a:r>
          </a:p>
          <a:p>
            <a:r>
              <a:rPr lang="en-IN" b="1" dirty="0"/>
              <a:t>iptables -I INPUT -p </a:t>
            </a:r>
            <a:r>
              <a:rPr lang="en-IN" b="1" dirty="0" err="1"/>
              <a:t>tcp</a:t>
            </a:r>
            <a:r>
              <a:rPr lang="en-IN" b="1" dirty="0"/>
              <a:t> --</a:t>
            </a:r>
            <a:r>
              <a:rPr lang="en-IN" b="1" dirty="0" err="1"/>
              <a:t>dport</a:t>
            </a:r>
            <a:r>
              <a:rPr lang="en-IN" b="1" dirty="0"/>
              <a:t> 80 -j DROP</a:t>
            </a:r>
          </a:p>
          <a:p>
            <a:r>
              <a:rPr lang="en-IN" b="1" dirty="0"/>
              <a:t>iptables –</a:t>
            </a:r>
            <a:r>
              <a:rPr lang="en-IN" b="1" dirty="0" err="1"/>
              <a:t>vnL</a:t>
            </a:r>
            <a:endParaRPr lang="en-IN" dirty="0"/>
          </a:p>
          <a:p>
            <a:endParaRPr lang="en-IN" dirty="0"/>
          </a:p>
          <a:p>
            <a:r>
              <a:rPr lang="en-IN" dirty="0"/>
              <a:t>Try refreshing in Kali Linux … It will not show the Metasploit home page</a:t>
            </a:r>
          </a:p>
        </p:txBody>
      </p:sp>
    </p:spTree>
    <p:extLst>
      <p:ext uri="{BB962C8B-B14F-4D97-AF65-F5344CB8AC3E}">
        <p14:creationId xmlns:p14="http://schemas.microsoft.com/office/powerpoint/2010/main" val="32008549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F06DC-B9A2-B1B5-35B5-65B4A3B0F5D4}"/>
              </a:ext>
            </a:extLst>
          </p:cNvPr>
          <p:cNvSpPr>
            <a:spLocks noGrp="1"/>
          </p:cNvSpPr>
          <p:nvPr>
            <p:ph type="title"/>
          </p:nvPr>
        </p:nvSpPr>
        <p:spPr/>
        <p:txBody>
          <a:bodyPr/>
          <a:lstStyle/>
          <a:p>
            <a:r>
              <a:rPr lang="en-IN" dirty="0"/>
              <a:t>Where to Write Rules?</a:t>
            </a:r>
          </a:p>
        </p:txBody>
      </p:sp>
      <p:sp>
        <p:nvSpPr>
          <p:cNvPr id="3" name="Content Placeholder 2">
            <a:extLst>
              <a:ext uri="{FF2B5EF4-FFF2-40B4-BE49-F238E27FC236}">
                <a16:creationId xmlns:a16="http://schemas.microsoft.com/office/drawing/2014/main" id="{A3BB5768-6218-1881-9D45-BB3C653FADE0}"/>
              </a:ext>
            </a:extLst>
          </p:cNvPr>
          <p:cNvSpPr>
            <a:spLocks noGrp="1"/>
          </p:cNvSpPr>
          <p:nvPr>
            <p:ph idx="1"/>
          </p:nvPr>
        </p:nvSpPr>
        <p:spPr/>
        <p:txBody>
          <a:bodyPr/>
          <a:lstStyle/>
          <a:p>
            <a:r>
              <a:rPr lang="en-IN" dirty="0"/>
              <a:t>Rules written on terminals are executed immediately, but when the computer restarts, they are removed</a:t>
            </a:r>
          </a:p>
          <a:p>
            <a:r>
              <a:rPr lang="en-IN" dirty="0"/>
              <a:t>In such cases, we can add the rules in a shell script, make it executable, and set it to execute at boot time</a:t>
            </a:r>
          </a:p>
          <a:p>
            <a:r>
              <a:rPr lang="en-IN" dirty="0"/>
              <a:t>Example: On the Metasploit machine</a:t>
            </a:r>
          </a:p>
          <a:p>
            <a:pPr lvl="1"/>
            <a:r>
              <a:rPr lang="en-IN" dirty="0"/>
              <a:t>cd /</a:t>
            </a:r>
          </a:p>
          <a:p>
            <a:pPr lvl="1"/>
            <a:r>
              <a:rPr lang="en-IN" dirty="0" err="1"/>
              <a:t>mkdir</a:t>
            </a:r>
            <a:r>
              <a:rPr lang="en-IN" dirty="0"/>
              <a:t> scripts</a:t>
            </a:r>
          </a:p>
          <a:p>
            <a:pPr lvl="1"/>
            <a:r>
              <a:rPr lang="en-IN" dirty="0"/>
              <a:t>cd scripts</a:t>
            </a:r>
          </a:p>
          <a:p>
            <a:pPr lvl="1"/>
            <a:r>
              <a:rPr lang="en-IN" dirty="0"/>
              <a:t>nano iptables_example.sh</a:t>
            </a:r>
          </a:p>
          <a:p>
            <a:endParaRPr lang="en-IN" dirty="0"/>
          </a:p>
        </p:txBody>
      </p:sp>
    </p:spTree>
    <p:extLst>
      <p:ext uri="{BB962C8B-B14F-4D97-AF65-F5344CB8AC3E}">
        <p14:creationId xmlns:p14="http://schemas.microsoft.com/office/powerpoint/2010/main" val="29917097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6EA14-1717-889B-0B1A-25D2ACBC1B8F}"/>
              </a:ext>
            </a:extLst>
          </p:cNvPr>
          <p:cNvSpPr>
            <a:spLocks noGrp="1"/>
          </p:cNvSpPr>
          <p:nvPr>
            <p:ph type="title"/>
          </p:nvPr>
        </p:nvSpPr>
        <p:spPr/>
        <p:txBody>
          <a:bodyPr/>
          <a:lstStyle/>
          <a:p>
            <a:r>
              <a:rPr lang="en-IN" dirty="0"/>
              <a:t>iptables_example.sh</a:t>
            </a:r>
          </a:p>
        </p:txBody>
      </p:sp>
      <p:sp>
        <p:nvSpPr>
          <p:cNvPr id="3" name="Content Placeholder 2">
            <a:extLst>
              <a:ext uri="{FF2B5EF4-FFF2-40B4-BE49-F238E27FC236}">
                <a16:creationId xmlns:a16="http://schemas.microsoft.com/office/drawing/2014/main" id="{3EFB240A-13DA-2BA1-2AB3-0D03679596B1}"/>
              </a:ext>
            </a:extLst>
          </p:cNvPr>
          <p:cNvSpPr>
            <a:spLocks noGrp="1"/>
          </p:cNvSpPr>
          <p:nvPr>
            <p:ph idx="1"/>
          </p:nvPr>
        </p:nvSpPr>
        <p:spPr/>
        <p:txBody>
          <a:bodyPr/>
          <a:lstStyle/>
          <a:p>
            <a:r>
              <a:rPr lang="en-IN" dirty="0"/>
              <a:t>#!/bin/bash</a:t>
            </a:r>
          </a:p>
          <a:p>
            <a:endParaRPr lang="en-IN" dirty="0"/>
          </a:p>
          <a:p>
            <a:r>
              <a:rPr lang="en-IN" dirty="0"/>
              <a:t># drop incoming </a:t>
            </a:r>
            <a:r>
              <a:rPr lang="en-IN" dirty="0" err="1"/>
              <a:t>ssh</a:t>
            </a:r>
            <a:r>
              <a:rPr lang="en-IN" dirty="0"/>
              <a:t> traffic</a:t>
            </a:r>
          </a:p>
          <a:p>
            <a:r>
              <a:rPr lang="en-IN" dirty="0"/>
              <a:t>iptables -A INPUT -p </a:t>
            </a:r>
            <a:r>
              <a:rPr lang="en-IN" dirty="0" err="1"/>
              <a:t>tcp</a:t>
            </a:r>
            <a:r>
              <a:rPr lang="en-IN" dirty="0"/>
              <a:t> --</a:t>
            </a:r>
            <a:r>
              <a:rPr lang="en-IN" dirty="0" err="1"/>
              <a:t>dport</a:t>
            </a:r>
            <a:r>
              <a:rPr lang="en-IN" dirty="0"/>
              <a:t> 22 -j DROP</a:t>
            </a:r>
          </a:p>
          <a:p>
            <a:endParaRPr lang="en-IN" dirty="0"/>
          </a:p>
          <a:p>
            <a:r>
              <a:rPr lang="en-IN" dirty="0"/>
              <a:t># drop outgoing http and https traffic</a:t>
            </a:r>
          </a:p>
          <a:p>
            <a:r>
              <a:rPr lang="en-IN" dirty="0"/>
              <a:t>iptables -A OUTPUT -p </a:t>
            </a:r>
            <a:r>
              <a:rPr lang="en-IN" dirty="0" err="1"/>
              <a:t>tcp</a:t>
            </a:r>
            <a:r>
              <a:rPr lang="en-IN" dirty="0"/>
              <a:t> --</a:t>
            </a:r>
            <a:r>
              <a:rPr lang="en-IN" dirty="0" err="1"/>
              <a:t>dport</a:t>
            </a:r>
            <a:r>
              <a:rPr lang="en-IN" dirty="0"/>
              <a:t> 80 -j DROP</a:t>
            </a:r>
          </a:p>
          <a:p>
            <a:r>
              <a:rPr lang="en-IN" dirty="0"/>
              <a:t>iptables -A OUTPUT -p </a:t>
            </a:r>
            <a:r>
              <a:rPr lang="en-IN" dirty="0" err="1"/>
              <a:t>tcp</a:t>
            </a:r>
            <a:r>
              <a:rPr lang="en-IN" dirty="0"/>
              <a:t> --</a:t>
            </a:r>
            <a:r>
              <a:rPr lang="en-IN" dirty="0" err="1"/>
              <a:t>dport</a:t>
            </a:r>
            <a:r>
              <a:rPr lang="en-IN" dirty="0"/>
              <a:t> 443 -j DROP</a:t>
            </a:r>
          </a:p>
        </p:txBody>
      </p:sp>
    </p:spTree>
    <p:extLst>
      <p:ext uri="{BB962C8B-B14F-4D97-AF65-F5344CB8AC3E}">
        <p14:creationId xmlns:p14="http://schemas.microsoft.com/office/powerpoint/2010/main" val="21543171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6EA14-1717-889B-0B1A-25D2ACBC1B8F}"/>
              </a:ext>
            </a:extLst>
          </p:cNvPr>
          <p:cNvSpPr>
            <a:spLocks noGrp="1"/>
          </p:cNvSpPr>
          <p:nvPr>
            <p:ph type="title"/>
          </p:nvPr>
        </p:nvSpPr>
        <p:spPr/>
        <p:txBody>
          <a:bodyPr/>
          <a:lstStyle/>
          <a:p>
            <a:r>
              <a:rPr lang="en-IN" dirty="0"/>
              <a:t>Run it</a:t>
            </a:r>
          </a:p>
        </p:txBody>
      </p:sp>
      <p:sp>
        <p:nvSpPr>
          <p:cNvPr id="3" name="Content Placeholder 2">
            <a:extLst>
              <a:ext uri="{FF2B5EF4-FFF2-40B4-BE49-F238E27FC236}">
                <a16:creationId xmlns:a16="http://schemas.microsoft.com/office/drawing/2014/main" id="{3EFB240A-13DA-2BA1-2AB3-0D03679596B1}"/>
              </a:ext>
            </a:extLst>
          </p:cNvPr>
          <p:cNvSpPr>
            <a:spLocks noGrp="1"/>
          </p:cNvSpPr>
          <p:nvPr>
            <p:ph idx="1"/>
          </p:nvPr>
        </p:nvSpPr>
        <p:spPr/>
        <p:txBody>
          <a:bodyPr/>
          <a:lstStyle/>
          <a:p>
            <a:r>
              <a:rPr lang="en-IN" dirty="0" err="1"/>
              <a:t>chmod</a:t>
            </a:r>
            <a:r>
              <a:rPr lang="en-IN" dirty="0"/>
              <a:t> 700 iptables_example.sh</a:t>
            </a:r>
          </a:p>
          <a:p>
            <a:r>
              <a:rPr lang="en-IN" dirty="0"/>
              <a:t>./iptables_example.sh</a:t>
            </a:r>
          </a:p>
          <a:p>
            <a:r>
              <a:rPr lang="en-IN" dirty="0"/>
              <a:t>iptables -</a:t>
            </a:r>
            <a:r>
              <a:rPr lang="en-IN" dirty="0" err="1"/>
              <a:t>vnL</a:t>
            </a:r>
            <a:endParaRPr lang="en-IN" dirty="0"/>
          </a:p>
          <a:p>
            <a:endParaRPr lang="en-IN" dirty="0"/>
          </a:p>
        </p:txBody>
      </p:sp>
      <p:pic>
        <p:nvPicPr>
          <p:cNvPr id="5" name="Picture 4">
            <a:extLst>
              <a:ext uri="{FF2B5EF4-FFF2-40B4-BE49-F238E27FC236}">
                <a16:creationId xmlns:a16="http://schemas.microsoft.com/office/drawing/2014/main" id="{41FC0B39-056C-DFEB-E211-5148FB5232AF}"/>
              </a:ext>
            </a:extLst>
          </p:cNvPr>
          <p:cNvPicPr>
            <a:picLocks noChangeAspect="1"/>
          </p:cNvPicPr>
          <p:nvPr/>
        </p:nvPicPr>
        <p:blipFill>
          <a:blip r:embed="rId2"/>
          <a:stretch>
            <a:fillRect/>
          </a:stretch>
        </p:blipFill>
        <p:spPr>
          <a:xfrm>
            <a:off x="3624126" y="2804321"/>
            <a:ext cx="7729674" cy="3880785"/>
          </a:xfrm>
          <a:prstGeom prst="rect">
            <a:avLst/>
          </a:prstGeom>
        </p:spPr>
      </p:pic>
    </p:spTree>
    <p:extLst>
      <p:ext uri="{BB962C8B-B14F-4D97-AF65-F5344CB8AC3E}">
        <p14:creationId xmlns:p14="http://schemas.microsoft.com/office/powerpoint/2010/main" val="14599651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F6912-7022-F6E4-20CD-56E6EF81E2E5}"/>
              </a:ext>
            </a:extLst>
          </p:cNvPr>
          <p:cNvSpPr>
            <a:spLocks noGrp="1"/>
          </p:cNvSpPr>
          <p:nvPr>
            <p:ph type="title"/>
          </p:nvPr>
        </p:nvSpPr>
        <p:spPr/>
        <p:txBody>
          <a:bodyPr/>
          <a:lstStyle/>
          <a:p>
            <a:r>
              <a:rPr lang="en-IN" dirty="0"/>
              <a:t>Default Policy</a:t>
            </a:r>
          </a:p>
        </p:txBody>
      </p:sp>
      <p:sp>
        <p:nvSpPr>
          <p:cNvPr id="3" name="Content Placeholder 2">
            <a:extLst>
              <a:ext uri="{FF2B5EF4-FFF2-40B4-BE49-F238E27FC236}">
                <a16:creationId xmlns:a16="http://schemas.microsoft.com/office/drawing/2014/main" id="{9E7D6C43-5865-4BAC-99C8-67515ADA691E}"/>
              </a:ext>
            </a:extLst>
          </p:cNvPr>
          <p:cNvSpPr>
            <a:spLocks noGrp="1"/>
          </p:cNvSpPr>
          <p:nvPr>
            <p:ph idx="1"/>
          </p:nvPr>
        </p:nvSpPr>
        <p:spPr/>
        <p:txBody>
          <a:bodyPr/>
          <a:lstStyle/>
          <a:p>
            <a:r>
              <a:rPr lang="en-IN" b="1" dirty="0"/>
              <a:t>Policy</a:t>
            </a:r>
            <a:r>
              <a:rPr lang="en-IN" dirty="0"/>
              <a:t> specifies what happens to the packets when they are not matched against any rule</a:t>
            </a:r>
          </a:p>
          <a:p>
            <a:r>
              <a:rPr lang="en-IN" dirty="0"/>
              <a:t>By default, policy is set to </a:t>
            </a:r>
            <a:r>
              <a:rPr lang="en-IN" i="1" dirty="0"/>
              <a:t>accept all traffic</a:t>
            </a:r>
            <a:endParaRPr lang="en-IN" dirty="0"/>
          </a:p>
          <a:p>
            <a:r>
              <a:rPr lang="en-IN" dirty="0"/>
              <a:t>Policy can be changed only for INPUT, OUTPUT, and FORWARD chains</a:t>
            </a:r>
          </a:p>
          <a:p>
            <a:r>
              <a:rPr lang="en-IN" dirty="0"/>
              <a:t>To change policy, we use the -P option</a:t>
            </a:r>
          </a:p>
        </p:txBody>
      </p:sp>
    </p:spTree>
    <p:extLst>
      <p:ext uri="{BB962C8B-B14F-4D97-AF65-F5344CB8AC3E}">
        <p14:creationId xmlns:p14="http://schemas.microsoft.com/office/powerpoint/2010/main" val="5651777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F6912-7022-F6E4-20CD-56E6EF81E2E5}"/>
              </a:ext>
            </a:extLst>
          </p:cNvPr>
          <p:cNvSpPr>
            <a:spLocks noGrp="1"/>
          </p:cNvSpPr>
          <p:nvPr>
            <p:ph type="title"/>
          </p:nvPr>
        </p:nvSpPr>
        <p:spPr/>
        <p:txBody>
          <a:bodyPr/>
          <a:lstStyle/>
          <a:p>
            <a:r>
              <a:rPr lang="en-IN" dirty="0"/>
              <a:t>Default Policy</a:t>
            </a:r>
          </a:p>
        </p:txBody>
      </p:sp>
      <p:sp>
        <p:nvSpPr>
          <p:cNvPr id="3" name="Content Placeholder 2">
            <a:extLst>
              <a:ext uri="{FF2B5EF4-FFF2-40B4-BE49-F238E27FC236}">
                <a16:creationId xmlns:a16="http://schemas.microsoft.com/office/drawing/2014/main" id="{9E7D6C43-5865-4BAC-99C8-67515ADA691E}"/>
              </a:ext>
            </a:extLst>
          </p:cNvPr>
          <p:cNvSpPr>
            <a:spLocks noGrp="1"/>
          </p:cNvSpPr>
          <p:nvPr>
            <p:ph idx="1"/>
          </p:nvPr>
        </p:nvSpPr>
        <p:spPr/>
        <p:txBody>
          <a:bodyPr/>
          <a:lstStyle/>
          <a:p>
            <a:r>
              <a:rPr lang="en-IN" dirty="0"/>
              <a:t>Default policy can be seen by using the </a:t>
            </a:r>
            <a:r>
              <a:rPr lang="en-IN" b="1" dirty="0"/>
              <a:t>iptables -</a:t>
            </a:r>
            <a:r>
              <a:rPr lang="en-IN" b="1" dirty="0" err="1"/>
              <a:t>vnL</a:t>
            </a:r>
            <a:r>
              <a:rPr lang="en-IN" b="1" dirty="0"/>
              <a:t> </a:t>
            </a:r>
            <a:r>
              <a:rPr lang="en-IN" dirty="0"/>
              <a:t>command</a:t>
            </a:r>
          </a:p>
        </p:txBody>
      </p:sp>
      <p:pic>
        <p:nvPicPr>
          <p:cNvPr id="5" name="Picture 4">
            <a:extLst>
              <a:ext uri="{FF2B5EF4-FFF2-40B4-BE49-F238E27FC236}">
                <a16:creationId xmlns:a16="http://schemas.microsoft.com/office/drawing/2014/main" id="{3A42E336-DFED-C82D-71E7-D297E3614F0F}"/>
              </a:ext>
            </a:extLst>
          </p:cNvPr>
          <p:cNvPicPr>
            <a:picLocks noChangeAspect="1"/>
          </p:cNvPicPr>
          <p:nvPr/>
        </p:nvPicPr>
        <p:blipFill>
          <a:blip r:embed="rId2"/>
          <a:stretch>
            <a:fillRect/>
          </a:stretch>
        </p:blipFill>
        <p:spPr>
          <a:xfrm>
            <a:off x="931440" y="2475548"/>
            <a:ext cx="7122471" cy="3575931"/>
          </a:xfrm>
          <a:prstGeom prst="rect">
            <a:avLst/>
          </a:prstGeom>
        </p:spPr>
      </p:pic>
      <p:sp>
        <p:nvSpPr>
          <p:cNvPr id="6" name="TextBox 5">
            <a:extLst>
              <a:ext uri="{FF2B5EF4-FFF2-40B4-BE49-F238E27FC236}">
                <a16:creationId xmlns:a16="http://schemas.microsoft.com/office/drawing/2014/main" id="{62A9A251-910C-3E52-959E-9144E5BE17CB}"/>
              </a:ext>
            </a:extLst>
          </p:cNvPr>
          <p:cNvSpPr txBox="1"/>
          <p:nvPr/>
        </p:nvSpPr>
        <p:spPr>
          <a:xfrm>
            <a:off x="2640458" y="2681555"/>
            <a:ext cx="684000" cy="216000"/>
          </a:xfrm>
          <a:prstGeom prst="rect">
            <a:avLst/>
          </a:prstGeom>
          <a:solidFill>
            <a:schemeClr val="accent4">
              <a:lumMod val="20000"/>
              <a:lumOff val="80000"/>
              <a:alpha val="5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DD2CEB05-B651-D0F6-87BB-FC3930C1F40D}"/>
              </a:ext>
            </a:extLst>
          </p:cNvPr>
          <p:cNvSpPr txBox="1"/>
          <p:nvPr/>
        </p:nvSpPr>
        <p:spPr>
          <a:xfrm>
            <a:off x="2844229" y="4253481"/>
            <a:ext cx="684000" cy="216000"/>
          </a:xfrm>
          <a:prstGeom prst="rect">
            <a:avLst/>
          </a:prstGeom>
          <a:solidFill>
            <a:schemeClr val="accent4">
              <a:lumMod val="20000"/>
              <a:lumOff val="80000"/>
              <a:alpha val="50000"/>
            </a:schemeClr>
          </a:solidFill>
        </p:spPr>
        <p:txBody>
          <a:bodyPr wrap="square" rtlCol="0">
            <a:spAutoFit/>
          </a:bodyPr>
          <a:lstStyle/>
          <a:p>
            <a:endParaRPr lang="en-IN" dirty="0"/>
          </a:p>
        </p:txBody>
      </p:sp>
      <p:sp>
        <p:nvSpPr>
          <p:cNvPr id="8" name="TextBox 7">
            <a:extLst>
              <a:ext uri="{FF2B5EF4-FFF2-40B4-BE49-F238E27FC236}">
                <a16:creationId xmlns:a16="http://schemas.microsoft.com/office/drawing/2014/main" id="{D0D57DBC-68D3-D391-7FFC-73223D0C8C1D}"/>
              </a:ext>
            </a:extLst>
          </p:cNvPr>
          <p:cNvSpPr txBox="1"/>
          <p:nvPr/>
        </p:nvSpPr>
        <p:spPr>
          <a:xfrm>
            <a:off x="2788490" y="4883098"/>
            <a:ext cx="684000" cy="216000"/>
          </a:xfrm>
          <a:prstGeom prst="rect">
            <a:avLst/>
          </a:prstGeom>
          <a:solidFill>
            <a:schemeClr val="accent4">
              <a:lumMod val="20000"/>
              <a:lumOff val="80000"/>
              <a:alpha val="50000"/>
            </a:schemeClr>
          </a:solidFill>
        </p:spPr>
        <p:txBody>
          <a:bodyPr wrap="square" rtlCol="0">
            <a:spAutoFit/>
          </a:bodyPr>
          <a:lstStyle/>
          <a:p>
            <a:endParaRPr lang="en-IN" dirty="0"/>
          </a:p>
        </p:txBody>
      </p:sp>
    </p:spTree>
    <p:extLst>
      <p:ext uri="{BB962C8B-B14F-4D97-AF65-F5344CB8AC3E}">
        <p14:creationId xmlns:p14="http://schemas.microsoft.com/office/powerpoint/2010/main" val="16234039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C6898-353A-D715-6707-C1068C2D2D6C}"/>
              </a:ext>
            </a:extLst>
          </p:cNvPr>
          <p:cNvSpPr>
            <a:spLocks noGrp="1"/>
          </p:cNvSpPr>
          <p:nvPr>
            <p:ph type="title"/>
          </p:nvPr>
        </p:nvSpPr>
        <p:spPr/>
        <p:txBody>
          <a:bodyPr/>
          <a:lstStyle/>
          <a:p>
            <a:r>
              <a:rPr lang="en-IN" dirty="0"/>
              <a:t>Changing the Policy </a:t>
            </a:r>
          </a:p>
        </p:txBody>
      </p:sp>
      <p:sp>
        <p:nvSpPr>
          <p:cNvPr id="3" name="Content Placeholder 2">
            <a:extLst>
              <a:ext uri="{FF2B5EF4-FFF2-40B4-BE49-F238E27FC236}">
                <a16:creationId xmlns:a16="http://schemas.microsoft.com/office/drawing/2014/main" id="{2F98FDB9-04E8-C9DB-D66F-1EC5F6E16DEB}"/>
              </a:ext>
            </a:extLst>
          </p:cNvPr>
          <p:cNvSpPr>
            <a:spLocks noGrp="1"/>
          </p:cNvSpPr>
          <p:nvPr>
            <p:ph idx="1"/>
          </p:nvPr>
        </p:nvSpPr>
        <p:spPr/>
        <p:txBody>
          <a:bodyPr/>
          <a:lstStyle/>
          <a:p>
            <a:r>
              <a:rPr lang="en-IN" dirty="0"/>
              <a:t>First reset the input and policy on Metasploit</a:t>
            </a:r>
          </a:p>
          <a:p>
            <a:pPr lvl="1"/>
            <a:r>
              <a:rPr lang="en-IN" b="1" dirty="0" err="1"/>
              <a:t>sudo</a:t>
            </a:r>
            <a:r>
              <a:rPr lang="en-IN" b="1" dirty="0"/>
              <a:t> iptables -F INPUT</a:t>
            </a:r>
          </a:p>
          <a:p>
            <a:pPr lvl="1"/>
            <a:r>
              <a:rPr lang="en-IN" b="1" dirty="0" err="1"/>
              <a:t>sudo</a:t>
            </a:r>
            <a:r>
              <a:rPr lang="en-IN" b="1" dirty="0"/>
              <a:t> iptables -F INPUT</a:t>
            </a:r>
          </a:p>
          <a:p>
            <a:r>
              <a:rPr lang="en-IN" dirty="0"/>
              <a:t>Verify the status</a:t>
            </a:r>
          </a:p>
          <a:p>
            <a:pPr lvl="1"/>
            <a:r>
              <a:rPr lang="en-IN" dirty="0"/>
              <a:t>iptables -</a:t>
            </a:r>
            <a:r>
              <a:rPr lang="en-IN" dirty="0" err="1"/>
              <a:t>vnL</a:t>
            </a:r>
            <a:endParaRPr lang="en-IN" dirty="0"/>
          </a:p>
        </p:txBody>
      </p:sp>
    </p:spTree>
    <p:extLst>
      <p:ext uri="{BB962C8B-B14F-4D97-AF65-F5344CB8AC3E}">
        <p14:creationId xmlns:p14="http://schemas.microsoft.com/office/powerpoint/2010/main" val="31725551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C6898-353A-D715-6707-C1068C2D2D6C}"/>
              </a:ext>
            </a:extLst>
          </p:cNvPr>
          <p:cNvSpPr>
            <a:spLocks noGrp="1"/>
          </p:cNvSpPr>
          <p:nvPr>
            <p:ph type="title"/>
          </p:nvPr>
        </p:nvSpPr>
        <p:spPr/>
        <p:txBody>
          <a:bodyPr/>
          <a:lstStyle/>
          <a:p>
            <a:r>
              <a:rPr lang="en-IN" dirty="0"/>
              <a:t>Changing the Policy </a:t>
            </a:r>
          </a:p>
        </p:txBody>
      </p:sp>
      <p:sp>
        <p:nvSpPr>
          <p:cNvPr id="3" name="Content Placeholder 2">
            <a:extLst>
              <a:ext uri="{FF2B5EF4-FFF2-40B4-BE49-F238E27FC236}">
                <a16:creationId xmlns:a16="http://schemas.microsoft.com/office/drawing/2014/main" id="{2F98FDB9-04E8-C9DB-D66F-1EC5F6E16DEB}"/>
              </a:ext>
            </a:extLst>
          </p:cNvPr>
          <p:cNvSpPr>
            <a:spLocks noGrp="1"/>
          </p:cNvSpPr>
          <p:nvPr>
            <p:ph idx="1"/>
          </p:nvPr>
        </p:nvSpPr>
        <p:spPr/>
        <p:txBody>
          <a:bodyPr/>
          <a:lstStyle/>
          <a:p>
            <a:r>
              <a:rPr lang="en-IN" dirty="0"/>
              <a:t>Check whether we can ping Metasploit</a:t>
            </a:r>
          </a:p>
          <a:p>
            <a:r>
              <a:rPr lang="en-IN" dirty="0"/>
              <a:t>From Kali Linux machine</a:t>
            </a:r>
          </a:p>
          <a:p>
            <a:pPr lvl="1"/>
            <a:r>
              <a:rPr lang="en-IN" b="1" dirty="0"/>
              <a:t>ping 192.168.0.28</a:t>
            </a:r>
          </a:p>
          <a:p>
            <a:r>
              <a:rPr lang="en-IN" dirty="0"/>
              <a:t>If ping is successful</a:t>
            </a:r>
          </a:p>
          <a:p>
            <a:pPr lvl="1"/>
            <a:r>
              <a:rPr lang="en-IN" dirty="0"/>
              <a:t>On the Metasploit machine: </a:t>
            </a:r>
            <a:r>
              <a:rPr lang="en-IN" b="1" dirty="0"/>
              <a:t>iptables -P INPUT DROP</a:t>
            </a:r>
            <a:r>
              <a:rPr lang="en-IN" dirty="0"/>
              <a:t> and </a:t>
            </a:r>
            <a:r>
              <a:rPr lang="en-IN" b="1" dirty="0"/>
              <a:t>iptables -</a:t>
            </a:r>
            <a:r>
              <a:rPr lang="en-IN" b="1" dirty="0" err="1"/>
              <a:t>vnL</a:t>
            </a:r>
            <a:endParaRPr lang="en-IN" dirty="0"/>
          </a:p>
          <a:p>
            <a:pPr lvl="1"/>
            <a:endParaRPr lang="en-IN" b="1" dirty="0"/>
          </a:p>
        </p:txBody>
      </p:sp>
      <p:pic>
        <p:nvPicPr>
          <p:cNvPr id="5" name="Picture 4">
            <a:extLst>
              <a:ext uri="{FF2B5EF4-FFF2-40B4-BE49-F238E27FC236}">
                <a16:creationId xmlns:a16="http://schemas.microsoft.com/office/drawing/2014/main" id="{AEF5BD61-E72B-470C-4E1B-770AE058C33E}"/>
              </a:ext>
            </a:extLst>
          </p:cNvPr>
          <p:cNvPicPr>
            <a:picLocks noChangeAspect="1"/>
          </p:cNvPicPr>
          <p:nvPr/>
        </p:nvPicPr>
        <p:blipFill>
          <a:blip r:embed="rId2"/>
          <a:stretch>
            <a:fillRect/>
          </a:stretch>
        </p:blipFill>
        <p:spPr>
          <a:xfrm>
            <a:off x="2732634" y="4103676"/>
            <a:ext cx="6726732" cy="2208224"/>
          </a:xfrm>
          <a:prstGeom prst="rect">
            <a:avLst/>
          </a:prstGeom>
        </p:spPr>
      </p:pic>
      <p:sp>
        <p:nvSpPr>
          <p:cNvPr id="6" name="TextBox 5">
            <a:extLst>
              <a:ext uri="{FF2B5EF4-FFF2-40B4-BE49-F238E27FC236}">
                <a16:creationId xmlns:a16="http://schemas.microsoft.com/office/drawing/2014/main" id="{698CB686-EDFE-52A8-75CF-35767BD22828}"/>
              </a:ext>
            </a:extLst>
          </p:cNvPr>
          <p:cNvSpPr txBox="1"/>
          <p:nvPr/>
        </p:nvSpPr>
        <p:spPr>
          <a:xfrm>
            <a:off x="4407612" y="4623370"/>
            <a:ext cx="431516" cy="184936"/>
          </a:xfrm>
          <a:prstGeom prst="rect">
            <a:avLst/>
          </a:prstGeom>
          <a:solidFill>
            <a:schemeClr val="accent4">
              <a:lumMod val="20000"/>
              <a:lumOff val="80000"/>
              <a:alpha val="50000"/>
            </a:schemeClr>
          </a:solidFill>
        </p:spPr>
        <p:txBody>
          <a:bodyPr wrap="square" rtlCol="0">
            <a:spAutoFit/>
          </a:bodyPr>
          <a:lstStyle/>
          <a:p>
            <a:endParaRPr lang="en-IN" dirty="0"/>
          </a:p>
        </p:txBody>
      </p:sp>
    </p:spTree>
    <p:extLst>
      <p:ext uri="{BB962C8B-B14F-4D97-AF65-F5344CB8AC3E}">
        <p14:creationId xmlns:p14="http://schemas.microsoft.com/office/powerpoint/2010/main" val="31232141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C08C9-2BBA-9FD3-3488-BF03303F63B1}"/>
              </a:ext>
            </a:extLst>
          </p:cNvPr>
          <p:cNvSpPr>
            <a:spLocks noGrp="1"/>
          </p:cNvSpPr>
          <p:nvPr>
            <p:ph type="title"/>
          </p:nvPr>
        </p:nvSpPr>
        <p:spPr/>
        <p:txBody>
          <a:bodyPr/>
          <a:lstStyle/>
          <a:p>
            <a:r>
              <a:rPr lang="en-IN" dirty="0"/>
              <a:t>Retry Ping</a:t>
            </a:r>
          </a:p>
        </p:txBody>
      </p:sp>
      <p:sp>
        <p:nvSpPr>
          <p:cNvPr id="3" name="Content Placeholder 2">
            <a:extLst>
              <a:ext uri="{FF2B5EF4-FFF2-40B4-BE49-F238E27FC236}">
                <a16:creationId xmlns:a16="http://schemas.microsoft.com/office/drawing/2014/main" id="{978EB41C-C861-A98D-471C-9017F1BB8DA7}"/>
              </a:ext>
            </a:extLst>
          </p:cNvPr>
          <p:cNvSpPr>
            <a:spLocks noGrp="1"/>
          </p:cNvSpPr>
          <p:nvPr>
            <p:ph idx="1"/>
          </p:nvPr>
        </p:nvSpPr>
        <p:spPr/>
        <p:txBody>
          <a:bodyPr/>
          <a:lstStyle/>
          <a:p>
            <a:r>
              <a:rPr lang="en-IN" dirty="0"/>
              <a:t>Check whether we can ping Metasploit</a:t>
            </a:r>
          </a:p>
          <a:p>
            <a:r>
              <a:rPr lang="en-IN" dirty="0"/>
              <a:t>From Kali Linux machine</a:t>
            </a:r>
          </a:p>
          <a:p>
            <a:pPr lvl="1"/>
            <a:r>
              <a:rPr lang="en-IN" b="1" dirty="0"/>
              <a:t>ping 192.168.0.28</a:t>
            </a:r>
          </a:p>
          <a:p>
            <a:r>
              <a:rPr lang="en-IN" dirty="0"/>
              <a:t>Should not succeed – as expected, it is stuck now</a:t>
            </a:r>
          </a:p>
          <a:p>
            <a:endParaRPr lang="en-IN" dirty="0"/>
          </a:p>
          <a:p>
            <a:endParaRPr lang="en-IN" dirty="0"/>
          </a:p>
          <a:p>
            <a:r>
              <a:rPr lang="en-IN" dirty="0"/>
              <a:t>Reverse the policy on Metasploit and recheck – the Kali Linux ping should start progressing</a:t>
            </a:r>
          </a:p>
        </p:txBody>
      </p:sp>
      <p:pic>
        <p:nvPicPr>
          <p:cNvPr id="5" name="Picture 4">
            <a:extLst>
              <a:ext uri="{FF2B5EF4-FFF2-40B4-BE49-F238E27FC236}">
                <a16:creationId xmlns:a16="http://schemas.microsoft.com/office/drawing/2014/main" id="{3B623F5E-268C-A830-3D87-7AEAFD13F3F4}"/>
              </a:ext>
            </a:extLst>
          </p:cNvPr>
          <p:cNvPicPr>
            <a:picLocks noChangeAspect="1"/>
          </p:cNvPicPr>
          <p:nvPr/>
        </p:nvPicPr>
        <p:blipFill>
          <a:blip r:embed="rId2"/>
          <a:stretch>
            <a:fillRect/>
          </a:stretch>
        </p:blipFill>
        <p:spPr>
          <a:xfrm>
            <a:off x="1585604" y="3788469"/>
            <a:ext cx="5780967" cy="1036528"/>
          </a:xfrm>
          <a:prstGeom prst="rect">
            <a:avLst/>
          </a:prstGeom>
        </p:spPr>
      </p:pic>
    </p:spTree>
    <p:extLst>
      <p:ext uri="{BB962C8B-B14F-4D97-AF65-F5344CB8AC3E}">
        <p14:creationId xmlns:p14="http://schemas.microsoft.com/office/powerpoint/2010/main" val="33810282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1738</Words>
  <Application>Microsoft Office PowerPoint</Application>
  <PresentationFormat>Widescreen</PresentationFormat>
  <Paragraphs>209</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Calibri Light</vt:lpstr>
      <vt:lpstr>Office Theme</vt:lpstr>
      <vt:lpstr>iptables</vt:lpstr>
      <vt:lpstr>iptables</vt:lpstr>
      <vt:lpstr>More Technical Details</vt:lpstr>
      <vt:lpstr>Chain Traversal</vt:lpstr>
      <vt:lpstr>iptables Command</vt:lpstr>
      <vt:lpstr>iptables Hands-on</vt:lpstr>
      <vt:lpstr>Requirements</vt:lpstr>
      <vt:lpstr>Kali Linux - Login as su</vt:lpstr>
      <vt:lpstr>Check IP Addresses of Both</vt:lpstr>
      <vt:lpstr>Exercise 1: Try Adding a Rule Using iptables</vt:lpstr>
      <vt:lpstr>PowerPoint Presentation</vt:lpstr>
      <vt:lpstr>Result</vt:lpstr>
      <vt:lpstr>Exercise 2: Do not Allow Kali Machine to Access www.ubuntu.com</vt:lpstr>
      <vt:lpstr>Let us first check if the page is accessible</vt:lpstr>
      <vt:lpstr>Now Add iptables Rule for Port 80 and 443 Also</vt:lpstr>
      <vt:lpstr>Now Try Accessing www.ubuntu.com Again</vt:lpstr>
      <vt:lpstr>Verify</vt:lpstr>
      <vt:lpstr>Prevent an External/Remote Host from Pretending to be Local to your Network</vt:lpstr>
      <vt:lpstr>Understanding iptables Options in Detail</vt:lpstr>
      <vt:lpstr>-A Example</vt:lpstr>
      <vt:lpstr>Deleting an iptables Rule</vt:lpstr>
      <vt:lpstr>Let us Test for Web Traffic</vt:lpstr>
      <vt:lpstr>Let us Test for Web Traffic</vt:lpstr>
      <vt:lpstr>The -I Option</vt:lpstr>
      <vt:lpstr>How are Rules Processed?</vt:lpstr>
      <vt:lpstr>How are Rules Processed?</vt:lpstr>
      <vt:lpstr>Remove the Rules and Add in the Reverse Order on Metasploit</vt:lpstr>
      <vt:lpstr>Where to Write Rules?</vt:lpstr>
      <vt:lpstr>iptables_example.sh</vt:lpstr>
      <vt:lpstr>Run it</vt:lpstr>
      <vt:lpstr>Default Policy</vt:lpstr>
      <vt:lpstr>Default Policy</vt:lpstr>
      <vt:lpstr>Changing the Policy </vt:lpstr>
      <vt:lpstr>Changing the Policy </vt:lpstr>
      <vt:lpstr>Retry Ping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iptables</dc:title>
  <dc:creator>Atul Kahate</dc:creator>
  <cp:lastModifiedBy>Atul Kahate</cp:lastModifiedBy>
  <cp:revision>1</cp:revision>
  <dcterms:created xsi:type="dcterms:W3CDTF">2023-01-18T10:06:34Z</dcterms:created>
  <dcterms:modified xsi:type="dcterms:W3CDTF">2023-01-18T10:06:43Z</dcterms:modified>
</cp:coreProperties>
</file>