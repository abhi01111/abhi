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464" r:id="rId3"/>
    <p:sldId id="465" r:id="rId4"/>
    <p:sldId id="466" r:id="rId5"/>
    <p:sldId id="467" r:id="rId6"/>
    <p:sldId id="468" r:id="rId7"/>
    <p:sldId id="469" r:id="rId8"/>
    <p:sldId id="284" r:id="rId9"/>
    <p:sldId id="470" r:id="rId10"/>
    <p:sldId id="258" r:id="rId11"/>
    <p:sldId id="259" r:id="rId12"/>
    <p:sldId id="260" r:id="rId13"/>
    <p:sldId id="270" r:id="rId14"/>
    <p:sldId id="261" r:id="rId15"/>
    <p:sldId id="262" r:id="rId16"/>
    <p:sldId id="263" r:id="rId17"/>
    <p:sldId id="264" r:id="rId18"/>
    <p:sldId id="265" r:id="rId19"/>
    <p:sldId id="266" r:id="rId20"/>
    <p:sldId id="267" r:id="rId21"/>
    <p:sldId id="268" r:id="rId22"/>
    <p:sldId id="269" r:id="rId23"/>
    <p:sldId id="295" r:id="rId24"/>
    <p:sldId id="276" r:id="rId25"/>
    <p:sldId id="277" r:id="rId26"/>
    <p:sldId id="272" r:id="rId27"/>
    <p:sldId id="271" r:id="rId28"/>
    <p:sldId id="471" r:id="rId29"/>
    <p:sldId id="274" r:id="rId30"/>
    <p:sldId id="275" r:id="rId31"/>
    <p:sldId id="472" r:id="rId32"/>
    <p:sldId id="278" r:id="rId33"/>
    <p:sldId id="279" r:id="rId34"/>
    <p:sldId id="473" r:id="rId35"/>
    <p:sldId id="280" r:id="rId36"/>
    <p:sldId id="474" r:id="rId37"/>
    <p:sldId id="281" r:id="rId38"/>
    <p:sldId id="282" r:id="rId39"/>
    <p:sldId id="475" r:id="rId40"/>
    <p:sldId id="283" r:id="rId41"/>
    <p:sldId id="285" r:id="rId42"/>
    <p:sldId id="286" r:id="rId43"/>
    <p:sldId id="28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2" d="100"/>
          <a:sy n="62" d="100"/>
        </p:scale>
        <p:origin x="8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E86A-FA6D-F746-E45C-9D6B28D391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CA3B5B-F8AF-F8FF-F800-00A07B1561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A96F84-79B0-484F-0E6E-23C73637B112}"/>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5" name="Footer Placeholder 4">
            <a:extLst>
              <a:ext uri="{FF2B5EF4-FFF2-40B4-BE49-F238E27FC236}">
                <a16:creationId xmlns:a16="http://schemas.microsoft.com/office/drawing/2014/main" id="{EF56B677-29EA-1FBD-4231-C2A3E60E9E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0292CE-FFD6-3DDD-41D7-EF56E9B6E7CE}"/>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3734494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829F-D76F-1735-3E9E-0154966C66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392CB9-91BA-6B59-9BC6-6619D7D5D4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BAD830-8A61-3208-5E77-F424F0FB76CA}"/>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5" name="Footer Placeholder 4">
            <a:extLst>
              <a:ext uri="{FF2B5EF4-FFF2-40B4-BE49-F238E27FC236}">
                <a16:creationId xmlns:a16="http://schemas.microsoft.com/office/drawing/2014/main" id="{ED2A2F12-160A-D4EE-B831-70CAD13E25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8ABA73-A159-9BD8-2F49-3BFE70BFEEAE}"/>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741981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3D3B6-345D-BF5D-554F-15D018D0B2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2554EF-6840-CF0E-0BAC-AC19CAE20E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2DFAC4-0029-B3E7-22E7-6D9478BD682E}"/>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5" name="Footer Placeholder 4">
            <a:extLst>
              <a:ext uri="{FF2B5EF4-FFF2-40B4-BE49-F238E27FC236}">
                <a16:creationId xmlns:a16="http://schemas.microsoft.com/office/drawing/2014/main" id="{70F67501-F47A-77B4-87C8-0DF551B53E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1DB2A0-D932-ECA4-A638-348D608CD7E3}"/>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2828473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2606-4286-FE95-FCC1-3828C49C93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914FD-64F7-5294-21F9-995AFCB43A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2D1746-8AF9-A96B-97C4-91EAEA7CC6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46F5A7-80BA-3A3E-119C-3518278A9FA3}"/>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6" name="Footer Placeholder 5">
            <a:extLst>
              <a:ext uri="{FF2B5EF4-FFF2-40B4-BE49-F238E27FC236}">
                <a16:creationId xmlns:a16="http://schemas.microsoft.com/office/drawing/2014/main" id="{EEE1B2B6-1974-274B-9B2E-31B6F81AEA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BFB03A-B762-C49D-7A58-392B7E059146}"/>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310700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36570-037B-21F1-612E-70DFC33232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295C56-3C72-8C29-32FB-47EFC60520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F17082-D7D8-2392-B977-9A24C607E8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39839E-580A-1906-105D-2AB09C8F9C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DC59D1-74B0-A348-7E2A-D54D4CD1AE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FA59ED-79AB-6C7A-8428-75537C75A42A}"/>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8" name="Footer Placeholder 7">
            <a:extLst>
              <a:ext uri="{FF2B5EF4-FFF2-40B4-BE49-F238E27FC236}">
                <a16:creationId xmlns:a16="http://schemas.microsoft.com/office/drawing/2014/main" id="{AE232094-0302-4E69-4036-3349451521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50D710-D322-5758-46FB-BBD97F575EC3}"/>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1405876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A540C-3EA3-3555-BDC6-92CFAE9DE6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61EE09E-CF5E-C082-68BA-D13897D6C2F0}"/>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4" name="Footer Placeholder 3">
            <a:extLst>
              <a:ext uri="{FF2B5EF4-FFF2-40B4-BE49-F238E27FC236}">
                <a16:creationId xmlns:a16="http://schemas.microsoft.com/office/drawing/2014/main" id="{08F14C7A-FDA7-A71E-E6C7-DD28B039E5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4BA517-B11A-CB2F-6B20-71B6FB141487}"/>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3695044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F1DC75-AFAA-DC11-6047-C5404BEBCEA1}"/>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3" name="Footer Placeholder 2">
            <a:extLst>
              <a:ext uri="{FF2B5EF4-FFF2-40B4-BE49-F238E27FC236}">
                <a16:creationId xmlns:a16="http://schemas.microsoft.com/office/drawing/2014/main" id="{321E13C2-1F16-6624-94E8-0DA183C4B1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D3EE55D-472A-C0F3-ACC0-43616660C88A}"/>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2157939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4AFEE-06DC-2CF1-B9A0-24947ABB93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5A3F1B-DACB-9CB1-2225-96D403460E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1C2F08-1878-AE7E-E22E-0CA187672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71246C-0628-7348-087C-582F93A6C7EF}"/>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6" name="Footer Placeholder 5">
            <a:extLst>
              <a:ext uri="{FF2B5EF4-FFF2-40B4-BE49-F238E27FC236}">
                <a16:creationId xmlns:a16="http://schemas.microsoft.com/office/drawing/2014/main" id="{A1453F34-75E1-6358-93DC-D634FA2E97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2800C3-72DA-2086-DF14-58D51C4BD165}"/>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3122551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7D87-ABD1-04EF-4B07-EA2329F8F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D15BD3-FA1C-83FA-15B4-75A3BF2A11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46D298-2F17-EF51-D2A7-DF8450326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DF8AF5-B84F-D0BF-8346-CF38F4ED5CA0}"/>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6" name="Footer Placeholder 5">
            <a:extLst>
              <a:ext uri="{FF2B5EF4-FFF2-40B4-BE49-F238E27FC236}">
                <a16:creationId xmlns:a16="http://schemas.microsoft.com/office/drawing/2014/main" id="{C035AF80-4C89-EB07-C1B0-BBE1750523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7CFC46-8944-96BC-B9FF-3C44DDEBAFB2}"/>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2883542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0CA00-6161-72F2-3261-E7EBDD9493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A6D702-6A2B-4DCB-922D-E2DB9CC6BC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FE45E-3961-7283-8955-BC9B52A28C1F}"/>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5" name="Footer Placeholder 4">
            <a:extLst>
              <a:ext uri="{FF2B5EF4-FFF2-40B4-BE49-F238E27FC236}">
                <a16:creationId xmlns:a16="http://schemas.microsoft.com/office/drawing/2014/main" id="{25A3120A-5B94-671F-3669-784EB7716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F94521-898A-D5B4-D20A-AD6795D6D80B}"/>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227766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AD271F-29D0-09CA-4C77-8C1BC4FC65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E16335-A4E9-D8F3-6FD1-13BFD69BF1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CAD204-1818-7A5D-605F-36D4A0059972}"/>
              </a:ext>
            </a:extLst>
          </p:cNvPr>
          <p:cNvSpPr>
            <a:spLocks noGrp="1"/>
          </p:cNvSpPr>
          <p:nvPr>
            <p:ph type="dt" sz="half" idx="10"/>
          </p:nvPr>
        </p:nvSpPr>
        <p:spPr/>
        <p:txBody>
          <a:bodyPr/>
          <a:lstStyle/>
          <a:p>
            <a:fld id="{2B05D39B-DE09-495F-BB6E-295FBE06656A}" type="datetimeFigureOut">
              <a:rPr lang="en-IN" smtClean="0"/>
              <a:t>17-01-2023</a:t>
            </a:fld>
            <a:endParaRPr lang="en-IN"/>
          </a:p>
        </p:txBody>
      </p:sp>
      <p:sp>
        <p:nvSpPr>
          <p:cNvPr id="5" name="Footer Placeholder 4">
            <a:extLst>
              <a:ext uri="{FF2B5EF4-FFF2-40B4-BE49-F238E27FC236}">
                <a16:creationId xmlns:a16="http://schemas.microsoft.com/office/drawing/2014/main" id="{5E673DB2-D7A1-5EC0-97BA-C523294D14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D1CB6E-84D9-ADE1-56C2-09A2A0A491B9}"/>
              </a:ext>
            </a:extLst>
          </p:cNvPr>
          <p:cNvSpPr>
            <a:spLocks noGrp="1"/>
          </p:cNvSpPr>
          <p:nvPr>
            <p:ph type="sldNum" sz="quarter" idx="12"/>
          </p:nvPr>
        </p:nvSpPr>
        <p:spPr/>
        <p:txBody>
          <a:bodyPr/>
          <a:lstStyle/>
          <a:p>
            <a:fld id="{646F9B1B-C0F2-4425-A91B-C7665D59F142}" type="slidenum">
              <a:rPr lang="en-IN" smtClean="0"/>
              <a:t>‹#›</a:t>
            </a:fld>
            <a:endParaRPr lang="en-IN"/>
          </a:p>
        </p:txBody>
      </p:sp>
    </p:spTree>
    <p:extLst>
      <p:ext uri="{BB962C8B-B14F-4D97-AF65-F5344CB8AC3E}">
        <p14:creationId xmlns:p14="http://schemas.microsoft.com/office/powerpoint/2010/main" val="3292859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55DF9-0ABC-571A-4501-425855E822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1B5AA2-067C-682F-D9FA-142FE26C88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D297D1-4A0F-40DE-499E-8E872ECDD4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05D39B-DE09-495F-BB6E-295FBE06656A}" type="datetimeFigureOut">
              <a:rPr lang="en-IN" smtClean="0"/>
              <a:t>17-01-2023</a:t>
            </a:fld>
            <a:endParaRPr lang="en-IN"/>
          </a:p>
        </p:txBody>
      </p:sp>
      <p:sp>
        <p:nvSpPr>
          <p:cNvPr id="5" name="Footer Placeholder 4">
            <a:extLst>
              <a:ext uri="{FF2B5EF4-FFF2-40B4-BE49-F238E27FC236}">
                <a16:creationId xmlns:a16="http://schemas.microsoft.com/office/drawing/2014/main" id="{7A6AFABC-677F-BA17-2BDF-3CF8C4C9E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0886983-90CF-AA61-65D6-26819D6C4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6F9B1B-C0F2-4425-A91B-C7665D59F142}" type="slidenum">
              <a:rPr lang="en-IN" smtClean="0"/>
              <a:t>‹#›</a:t>
            </a:fld>
            <a:endParaRPr lang="en-IN"/>
          </a:p>
        </p:txBody>
      </p:sp>
    </p:spTree>
    <p:extLst>
      <p:ext uri="{BB962C8B-B14F-4D97-AF65-F5344CB8AC3E}">
        <p14:creationId xmlns:p14="http://schemas.microsoft.com/office/powerpoint/2010/main" val="11820172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8C8A6-1B94-EB63-138C-4B7BB732E3BA}"/>
              </a:ext>
            </a:extLst>
          </p:cNvPr>
          <p:cNvSpPr>
            <a:spLocks noGrp="1"/>
          </p:cNvSpPr>
          <p:nvPr>
            <p:ph type="ctrTitle"/>
          </p:nvPr>
        </p:nvSpPr>
        <p:spPr/>
        <p:txBody>
          <a:bodyPr/>
          <a:lstStyle/>
          <a:p>
            <a:r>
              <a:rPr lang="en-IN" dirty="0"/>
              <a:t>Network Defence and Countermeasures</a:t>
            </a:r>
          </a:p>
        </p:txBody>
      </p:sp>
      <p:sp>
        <p:nvSpPr>
          <p:cNvPr id="3" name="Subtitle 2">
            <a:extLst>
              <a:ext uri="{FF2B5EF4-FFF2-40B4-BE49-F238E27FC236}">
                <a16:creationId xmlns:a16="http://schemas.microsoft.com/office/drawing/2014/main" id="{40C211C5-38BE-FC7A-BA74-9B8CC0AACA83}"/>
              </a:ext>
            </a:extLst>
          </p:cNvPr>
          <p:cNvSpPr>
            <a:spLocks noGrp="1"/>
          </p:cNvSpPr>
          <p:nvPr>
            <p:ph type="subTitle" idx="1"/>
          </p:nvPr>
        </p:nvSpPr>
        <p:spPr/>
        <p:txBody>
          <a:bodyPr/>
          <a:lstStyle/>
          <a:p>
            <a:r>
              <a:rPr lang="en-IN"/>
              <a:t>Atul Kahate</a:t>
            </a:r>
          </a:p>
        </p:txBody>
      </p:sp>
    </p:spTree>
    <p:extLst>
      <p:ext uri="{BB962C8B-B14F-4D97-AF65-F5344CB8AC3E}">
        <p14:creationId xmlns:p14="http://schemas.microsoft.com/office/powerpoint/2010/main" val="4276401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16C4-8C13-B90E-85A7-38FC2EDD91BC}"/>
              </a:ext>
            </a:extLst>
          </p:cNvPr>
          <p:cNvSpPr>
            <a:spLocks noGrp="1"/>
          </p:cNvSpPr>
          <p:nvPr>
            <p:ph type="title"/>
          </p:nvPr>
        </p:nvSpPr>
        <p:spPr/>
        <p:txBody>
          <a:bodyPr/>
          <a:lstStyle/>
          <a:p>
            <a:r>
              <a:rPr lang="en-IN" dirty="0"/>
              <a:t>Attack Methods</a:t>
            </a:r>
          </a:p>
        </p:txBody>
      </p:sp>
      <p:sp>
        <p:nvSpPr>
          <p:cNvPr id="3" name="Content Placeholder 2">
            <a:extLst>
              <a:ext uri="{FF2B5EF4-FFF2-40B4-BE49-F238E27FC236}">
                <a16:creationId xmlns:a16="http://schemas.microsoft.com/office/drawing/2014/main" id="{3EB53810-83AB-8B8B-A320-35862AE9754D}"/>
              </a:ext>
            </a:extLst>
          </p:cNvPr>
          <p:cNvSpPr>
            <a:spLocks noGrp="1"/>
          </p:cNvSpPr>
          <p:nvPr>
            <p:ph idx="1"/>
          </p:nvPr>
        </p:nvSpPr>
        <p:spPr/>
        <p:txBody>
          <a:bodyPr/>
          <a:lstStyle/>
          <a:p>
            <a:r>
              <a:rPr lang="en-US" b="1" dirty="0"/>
              <a:t>Reconnaissance</a:t>
            </a:r>
            <a:r>
              <a:rPr lang="en-US" dirty="0"/>
              <a:t>: This is the discovery process used to find information about the network. It could include scans of the network to find out which IP addresses respond, and further scans to see which ports on the devices at these IP addresses are open. This is usually the first step taken, to discover what is on the network and to determine potential vulnerabilities.</a:t>
            </a:r>
            <a:endParaRPr lang="en-IN" dirty="0"/>
          </a:p>
        </p:txBody>
      </p:sp>
    </p:spTree>
    <p:extLst>
      <p:ext uri="{BB962C8B-B14F-4D97-AF65-F5344CB8AC3E}">
        <p14:creationId xmlns:p14="http://schemas.microsoft.com/office/powerpoint/2010/main" val="2419508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16C4-8C13-B90E-85A7-38FC2EDD91BC}"/>
              </a:ext>
            </a:extLst>
          </p:cNvPr>
          <p:cNvSpPr>
            <a:spLocks noGrp="1"/>
          </p:cNvSpPr>
          <p:nvPr>
            <p:ph type="title"/>
          </p:nvPr>
        </p:nvSpPr>
        <p:spPr/>
        <p:txBody>
          <a:bodyPr/>
          <a:lstStyle/>
          <a:p>
            <a:r>
              <a:rPr lang="en-IN" dirty="0"/>
              <a:t>Attack Methods</a:t>
            </a:r>
          </a:p>
        </p:txBody>
      </p:sp>
      <p:sp>
        <p:nvSpPr>
          <p:cNvPr id="3" name="Content Placeholder 2">
            <a:extLst>
              <a:ext uri="{FF2B5EF4-FFF2-40B4-BE49-F238E27FC236}">
                <a16:creationId xmlns:a16="http://schemas.microsoft.com/office/drawing/2014/main" id="{3EB53810-83AB-8B8B-A320-35862AE9754D}"/>
              </a:ext>
            </a:extLst>
          </p:cNvPr>
          <p:cNvSpPr>
            <a:spLocks noGrp="1"/>
          </p:cNvSpPr>
          <p:nvPr>
            <p:ph idx="1"/>
          </p:nvPr>
        </p:nvSpPr>
        <p:spPr/>
        <p:txBody>
          <a:bodyPr>
            <a:normAutofit fontScale="92500" lnSpcReduction="20000"/>
          </a:bodyPr>
          <a:lstStyle/>
          <a:p>
            <a:r>
              <a:rPr lang="en-US" b="1" dirty="0"/>
              <a:t>Social engineering</a:t>
            </a:r>
            <a:r>
              <a:rPr lang="en-US" dirty="0"/>
              <a:t>: This is a tough one because it leverages our weakest (very likely) vulnerability in a secure system (data, applications, devices, networks): the user. If the attacker can get the user to reveal information, it is much easier for the attacker than using some other method of reconnaissance. This could be done through e-mail or misdirection of web pages, which results in the user clicking something that leads to the attacker gaining information. Social engineering can also be done in person or over the phone.</a:t>
            </a:r>
          </a:p>
          <a:p>
            <a:pPr lvl="1"/>
            <a:r>
              <a:rPr lang="en-US" b="1" dirty="0"/>
              <a:t>Phishing</a:t>
            </a:r>
            <a:r>
              <a:rPr lang="en-US" dirty="0"/>
              <a:t> presents a link that looks like a valid trusted resource to a user. When the user clicks it, the user is prompted to disclose confidential information such as usernames/passwords.</a:t>
            </a:r>
          </a:p>
          <a:p>
            <a:pPr lvl="1"/>
            <a:r>
              <a:rPr lang="en-US" b="1" dirty="0"/>
              <a:t>Pharming</a:t>
            </a:r>
            <a:r>
              <a:rPr lang="en-US" dirty="0"/>
              <a:t> is used to direct a customer’s URL from a valid resource to a malicious one that could be made to appear as the valid site to the user. From there, an attempt is made to extract confidential information from the user.</a:t>
            </a:r>
            <a:endParaRPr lang="en-IN" dirty="0"/>
          </a:p>
        </p:txBody>
      </p:sp>
    </p:spTree>
    <p:extLst>
      <p:ext uri="{BB962C8B-B14F-4D97-AF65-F5344CB8AC3E}">
        <p14:creationId xmlns:p14="http://schemas.microsoft.com/office/powerpoint/2010/main" val="311412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16C4-8C13-B90E-85A7-38FC2EDD91BC}"/>
              </a:ext>
            </a:extLst>
          </p:cNvPr>
          <p:cNvSpPr>
            <a:spLocks noGrp="1"/>
          </p:cNvSpPr>
          <p:nvPr>
            <p:ph type="title"/>
          </p:nvPr>
        </p:nvSpPr>
        <p:spPr/>
        <p:txBody>
          <a:bodyPr/>
          <a:lstStyle/>
          <a:p>
            <a:r>
              <a:rPr lang="en-IN" dirty="0"/>
              <a:t>Attack Methods</a:t>
            </a:r>
          </a:p>
        </p:txBody>
      </p:sp>
      <p:sp>
        <p:nvSpPr>
          <p:cNvPr id="3" name="Content Placeholder 2">
            <a:extLst>
              <a:ext uri="{FF2B5EF4-FFF2-40B4-BE49-F238E27FC236}">
                <a16:creationId xmlns:a16="http://schemas.microsoft.com/office/drawing/2014/main" id="{3EB53810-83AB-8B8B-A320-35862AE9754D}"/>
              </a:ext>
            </a:extLst>
          </p:cNvPr>
          <p:cNvSpPr>
            <a:spLocks noGrp="1"/>
          </p:cNvSpPr>
          <p:nvPr>
            <p:ph idx="1"/>
          </p:nvPr>
        </p:nvSpPr>
        <p:spPr/>
        <p:txBody>
          <a:bodyPr>
            <a:normAutofit/>
          </a:bodyPr>
          <a:lstStyle/>
          <a:p>
            <a:r>
              <a:rPr lang="en-US" b="1" dirty="0"/>
              <a:t>Privilege escalation</a:t>
            </a:r>
            <a:r>
              <a:rPr lang="en-US" dirty="0"/>
              <a:t>: This is the process of taking some level of access (whether authorized or not) and achieving an even greater level of access. An example is an attacker who gains user mode access to a router and then uses a brute-force attack against the router, determining what the enable secret is for privilege level access.</a:t>
            </a:r>
            <a:endParaRPr lang="en-IN" dirty="0"/>
          </a:p>
        </p:txBody>
      </p:sp>
    </p:spTree>
    <p:extLst>
      <p:ext uri="{BB962C8B-B14F-4D97-AF65-F5344CB8AC3E}">
        <p14:creationId xmlns:p14="http://schemas.microsoft.com/office/powerpoint/2010/main" val="20292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16C4-8C13-B90E-85A7-38FC2EDD91BC}"/>
              </a:ext>
            </a:extLst>
          </p:cNvPr>
          <p:cNvSpPr>
            <a:spLocks noGrp="1"/>
          </p:cNvSpPr>
          <p:nvPr>
            <p:ph type="title"/>
          </p:nvPr>
        </p:nvSpPr>
        <p:spPr/>
        <p:txBody>
          <a:bodyPr/>
          <a:lstStyle/>
          <a:p>
            <a:r>
              <a:rPr lang="en-IN" dirty="0"/>
              <a:t>Attack Methods</a:t>
            </a:r>
          </a:p>
        </p:txBody>
      </p:sp>
      <p:sp>
        <p:nvSpPr>
          <p:cNvPr id="3" name="Content Placeholder 2">
            <a:extLst>
              <a:ext uri="{FF2B5EF4-FFF2-40B4-BE49-F238E27FC236}">
                <a16:creationId xmlns:a16="http://schemas.microsoft.com/office/drawing/2014/main" id="{3EB53810-83AB-8B8B-A320-35862AE9754D}"/>
              </a:ext>
            </a:extLst>
          </p:cNvPr>
          <p:cNvSpPr>
            <a:spLocks noGrp="1"/>
          </p:cNvSpPr>
          <p:nvPr>
            <p:ph idx="1"/>
          </p:nvPr>
        </p:nvSpPr>
        <p:spPr/>
        <p:txBody>
          <a:bodyPr>
            <a:normAutofit/>
          </a:bodyPr>
          <a:lstStyle/>
          <a:p>
            <a:r>
              <a:rPr lang="en-US" b="1" dirty="0"/>
              <a:t>Back doors</a:t>
            </a:r>
            <a:r>
              <a:rPr lang="en-US" dirty="0"/>
              <a:t>: When attackers gain access to a system, they usually want future access, as well, and they want it to be easy. A backdoor application can be installed to either allow future access or to collect information to use in further attacks. Many back doors are installed by users clicking something without realizing the link they click or the file they open is a threat. Back doors can also be implemented as a result of a virus or a worm (often referred to as </a:t>
            </a:r>
            <a:r>
              <a:rPr lang="en-US" i="1" dirty="0"/>
              <a:t>malware</a:t>
            </a:r>
            <a:r>
              <a:rPr lang="en-US" dirty="0"/>
              <a:t>).</a:t>
            </a:r>
            <a:endParaRPr lang="en-IN" dirty="0"/>
          </a:p>
        </p:txBody>
      </p:sp>
    </p:spTree>
    <p:extLst>
      <p:ext uri="{BB962C8B-B14F-4D97-AF65-F5344CB8AC3E}">
        <p14:creationId xmlns:p14="http://schemas.microsoft.com/office/powerpoint/2010/main" val="3404584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216C4-8C13-B90E-85A7-38FC2EDD91BC}"/>
              </a:ext>
            </a:extLst>
          </p:cNvPr>
          <p:cNvSpPr>
            <a:spLocks noGrp="1"/>
          </p:cNvSpPr>
          <p:nvPr>
            <p:ph type="title"/>
          </p:nvPr>
        </p:nvSpPr>
        <p:spPr/>
        <p:txBody>
          <a:bodyPr/>
          <a:lstStyle/>
          <a:p>
            <a:r>
              <a:rPr lang="en-IN" dirty="0"/>
              <a:t>Attack Methods</a:t>
            </a:r>
          </a:p>
        </p:txBody>
      </p:sp>
      <p:sp>
        <p:nvSpPr>
          <p:cNvPr id="3" name="Content Placeholder 2">
            <a:extLst>
              <a:ext uri="{FF2B5EF4-FFF2-40B4-BE49-F238E27FC236}">
                <a16:creationId xmlns:a16="http://schemas.microsoft.com/office/drawing/2014/main" id="{3EB53810-83AB-8B8B-A320-35862AE9754D}"/>
              </a:ext>
            </a:extLst>
          </p:cNvPr>
          <p:cNvSpPr>
            <a:spLocks noGrp="1"/>
          </p:cNvSpPr>
          <p:nvPr>
            <p:ph idx="1"/>
          </p:nvPr>
        </p:nvSpPr>
        <p:spPr/>
        <p:txBody>
          <a:bodyPr>
            <a:normAutofit/>
          </a:bodyPr>
          <a:lstStyle/>
          <a:p>
            <a:r>
              <a:rPr lang="en-US" b="1" dirty="0"/>
              <a:t>Code execution</a:t>
            </a:r>
            <a:r>
              <a:rPr lang="en-US" dirty="0"/>
              <a:t>: When attackers can gain access to a device, they might be able to take several actions. The type of action depends on the level of access the attacker has, or can achieve, and is based on permissions granted to the account compromised by the attacker. One of the most devastating actions available to an attacker is the ability to execute code within a device. Code execution could result in an adverse impact to the confidentiality (attacker can view information on the device), integrity (attacker can modify the configuration of the device), and availability (attacker can create a denial of service through the modification of code) of a device.</a:t>
            </a:r>
            <a:endParaRPr lang="en-IN" dirty="0"/>
          </a:p>
        </p:txBody>
      </p:sp>
    </p:spTree>
    <p:extLst>
      <p:ext uri="{BB962C8B-B14F-4D97-AF65-F5344CB8AC3E}">
        <p14:creationId xmlns:p14="http://schemas.microsoft.com/office/powerpoint/2010/main" val="2392926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FFD77-3584-AE0B-49E9-74937B7AC72D}"/>
              </a:ext>
            </a:extLst>
          </p:cNvPr>
          <p:cNvSpPr>
            <a:spLocks noGrp="1"/>
          </p:cNvSpPr>
          <p:nvPr>
            <p:ph type="title"/>
          </p:nvPr>
        </p:nvSpPr>
        <p:spPr/>
        <p:txBody>
          <a:bodyPr/>
          <a:lstStyle/>
          <a:p>
            <a:r>
              <a:rPr lang="en-IN" dirty="0"/>
              <a:t>Other Forms of Attack</a:t>
            </a:r>
          </a:p>
        </p:txBody>
      </p:sp>
      <p:sp>
        <p:nvSpPr>
          <p:cNvPr id="3" name="Content Placeholder 2">
            <a:extLst>
              <a:ext uri="{FF2B5EF4-FFF2-40B4-BE49-F238E27FC236}">
                <a16:creationId xmlns:a16="http://schemas.microsoft.com/office/drawing/2014/main" id="{C091CFF2-165A-364D-D4EF-B6B2FFD2D06D}"/>
              </a:ext>
            </a:extLst>
          </p:cNvPr>
          <p:cNvSpPr>
            <a:spLocks noGrp="1"/>
          </p:cNvSpPr>
          <p:nvPr>
            <p:ph idx="1"/>
          </p:nvPr>
        </p:nvSpPr>
        <p:spPr/>
        <p:txBody>
          <a:bodyPr/>
          <a:lstStyle/>
          <a:p>
            <a:r>
              <a:rPr lang="en-IN" b="1" dirty="0"/>
              <a:t>Covert channel</a:t>
            </a:r>
            <a:r>
              <a:rPr lang="en-IN" dirty="0"/>
              <a:t>: Allowed programs/communication are misused. For example, if web traffic is allowed but P2P messaging is not, the attacker sends P2P messages through the web channel.</a:t>
            </a:r>
          </a:p>
          <a:p>
            <a:r>
              <a:rPr lang="en-IN" b="1" dirty="0"/>
              <a:t>Trust exploitation</a:t>
            </a:r>
            <a:r>
              <a:rPr lang="en-IN" dirty="0"/>
              <a:t>: Gaining an access to the DMZ and then getting inside the network.</a:t>
            </a:r>
          </a:p>
          <a:p>
            <a:r>
              <a:rPr lang="en-IN" b="1" dirty="0"/>
              <a:t>Brute-force</a:t>
            </a:r>
            <a:r>
              <a:rPr lang="en-IN" dirty="0"/>
              <a:t>: Password-guessing.</a:t>
            </a:r>
          </a:p>
          <a:p>
            <a:r>
              <a:rPr lang="en-IN" b="1" dirty="0"/>
              <a:t>Botnet</a:t>
            </a:r>
            <a:r>
              <a:rPr lang="en-IN" dirty="0"/>
              <a:t>: A collection of infected computers that follow the attacker’s instructions.</a:t>
            </a:r>
          </a:p>
          <a:p>
            <a:r>
              <a:rPr lang="en-IN" b="1" dirty="0"/>
              <a:t>DoS and DDoS</a:t>
            </a:r>
            <a:r>
              <a:rPr lang="en-IN" dirty="0"/>
              <a:t>: Denying legitimate users access to resources.</a:t>
            </a:r>
          </a:p>
        </p:txBody>
      </p:sp>
    </p:spTree>
    <p:extLst>
      <p:ext uri="{BB962C8B-B14F-4D97-AF65-F5344CB8AC3E}">
        <p14:creationId xmlns:p14="http://schemas.microsoft.com/office/powerpoint/2010/main" val="102249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BE972F-7F2D-9C0A-3B41-4B6D90C1EDBE}"/>
              </a:ext>
            </a:extLst>
          </p:cNvPr>
          <p:cNvSpPr>
            <a:spLocks noGrp="1"/>
          </p:cNvSpPr>
          <p:nvPr>
            <p:ph type="title"/>
          </p:nvPr>
        </p:nvSpPr>
        <p:spPr/>
        <p:txBody>
          <a:bodyPr/>
          <a:lstStyle/>
          <a:p>
            <a:r>
              <a:rPr lang="en-IN" dirty="0"/>
              <a:t>Firewalls</a:t>
            </a:r>
          </a:p>
        </p:txBody>
      </p:sp>
      <p:sp>
        <p:nvSpPr>
          <p:cNvPr id="5" name="Text Placeholder 4">
            <a:extLst>
              <a:ext uri="{FF2B5EF4-FFF2-40B4-BE49-F238E27FC236}">
                <a16:creationId xmlns:a16="http://schemas.microsoft.com/office/drawing/2014/main" id="{05A52E2B-CC48-1565-C1B7-3ABBF5CB4BD5}"/>
              </a:ext>
            </a:extLst>
          </p:cNvPr>
          <p:cNvSpPr>
            <a:spLocks noGrp="1"/>
          </p:cNvSpPr>
          <p:nvPr>
            <p:ph type="body" idx="1"/>
          </p:nvPr>
        </p:nvSpPr>
        <p:spPr/>
        <p:txBody>
          <a:bodyPr/>
          <a:lstStyle/>
          <a:p>
            <a:endParaRPr lang="en-IN"/>
          </a:p>
        </p:txBody>
      </p:sp>
      <p:pic>
        <p:nvPicPr>
          <p:cNvPr id="7" name="Picture 6">
            <a:extLst>
              <a:ext uri="{FF2B5EF4-FFF2-40B4-BE49-F238E27FC236}">
                <a16:creationId xmlns:a16="http://schemas.microsoft.com/office/drawing/2014/main" id="{3C7B468B-FAD6-CDF7-018D-5CB15944C40E}"/>
              </a:ext>
            </a:extLst>
          </p:cNvPr>
          <p:cNvPicPr>
            <a:picLocks noChangeAspect="1"/>
          </p:cNvPicPr>
          <p:nvPr/>
        </p:nvPicPr>
        <p:blipFill>
          <a:blip r:embed="rId2"/>
          <a:stretch>
            <a:fillRect/>
          </a:stretch>
        </p:blipFill>
        <p:spPr>
          <a:xfrm>
            <a:off x="3700010" y="558653"/>
            <a:ext cx="8214588" cy="4589609"/>
          </a:xfrm>
          <a:prstGeom prst="rect">
            <a:avLst/>
          </a:prstGeom>
        </p:spPr>
      </p:pic>
    </p:spTree>
    <p:extLst>
      <p:ext uri="{BB962C8B-B14F-4D97-AF65-F5344CB8AC3E}">
        <p14:creationId xmlns:p14="http://schemas.microsoft.com/office/powerpoint/2010/main" val="393743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4797-F824-2A6D-6419-F5577BDF2CED}"/>
              </a:ext>
            </a:extLst>
          </p:cNvPr>
          <p:cNvSpPr>
            <a:spLocks noGrp="1"/>
          </p:cNvSpPr>
          <p:nvPr>
            <p:ph type="title"/>
          </p:nvPr>
        </p:nvSpPr>
        <p:spPr/>
        <p:txBody>
          <a:bodyPr/>
          <a:lstStyle/>
          <a:p>
            <a:r>
              <a:rPr lang="en-IN" dirty="0"/>
              <a:t>Firewall</a:t>
            </a:r>
          </a:p>
        </p:txBody>
      </p:sp>
      <p:sp>
        <p:nvSpPr>
          <p:cNvPr id="3" name="Content Placeholder 2">
            <a:extLst>
              <a:ext uri="{FF2B5EF4-FFF2-40B4-BE49-F238E27FC236}">
                <a16:creationId xmlns:a16="http://schemas.microsoft.com/office/drawing/2014/main" id="{2291F52B-97C9-7E4B-A5D4-DF36FCC843AD}"/>
              </a:ext>
            </a:extLst>
          </p:cNvPr>
          <p:cNvSpPr>
            <a:spLocks noGrp="1"/>
          </p:cNvSpPr>
          <p:nvPr>
            <p:ph sz="half" idx="1"/>
          </p:nvPr>
        </p:nvSpPr>
        <p:spPr/>
        <p:txBody>
          <a:bodyPr/>
          <a:lstStyle/>
          <a:p>
            <a:r>
              <a:rPr lang="en-US" dirty="0"/>
              <a:t>A </a:t>
            </a:r>
            <a:r>
              <a:rPr lang="en-US" b="1" dirty="0"/>
              <a:t>firewall</a:t>
            </a:r>
            <a:r>
              <a:rPr lang="en-US" dirty="0"/>
              <a:t> is a network security device that monitors incoming and outgoing network traffic and decides whether to allow or block specific traffic based on a defined set of security rules.</a:t>
            </a:r>
          </a:p>
          <a:p>
            <a:r>
              <a:rPr lang="en-IN" dirty="0"/>
              <a:t>A firewall can be software, hardware, or both</a:t>
            </a:r>
          </a:p>
        </p:txBody>
      </p:sp>
      <p:sp>
        <p:nvSpPr>
          <p:cNvPr id="4" name="Content Placeholder 3">
            <a:extLst>
              <a:ext uri="{FF2B5EF4-FFF2-40B4-BE49-F238E27FC236}">
                <a16:creationId xmlns:a16="http://schemas.microsoft.com/office/drawing/2014/main" id="{301A8F86-90CE-26D8-9E4E-6DDBCD7743B4}"/>
              </a:ext>
            </a:extLst>
          </p:cNvPr>
          <p:cNvSpPr>
            <a:spLocks noGrp="1"/>
          </p:cNvSpPr>
          <p:nvPr>
            <p:ph sz="half" idx="2"/>
          </p:nvPr>
        </p:nvSpPr>
        <p:spPr/>
        <p:txBody>
          <a:bodyPr/>
          <a:lstStyle/>
          <a:p>
            <a:endParaRPr lang="en-IN"/>
          </a:p>
        </p:txBody>
      </p:sp>
      <p:pic>
        <p:nvPicPr>
          <p:cNvPr id="1026" name="Picture 2" descr="फ़ायरवॉल (नेटवर्किंग) - विकिपीडिया">
            <a:extLst>
              <a:ext uri="{FF2B5EF4-FFF2-40B4-BE49-F238E27FC236}">
                <a16:creationId xmlns:a16="http://schemas.microsoft.com/office/drawing/2014/main" id="{B5F3D1B7-B1AC-4AD1-0258-2BEE2280C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514" y="2541347"/>
            <a:ext cx="5329686" cy="2919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817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D036-51AE-C781-4200-C2F1D5601BB0}"/>
              </a:ext>
            </a:extLst>
          </p:cNvPr>
          <p:cNvSpPr>
            <a:spLocks noGrp="1"/>
          </p:cNvSpPr>
          <p:nvPr>
            <p:ph type="title"/>
          </p:nvPr>
        </p:nvSpPr>
        <p:spPr/>
        <p:txBody>
          <a:bodyPr/>
          <a:lstStyle/>
          <a:p>
            <a:r>
              <a:rPr lang="en-IN" dirty="0"/>
              <a:t>Firewall Basics</a:t>
            </a:r>
          </a:p>
        </p:txBody>
      </p:sp>
      <p:sp>
        <p:nvSpPr>
          <p:cNvPr id="3" name="Content Placeholder 2">
            <a:extLst>
              <a:ext uri="{FF2B5EF4-FFF2-40B4-BE49-F238E27FC236}">
                <a16:creationId xmlns:a16="http://schemas.microsoft.com/office/drawing/2014/main" id="{4D824EB5-C709-0604-D698-2FCDD44BA083}"/>
              </a:ext>
            </a:extLst>
          </p:cNvPr>
          <p:cNvSpPr>
            <a:spLocks noGrp="1"/>
          </p:cNvSpPr>
          <p:nvPr>
            <p:ph idx="1"/>
          </p:nvPr>
        </p:nvSpPr>
        <p:spPr/>
        <p:txBody>
          <a:bodyPr/>
          <a:lstStyle/>
          <a:p>
            <a:r>
              <a:rPr lang="en-IN" dirty="0"/>
              <a:t>Interconnects networks with differing trust</a:t>
            </a:r>
          </a:p>
          <a:p>
            <a:r>
              <a:rPr lang="en-IN" dirty="0"/>
              <a:t>Restricts network services – Only authorized traffic is allowed</a:t>
            </a:r>
          </a:p>
          <a:p>
            <a:r>
              <a:rPr lang="en-IN" dirty="0"/>
              <a:t>Auditing and Access Control – Can raise alarms for abnormal </a:t>
            </a:r>
            <a:r>
              <a:rPr lang="en-IN" dirty="0" err="1"/>
              <a:t>behavior</a:t>
            </a:r>
            <a:endParaRPr lang="en-IN" dirty="0"/>
          </a:p>
          <a:p>
            <a:r>
              <a:rPr lang="en-IN" dirty="0"/>
              <a:t>Provide NAT and monitor usage</a:t>
            </a:r>
          </a:p>
          <a:p>
            <a:r>
              <a:rPr lang="en-IN" dirty="0"/>
              <a:t>Implement VPN using </a:t>
            </a:r>
            <a:r>
              <a:rPr lang="en-IN" dirty="0" err="1"/>
              <a:t>IPSec</a:t>
            </a:r>
            <a:endParaRPr lang="en-IN" dirty="0"/>
          </a:p>
          <a:p>
            <a:r>
              <a:rPr lang="en-IN" dirty="0"/>
              <a:t>Must be immune to penetration</a:t>
            </a:r>
          </a:p>
          <a:p>
            <a:endParaRPr lang="en-IN" dirty="0"/>
          </a:p>
        </p:txBody>
      </p:sp>
    </p:spTree>
    <p:extLst>
      <p:ext uri="{BB962C8B-B14F-4D97-AF65-F5344CB8AC3E}">
        <p14:creationId xmlns:p14="http://schemas.microsoft.com/office/powerpoint/2010/main" val="2051401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D036-51AE-C781-4200-C2F1D5601BB0}"/>
              </a:ext>
            </a:extLst>
          </p:cNvPr>
          <p:cNvSpPr>
            <a:spLocks noGrp="1"/>
          </p:cNvSpPr>
          <p:nvPr>
            <p:ph type="title"/>
          </p:nvPr>
        </p:nvSpPr>
        <p:spPr/>
        <p:txBody>
          <a:bodyPr/>
          <a:lstStyle/>
          <a:p>
            <a:r>
              <a:rPr lang="en-IN" dirty="0"/>
              <a:t>Firewall Limitations</a:t>
            </a:r>
          </a:p>
        </p:txBody>
      </p:sp>
      <p:sp>
        <p:nvSpPr>
          <p:cNvPr id="3" name="Content Placeholder 2">
            <a:extLst>
              <a:ext uri="{FF2B5EF4-FFF2-40B4-BE49-F238E27FC236}">
                <a16:creationId xmlns:a16="http://schemas.microsoft.com/office/drawing/2014/main" id="{4D824EB5-C709-0604-D698-2FCDD44BA083}"/>
              </a:ext>
            </a:extLst>
          </p:cNvPr>
          <p:cNvSpPr>
            <a:spLocks noGrp="1"/>
          </p:cNvSpPr>
          <p:nvPr>
            <p:ph idx="1"/>
          </p:nvPr>
        </p:nvSpPr>
        <p:spPr/>
        <p:txBody>
          <a:bodyPr/>
          <a:lstStyle/>
          <a:p>
            <a:r>
              <a:rPr lang="en-IN" dirty="0"/>
              <a:t>Can be bypassed by trusted organizations, trusted services such as SSL/SSH</a:t>
            </a:r>
          </a:p>
          <a:p>
            <a:r>
              <a:rPr lang="en-IN" dirty="0"/>
              <a:t>Cannot protect against internal threats</a:t>
            </a:r>
          </a:p>
          <a:p>
            <a:r>
              <a:rPr lang="en-IN" dirty="0"/>
              <a:t>Cannot protect against virus-infected files or programs because of their sheer range</a:t>
            </a:r>
          </a:p>
          <a:p>
            <a:endParaRPr lang="en-IN" dirty="0"/>
          </a:p>
          <a:p>
            <a:endParaRPr lang="en-IN" dirty="0"/>
          </a:p>
        </p:txBody>
      </p:sp>
    </p:spTree>
    <p:extLst>
      <p:ext uri="{BB962C8B-B14F-4D97-AF65-F5344CB8AC3E}">
        <p14:creationId xmlns:p14="http://schemas.microsoft.com/office/powerpoint/2010/main" val="701494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C5117-D772-DB43-4248-B5BB7A4DA731}"/>
              </a:ext>
            </a:extLst>
          </p:cNvPr>
          <p:cNvSpPr>
            <a:spLocks noGrp="1"/>
          </p:cNvSpPr>
          <p:nvPr>
            <p:ph type="title"/>
          </p:nvPr>
        </p:nvSpPr>
        <p:spPr/>
        <p:txBody>
          <a:bodyPr/>
          <a:lstStyle/>
          <a:p>
            <a:r>
              <a:rPr lang="en-IN" dirty="0"/>
              <a:t>Firewall Classification</a:t>
            </a:r>
          </a:p>
        </p:txBody>
      </p:sp>
      <p:sp>
        <p:nvSpPr>
          <p:cNvPr id="3" name="Content Placeholder 2">
            <a:extLst>
              <a:ext uri="{FF2B5EF4-FFF2-40B4-BE49-F238E27FC236}">
                <a16:creationId xmlns:a16="http://schemas.microsoft.com/office/drawing/2014/main" id="{8DAF93D5-D34C-936F-250F-ECE319D7E540}"/>
              </a:ext>
            </a:extLst>
          </p:cNvPr>
          <p:cNvSpPr>
            <a:spLocks noGrp="1"/>
          </p:cNvSpPr>
          <p:nvPr>
            <p:ph idx="1"/>
          </p:nvPr>
        </p:nvSpPr>
        <p:spPr/>
        <p:txBody>
          <a:bodyPr/>
          <a:lstStyle/>
          <a:p>
            <a:r>
              <a:rPr lang="en-IN" dirty="0"/>
              <a:t>Packet filter</a:t>
            </a:r>
          </a:p>
          <a:p>
            <a:r>
              <a:rPr lang="en-IN" dirty="0"/>
              <a:t>Application gateway (Proxy)</a:t>
            </a:r>
          </a:p>
        </p:txBody>
      </p:sp>
    </p:spTree>
    <p:extLst>
      <p:ext uri="{BB962C8B-B14F-4D97-AF65-F5344CB8AC3E}">
        <p14:creationId xmlns:p14="http://schemas.microsoft.com/office/powerpoint/2010/main" val="2206551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2A916A-64A9-FB71-5215-3B5B0E1450F3}"/>
              </a:ext>
            </a:extLst>
          </p:cNvPr>
          <p:cNvSpPr>
            <a:spLocks noGrp="1"/>
          </p:cNvSpPr>
          <p:nvPr>
            <p:ph type="title"/>
          </p:nvPr>
        </p:nvSpPr>
        <p:spPr/>
        <p:txBody>
          <a:bodyPr/>
          <a:lstStyle/>
          <a:p>
            <a:r>
              <a:rPr lang="en-IN" dirty="0"/>
              <a:t>Packet Filter</a:t>
            </a:r>
          </a:p>
        </p:txBody>
      </p:sp>
      <p:sp>
        <p:nvSpPr>
          <p:cNvPr id="5" name="Text Placeholder 4">
            <a:extLst>
              <a:ext uri="{FF2B5EF4-FFF2-40B4-BE49-F238E27FC236}">
                <a16:creationId xmlns:a16="http://schemas.microsoft.com/office/drawing/2014/main" id="{3D45E469-A4A9-DA00-D94E-CE79648246D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842972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C4FBB-CB7B-3DD0-8279-9BEE4C11C289}"/>
              </a:ext>
            </a:extLst>
          </p:cNvPr>
          <p:cNvSpPr>
            <a:spLocks noGrp="1"/>
          </p:cNvSpPr>
          <p:nvPr>
            <p:ph type="title"/>
          </p:nvPr>
        </p:nvSpPr>
        <p:spPr/>
        <p:txBody>
          <a:bodyPr/>
          <a:lstStyle/>
          <a:p>
            <a:r>
              <a:rPr lang="en-IN" dirty="0"/>
              <a:t>Packet Filter</a:t>
            </a:r>
          </a:p>
        </p:txBody>
      </p:sp>
      <p:sp>
        <p:nvSpPr>
          <p:cNvPr id="3" name="Content Placeholder 2">
            <a:extLst>
              <a:ext uri="{FF2B5EF4-FFF2-40B4-BE49-F238E27FC236}">
                <a16:creationId xmlns:a16="http://schemas.microsoft.com/office/drawing/2014/main" id="{64801753-CD15-6532-4460-A5A830A1E699}"/>
              </a:ext>
            </a:extLst>
          </p:cNvPr>
          <p:cNvSpPr>
            <a:spLocks noGrp="1"/>
          </p:cNvSpPr>
          <p:nvPr>
            <p:ph idx="1"/>
          </p:nvPr>
        </p:nvSpPr>
        <p:spPr/>
        <p:txBody>
          <a:bodyPr/>
          <a:lstStyle/>
          <a:p>
            <a:r>
              <a:rPr lang="en-IN" dirty="0"/>
              <a:t>Simplest and fastest</a:t>
            </a:r>
          </a:p>
          <a:p>
            <a:r>
              <a:rPr lang="en-IN" dirty="0"/>
              <a:t>Examines every packet and applies rules, decides accordingly</a:t>
            </a:r>
          </a:p>
          <a:p>
            <a:r>
              <a:rPr lang="en-IN" dirty="0"/>
              <a:t>Generally do not do anything based on the data itself</a:t>
            </a:r>
          </a:p>
          <a:p>
            <a:r>
              <a:rPr lang="en-IN" dirty="0"/>
              <a:t>Filtering rules: IP addresses, port numbers, Transport protocols and interfaces</a:t>
            </a:r>
          </a:p>
          <a:p>
            <a:r>
              <a:rPr lang="en-IN" dirty="0"/>
              <a:t>Conservative approach: Deny all, allow selectively</a:t>
            </a:r>
          </a:p>
          <a:p>
            <a:r>
              <a:rPr lang="en-IN" dirty="0"/>
              <a:t>Aggressive approach: Allow all, deny selectively</a:t>
            </a:r>
          </a:p>
          <a:p>
            <a:endParaRPr lang="en-IN" dirty="0"/>
          </a:p>
        </p:txBody>
      </p:sp>
    </p:spTree>
    <p:extLst>
      <p:ext uri="{BB962C8B-B14F-4D97-AF65-F5344CB8AC3E}">
        <p14:creationId xmlns:p14="http://schemas.microsoft.com/office/powerpoint/2010/main" val="1535702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C4FBB-CB7B-3DD0-8279-9BEE4C11C289}"/>
              </a:ext>
            </a:extLst>
          </p:cNvPr>
          <p:cNvSpPr>
            <a:spLocks noGrp="1"/>
          </p:cNvSpPr>
          <p:nvPr>
            <p:ph type="title"/>
          </p:nvPr>
        </p:nvSpPr>
        <p:spPr/>
        <p:txBody>
          <a:bodyPr/>
          <a:lstStyle/>
          <a:p>
            <a:r>
              <a:rPr lang="en-IN" dirty="0"/>
              <a:t>Packet Filter – Examples of Usage</a:t>
            </a:r>
          </a:p>
        </p:txBody>
      </p:sp>
      <p:sp>
        <p:nvSpPr>
          <p:cNvPr id="3" name="Content Placeholder 2">
            <a:extLst>
              <a:ext uri="{FF2B5EF4-FFF2-40B4-BE49-F238E27FC236}">
                <a16:creationId xmlns:a16="http://schemas.microsoft.com/office/drawing/2014/main" id="{64801753-CD15-6532-4460-A5A830A1E699}"/>
              </a:ext>
            </a:extLst>
          </p:cNvPr>
          <p:cNvSpPr>
            <a:spLocks noGrp="1"/>
          </p:cNvSpPr>
          <p:nvPr>
            <p:ph idx="1"/>
          </p:nvPr>
        </p:nvSpPr>
        <p:spPr/>
        <p:txBody>
          <a:bodyPr>
            <a:normAutofit fontScale="92500" lnSpcReduction="10000"/>
          </a:bodyPr>
          <a:lstStyle/>
          <a:p>
            <a:r>
              <a:rPr lang="en-US" dirty="0"/>
              <a:t>Possible:</a:t>
            </a:r>
          </a:p>
          <a:p>
            <a:pPr lvl="1"/>
            <a:r>
              <a:rPr lang="en-US" dirty="0"/>
              <a:t>Don't let anybody use Telnet to log in from the outside.</a:t>
            </a:r>
          </a:p>
          <a:p>
            <a:pPr lvl="1"/>
            <a:r>
              <a:rPr lang="en-US" dirty="0"/>
              <a:t>Let everybody send us email via SMTP.</a:t>
            </a:r>
          </a:p>
          <a:p>
            <a:endParaRPr lang="en-US" dirty="0"/>
          </a:p>
          <a:p>
            <a:r>
              <a:rPr lang="en-US" dirty="0"/>
              <a:t>Not possible:</a:t>
            </a:r>
          </a:p>
          <a:p>
            <a:pPr lvl="1"/>
            <a:r>
              <a:rPr lang="en-US" dirty="0"/>
              <a:t>This user can Telnet in from outside, but no other users can do so.</a:t>
            </a:r>
          </a:p>
          <a:p>
            <a:pPr lvl="1"/>
            <a:r>
              <a:rPr lang="en-US" dirty="0"/>
              <a:t>(Because "user" isn't something a packet filtering system can identify.)</a:t>
            </a:r>
          </a:p>
          <a:p>
            <a:endParaRPr lang="en-US" dirty="0"/>
          </a:p>
          <a:p>
            <a:r>
              <a:rPr lang="en-US" dirty="0"/>
              <a:t>Not possible:</a:t>
            </a:r>
          </a:p>
          <a:p>
            <a:pPr lvl="1"/>
            <a:r>
              <a:rPr lang="en-US" dirty="0"/>
              <a:t>You can transfer these files but not those files.</a:t>
            </a:r>
          </a:p>
          <a:p>
            <a:pPr lvl="1"/>
            <a:r>
              <a:rPr lang="en-US" dirty="0"/>
              <a:t>(Because "file" also isn't something the packet filtering system can identify.)</a:t>
            </a:r>
            <a:endParaRPr lang="en-IN" dirty="0"/>
          </a:p>
        </p:txBody>
      </p:sp>
    </p:spTree>
    <p:extLst>
      <p:ext uri="{BB962C8B-B14F-4D97-AF65-F5344CB8AC3E}">
        <p14:creationId xmlns:p14="http://schemas.microsoft.com/office/powerpoint/2010/main" val="2930770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89B70-0373-B8F3-EC3F-F552F32FDED2}"/>
              </a:ext>
            </a:extLst>
          </p:cNvPr>
          <p:cNvSpPr>
            <a:spLocks noGrp="1"/>
          </p:cNvSpPr>
          <p:nvPr>
            <p:ph type="title"/>
          </p:nvPr>
        </p:nvSpPr>
        <p:spPr/>
        <p:txBody>
          <a:bodyPr/>
          <a:lstStyle/>
          <a:p>
            <a:r>
              <a:rPr lang="en-IN" dirty="0"/>
              <a:t>Real Benefits of a Packet Filter</a:t>
            </a:r>
          </a:p>
        </p:txBody>
      </p:sp>
      <p:sp>
        <p:nvSpPr>
          <p:cNvPr id="3" name="Content Placeholder 2">
            <a:extLst>
              <a:ext uri="{FF2B5EF4-FFF2-40B4-BE49-F238E27FC236}">
                <a16:creationId xmlns:a16="http://schemas.microsoft.com/office/drawing/2014/main" id="{7510CE51-51E9-0CFD-E5A8-1EE4183BC4BE}"/>
              </a:ext>
            </a:extLst>
          </p:cNvPr>
          <p:cNvSpPr>
            <a:spLocks noGrp="1"/>
          </p:cNvSpPr>
          <p:nvPr>
            <p:ph idx="1"/>
          </p:nvPr>
        </p:nvSpPr>
        <p:spPr/>
        <p:txBody>
          <a:bodyPr/>
          <a:lstStyle/>
          <a:p>
            <a:r>
              <a:rPr lang="en-US" dirty="0"/>
              <a:t>The main advantage of packet filtering is leverage: it allows you to provide, in a single place, particular protections for an entire network. </a:t>
            </a:r>
          </a:p>
          <a:p>
            <a:r>
              <a:rPr lang="en-US" dirty="0"/>
              <a:t>Consider the Telnet service as an example. If you disallow Telnet by turning off the Telnet server on all your hosts, you still have to worry about someone in your organization installing a new machine (or reinstalling an old one) with the Telnet server turned on. </a:t>
            </a:r>
          </a:p>
          <a:p>
            <a:r>
              <a:rPr lang="en-US" dirty="0"/>
              <a:t>On the other hand, if Telnet is not allowed by your filtering router, such a new machine would be protected right from the start, regardless of whether or not its Telnet server was actually running.</a:t>
            </a:r>
            <a:endParaRPr lang="en-IN" dirty="0"/>
          </a:p>
        </p:txBody>
      </p:sp>
    </p:spTree>
    <p:extLst>
      <p:ext uri="{BB962C8B-B14F-4D97-AF65-F5344CB8AC3E}">
        <p14:creationId xmlns:p14="http://schemas.microsoft.com/office/powerpoint/2010/main" val="3519100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F2F7C-BAEE-A896-22A0-FD153E9E3493}"/>
              </a:ext>
            </a:extLst>
          </p:cNvPr>
          <p:cNvSpPr>
            <a:spLocks noGrp="1"/>
          </p:cNvSpPr>
          <p:nvPr>
            <p:ph type="title"/>
          </p:nvPr>
        </p:nvSpPr>
        <p:spPr/>
        <p:txBody>
          <a:bodyPr/>
          <a:lstStyle/>
          <a:p>
            <a:r>
              <a:rPr lang="en-IN" dirty="0"/>
              <a:t>Address-spoofing Attacks</a:t>
            </a:r>
          </a:p>
        </p:txBody>
      </p:sp>
      <p:sp>
        <p:nvSpPr>
          <p:cNvPr id="4" name="Content Placeholder 3">
            <a:extLst>
              <a:ext uri="{FF2B5EF4-FFF2-40B4-BE49-F238E27FC236}">
                <a16:creationId xmlns:a16="http://schemas.microsoft.com/office/drawing/2014/main" id="{9327E96B-868B-76A0-2C88-420C40EE0079}"/>
              </a:ext>
            </a:extLst>
          </p:cNvPr>
          <p:cNvSpPr>
            <a:spLocks noGrp="1"/>
          </p:cNvSpPr>
          <p:nvPr>
            <p:ph sz="half" idx="1"/>
          </p:nvPr>
        </p:nvSpPr>
        <p:spPr/>
        <p:txBody>
          <a:bodyPr>
            <a:normAutofit fontScale="92500" lnSpcReduction="20000"/>
          </a:bodyPr>
          <a:lstStyle/>
          <a:p>
            <a:r>
              <a:rPr lang="en-US" sz="2000" dirty="0"/>
              <a:t>It is a good idea to reject all packets that have internal source addresses - that is, packets that claim to be coming from internal machines but that are actually coming in from the outside - because such packets are usually part of </a:t>
            </a:r>
            <a:r>
              <a:rPr lang="en-US" sz="2000" b="1" dirty="0"/>
              <a:t>address-spoofing attacks</a:t>
            </a:r>
            <a:r>
              <a:rPr lang="en-US" sz="2000" dirty="0"/>
              <a:t>. </a:t>
            </a:r>
          </a:p>
          <a:p>
            <a:r>
              <a:rPr lang="en-US" sz="2000" dirty="0"/>
              <a:t>In such attacks, an attacker is pretending to be coming from an internal machine. </a:t>
            </a:r>
          </a:p>
          <a:p>
            <a:r>
              <a:rPr lang="en-US" sz="2000" dirty="0"/>
              <a:t>Decision-making of this kind can be done only in a filtering router at the perimeter of your network. </a:t>
            </a:r>
          </a:p>
          <a:p>
            <a:r>
              <a:rPr lang="en-US" sz="2000" dirty="0"/>
              <a:t>Only a filtering router in that location (which is, by definition, the boundary between "inside" and "outside") is able to recognize such a packet, by looking at the source address and whether the packet came from the inside (the internal network connection) or the outside (the external network connection).</a:t>
            </a:r>
            <a:endParaRPr lang="en-IN" sz="2000" dirty="0"/>
          </a:p>
        </p:txBody>
      </p:sp>
      <p:sp>
        <p:nvSpPr>
          <p:cNvPr id="5" name="Content Placeholder 4">
            <a:extLst>
              <a:ext uri="{FF2B5EF4-FFF2-40B4-BE49-F238E27FC236}">
                <a16:creationId xmlns:a16="http://schemas.microsoft.com/office/drawing/2014/main" id="{5A669C08-2755-9452-09B4-99AC6E932207}"/>
              </a:ext>
            </a:extLst>
          </p:cNvPr>
          <p:cNvSpPr>
            <a:spLocks noGrp="1"/>
          </p:cNvSpPr>
          <p:nvPr>
            <p:ph sz="half" idx="2"/>
          </p:nvPr>
        </p:nvSpPr>
        <p:spPr/>
        <p:txBody>
          <a:bodyPr>
            <a:normAutofit fontScale="92500" lnSpcReduction="20000"/>
          </a:bodyPr>
          <a:lstStyle/>
          <a:p>
            <a:endParaRPr lang="en-IN"/>
          </a:p>
        </p:txBody>
      </p:sp>
      <p:pic>
        <p:nvPicPr>
          <p:cNvPr id="2050" name="Picture 2" descr="Figure 6.1">
            <a:extLst>
              <a:ext uri="{FF2B5EF4-FFF2-40B4-BE49-F238E27FC236}">
                <a16:creationId xmlns:a16="http://schemas.microsoft.com/office/drawing/2014/main" id="{F4241BB9-D7C9-5630-5950-A8484285BE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2146818"/>
            <a:ext cx="5314064" cy="3236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8034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6579AD-449A-E18A-669E-20A115F2D3E2}"/>
              </a:ext>
            </a:extLst>
          </p:cNvPr>
          <p:cNvSpPr>
            <a:spLocks noGrp="1"/>
          </p:cNvSpPr>
          <p:nvPr>
            <p:ph type="title"/>
          </p:nvPr>
        </p:nvSpPr>
        <p:spPr/>
        <p:txBody>
          <a:bodyPr/>
          <a:lstStyle/>
          <a:p>
            <a:r>
              <a:rPr lang="en-IN" dirty="0"/>
              <a:t>Packet Filter Advantages</a:t>
            </a:r>
          </a:p>
        </p:txBody>
      </p:sp>
      <p:sp>
        <p:nvSpPr>
          <p:cNvPr id="6" name="Content Placeholder 5">
            <a:extLst>
              <a:ext uri="{FF2B5EF4-FFF2-40B4-BE49-F238E27FC236}">
                <a16:creationId xmlns:a16="http://schemas.microsoft.com/office/drawing/2014/main" id="{6B399DE2-B705-5835-76D6-5FB3C7FF9EAC}"/>
              </a:ext>
            </a:extLst>
          </p:cNvPr>
          <p:cNvSpPr>
            <a:spLocks noGrp="1"/>
          </p:cNvSpPr>
          <p:nvPr>
            <p:ph idx="1"/>
          </p:nvPr>
        </p:nvSpPr>
        <p:spPr/>
        <p:txBody>
          <a:bodyPr>
            <a:normAutofit fontScale="92500" lnSpcReduction="10000"/>
          </a:bodyPr>
          <a:lstStyle/>
          <a:p>
            <a:r>
              <a:rPr lang="en-US" dirty="0"/>
              <a:t>One screening router can help protect an entire network</a:t>
            </a:r>
          </a:p>
          <a:p>
            <a:pPr lvl="1"/>
            <a:r>
              <a:rPr lang="en-US" dirty="0"/>
              <a:t>A single, strategically placed packet filtering router can help protect an entire network. If there is only one router that connects your site to the Internet, you gain tremendous leverage on network security, regardless of the size of your site, by doing packet filtering on that router.</a:t>
            </a:r>
          </a:p>
          <a:p>
            <a:r>
              <a:rPr lang="en-US" dirty="0"/>
              <a:t>Packet filtering doesn't require user knowledge or cooperation</a:t>
            </a:r>
          </a:p>
          <a:p>
            <a:pPr lvl="1"/>
            <a:r>
              <a:rPr lang="en-US" dirty="0"/>
              <a:t>Unlike in proxy systems, packet filtering doesn't require any custom software or configuration of client machines, nor does it require any special training or procedures for users. When a packet filtering router decides to let a packet through, the router is indistinguishable from a normal router. Ideally, users won't even realize it's there, unless they try to do something that is prohibited by the packet filtering router's filtering policy. This "transparency" means that packet filtering can be done without the cooperation, and often without the knowledge, of users.</a:t>
            </a:r>
            <a:endParaRPr lang="en-IN" dirty="0"/>
          </a:p>
        </p:txBody>
      </p:sp>
    </p:spTree>
    <p:extLst>
      <p:ext uri="{BB962C8B-B14F-4D97-AF65-F5344CB8AC3E}">
        <p14:creationId xmlns:p14="http://schemas.microsoft.com/office/powerpoint/2010/main" val="2058054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6579AD-449A-E18A-669E-20A115F2D3E2}"/>
              </a:ext>
            </a:extLst>
          </p:cNvPr>
          <p:cNvSpPr>
            <a:spLocks noGrp="1"/>
          </p:cNvSpPr>
          <p:nvPr>
            <p:ph type="title"/>
          </p:nvPr>
        </p:nvSpPr>
        <p:spPr/>
        <p:txBody>
          <a:bodyPr/>
          <a:lstStyle/>
          <a:p>
            <a:r>
              <a:rPr lang="en-IN" dirty="0"/>
              <a:t>Packet Filter Advantages</a:t>
            </a:r>
          </a:p>
        </p:txBody>
      </p:sp>
      <p:sp>
        <p:nvSpPr>
          <p:cNvPr id="6" name="Content Placeholder 5">
            <a:extLst>
              <a:ext uri="{FF2B5EF4-FFF2-40B4-BE49-F238E27FC236}">
                <a16:creationId xmlns:a16="http://schemas.microsoft.com/office/drawing/2014/main" id="{6B399DE2-B705-5835-76D6-5FB3C7FF9EAC}"/>
              </a:ext>
            </a:extLst>
          </p:cNvPr>
          <p:cNvSpPr>
            <a:spLocks noGrp="1"/>
          </p:cNvSpPr>
          <p:nvPr>
            <p:ph idx="1"/>
          </p:nvPr>
        </p:nvSpPr>
        <p:spPr/>
        <p:txBody>
          <a:bodyPr>
            <a:normAutofit/>
          </a:bodyPr>
          <a:lstStyle/>
          <a:p>
            <a:r>
              <a:rPr lang="en-US" dirty="0"/>
              <a:t>Packet filtering is widely available in many routers</a:t>
            </a:r>
          </a:p>
          <a:p>
            <a:pPr lvl="1"/>
            <a:r>
              <a:rPr lang="en-US" dirty="0"/>
              <a:t>Packet filtering capabilities are available in many hardware and software routing products, both commercial and freely available over the Internet. Most sites already have packet filtering capabilities available in the routers they use.</a:t>
            </a:r>
            <a:endParaRPr lang="en-IN" dirty="0"/>
          </a:p>
        </p:txBody>
      </p:sp>
    </p:spTree>
    <p:extLst>
      <p:ext uri="{BB962C8B-B14F-4D97-AF65-F5344CB8AC3E}">
        <p14:creationId xmlns:p14="http://schemas.microsoft.com/office/powerpoint/2010/main" val="262941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133-071B-8386-B5A6-E08AB75C23EA}"/>
              </a:ext>
            </a:extLst>
          </p:cNvPr>
          <p:cNvSpPr>
            <a:spLocks noGrp="1"/>
          </p:cNvSpPr>
          <p:nvPr>
            <p:ph type="title"/>
          </p:nvPr>
        </p:nvSpPr>
        <p:spPr/>
        <p:txBody>
          <a:bodyPr/>
          <a:lstStyle/>
          <a:p>
            <a:r>
              <a:rPr lang="en-IN" dirty="0"/>
              <a:t>Packet Filter Drawbacks</a:t>
            </a:r>
          </a:p>
        </p:txBody>
      </p:sp>
      <p:sp>
        <p:nvSpPr>
          <p:cNvPr id="3" name="Content Placeholder 2">
            <a:extLst>
              <a:ext uri="{FF2B5EF4-FFF2-40B4-BE49-F238E27FC236}">
                <a16:creationId xmlns:a16="http://schemas.microsoft.com/office/drawing/2014/main" id="{34D3E3FB-1EED-8B58-F3ED-314FED191BE9}"/>
              </a:ext>
            </a:extLst>
          </p:cNvPr>
          <p:cNvSpPr>
            <a:spLocks noGrp="1"/>
          </p:cNvSpPr>
          <p:nvPr>
            <p:ph idx="1"/>
          </p:nvPr>
        </p:nvSpPr>
        <p:spPr/>
        <p:txBody>
          <a:bodyPr>
            <a:normAutofit/>
          </a:bodyPr>
          <a:lstStyle/>
          <a:p>
            <a:r>
              <a:rPr lang="en-US" dirty="0"/>
              <a:t>Current filtering tools are not perfect</a:t>
            </a:r>
          </a:p>
          <a:p>
            <a:pPr lvl="1"/>
            <a:r>
              <a:rPr lang="en-US" dirty="0"/>
              <a:t>The packet filtering rules tend to be hard to configure. </a:t>
            </a:r>
          </a:p>
          <a:p>
            <a:pPr lvl="1"/>
            <a:r>
              <a:rPr lang="en-US" dirty="0"/>
              <a:t>Once configured, the packet filtering rules tend to be hard to test. </a:t>
            </a:r>
          </a:p>
          <a:p>
            <a:pPr lvl="1"/>
            <a:r>
              <a:rPr lang="en-US" dirty="0"/>
              <a:t>The packet filtering capabilities of many of the products are incomplete, making implementation of certain types of highly desirable filters difficult or impossible.</a:t>
            </a:r>
            <a:endParaRPr lang="en-IN" dirty="0"/>
          </a:p>
        </p:txBody>
      </p:sp>
    </p:spTree>
    <p:extLst>
      <p:ext uri="{BB962C8B-B14F-4D97-AF65-F5344CB8AC3E}">
        <p14:creationId xmlns:p14="http://schemas.microsoft.com/office/powerpoint/2010/main" val="1024613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1F39-8E43-3929-C125-1009A5F8D272}"/>
              </a:ext>
            </a:extLst>
          </p:cNvPr>
          <p:cNvSpPr>
            <a:spLocks noGrp="1"/>
          </p:cNvSpPr>
          <p:nvPr>
            <p:ph type="title"/>
          </p:nvPr>
        </p:nvSpPr>
        <p:spPr/>
        <p:txBody>
          <a:bodyPr/>
          <a:lstStyle/>
          <a:p>
            <a:r>
              <a:rPr lang="en-IN" dirty="0"/>
              <a:t>Packet Filter Configuration</a:t>
            </a:r>
          </a:p>
        </p:txBody>
      </p:sp>
      <p:sp>
        <p:nvSpPr>
          <p:cNvPr id="3" name="Content Placeholder 2">
            <a:extLst>
              <a:ext uri="{FF2B5EF4-FFF2-40B4-BE49-F238E27FC236}">
                <a16:creationId xmlns:a16="http://schemas.microsoft.com/office/drawing/2014/main" id="{05867B31-CF8F-11B6-6DF5-4409C613B45C}"/>
              </a:ext>
            </a:extLst>
          </p:cNvPr>
          <p:cNvSpPr>
            <a:spLocks noGrp="1"/>
          </p:cNvSpPr>
          <p:nvPr>
            <p:ph idx="1"/>
          </p:nvPr>
        </p:nvSpPr>
        <p:spPr/>
        <p:txBody>
          <a:bodyPr>
            <a:normAutofit lnSpcReduction="10000"/>
          </a:bodyPr>
          <a:lstStyle/>
          <a:p>
            <a:r>
              <a:rPr lang="en-US" dirty="0"/>
              <a:t>First decide what services you want to allow or deny, and then translate your decisions into rules about packets. </a:t>
            </a:r>
          </a:p>
          <a:p>
            <a:r>
              <a:rPr lang="en-US" dirty="0"/>
              <a:t>In reality, you probably don't care about the details of packets at all.</a:t>
            </a:r>
          </a:p>
          <a:p>
            <a:r>
              <a:rPr lang="en-US" dirty="0"/>
              <a:t>Points to keep in mind:</a:t>
            </a:r>
          </a:p>
          <a:p>
            <a:pPr lvl="1"/>
            <a:r>
              <a:rPr lang="en-US" dirty="0"/>
              <a:t>Protocols are usually bidirectional: For example, you allow outgoing SSH connections, but then you must also allow incoming responses</a:t>
            </a:r>
          </a:p>
          <a:p>
            <a:pPr lvl="1"/>
            <a:r>
              <a:rPr lang="en-US" dirty="0"/>
              <a:t>Inbound/Outbound semantics: Inbound/outbound packets and services can be all very confusing. Example: An outbound SSH service involves both outbound and incoming packets. </a:t>
            </a:r>
            <a:r>
              <a:rPr lang="en-US" i="1" dirty="0"/>
              <a:t>Most people think about services when using packet filters, but we need to think about packets.</a:t>
            </a:r>
            <a:endParaRPr lang="en-US" dirty="0"/>
          </a:p>
          <a:p>
            <a:pPr lvl="1"/>
            <a:r>
              <a:rPr lang="en-US" dirty="0"/>
              <a:t>Default permit versus default deny: Conservative or aggressive?</a:t>
            </a:r>
            <a:endParaRPr lang="en-IN" dirty="0"/>
          </a:p>
        </p:txBody>
      </p:sp>
    </p:spTree>
    <p:extLst>
      <p:ext uri="{BB962C8B-B14F-4D97-AF65-F5344CB8AC3E}">
        <p14:creationId xmlns:p14="http://schemas.microsoft.com/office/powerpoint/2010/main" val="3983908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62757-B2EA-8D2A-D56A-6657612882CC}"/>
              </a:ext>
            </a:extLst>
          </p:cNvPr>
          <p:cNvSpPr>
            <a:spLocks noGrp="1"/>
          </p:cNvSpPr>
          <p:nvPr>
            <p:ph type="title"/>
          </p:nvPr>
        </p:nvSpPr>
        <p:spPr/>
        <p:txBody>
          <a:bodyPr/>
          <a:lstStyle/>
          <a:p>
            <a:r>
              <a:rPr lang="en-IN" dirty="0"/>
              <a:t>Types of Packet Filtering</a:t>
            </a:r>
          </a:p>
        </p:txBody>
      </p:sp>
      <p:sp>
        <p:nvSpPr>
          <p:cNvPr id="3" name="Content Placeholder 2">
            <a:extLst>
              <a:ext uri="{FF2B5EF4-FFF2-40B4-BE49-F238E27FC236}">
                <a16:creationId xmlns:a16="http://schemas.microsoft.com/office/drawing/2014/main" id="{6CFCAE8C-D7A2-5CDF-8B46-3339D4E3B863}"/>
              </a:ext>
            </a:extLst>
          </p:cNvPr>
          <p:cNvSpPr>
            <a:spLocks noGrp="1"/>
          </p:cNvSpPr>
          <p:nvPr>
            <p:ph idx="1"/>
          </p:nvPr>
        </p:nvSpPr>
        <p:spPr/>
        <p:txBody>
          <a:bodyPr/>
          <a:lstStyle/>
          <a:p>
            <a:r>
              <a:rPr lang="en-IN" dirty="0"/>
              <a:t>Static packet filtering firewall</a:t>
            </a:r>
          </a:p>
          <a:p>
            <a:pPr lvl="1"/>
            <a:r>
              <a:rPr lang="en-IN" dirty="0"/>
              <a:t>Manual ACL configuration is used</a:t>
            </a:r>
          </a:p>
          <a:p>
            <a:r>
              <a:rPr lang="en-IN" dirty="0"/>
              <a:t>Dynamic packet filtering firewall</a:t>
            </a:r>
          </a:p>
          <a:p>
            <a:pPr lvl="1"/>
            <a:r>
              <a:rPr lang="en-IN" dirty="0"/>
              <a:t>Flexible configuration is used (e.g. allow ports to remain open for certain time)</a:t>
            </a:r>
          </a:p>
          <a:p>
            <a:r>
              <a:rPr lang="en-IN" dirty="0"/>
              <a:t>Stateless packet filtering firewall</a:t>
            </a:r>
          </a:p>
          <a:p>
            <a:pPr lvl="1"/>
            <a:r>
              <a:rPr lang="en-IN" dirty="0"/>
              <a:t>Traditional – Every packet is different</a:t>
            </a:r>
          </a:p>
          <a:p>
            <a:r>
              <a:rPr lang="en-IN" dirty="0"/>
              <a:t>Stateful packet filtering firewall</a:t>
            </a:r>
          </a:p>
          <a:p>
            <a:pPr lvl="1"/>
            <a:r>
              <a:rPr lang="en-IN" dirty="0"/>
              <a:t>Detect TCP connections and then filter (i.e. keep track of client-server connections)</a:t>
            </a:r>
          </a:p>
        </p:txBody>
      </p:sp>
    </p:spTree>
    <p:extLst>
      <p:ext uri="{BB962C8B-B14F-4D97-AF65-F5344CB8AC3E}">
        <p14:creationId xmlns:p14="http://schemas.microsoft.com/office/powerpoint/2010/main" val="984215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180E-FDA7-5819-7A0E-15B7870E965A}"/>
              </a:ext>
            </a:extLst>
          </p:cNvPr>
          <p:cNvSpPr>
            <a:spLocks noGrp="1"/>
          </p:cNvSpPr>
          <p:nvPr>
            <p:ph type="title"/>
          </p:nvPr>
        </p:nvSpPr>
        <p:spPr/>
        <p:txBody>
          <a:bodyPr/>
          <a:lstStyle/>
          <a:p>
            <a:r>
              <a:rPr lang="en-IN" dirty="0"/>
              <a:t>Packet Filter Rules Example</a:t>
            </a:r>
          </a:p>
        </p:txBody>
      </p:sp>
      <p:sp>
        <p:nvSpPr>
          <p:cNvPr id="3" name="Content Placeholder 2">
            <a:extLst>
              <a:ext uri="{FF2B5EF4-FFF2-40B4-BE49-F238E27FC236}">
                <a16:creationId xmlns:a16="http://schemas.microsoft.com/office/drawing/2014/main" id="{79E2AACD-573B-4F95-7174-96EF8FEDD07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657FA7A-D703-8D8A-5453-A2E8077EEFCF}"/>
              </a:ext>
            </a:extLst>
          </p:cNvPr>
          <p:cNvPicPr>
            <a:picLocks noChangeAspect="1"/>
          </p:cNvPicPr>
          <p:nvPr/>
        </p:nvPicPr>
        <p:blipFill>
          <a:blip r:embed="rId2"/>
          <a:stretch>
            <a:fillRect/>
          </a:stretch>
        </p:blipFill>
        <p:spPr>
          <a:xfrm>
            <a:off x="1344117" y="1501676"/>
            <a:ext cx="8827298" cy="4567920"/>
          </a:xfrm>
          <a:prstGeom prst="rect">
            <a:avLst/>
          </a:prstGeom>
        </p:spPr>
      </p:pic>
    </p:spTree>
    <p:extLst>
      <p:ext uri="{BB962C8B-B14F-4D97-AF65-F5344CB8AC3E}">
        <p14:creationId xmlns:p14="http://schemas.microsoft.com/office/powerpoint/2010/main" val="3468255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C98F23-FD22-AE53-684A-61620DEC193C}"/>
              </a:ext>
            </a:extLst>
          </p:cNvPr>
          <p:cNvSpPr>
            <a:spLocks noGrp="1"/>
          </p:cNvSpPr>
          <p:nvPr>
            <p:ph type="title"/>
          </p:nvPr>
        </p:nvSpPr>
        <p:spPr/>
        <p:txBody>
          <a:bodyPr/>
          <a:lstStyle/>
          <a:p>
            <a:r>
              <a:rPr lang="en-IN" dirty="0"/>
              <a:t>Packet Filter Case Study</a:t>
            </a:r>
          </a:p>
        </p:txBody>
      </p:sp>
      <p:sp>
        <p:nvSpPr>
          <p:cNvPr id="5" name="Text Placeholder 4">
            <a:extLst>
              <a:ext uri="{FF2B5EF4-FFF2-40B4-BE49-F238E27FC236}">
                <a16:creationId xmlns:a16="http://schemas.microsoft.com/office/drawing/2014/main" id="{CEC62ED0-CF7D-84E7-9D0A-81F41CFB0B1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429018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A4DF4-6EA8-EDA7-A2AA-E7F4B958D3C2}"/>
              </a:ext>
            </a:extLst>
          </p:cNvPr>
          <p:cNvSpPr>
            <a:spLocks noGrp="1"/>
          </p:cNvSpPr>
          <p:nvPr>
            <p:ph type="title"/>
          </p:nvPr>
        </p:nvSpPr>
        <p:spPr/>
        <p:txBody>
          <a:bodyPr/>
          <a:lstStyle/>
          <a:p>
            <a:r>
              <a:rPr lang="en-IN" dirty="0"/>
              <a:t>Sample Rules for SMTP</a:t>
            </a:r>
          </a:p>
        </p:txBody>
      </p:sp>
      <p:sp>
        <p:nvSpPr>
          <p:cNvPr id="3" name="Content Placeholder 2">
            <a:extLst>
              <a:ext uri="{FF2B5EF4-FFF2-40B4-BE49-F238E27FC236}">
                <a16:creationId xmlns:a16="http://schemas.microsoft.com/office/drawing/2014/main" id="{1AB412B2-0D79-9CA8-A7AD-84C8EBFD665B}"/>
              </a:ext>
            </a:extLst>
          </p:cNvPr>
          <p:cNvSpPr>
            <a:spLocks noGrp="1"/>
          </p:cNvSpPr>
          <p:nvPr>
            <p:ph idx="1"/>
          </p:nvPr>
        </p:nvSpPr>
        <p:spPr/>
        <p:txBody>
          <a:bodyPr/>
          <a:lstStyle/>
          <a:p>
            <a:r>
              <a:rPr lang="en-IN" dirty="0"/>
              <a:t>Allow inbound and outbound SMTP traffic</a:t>
            </a:r>
          </a:p>
        </p:txBody>
      </p:sp>
      <p:pic>
        <p:nvPicPr>
          <p:cNvPr id="5" name="Picture 4">
            <a:extLst>
              <a:ext uri="{FF2B5EF4-FFF2-40B4-BE49-F238E27FC236}">
                <a16:creationId xmlns:a16="http://schemas.microsoft.com/office/drawing/2014/main" id="{ACD5EADD-DFBD-8715-3454-C060CEC1DEBD}"/>
              </a:ext>
            </a:extLst>
          </p:cNvPr>
          <p:cNvPicPr>
            <a:picLocks noChangeAspect="1"/>
          </p:cNvPicPr>
          <p:nvPr/>
        </p:nvPicPr>
        <p:blipFill>
          <a:blip r:embed="rId2"/>
          <a:stretch>
            <a:fillRect/>
          </a:stretch>
        </p:blipFill>
        <p:spPr>
          <a:xfrm>
            <a:off x="975063" y="2412172"/>
            <a:ext cx="5764783" cy="2771328"/>
          </a:xfrm>
          <a:prstGeom prst="rect">
            <a:avLst/>
          </a:prstGeom>
        </p:spPr>
      </p:pic>
      <p:sp>
        <p:nvSpPr>
          <p:cNvPr id="6" name="TextBox 5">
            <a:extLst>
              <a:ext uri="{FF2B5EF4-FFF2-40B4-BE49-F238E27FC236}">
                <a16:creationId xmlns:a16="http://schemas.microsoft.com/office/drawing/2014/main" id="{4F753E5F-8D19-CD36-7E45-C3D58B8D249B}"/>
              </a:ext>
            </a:extLst>
          </p:cNvPr>
          <p:cNvSpPr txBox="1"/>
          <p:nvPr/>
        </p:nvSpPr>
        <p:spPr>
          <a:xfrm>
            <a:off x="6876709" y="2864364"/>
            <a:ext cx="4232953" cy="3170099"/>
          </a:xfrm>
          <a:prstGeom prst="rect">
            <a:avLst/>
          </a:prstGeom>
          <a:solidFill>
            <a:srgbClr val="7030A0"/>
          </a:solidFill>
        </p:spPr>
        <p:txBody>
          <a:bodyPr wrap="square" rtlCol="0">
            <a:spAutoFit/>
          </a:bodyPr>
          <a:lstStyle/>
          <a:p>
            <a:r>
              <a:rPr lang="en-IN" sz="2000" dirty="0">
                <a:solidFill>
                  <a:schemeClr val="bg1"/>
                </a:solidFill>
              </a:rPr>
              <a:t>Rules A and B are for incoming emails (Outside user sends an email to our internal SMTP server)</a:t>
            </a:r>
          </a:p>
          <a:p>
            <a:endParaRPr lang="en-IN" sz="2000" dirty="0">
              <a:solidFill>
                <a:schemeClr val="bg1"/>
              </a:solidFill>
            </a:endParaRPr>
          </a:p>
          <a:p>
            <a:r>
              <a:rPr lang="en-IN" sz="2000" dirty="0">
                <a:solidFill>
                  <a:schemeClr val="bg1"/>
                </a:solidFill>
              </a:rPr>
              <a:t>Rules C and D are for outgoing emails (Internal user sends an email to an outside SMTP server)</a:t>
            </a:r>
          </a:p>
          <a:p>
            <a:endParaRPr lang="en-IN" sz="2000" dirty="0">
              <a:solidFill>
                <a:schemeClr val="bg1"/>
              </a:solidFill>
            </a:endParaRPr>
          </a:p>
          <a:p>
            <a:r>
              <a:rPr lang="en-IN" sz="2000" dirty="0">
                <a:solidFill>
                  <a:schemeClr val="bg1"/>
                </a:solidFill>
              </a:rPr>
              <a:t>Rule E is the default – what happens when everything else fails</a:t>
            </a:r>
          </a:p>
        </p:txBody>
      </p:sp>
    </p:spTree>
    <p:extLst>
      <p:ext uri="{BB962C8B-B14F-4D97-AF65-F5344CB8AC3E}">
        <p14:creationId xmlns:p14="http://schemas.microsoft.com/office/powerpoint/2010/main" val="1611465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3BAE1-139E-9237-CD5E-3145D3D48AC7}"/>
              </a:ext>
            </a:extLst>
          </p:cNvPr>
          <p:cNvSpPr>
            <a:spLocks noGrp="1"/>
          </p:cNvSpPr>
          <p:nvPr>
            <p:ph type="title"/>
          </p:nvPr>
        </p:nvSpPr>
        <p:spPr/>
        <p:txBody>
          <a:bodyPr/>
          <a:lstStyle/>
          <a:p>
            <a:r>
              <a:rPr lang="en-IN" dirty="0"/>
              <a:t>Packet Filter – Example of Incoming Email</a:t>
            </a:r>
          </a:p>
        </p:txBody>
      </p:sp>
      <p:pic>
        <p:nvPicPr>
          <p:cNvPr id="3074" name="Picture 2" descr="Figure 6.10">
            <a:extLst>
              <a:ext uri="{FF2B5EF4-FFF2-40B4-BE49-F238E27FC236}">
                <a16:creationId xmlns:a16="http://schemas.microsoft.com/office/drawing/2014/main" id="{A1EA6DC9-5248-7FEF-E67F-16409B3A480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6006" y="1472192"/>
            <a:ext cx="7801831" cy="4833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039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3BAE1-139E-9237-CD5E-3145D3D48AC7}"/>
              </a:ext>
            </a:extLst>
          </p:cNvPr>
          <p:cNvSpPr>
            <a:spLocks noGrp="1"/>
          </p:cNvSpPr>
          <p:nvPr>
            <p:ph type="title"/>
          </p:nvPr>
        </p:nvSpPr>
        <p:spPr/>
        <p:txBody>
          <a:bodyPr/>
          <a:lstStyle/>
          <a:p>
            <a:r>
              <a:rPr lang="en-IN" dirty="0"/>
              <a:t>Packet Filter – Example of Incoming Email </a:t>
            </a:r>
          </a:p>
        </p:txBody>
      </p:sp>
      <p:sp>
        <p:nvSpPr>
          <p:cNvPr id="3" name="Content Placeholder 2">
            <a:extLst>
              <a:ext uri="{FF2B5EF4-FFF2-40B4-BE49-F238E27FC236}">
                <a16:creationId xmlns:a16="http://schemas.microsoft.com/office/drawing/2014/main" id="{DF69F0AC-6090-5904-313C-48A898AFA213}"/>
              </a:ext>
            </a:extLst>
          </p:cNvPr>
          <p:cNvSpPr>
            <a:spLocks noGrp="1"/>
          </p:cNvSpPr>
          <p:nvPr>
            <p:ph idx="1"/>
          </p:nvPr>
        </p:nvSpPr>
        <p:spPr/>
        <p:txBody>
          <a:bodyPr/>
          <a:lstStyle/>
          <a:p>
            <a:r>
              <a:rPr lang="en-US" dirty="0"/>
              <a:t>Suppose that your IP address is 172.16.1.1, and that someone is trying to send you an email from the remote host with IP address 192.168.3.4. Further, let's say the sender's SMTP client uses port 1234 to talk to your SMTP server, which is on port 25. </a:t>
            </a:r>
            <a:endParaRPr lang="en-IN" dirty="0"/>
          </a:p>
        </p:txBody>
      </p:sp>
      <p:pic>
        <p:nvPicPr>
          <p:cNvPr id="5" name="Picture 4">
            <a:extLst>
              <a:ext uri="{FF2B5EF4-FFF2-40B4-BE49-F238E27FC236}">
                <a16:creationId xmlns:a16="http://schemas.microsoft.com/office/drawing/2014/main" id="{ECDA17AD-D0B8-3EF7-F9FB-A0A9885A3459}"/>
              </a:ext>
            </a:extLst>
          </p:cNvPr>
          <p:cNvPicPr>
            <a:picLocks noChangeAspect="1"/>
          </p:cNvPicPr>
          <p:nvPr/>
        </p:nvPicPr>
        <p:blipFill>
          <a:blip r:embed="rId2"/>
          <a:stretch>
            <a:fillRect/>
          </a:stretch>
        </p:blipFill>
        <p:spPr>
          <a:xfrm>
            <a:off x="447782" y="3612349"/>
            <a:ext cx="6431146" cy="1737324"/>
          </a:xfrm>
          <a:prstGeom prst="rect">
            <a:avLst/>
          </a:prstGeom>
        </p:spPr>
      </p:pic>
    </p:spTree>
    <p:extLst>
      <p:ext uri="{BB962C8B-B14F-4D97-AF65-F5344CB8AC3E}">
        <p14:creationId xmlns:p14="http://schemas.microsoft.com/office/powerpoint/2010/main" val="189961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3BAE1-139E-9237-CD5E-3145D3D48AC7}"/>
              </a:ext>
            </a:extLst>
          </p:cNvPr>
          <p:cNvSpPr>
            <a:spLocks noGrp="1"/>
          </p:cNvSpPr>
          <p:nvPr>
            <p:ph type="title"/>
          </p:nvPr>
        </p:nvSpPr>
        <p:spPr/>
        <p:txBody>
          <a:bodyPr/>
          <a:lstStyle/>
          <a:p>
            <a:r>
              <a:rPr lang="en-IN" dirty="0"/>
              <a:t>Packet Filter – Example of Incoming Email </a:t>
            </a:r>
          </a:p>
        </p:txBody>
      </p:sp>
      <p:sp>
        <p:nvSpPr>
          <p:cNvPr id="3" name="Content Placeholder 2">
            <a:extLst>
              <a:ext uri="{FF2B5EF4-FFF2-40B4-BE49-F238E27FC236}">
                <a16:creationId xmlns:a16="http://schemas.microsoft.com/office/drawing/2014/main" id="{DF69F0AC-6090-5904-313C-48A898AFA213}"/>
              </a:ext>
            </a:extLst>
          </p:cNvPr>
          <p:cNvSpPr>
            <a:spLocks noGrp="1"/>
          </p:cNvSpPr>
          <p:nvPr>
            <p:ph idx="1"/>
          </p:nvPr>
        </p:nvSpPr>
        <p:spPr/>
        <p:txBody>
          <a:bodyPr/>
          <a:lstStyle/>
          <a:p>
            <a:r>
              <a:rPr lang="en-US" dirty="0"/>
              <a:t>Suppose that your IP address is 172.16.1.1, and that someone is trying to send you an email from the remote host with IP address 192.168.3.4. Further, let's say the sender's SMTP client uses port 1234 to talk to your SMTP server, which is on port 25. </a:t>
            </a:r>
            <a:endParaRPr lang="en-IN" dirty="0"/>
          </a:p>
        </p:txBody>
      </p:sp>
      <p:pic>
        <p:nvPicPr>
          <p:cNvPr id="5" name="Picture 4">
            <a:extLst>
              <a:ext uri="{FF2B5EF4-FFF2-40B4-BE49-F238E27FC236}">
                <a16:creationId xmlns:a16="http://schemas.microsoft.com/office/drawing/2014/main" id="{ECDA17AD-D0B8-3EF7-F9FB-A0A9885A3459}"/>
              </a:ext>
            </a:extLst>
          </p:cNvPr>
          <p:cNvPicPr>
            <a:picLocks noChangeAspect="1"/>
          </p:cNvPicPr>
          <p:nvPr/>
        </p:nvPicPr>
        <p:blipFill>
          <a:blip r:embed="rId2"/>
          <a:stretch>
            <a:fillRect/>
          </a:stretch>
        </p:blipFill>
        <p:spPr>
          <a:xfrm>
            <a:off x="447782" y="3612349"/>
            <a:ext cx="6431146" cy="1737324"/>
          </a:xfrm>
          <a:prstGeom prst="rect">
            <a:avLst/>
          </a:prstGeom>
        </p:spPr>
      </p:pic>
      <p:sp>
        <p:nvSpPr>
          <p:cNvPr id="4" name="TextBox 3">
            <a:extLst>
              <a:ext uri="{FF2B5EF4-FFF2-40B4-BE49-F238E27FC236}">
                <a16:creationId xmlns:a16="http://schemas.microsoft.com/office/drawing/2014/main" id="{C3EAA902-A3EE-368B-C9AF-009AE05BE224}"/>
              </a:ext>
            </a:extLst>
          </p:cNvPr>
          <p:cNvSpPr txBox="1"/>
          <p:nvPr/>
        </p:nvSpPr>
        <p:spPr>
          <a:xfrm>
            <a:off x="6801493" y="3537268"/>
            <a:ext cx="4849402" cy="2246769"/>
          </a:xfrm>
          <a:prstGeom prst="rect">
            <a:avLst/>
          </a:prstGeom>
          <a:solidFill>
            <a:schemeClr val="accent4">
              <a:lumMod val="60000"/>
              <a:lumOff val="40000"/>
            </a:schemeClr>
          </a:solidFill>
        </p:spPr>
        <p:txBody>
          <a:bodyPr wrap="square" rtlCol="0">
            <a:spAutoFit/>
          </a:bodyPr>
          <a:lstStyle/>
          <a:p>
            <a:pPr algn="l"/>
            <a:r>
              <a:rPr lang="en-US" sz="2000" i="0" dirty="0">
                <a:solidFill>
                  <a:srgbClr val="000000"/>
                </a:solidFill>
                <a:effectLst/>
                <a:latin typeface="Times New Roman" panose="02020603050405020304" pitchFamily="18" charset="0"/>
              </a:rPr>
              <a:t>Rule A permits incoming packets from the sender's SMTP client to your SMTP server (represented by packet number 1 above).</a:t>
            </a:r>
          </a:p>
          <a:p>
            <a:pPr algn="l"/>
            <a:endParaRPr lang="en-US" sz="2000" i="0" dirty="0">
              <a:solidFill>
                <a:srgbClr val="000000"/>
              </a:solidFill>
              <a:effectLst/>
              <a:latin typeface="Times New Roman" panose="02020603050405020304" pitchFamily="18" charset="0"/>
            </a:endParaRPr>
          </a:p>
          <a:p>
            <a:pPr algn="l"/>
            <a:r>
              <a:rPr lang="en-US" sz="2000" i="0" dirty="0">
                <a:solidFill>
                  <a:srgbClr val="000000"/>
                </a:solidFill>
                <a:effectLst/>
                <a:latin typeface="Times New Roman" panose="02020603050405020304" pitchFamily="18" charset="0"/>
              </a:rPr>
              <a:t>Rule B permits the responses from your server back to the sender's client (represented by packet number 2 above).</a:t>
            </a:r>
          </a:p>
        </p:txBody>
      </p:sp>
    </p:spTree>
    <p:extLst>
      <p:ext uri="{BB962C8B-B14F-4D97-AF65-F5344CB8AC3E}">
        <p14:creationId xmlns:p14="http://schemas.microsoft.com/office/powerpoint/2010/main" val="2537289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E00B-A57B-46C9-59DF-DD2102AB8B2A}"/>
              </a:ext>
            </a:extLst>
          </p:cNvPr>
          <p:cNvSpPr>
            <a:spLocks noGrp="1"/>
          </p:cNvSpPr>
          <p:nvPr>
            <p:ph type="title"/>
          </p:nvPr>
        </p:nvSpPr>
        <p:spPr/>
        <p:txBody>
          <a:bodyPr/>
          <a:lstStyle/>
          <a:p>
            <a:r>
              <a:rPr lang="en-IN" dirty="0"/>
              <a:t>Packet Filter – Example of Outgoing Email</a:t>
            </a:r>
          </a:p>
        </p:txBody>
      </p:sp>
      <p:sp>
        <p:nvSpPr>
          <p:cNvPr id="3" name="Content Placeholder 2">
            <a:extLst>
              <a:ext uri="{FF2B5EF4-FFF2-40B4-BE49-F238E27FC236}">
                <a16:creationId xmlns:a16="http://schemas.microsoft.com/office/drawing/2014/main" id="{B494918B-9E1F-C3E8-C7A8-C199B4BE6BC6}"/>
              </a:ext>
            </a:extLst>
          </p:cNvPr>
          <p:cNvSpPr>
            <a:spLocks noGrp="1"/>
          </p:cNvSpPr>
          <p:nvPr>
            <p:ph idx="1"/>
          </p:nvPr>
        </p:nvSpPr>
        <p:spPr/>
        <p:txBody>
          <a:bodyPr/>
          <a:lstStyle/>
          <a:p>
            <a:r>
              <a:rPr lang="en-IN" dirty="0"/>
              <a:t>Suppose our SMTP client uses port 1357 to talk to the server’s SMTP server</a:t>
            </a:r>
          </a:p>
        </p:txBody>
      </p:sp>
      <p:pic>
        <p:nvPicPr>
          <p:cNvPr id="5" name="Picture 4">
            <a:extLst>
              <a:ext uri="{FF2B5EF4-FFF2-40B4-BE49-F238E27FC236}">
                <a16:creationId xmlns:a16="http://schemas.microsoft.com/office/drawing/2014/main" id="{9B05FC38-6353-28EC-9699-C88AFC3D15C0}"/>
              </a:ext>
            </a:extLst>
          </p:cNvPr>
          <p:cNvPicPr>
            <a:picLocks noChangeAspect="1"/>
          </p:cNvPicPr>
          <p:nvPr/>
        </p:nvPicPr>
        <p:blipFill>
          <a:blip r:embed="rId2"/>
          <a:stretch>
            <a:fillRect/>
          </a:stretch>
        </p:blipFill>
        <p:spPr>
          <a:xfrm>
            <a:off x="386856" y="2909950"/>
            <a:ext cx="5931750" cy="1509375"/>
          </a:xfrm>
          <a:prstGeom prst="rect">
            <a:avLst/>
          </a:prstGeom>
        </p:spPr>
      </p:pic>
    </p:spTree>
    <p:extLst>
      <p:ext uri="{BB962C8B-B14F-4D97-AF65-F5344CB8AC3E}">
        <p14:creationId xmlns:p14="http://schemas.microsoft.com/office/powerpoint/2010/main" val="40671848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E00B-A57B-46C9-59DF-DD2102AB8B2A}"/>
              </a:ext>
            </a:extLst>
          </p:cNvPr>
          <p:cNvSpPr>
            <a:spLocks noGrp="1"/>
          </p:cNvSpPr>
          <p:nvPr>
            <p:ph type="title"/>
          </p:nvPr>
        </p:nvSpPr>
        <p:spPr/>
        <p:txBody>
          <a:bodyPr/>
          <a:lstStyle/>
          <a:p>
            <a:r>
              <a:rPr lang="en-IN" dirty="0"/>
              <a:t>Packet Filter – Example of Outgoing Email</a:t>
            </a:r>
          </a:p>
        </p:txBody>
      </p:sp>
      <p:sp>
        <p:nvSpPr>
          <p:cNvPr id="3" name="Content Placeholder 2">
            <a:extLst>
              <a:ext uri="{FF2B5EF4-FFF2-40B4-BE49-F238E27FC236}">
                <a16:creationId xmlns:a16="http://schemas.microsoft.com/office/drawing/2014/main" id="{B494918B-9E1F-C3E8-C7A8-C199B4BE6BC6}"/>
              </a:ext>
            </a:extLst>
          </p:cNvPr>
          <p:cNvSpPr>
            <a:spLocks noGrp="1"/>
          </p:cNvSpPr>
          <p:nvPr>
            <p:ph idx="1"/>
          </p:nvPr>
        </p:nvSpPr>
        <p:spPr/>
        <p:txBody>
          <a:bodyPr/>
          <a:lstStyle/>
          <a:p>
            <a:endParaRPr lang="en-IN" dirty="0"/>
          </a:p>
        </p:txBody>
      </p:sp>
      <p:pic>
        <p:nvPicPr>
          <p:cNvPr id="4098" name="Picture 2" descr="Figure 6.11">
            <a:extLst>
              <a:ext uri="{FF2B5EF4-FFF2-40B4-BE49-F238E27FC236}">
                <a16:creationId xmlns:a16="http://schemas.microsoft.com/office/drawing/2014/main" id="{872A9839-C182-128F-C13F-43A28492A5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312" y="1825625"/>
            <a:ext cx="7062091" cy="4375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456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E00B-A57B-46C9-59DF-DD2102AB8B2A}"/>
              </a:ext>
            </a:extLst>
          </p:cNvPr>
          <p:cNvSpPr>
            <a:spLocks noGrp="1"/>
          </p:cNvSpPr>
          <p:nvPr>
            <p:ph type="title"/>
          </p:nvPr>
        </p:nvSpPr>
        <p:spPr/>
        <p:txBody>
          <a:bodyPr/>
          <a:lstStyle/>
          <a:p>
            <a:r>
              <a:rPr lang="en-IN" dirty="0"/>
              <a:t>Packet Filter – Example of Outgoing Email</a:t>
            </a:r>
          </a:p>
        </p:txBody>
      </p:sp>
      <p:sp>
        <p:nvSpPr>
          <p:cNvPr id="3" name="Content Placeholder 2">
            <a:extLst>
              <a:ext uri="{FF2B5EF4-FFF2-40B4-BE49-F238E27FC236}">
                <a16:creationId xmlns:a16="http://schemas.microsoft.com/office/drawing/2014/main" id="{B494918B-9E1F-C3E8-C7A8-C199B4BE6BC6}"/>
              </a:ext>
            </a:extLst>
          </p:cNvPr>
          <p:cNvSpPr>
            <a:spLocks noGrp="1"/>
          </p:cNvSpPr>
          <p:nvPr>
            <p:ph idx="1"/>
          </p:nvPr>
        </p:nvSpPr>
        <p:spPr/>
        <p:txBody>
          <a:bodyPr/>
          <a:lstStyle/>
          <a:p>
            <a:r>
              <a:rPr lang="en-IN" dirty="0"/>
              <a:t>Suppose our SMTP client uses port 1357 to talk to the server’s SMTP server</a:t>
            </a:r>
          </a:p>
        </p:txBody>
      </p:sp>
      <p:pic>
        <p:nvPicPr>
          <p:cNvPr id="5" name="Picture 4">
            <a:extLst>
              <a:ext uri="{FF2B5EF4-FFF2-40B4-BE49-F238E27FC236}">
                <a16:creationId xmlns:a16="http://schemas.microsoft.com/office/drawing/2014/main" id="{9B05FC38-6353-28EC-9699-C88AFC3D15C0}"/>
              </a:ext>
            </a:extLst>
          </p:cNvPr>
          <p:cNvPicPr>
            <a:picLocks noChangeAspect="1"/>
          </p:cNvPicPr>
          <p:nvPr/>
        </p:nvPicPr>
        <p:blipFill>
          <a:blip r:embed="rId2"/>
          <a:stretch>
            <a:fillRect/>
          </a:stretch>
        </p:blipFill>
        <p:spPr>
          <a:xfrm>
            <a:off x="386856" y="2909950"/>
            <a:ext cx="5931750" cy="1509375"/>
          </a:xfrm>
          <a:prstGeom prst="rect">
            <a:avLst/>
          </a:prstGeom>
        </p:spPr>
      </p:pic>
      <p:sp>
        <p:nvSpPr>
          <p:cNvPr id="4" name="TextBox 3">
            <a:extLst>
              <a:ext uri="{FF2B5EF4-FFF2-40B4-BE49-F238E27FC236}">
                <a16:creationId xmlns:a16="http://schemas.microsoft.com/office/drawing/2014/main" id="{90477396-9285-F310-34DD-BE93D711BDF6}"/>
              </a:ext>
            </a:extLst>
          </p:cNvPr>
          <p:cNvSpPr txBox="1"/>
          <p:nvPr/>
        </p:nvSpPr>
        <p:spPr>
          <a:xfrm>
            <a:off x="6626833" y="2787254"/>
            <a:ext cx="4849402" cy="2246769"/>
          </a:xfrm>
          <a:prstGeom prst="rect">
            <a:avLst/>
          </a:prstGeom>
          <a:solidFill>
            <a:schemeClr val="accent4">
              <a:lumMod val="60000"/>
              <a:lumOff val="40000"/>
            </a:schemeClr>
          </a:solidFill>
        </p:spPr>
        <p:txBody>
          <a:bodyPr wrap="square" rtlCol="0">
            <a:spAutoFit/>
          </a:bodyPr>
          <a:lstStyle/>
          <a:p>
            <a:pPr algn="l"/>
            <a:r>
              <a:rPr lang="en-US" sz="2000" i="0" dirty="0">
                <a:solidFill>
                  <a:srgbClr val="000000"/>
                </a:solidFill>
                <a:effectLst/>
                <a:latin typeface="Times New Roman" panose="02020603050405020304" pitchFamily="18" charset="0"/>
              </a:rPr>
              <a:t>Rule C permits outgoing packets from your SMTP client to their SMTP server (represented by packet number 3 above).</a:t>
            </a:r>
          </a:p>
          <a:p>
            <a:pPr algn="l"/>
            <a:endParaRPr lang="en-US" sz="2000" i="0" dirty="0">
              <a:solidFill>
                <a:srgbClr val="000000"/>
              </a:solidFill>
              <a:effectLst/>
              <a:latin typeface="Times New Roman" panose="02020603050405020304" pitchFamily="18" charset="0"/>
            </a:endParaRPr>
          </a:p>
          <a:p>
            <a:pPr algn="l"/>
            <a:r>
              <a:rPr lang="en-US" sz="2000" i="0" dirty="0">
                <a:solidFill>
                  <a:srgbClr val="000000"/>
                </a:solidFill>
                <a:effectLst/>
                <a:latin typeface="Times New Roman" panose="02020603050405020304" pitchFamily="18" charset="0"/>
              </a:rPr>
              <a:t>Rule D permits the responses from their server back to your client (represented by packet number 4 above).</a:t>
            </a:r>
          </a:p>
        </p:txBody>
      </p:sp>
    </p:spTree>
    <p:extLst>
      <p:ext uri="{BB962C8B-B14F-4D97-AF65-F5344CB8AC3E}">
        <p14:creationId xmlns:p14="http://schemas.microsoft.com/office/powerpoint/2010/main" val="3889598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E00B-A57B-46C9-59DF-DD2102AB8B2A}"/>
              </a:ext>
            </a:extLst>
          </p:cNvPr>
          <p:cNvSpPr>
            <a:spLocks noGrp="1"/>
          </p:cNvSpPr>
          <p:nvPr>
            <p:ph type="title"/>
          </p:nvPr>
        </p:nvSpPr>
        <p:spPr/>
        <p:txBody>
          <a:bodyPr/>
          <a:lstStyle/>
          <a:p>
            <a:r>
              <a:rPr lang="en-IN" dirty="0"/>
              <a:t>Packet Filter – Attack from Outside</a:t>
            </a:r>
          </a:p>
        </p:txBody>
      </p:sp>
      <p:sp>
        <p:nvSpPr>
          <p:cNvPr id="3" name="Content Placeholder 2">
            <a:extLst>
              <a:ext uri="{FF2B5EF4-FFF2-40B4-BE49-F238E27FC236}">
                <a16:creationId xmlns:a16="http://schemas.microsoft.com/office/drawing/2014/main" id="{B494918B-9E1F-C3E8-C7A8-C199B4BE6BC6}"/>
              </a:ext>
            </a:extLst>
          </p:cNvPr>
          <p:cNvSpPr>
            <a:spLocks noGrp="1"/>
          </p:cNvSpPr>
          <p:nvPr>
            <p:ph idx="1"/>
          </p:nvPr>
        </p:nvSpPr>
        <p:spPr/>
        <p:txBody>
          <a:bodyPr/>
          <a:lstStyle/>
          <a:p>
            <a:r>
              <a:rPr lang="en-US" dirty="0"/>
              <a:t>Someone in the outside world (on host 10.1.2.3) attempts to open a connection from port 5150 on port 6000 on one of your internal systems (for example, 172.16.3.4) in order to carry out an attack</a:t>
            </a:r>
            <a:endParaRPr lang="en-IN" dirty="0"/>
          </a:p>
        </p:txBody>
      </p:sp>
      <p:pic>
        <p:nvPicPr>
          <p:cNvPr id="7" name="Picture 6">
            <a:extLst>
              <a:ext uri="{FF2B5EF4-FFF2-40B4-BE49-F238E27FC236}">
                <a16:creationId xmlns:a16="http://schemas.microsoft.com/office/drawing/2014/main" id="{E3A24BF7-D1A6-EAB1-FA0E-D8BADA9B7865}"/>
              </a:ext>
            </a:extLst>
          </p:cNvPr>
          <p:cNvPicPr>
            <a:picLocks noChangeAspect="1"/>
          </p:cNvPicPr>
          <p:nvPr/>
        </p:nvPicPr>
        <p:blipFill>
          <a:blip r:embed="rId2"/>
          <a:stretch>
            <a:fillRect/>
          </a:stretch>
        </p:blipFill>
        <p:spPr>
          <a:xfrm>
            <a:off x="568615" y="3342962"/>
            <a:ext cx="5711535" cy="1506440"/>
          </a:xfrm>
          <a:prstGeom prst="rect">
            <a:avLst/>
          </a:prstGeom>
        </p:spPr>
      </p:pic>
    </p:spTree>
    <p:extLst>
      <p:ext uri="{BB962C8B-B14F-4D97-AF65-F5344CB8AC3E}">
        <p14:creationId xmlns:p14="http://schemas.microsoft.com/office/powerpoint/2010/main" val="1258519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E00B-A57B-46C9-59DF-DD2102AB8B2A}"/>
              </a:ext>
            </a:extLst>
          </p:cNvPr>
          <p:cNvSpPr>
            <a:spLocks noGrp="1"/>
          </p:cNvSpPr>
          <p:nvPr>
            <p:ph type="title"/>
          </p:nvPr>
        </p:nvSpPr>
        <p:spPr/>
        <p:txBody>
          <a:bodyPr/>
          <a:lstStyle/>
          <a:p>
            <a:r>
              <a:rPr lang="en-IN" dirty="0"/>
              <a:t>Packet Filter – Attack from Outside</a:t>
            </a:r>
          </a:p>
        </p:txBody>
      </p:sp>
      <p:sp>
        <p:nvSpPr>
          <p:cNvPr id="3" name="Content Placeholder 2">
            <a:extLst>
              <a:ext uri="{FF2B5EF4-FFF2-40B4-BE49-F238E27FC236}">
                <a16:creationId xmlns:a16="http://schemas.microsoft.com/office/drawing/2014/main" id="{B494918B-9E1F-C3E8-C7A8-C199B4BE6BC6}"/>
              </a:ext>
            </a:extLst>
          </p:cNvPr>
          <p:cNvSpPr>
            <a:spLocks noGrp="1"/>
          </p:cNvSpPr>
          <p:nvPr>
            <p:ph idx="1"/>
          </p:nvPr>
        </p:nvSpPr>
        <p:spPr/>
        <p:txBody>
          <a:bodyPr/>
          <a:lstStyle/>
          <a:p>
            <a:endParaRPr lang="en-IN" dirty="0"/>
          </a:p>
        </p:txBody>
      </p:sp>
      <p:pic>
        <p:nvPicPr>
          <p:cNvPr id="5122" name="Picture 2" descr="Figure 6.12">
            <a:extLst>
              <a:ext uri="{FF2B5EF4-FFF2-40B4-BE49-F238E27FC236}">
                <a16:creationId xmlns:a16="http://schemas.microsoft.com/office/drawing/2014/main" id="{A57A4C99-7CDE-AD41-3B91-7D91E21BD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8069" y="1825625"/>
            <a:ext cx="7020995" cy="4349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571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AE00B-A57B-46C9-59DF-DD2102AB8B2A}"/>
              </a:ext>
            </a:extLst>
          </p:cNvPr>
          <p:cNvSpPr>
            <a:spLocks noGrp="1"/>
          </p:cNvSpPr>
          <p:nvPr>
            <p:ph type="title"/>
          </p:nvPr>
        </p:nvSpPr>
        <p:spPr/>
        <p:txBody>
          <a:bodyPr/>
          <a:lstStyle/>
          <a:p>
            <a:r>
              <a:rPr lang="en-IN" dirty="0"/>
              <a:t>Packet Filter – Attack from Outside</a:t>
            </a:r>
          </a:p>
        </p:txBody>
      </p:sp>
      <p:sp>
        <p:nvSpPr>
          <p:cNvPr id="3" name="Content Placeholder 2">
            <a:extLst>
              <a:ext uri="{FF2B5EF4-FFF2-40B4-BE49-F238E27FC236}">
                <a16:creationId xmlns:a16="http://schemas.microsoft.com/office/drawing/2014/main" id="{B494918B-9E1F-C3E8-C7A8-C199B4BE6BC6}"/>
              </a:ext>
            </a:extLst>
          </p:cNvPr>
          <p:cNvSpPr>
            <a:spLocks noGrp="1"/>
          </p:cNvSpPr>
          <p:nvPr>
            <p:ph idx="1"/>
          </p:nvPr>
        </p:nvSpPr>
        <p:spPr/>
        <p:txBody>
          <a:bodyPr/>
          <a:lstStyle/>
          <a:p>
            <a:r>
              <a:rPr lang="en-US" dirty="0"/>
              <a:t>Someone in the outside world (on host 10.1.2.3) attempts to open a connection from port 5150 on port 6000 on one of your internal systems (for example, 172.16.3.4) in order to carry out an attack</a:t>
            </a:r>
            <a:endParaRPr lang="en-IN" dirty="0"/>
          </a:p>
        </p:txBody>
      </p:sp>
      <p:sp>
        <p:nvSpPr>
          <p:cNvPr id="4" name="TextBox 3">
            <a:extLst>
              <a:ext uri="{FF2B5EF4-FFF2-40B4-BE49-F238E27FC236}">
                <a16:creationId xmlns:a16="http://schemas.microsoft.com/office/drawing/2014/main" id="{90477396-9285-F310-34DD-BE93D711BDF6}"/>
              </a:ext>
            </a:extLst>
          </p:cNvPr>
          <p:cNvSpPr txBox="1"/>
          <p:nvPr/>
        </p:nvSpPr>
        <p:spPr>
          <a:xfrm>
            <a:off x="6392274" y="3322776"/>
            <a:ext cx="4849402" cy="3170099"/>
          </a:xfrm>
          <a:prstGeom prst="rect">
            <a:avLst/>
          </a:prstGeom>
          <a:solidFill>
            <a:schemeClr val="accent4">
              <a:lumMod val="60000"/>
              <a:lumOff val="40000"/>
            </a:schemeClr>
          </a:solidFill>
        </p:spPr>
        <p:txBody>
          <a:bodyPr wrap="square" rtlCol="0">
            <a:spAutoFit/>
          </a:bodyPr>
          <a:lstStyle/>
          <a:p>
            <a:pPr algn="l"/>
            <a:r>
              <a:rPr lang="en-US" sz="2000" i="0" dirty="0">
                <a:solidFill>
                  <a:srgbClr val="000000"/>
                </a:solidFill>
                <a:effectLst/>
                <a:latin typeface="Times New Roman" panose="02020603050405020304" pitchFamily="18" charset="0"/>
              </a:rPr>
              <a:t>Rules A and B together do what you want to allow inbound SMTP connections.</a:t>
            </a:r>
          </a:p>
          <a:p>
            <a:pPr algn="l"/>
            <a:endParaRPr lang="en-US" sz="2000" i="0" dirty="0">
              <a:solidFill>
                <a:srgbClr val="000000"/>
              </a:solidFill>
              <a:effectLst/>
              <a:latin typeface="Times New Roman" panose="02020603050405020304" pitchFamily="18" charset="0"/>
            </a:endParaRPr>
          </a:p>
          <a:p>
            <a:pPr algn="l"/>
            <a:r>
              <a:rPr lang="en-US" sz="2000" i="0" dirty="0">
                <a:solidFill>
                  <a:srgbClr val="000000"/>
                </a:solidFill>
                <a:effectLst/>
                <a:latin typeface="Times New Roman" panose="02020603050405020304" pitchFamily="18" charset="0"/>
              </a:rPr>
              <a:t>Rules C and D together do what you want to allow outbound SMTP connections.</a:t>
            </a:r>
          </a:p>
          <a:p>
            <a:pPr algn="l"/>
            <a:endParaRPr lang="en-US" sz="2000" i="0" dirty="0">
              <a:solidFill>
                <a:srgbClr val="000000"/>
              </a:solidFill>
              <a:effectLst/>
              <a:latin typeface="Times New Roman" panose="02020603050405020304" pitchFamily="18" charset="0"/>
            </a:endParaRPr>
          </a:p>
          <a:p>
            <a:pPr algn="l"/>
            <a:r>
              <a:rPr lang="en-US" sz="2000" i="0" dirty="0">
                <a:solidFill>
                  <a:srgbClr val="000000"/>
                </a:solidFill>
                <a:effectLst/>
                <a:latin typeface="Times New Roman" panose="02020603050405020304" pitchFamily="18" charset="0"/>
              </a:rPr>
              <a:t>But Rules B and D together end up allowing all connections where both ends are using ports above 1023, and this is certainly not what you intended.</a:t>
            </a:r>
          </a:p>
        </p:txBody>
      </p:sp>
      <p:pic>
        <p:nvPicPr>
          <p:cNvPr id="7" name="Picture 6">
            <a:extLst>
              <a:ext uri="{FF2B5EF4-FFF2-40B4-BE49-F238E27FC236}">
                <a16:creationId xmlns:a16="http://schemas.microsoft.com/office/drawing/2014/main" id="{E3A24BF7-D1A6-EAB1-FA0E-D8BADA9B7865}"/>
              </a:ext>
            </a:extLst>
          </p:cNvPr>
          <p:cNvPicPr>
            <a:picLocks noChangeAspect="1"/>
          </p:cNvPicPr>
          <p:nvPr/>
        </p:nvPicPr>
        <p:blipFill>
          <a:blip r:embed="rId2"/>
          <a:stretch>
            <a:fillRect/>
          </a:stretch>
        </p:blipFill>
        <p:spPr>
          <a:xfrm>
            <a:off x="568615" y="3342962"/>
            <a:ext cx="5711535" cy="1506440"/>
          </a:xfrm>
          <a:prstGeom prst="rect">
            <a:avLst/>
          </a:prstGeom>
        </p:spPr>
      </p:pic>
    </p:spTree>
    <p:extLst>
      <p:ext uri="{BB962C8B-B14F-4D97-AF65-F5344CB8AC3E}">
        <p14:creationId xmlns:p14="http://schemas.microsoft.com/office/powerpoint/2010/main" val="1094165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65E43-3378-ED48-19EF-3158702B342F}"/>
              </a:ext>
            </a:extLst>
          </p:cNvPr>
          <p:cNvSpPr>
            <a:spLocks noGrp="1"/>
          </p:cNvSpPr>
          <p:nvPr>
            <p:ph type="title"/>
          </p:nvPr>
        </p:nvSpPr>
        <p:spPr/>
        <p:txBody>
          <a:bodyPr/>
          <a:lstStyle/>
          <a:p>
            <a:r>
              <a:rPr lang="en-IN" dirty="0"/>
              <a:t>How to Address this? (Add Source Port Number also)</a:t>
            </a:r>
          </a:p>
        </p:txBody>
      </p:sp>
      <p:sp>
        <p:nvSpPr>
          <p:cNvPr id="6" name="Content Placeholder 5">
            <a:extLst>
              <a:ext uri="{FF2B5EF4-FFF2-40B4-BE49-F238E27FC236}">
                <a16:creationId xmlns:a16="http://schemas.microsoft.com/office/drawing/2014/main" id="{1011C400-D23A-B4BF-CF75-29EB45C50418}"/>
              </a:ext>
            </a:extLst>
          </p:cNvPr>
          <p:cNvSpPr>
            <a:spLocks noGrp="1"/>
          </p:cNvSpPr>
          <p:nvPr>
            <p:ph sz="half" idx="1"/>
          </p:nvPr>
        </p:nvSpPr>
        <p:spPr/>
        <p:txBody>
          <a:bodyPr/>
          <a:lstStyle/>
          <a:p>
            <a:endParaRPr lang="en-IN" dirty="0"/>
          </a:p>
        </p:txBody>
      </p:sp>
      <p:sp>
        <p:nvSpPr>
          <p:cNvPr id="7" name="Content Placeholder 6">
            <a:extLst>
              <a:ext uri="{FF2B5EF4-FFF2-40B4-BE49-F238E27FC236}">
                <a16:creationId xmlns:a16="http://schemas.microsoft.com/office/drawing/2014/main" id="{D6943695-F4E8-C1F5-17EF-93BD7AA1C794}"/>
              </a:ext>
            </a:extLst>
          </p:cNvPr>
          <p:cNvSpPr>
            <a:spLocks noGrp="1"/>
          </p:cNvSpPr>
          <p:nvPr>
            <p:ph sz="half" idx="2"/>
          </p:nvPr>
        </p:nvSpPr>
        <p:spPr/>
        <p:txBody>
          <a:bodyPr/>
          <a:lstStyle/>
          <a:p>
            <a:endParaRPr lang="en-IN"/>
          </a:p>
        </p:txBody>
      </p:sp>
      <p:pic>
        <p:nvPicPr>
          <p:cNvPr id="5" name="Picture 4">
            <a:extLst>
              <a:ext uri="{FF2B5EF4-FFF2-40B4-BE49-F238E27FC236}">
                <a16:creationId xmlns:a16="http://schemas.microsoft.com/office/drawing/2014/main" id="{C91F317A-95A8-4FA7-0630-0CF9A5F2B583}"/>
              </a:ext>
            </a:extLst>
          </p:cNvPr>
          <p:cNvPicPr>
            <a:picLocks noChangeAspect="1"/>
          </p:cNvPicPr>
          <p:nvPr/>
        </p:nvPicPr>
        <p:blipFill>
          <a:blip r:embed="rId2"/>
          <a:stretch>
            <a:fillRect/>
          </a:stretch>
        </p:blipFill>
        <p:spPr>
          <a:xfrm>
            <a:off x="379421" y="2238871"/>
            <a:ext cx="5723467" cy="2415322"/>
          </a:xfrm>
          <a:prstGeom prst="rect">
            <a:avLst/>
          </a:prstGeom>
        </p:spPr>
      </p:pic>
    </p:spTree>
    <p:extLst>
      <p:ext uri="{BB962C8B-B14F-4D97-AF65-F5344CB8AC3E}">
        <p14:creationId xmlns:p14="http://schemas.microsoft.com/office/powerpoint/2010/main" val="3581904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65E43-3378-ED48-19EF-3158702B342F}"/>
              </a:ext>
            </a:extLst>
          </p:cNvPr>
          <p:cNvSpPr>
            <a:spLocks noGrp="1"/>
          </p:cNvSpPr>
          <p:nvPr>
            <p:ph type="title"/>
          </p:nvPr>
        </p:nvSpPr>
        <p:spPr/>
        <p:txBody>
          <a:bodyPr/>
          <a:lstStyle/>
          <a:p>
            <a:r>
              <a:rPr lang="en-IN" dirty="0"/>
              <a:t>How to Address this? (Add Source Port Number also)</a:t>
            </a:r>
          </a:p>
        </p:txBody>
      </p:sp>
      <p:sp>
        <p:nvSpPr>
          <p:cNvPr id="6" name="Content Placeholder 5">
            <a:extLst>
              <a:ext uri="{FF2B5EF4-FFF2-40B4-BE49-F238E27FC236}">
                <a16:creationId xmlns:a16="http://schemas.microsoft.com/office/drawing/2014/main" id="{1011C400-D23A-B4BF-CF75-29EB45C50418}"/>
              </a:ext>
            </a:extLst>
          </p:cNvPr>
          <p:cNvSpPr>
            <a:spLocks noGrp="1"/>
          </p:cNvSpPr>
          <p:nvPr>
            <p:ph sz="half" idx="1"/>
          </p:nvPr>
        </p:nvSpPr>
        <p:spPr/>
        <p:txBody>
          <a:bodyPr/>
          <a:lstStyle/>
          <a:p>
            <a:endParaRPr lang="en-IN" dirty="0"/>
          </a:p>
        </p:txBody>
      </p:sp>
      <p:sp>
        <p:nvSpPr>
          <p:cNvPr id="7" name="Content Placeholder 6">
            <a:extLst>
              <a:ext uri="{FF2B5EF4-FFF2-40B4-BE49-F238E27FC236}">
                <a16:creationId xmlns:a16="http://schemas.microsoft.com/office/drawing/2014/main" id="{D6943695-F4E8-C1F5-17EF-93BD7AA1C794}"/>
              </a:ext>
            </a:extLst>
          </p:cNvPr>
          <p:cNvSpPr>
            <a:spLocks noGrp="1"/>
          </p:cNvSpPr>
          <p:nvPr>
            <p:ph sz="half" idx="2"/>
          </p:nvPr>
        </p:nvSpPr>
        <p:spPr/>
        <p:txBody>
          <a:bodyPr/>
          <a:lstStyle/>
          <a:p>
            <a:endParaRPr lang="en-IN"/>
          </a:p>
        </p:txBody>
      </p:sp>
      <p:pic>
        <p:nvPicPr>
          <p:cNvPr id="5" name="Picture 4">
            <a:extLst>
              <a:ext uri="{FF2B5EF4-FFF2-40B4-BE49-F238E27FC236}">
                <a16:creationId xmlns:a16="http://schemas.microsoft.com/office/drawing/2014/main" id="{C91F317A-95A8-4FA7-0630-0CF9A5F2B583}"/>
              </a:ext>
            </a:extLst>
          </p:cNvPr>
          <p:cNvPicPr>
            <a:picLocks noChangeAspect="1"/>
          </p:cNvPicPr>
          <p:nvPr/>
        </p:nvPicPr>
        <p:blipFill>
          <a:blip r:embed="rId2"/>
          <a:stretch>
            <a:fillRect/>
          </a:stretch>
        </p:blipFill>
        <p:spPr>
          <a:xfrm>
            <a:off x="379421" y="2238871"/>
            <a:ext cx="5723467" cy="2415322"/>
          </a:xfrm>
          <a:prstGeom prst="rect">
            <a:avLst/>
          </a:prstGeom>
        </p:spPr>
      </p:pic>
      <p:pic>
        <p:nvPicPr>
          <p:cNvPr id="9" name="Picture 8">
            <a:extLst>
              <a:ext uri="{FF2B5EF4-FFF2-40B4-BE49-F238E27FC236}">
                <a16:creationId xmlns:a16="http://schemas.microsoft.com/office/drawing/2014/main" id="{60C6D9D4-21AF-A03F-93C9-D5461DDECDE1}"/>
              </a:ext>
            </a:extLst>
          </p:cNvPr>
          <p:cNvPicPr>
            <a:picLocks noChangeAspect="1"/>
          </p:cNvPicPr>
          <p:nvPr/>
        </p:nvPicPr>
        <p:blipFill>
          <a:blip r:embed="rId3"/>
          <a:stretch>
            <a:fillRect/>
          </a:stretch>
        </p:blipFill>
        <p:spPr>
          <a:xfrm>
            <a:off x="6255288" y="2511377"/>
            <a:ext cx="5197625" cy="2142815"/>
          </a:xfrm>
          <a:prstGeom prst="rect">
            <a:avLst/>
          </a:prstGeom>
        </p:spPr>
      </p:pic>
    </p:spTree>
    <p:extLst>
      <p:ext uri="{BB962C8B-B14F-4D97-AF65-F5344CB8AC3E}">
        <p14:creationId xmlns:p14="http://schemas.microsoft.com/office/powerpoint/2010/main" val="31623921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900E59-28FE-C0D4-A6B3-C43926A4EB64}"/>
              </a:ext>
            </a:extLst>
          </p:cNvPr>
          <p:cNvSpPr>
            <a:spLocks noGrp="1"/>
          </p:cNvSpPr>
          <p:nvPr>
            <p:ph type="title"/>
          </p:nvPr>
        </p:nvSpPr>
        <p:spPr/>
        <p:txBody>
          <a:bodyPr/>
          <a:lstStyle/>
          <a:p>
            <a:r>
              <a:rPr lang="en-IN" dirty="0"/>
              <a:t>The Attack gets Smarter</a:t>
            </a:r>
          </a:p>
        </p:txBody>
      </p:sp>
      <p:sp>
        <p:nvSpPr>
          <p:cNvPr id="6" name="Content Placeholder 5">
            <a:extLst>
              <a:ext uri="{FF2B5EF4-FFF2-40B4-BE49-F238E27FC236}">
                <a16:creationId xmlns:a16="http://schemas.microsoft.com/office/drawing/2014/main" id="{47D04C73-6013-6826-205B-F27529EB6160}"/>
              </a:ext>
            </a:extLst>
          </p:cNvPr>
          <p:cNvSpPr>
            <a:spLocks noGrp="1"/>
          </p:cNvSpPr>
          <p:nvPr>
            <p:ph idx="1"/>
          </p:nvPr>
        </p:nvSpPr>
        <p:spPr/>
        <p:txBody>
          <a:bodyPr/>
          <a:lstStyle/>
          <a:p>
            <a:r>
              <a:rPr lang="en-US" dirty="0"/>
              <a:t>What if the attacker uses port 25 as the client port?</a:t>
            </a:r>
            <a:endParaRPr lang="en-IN" dirty="0"/>
          </a:p>
        </p:txBody>
      </p:sp>
      <p:pic>
        <p:nvPicPr>
          <p:cNvPr id="8" name="Picture 7">
            <a:extLst>
              <a:ext uri="{FF2B5EF4-FFF2-40B4-BE49-F238E27FC236}">
                <a16:creationId xmlns:a16="http://schemas.microsoft.com/office/drawing/2014/main" id="{B7A90345-C7F2-9D4C-F82D-95AED85FA54C}"/>
              </a:ext>
            </a:extLst>
          </p:cNvPr>
          <p:cNvPicPr>
            <a:picLocks noChangeAspect="1"/>
          </p:cNvPicPr>
          <p:nvPr/>
        </p:nvPicPr>
        <p:blipFill>
          <a:blip r:embed="rId2"/>
          <a:stretch>
            <a:fillRect/>
          </a:stretch>
        </p:blipFill>
        <p:spPr>
          <a:xfrm>
            <a:off x="365655" y="2642119"/>
            <a:ext cx="6230549" cy="1477817"/>
          </a:xfrm>
          <a:prstGeom prst="rect">
            <a:avLst/>
          </a:prstGeom>
        </p:spPr>
      </p:pic>
      <p:pic>
        <p:nvPicPr>
          <p:cNvPr id="9218" name="Picture 2" descr="Figure 6.13">
            <a:extLst>
              <a:ext uri="{FF2B5EF4-FFF2-40B4-BE49-F238E27FC236}">
                <a16:creationId xmlns:a16="http://schemas.microsoft.com/office/drawing/2014/main" id="{CA3EEABF-572B-39AB-3B27-8108A80818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849" y="2841714"/>
            <a:ext cx="478155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293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AE03C-7E16-4991-98C0-CF0EF300A3FE}"/>
              </a:ext>
            </a:extLst>
          </p:cNvPr>
          <p:cNvSpPr>
            <a:spLocks noGrp="1"/>
          </p:cNvSpPr>
          <p:nvPr>
            <p:ph type="title"/>
          </p:nvPr>
        </p:nvSpPr>
        <p:spPr/>
        <p:txBody>
          <a:bodyPr/>
          <a:lstStyle/>
          <a:p>
            <a:r>
              <a:rPr lang="en-IN" dirty="0"/>
              <a:t>How to Address this? </a:t>
            </a:r>
          </a:p>
        </p:txBody>
      </p:sp>
      <p:sp>
        <p:nvSpPr>
          <p:cNvPr id="4" name="Content Placeholder 3">
            <a:extLst>
              <a:ext uri="{FF2B5EF4-FFF2-40B4-BE49-F238E27FC236}">
                <a16:creationId xmlns:a16="http://schemas.microsoft.com/office/drawing/2014/main" id="{7B450CD5-1558-B966-B4C4-DDF979F83EC0}"/>
              </a:ext>
            </a:extLst>
          </p:cNvPr>
          <p:cNvSpPr>
            <a:spLocks noGrp="1"/>
          </p:cNvSpPr>
          <p:nvPr>
            <p:ph sz="half" idx="1"/>
          </p:nvPr>
        </p:nvSpPr>
        <p:spPr/>
        <p:txBody>
          <a:bodyPr/>
          <a:lstStyle/>
          <a:p>
            <a:endParaRPr lang="en-IN"/>
          </a:p>
        </p:txBody>
      </p:sp>
      <p:sp>
        <p:nvSpPr>
          <p:cNvPr id="5" name="Content Placeholder 4">
            <a:extLst>
              <a:ext uri="{FF2B5EF4-FFF2-40B4-BE49-F238E27FC236}">
                <a16:creationId xmlns:a16="http://schemas.microsoft.com/office/drawing/2014/main" id="{85AA020B-5374-E67F-8BE4-A7AB42038C35}"/>
              </a:ext>
            </a:extLst>
          </p:cNvPr>
          <p:cNvSpPr>
            <a:spLocks noGrp="1"/>
          </p:cNvSpPr>
          <p:nvPr>
            <p:ph sz="half" idx="2"/>
          </p:nvPr>
        </p:nvSpPr>
        <p:spPr/>
        <p:txBody>
          <a:bodyPr/>
          <a:lstStyle/>
          <a:p>
            <a:endParaRPr lang="en-IN"/>
          </a:p>
        </p:txBody>
      </p:sp>
      <p:pic>
        <p:nvPicPr>
          <p:cNvPr id="7" name="Picture 6">
            <a:extLst>
              <a:ext uri="{FF2B5EF4-FFF2-40B4-BE49-F238E27FC236}">
                <a16:creationId xmlns:a16="http://schemas.microsoft.com/office/drawing/2014/main" id="{01FBDAC0-F4A0-7DEF-04A5-F0DF09A07515}"/>
              </a:ext>
            </a:extLst>
          </p:cNvPr>
          <p:cNvPicPr>
            <a:picLocks noChangeAspect="1"/>
          </p:cNvPicPr>
          <p:nvPr/>
        </p:nvPicPr>
        <p:blipFill>
          <a:blip r:embed="rId2"/>
          <a:stretch>
            <a:fillRect/>
          </a:stretch>
        </p:blipFill>
        <p:spPr>
          <a:xfrm>
            <a:off x="247357" y="2331157"/>
            <a:ext cx="6154555" cy="2302487"/>
          </a:xfrm>
          <a:prstGeom prst="rect">
            <a:avLst/>
          </a:prstGeom>
        </p:spPr>
      </p:pic>
    </p:spTree>
    <p:extLst>
      <p:ext uri="{BB962C8B-B14F-4D97-AF65-F5344CB8AC3E}">
        <p14:creationId xmlns:p14="http://schemas.microsoft.com/office/powerpoint/2010/main" val="7829635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AE03C-7E16-4991-98C0-CF0EF300A3FE}"/>
              </a:ext>
            </a:extLst>
          </p:cNvPr>
          <p:cNvSpPr>
            <a:spLocks noGrp="1"/>
          </p:cNvSpPr>
          <p:nvPr>
            <p:ph type="title"/>
          </p:nvPr>
        </p:nvSpPr>
        <p:spPr/>
        <p:txBody>
          <a:bodyPr/>
          <a:lstStyle/>
          <a:p>
            <a:r>
              <a:rPr lang="en-IN" dirty="0"/>
              <a:t>How to Address this? (Add Ack Check)</a:t>
            </a:r>
          </a:p>
        </p:txBody>
      </p:sp>
      <p:sp>
        <p:nvSpPr>
          <p:cNvPr id="4" name="Content Placeholder 3">
            <a:extLst>
              <a:ext uri="{FF2B5EF4-FFF2-40B4-BE49-F238E27FC236}">
                <a16:creationId xmlns:a16="http://schemas.microsoft.com/office/drawing/2014/main" id="{7B450CD5-1558-B966-B4C4-DDF979F83EC0}"/>
              </a:ext>
            </a:extLst>
          </p:cNvPr>
          <p:cNvSpPr>
            <a:spLocks noGrp="1"/>
          </p:cNvSpPr>
          <p:nvPr>
            <p:ph sz="half" idx="1"/>
          </p:nvPr>
        </p:nvSpPr>
        <p:spPr/>
        <p:txBody>
          <a:bodyPr/>
          <a:lstStyle/>
          <a:p>
            <a:endParaRPr lang="en-IN"/>
          </a:p>
        </p:txBody>
      </p:sp>
      <p:sp>
        <p:nvSpPr>
          <p:cNvPr id="5" name="Content Placeholder 4">
            <a:extLst>
              <a:ext uri="{FF2B5EF4-FFF2-40B4-BE49-F238E27FC236}">
                <a16:creationId xmlns:a16="http://schemas.microsoft.com/office/drawing/2014/main" id="{85AA020B-5374-E67F-8BE4-A7AB42038C35}"/>
              </a:ext>
            </a:extLst>
          </p:cNvPr>
          <p:cNvSpPr>
            <a:spLocks noGrp="1"/>
          </p:cNvSpPr>
          <p:nvPr>
            <p:ph sz="half" idx="2"/>
          </p:nvPr>
        </p:nvSpPr>
        <p:spPr/>
        <p:txBody>
          <a:bodyPr/>
          <a:lstStyle/>
          <a:p>
            <a:endParaRPr lang="en-IN"/>
          </a:p>
        </p:txBody>
      </p:sp>
      <p:pic>
        <p:nvPicPr>
          <p:cNvPr id="7" name="Picture 6">
            <a:extLst>
              <a:ext uri="{FF2B5EF4-FFF2-40B4-BE49-F238E27FC236}">
                <a16:creationId xmlns:a16="http://schemas.microsoft.com/office/drawing/2014/main" id="{01FBDAC0-F4A0-7DEF-04A5-F0DF09A07515}"/>
              </a:ext>
            </a:extLst>
          </p:cNvPr>
          <p:cNvPicPr>
            <a:picLocks noChangeAspect="1"/>
          </p:cNvPicPr>
          <p:nvPr/>
        </p:nvPicPr>
        <p:blipFill>
          <a:blip r:embed="rId2"/>
          <a:stretch>
            <a:fillRect/>
          </a:stretch>
        </p:blipFill>
        <p:spPr>
          <a:xfrm>
            <a:off x="247357" y="2331157"/>
            <a:ext cx="6154555" cy="2302487"/>
          </a:xfrm>
          <a:prstGeom prst="rect">
            <a:avLst/>
          </a:prstGeom>
        </p:spPr>
      </p:pic>
      <p:pic>
        <p:nvPicPr>
          <p:cNvPr id="9" name="Picture 8">
            <a:extLst>
              <a:ext uri="{FF2B5EF4-FFF2-40B4-BE49-F238E27FC236}">
                <a16:creationId xmlns:a16="http://schemas.microsoft.com/office/drawing/2014/main" id="{5852293A-52AE-48E2-E8CD-C745FFB4A7B0}"/>
              </a:ext>
            </a:extLst>
          </p:cNvPr>
          <p:cNvPicPr>
            <a:picLocks noChangeAspect="1"/>
          </p:cNvPicPr>
          <p:nvPr/>
        </p:nvPicPr>
        <p:blipFill>
          <a:blip r:embed="rId3"/>
          <a:stretch>
            <a:fillRect/>
          </a:stretch>
        </p:blipFill>
        <p:spPr>
          <a:xfrm>
            <a:off x="6172200" y="3034126"/>
            <a:ext cx="5153324" cy="896547"/>
          </a:xfrm>
          <a:prstGeom prst="rect">
            <a:avLst/>
          </a:prstGeom>
        </p:spPr>
      </p:pic>
    </p:spTree>
    <p:extLst>
      <p:ext uri="{BB962C8B-B14F-4D97-AF65-F5344CB8AC3E}">
        <p14:creationId xmlns:p14="http://schemas.microsoft.com/office/powerpoint/2010/main" val="16147257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170C8C-75E9-6EE9-8301-8B8D38153A2B}"/>
              </a:ext>
            </a:extLst>
          </p:cNvPr>
          <p:cNvSpPr>
            <a:spLocks noGrp="1"/>
          </p:cNvSpPr>
          <p:nvPr>
            <p:ph type="title"/>
          </p:nvPr>
        </p:nvSpPr>
        <p:spPr/>
        <p:txBody>
          <a:bodyPr/>
          <a:lstStyle/>
          <a:p>
            <a:r>
              <a:rPr lang="en-IN" dirty="0"/>
              <a:t>Can an Attacker not Breach this?</a:t>
            </a:r>
          </a:p>
        </p:txBody>
      </p:sp>
      <p:sp>
        <p:nvSpPr>
          <p:cNvPr id="6" name="Content Placeholder 5">
            <a:extLst>
              <a:ext uri="{FF2B5EF4-FFF2-40B4-BE49-F238E27FC236}">
                <a16:creationId xmlns:a16="http://schemas.microsoft.com/office/drawing/2014/main" id="{7CBCDC7E-7AE5-010A-43ED-8320132E8CFD}"/>
              </a:ext>
            </a:extLst>
          </p:cNvPr>
          <p:cNvSpPr>
            <a:spLocks noGrp="1"/>
          </p:cNvSpPr>
          <p:nvPr>
            <p:ph idx="1"/>
          </p:nvPr>
        </p:nvSpPr>
        <p:spPr/>
        <p:txBody>
          <a:bodyPr/>
          <a:lstStyle/>
          <a:p>
            <a:r>
              <a:rPr lang="en-US" dirty="0"/>
              <a:t>Why can't an attacker get around this by simply setting the ACK bit on the first packet? </a:t>
            </a:r>
          </a:p>
          <a:p>
            <a:r>
              <a:rPr lang="en-US" dirty="0"/>
              <a:t>If she does, the packet will get past the filters, but the destination will believe the packet belongs to an existing connection (instead of the one with which the packet is trying to establish a new connection). </a:t>
            </a:r>
          </a:p>
          <a:p>
            <a:r>
              <a:rPr lang="en-US" dirty="0"/>
              <a:t>When the destination tries to match the packet up with the supposed existing connection, it will fail because there isn't one, and the packet will be ignored.</a:t>
            </a:r>
            <a:endParaRPr lang="en-IN" dirty="0"/>
          </a:p>
        </p:txBody>
      </p:sp>
    </p:spTree>
    <p:extLst>
      <p:ext uri="{BB962C8B-B14F-4D97-AF65-F5344CB8AC3E}">
        <p14:creationId xmlns:p14="http://schemas.microsoft.com/office/powerpoint/2010/main" val="818994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5C1E27-70A6-0CE1-6C7D-173B5846D8E8}"/>
              </a:ext>
            </a:extLst>
          </p:cNvPr>
          <p:cNvSpPr>
            <a:spLocks noGrp="1"/>
          </p:cNvSpPr>
          <p:nvPr>
            <p:ph type="title"/>
          </p:nvPr>
        </p:nvSpPr>
        <p:spPr/>
        <p:txBody>
          <a:bodyPr/>
          <a:lstStyle/>
          <a:p>
            <a:r>
              <a:rPr lang="en-IN" dirty="0"/>
              <a:t>Application Gateway (Proxy)</a:t>
            </a:r>
          </a:p>
        </p:txBody>
      </p:sp>
      <p:sp>
        <p:nvSpPr>
          <p:cNvPr id="5" name="Text Placeholder 4">
            <a:extLst>
              <a:ext uri="{FF2B5EF4-FFF2-40B4-BE49-F238E27FC236}">
                <a16:creationId xmlns:a16="http://schemas.microsoft.com/office/drawing/2014/main" id="{302460EF-C2D8-EA0E-1772-9FC768F00FC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2675490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274FC-3425-0345-0937-49B3466BD598}"/>
              </a:ext>
            </a:extLst>
          </p:cNvPr>
          <p:cNvSpPr>
            <a:spLocks noGrp="1"/>
          </p:cNvSpPr>
          <p:nvPr>
            <p:ph type="title"/>
          </p:nvPr>
        </p:nvSpPr>
        <p:spPr/>
        <p:txBody>
          <a:bodyPr/>
          <a:lstStyle/>
          <a:p>
            <a:r>
              <a:rPr lang="en-IN" dirty="0"/>
              <a:t>Basic Concept</a:t>
            </a:r>
          </a:p>
        </p:txBody>
      </p:sp>
      <p:sp>
        <p:nvSpPr>
          <p:cNvPr id="3" name="Content Placeholder 2">
            <a:extLst>
              <a:ext uri="{FF2B5EF4-FFF2-40B4-BE49-F238E27FC236}">
                <a16:creationId xmlns:a16="http://schemas.microsoft.com/office/drawing/2014/main" id="{0C75C380-C09D-49CE-424A-9C86887B7FDE}"/>
              </a:ext>
            </a:extLst>
          </p:cNvPr>
          <p:cNvSpPr>
            <a:spLocks noGrp="1"/>
          </p:cNvSpPr>
          <p:nvPr>
            <p:ph sz="half" idx="1"/>
          </p:nvPr>
        </p:nvSpPr>
        <p:spPr/>
        <p:txBody>
          <a:bodyPr>
            <a:normAutofit fontScale="92500" lnSpcReduction="20000"/>
          </a:bodyPr>
          <a:lstStyle/>
          <a:p>
            <a:r>
              <a:rPr lang="en-US" dirty="0"/>
              <a:t>The user's client program talks to a  </a:t>
            </a:r>
            <a:r>
              <a:rPr lang="en-US" b="1" dirty="0"/>
              <a:t>proxy server</a:t>
            </a:r>
            <a:r>
              <a:rPr lang="en-US" dirty="0"/>
              <a:t> instead of directly to the "real" server out on the Internet. The proxy server evaluates requests from the client and decides which to pass on and which to disregard. </a:t>
            </a:r>
          </a:p>
          <a:p>
            <a:r>
              <a:rPr lang="en-US" dirty="0"/>
              <a:t>If a request is approved, the proxy server talks to the real server on behalf of the client (thus the term "proxy"), and proceeds to relay requests from the client to the real server, and to relay the real server's answers back to the client.</a:t>
            </a:r>
            <a:endParaRPr lang="en-IN" dirty="0"/>
          </a:p>
        </p:txBody>
      </p:sp>
      <p:sp>
        <p:nvSpPr>
          <p:cNvPr id="4" name="Content Placeholder 3">
            <a:extLst>
              <a:ext uri="{FF2B5EF4-FFF2-40B4-BE49-F238E27FC236}">
                <a16:creationId xmlns:a16="http://schemas.microsoft.com/office/drawing/2014/main" id="{43B5EC2A-1AF5-683E-C547-A041F2091AE3}"/>
              </a:ext>
            </a:extLst>
          </p:cNvPr>
          <p:cNvSpPr>
            <a:spLocks noGrp="1"/>
          </p:cNvSpPr>
          <p:nvPr>
            <p:ph sz="half" idx="2"/>
          </p:nvPr>
        </p:nvSpPr>
        <p:spPr/>
        <p:txBody>
          <a:bodyPr>
            <a:normAutofit fontScale="92500" lnSpcReduction="20000"/>
          </a:bodyPr>
          <a:lstStyle/>
          <a:p>
            <a:endParaRPr lang="en-IN"/>
          </a:p>
        </p:txBody>
      </p:sp>
      <p:pic>
        <p:nvPicPr>
          <p:cNvPr id="10242" name="Picture 2" descr="Figure 7.1">
            <a:extLst>
              <a:ext uri="{FF2B5EF4-FFF2-40B4-BE49-F238E27FC236}">
                <a16:creationId xmlns:a16="http://schemas.microsoft.com/office/drawing/2014/main" id="{57457781-504C-0E2A-4524-C5A192B5B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1213" y="2526800"/>
            <a:ext cx="5363573" cy="2692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39779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F3137E-E49A-6AB5-1189-99AAA5320D54}"/>
              </a:ext>
            </a:extLst>
          </p:cNvPr>
          <p:cNvSpPr>
            <a:spLocks noGrp="1"/>
          </p:cNvSpPr>
          <p:nvPr>
            <p:ph type="title"/>
          </p:nvPr>
        </p:nvSpPr>
        <p:spPr/>
        <p:txBody>
          <a:bodyPr/>
          <a:lstStyle/>
          <a:p>
            <a:r>
              <a:rPr lang="en-IN" dirty="0"/>
              <a:t>Example</a:t>
            </a:r>
          </a:p>
        </p:txBody>
      </p:sp>
      <p:sp>
        <p:nvSpPr>
          <p:cNvPr id="6" name="Content Placeholder 5">
            <a:extLst>
              <a:ext uri="{FF2B5EF4-FFF2-40B4-BE49-F238E27FC236}">
                <a16:creationId xmlns:a16="http://schemas.microsoft.com/office/drawing/2014/main" id="{9D8D28C5-0DD5-6EE6-2156-7867641FB149}"/>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3C16C228-8421-1259-6359-0EBF5A71D371}"/>
              </a:ext>
            </a:extLst>
          </p:cNvPr>
          <p:cNvPicPr>
            <a:picLocks noChangeAspect="1"/>
          </p:cNvPicPr>
          <p:nvPr/>
        </p:nvPicPr>
        <p:blipFill>
          <a:blip r:embed="rId2"/>
          <a:stretch>
            <a:fillRect/>
          </a:stretch>
        </p:blipFill>
        <p:spPr>
          <a:xfrm>
            <a:off x="1169430" y="2193501"/>
            <a:ext cx="10008853" cy="3715271"/>
          </a:xfrm>
          <a:prstGeom prst="rect">
            <a:avLst/>
          </a:prstGeom>
        </p:spPr>
      </p:pic>
    </p:spTree>
    <p:extLst>
      <p:ext uri="{BB962C8B-B14F-4D97-AF65-F5344CB8AC3E}">
        <p14:creationId xmlns:p14="http://schemas.microsoft.com/office/powerpoint/2010/main" val="218921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2372</Words>
  <Application>Microsoft Office PowerPoint</Application>
  <PresentationFormat>Widescreen</PresentationFormat>
  <Paragraphs>146</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Times New Roman</vt:lpstr>
      <vt:lpstr>Office Theme</vt:lpstr>
      <vt:lpstr>Network Defence and Countermeasures</vt:lpstr>
      <vt:lpstr>Attack Methods</vt:lpstr>
      <vt:lpstr>Attack Methods</vt:lpstr>
      <vt:lpstr>Attack Methods</vt:lpstr>
      <vt:lpstr>Attack Methods</vt:lpstr>
      <vt:lpstr>Attack Methods</vt:lpstr>
      <vt:lpstr>Other Forms of Attack</vt:lpstr>
      <vt:lpstr>Firewalls</vt:lpstr>
      <vt:lpstr>Firewall</vt:lpstr>
      <vt:lpstr>Firewall Basics</vt:lpstr>
      <vt:lpstr>Firewall Limitations</vt:lpstr>
      <vt:lpstr>Firewall Classification</vt:lpstr>
      <vt:lpstr>Packet Filter</vt:lpstr>
      <vt:lpstr>Packet Filter</vt:lpstr>
      <vt:lpstr>Packet Filter – Examples of Usage</vt:lpstr>
      <vt:lpstr>Real Benefits of a Packet Filter</vt:lpstr>
      <vt:lpstr>Address-spoofing Attacks</vt:lpstr>
      <vt:lpstr>Packet Filter Advantages</vt:lpstr>
      <vt:lpstr>Packet Filter Advantages</vt:lpstr>
      <vt:lpstr>Packet Filter Drawbacks</vt:lpstr>
      <vt:lpstr>Packet Filter Configuration</vt:lpstr>
      <vt:lpstr>Types of Packet Filtering</vt:lpstr>
      <vt:lpstr>Packet Filter Rules Example</vt:lpstr>
      <vt:lpstr>Packet Filter Case Study</vt:lpstr>
      <vt:lpstr>Sample Rules for SMTP</vt:lpstr>
      <vt:lpstr>Packet Filter – Example of Incoming Email</vt:lpstr>
      <vt:lpstr>Packet Filter – Example of Incoming Email </vt:lpstr>
      <vt:lpstr>Packet Filter – Example of Incoming Email </vt:lpstr>
      <vt:lpstr>Packet Filter – Example of Outgoing Email</vt:lpstr>
      <vt:lpstr>Packet Filter – Example of Outgoing Email</vt:lpstr>
      <vt:lpstr>Packet Filter – Example of Outgoing Email</vt:lpstr>
      <vt:lpstr>Packet Filter – Attack from Outside</vt:lpstr>
      <vt:lpstr>Packet Filter – Attack from Outside</vt:lpstr>
      <vt:lpstr>Packet Filter – Attack from Outside</vt:lpstr>
      <vt:lpstr>How to Address this? (Add Source Port Number also)</vt:lpstr>
      <vt:lpstr>How to Address this? (Add Source Port Number also)</vt:lpstr>
      <vt:lpstr>The Attack gets Smarter</vt:lpstr>
      <vt:lpstr>How to Address this? </vt:lpstr>
      <vt:lpstr>How to Address this? (Add Ack Check)</vt:lpstr>
      <vt:lpstr>Can an Attacker not Breach this?</vt:lpstr>
      <vt:lpstr>Application Gateway (Proxy)</vt:lpstr>
      <vt:lpstr>Basic Concept</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Defence and Countermeasures</dc:title>
  <dc:creator>Atul Kahate</dc:creator>
  <cp:lastModifiedBy>Atul Kahate</cp:lastModifiedBy>
  <cp:revision>1</cp:revision>
  <dcterms:created xsi:type="dcterms:W3CDTF">2023-01-17T07:54:46Z</dcterms:created>
  <dcterms:modified xsi:type="dcterms:W3CDTF">2023-01-17T07:55:11Z</dcterms:modified>
</cp:coreProperties>
</file>