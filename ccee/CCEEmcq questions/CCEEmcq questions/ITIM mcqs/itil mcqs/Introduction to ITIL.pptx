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60" r:id="rId5"/>
    <p:sldId id="261" r:id="rId6"/>
    <p:sldId id="262" r:id="rId7"/>
    <p:sldId id="259" r:id="rId8"/>
    <p:sldId id="263" r:id="rId9"/>
    <p:sldId id="273" r:id="rId10"/>
    <p:sldId id="274" r:id="rId11"/>
    <p:sldId id="275" r:id="rId12"/>
    <p:sldId id="276" r:id="rId13"/>
    <p:sldId id="277" r:id="rId14"/>
    <p:sldId id="278" r:id="rId15"/>
    <p:sldId id="279" r:id="rId16"/>
    <p:sldId id="272" r:id="rId17"/>
    <p:sldId id="271" r:id="rId18"/>
    <p:sldId id="280" r:id="rId19"/>
    <p:sldId id="281" r:id="rId20"/>
    <p:sldId id="282" r:id="rId21"/>
    <p:sldId id="283" r:id="rId22"/>
    <p:sldId id="284" r:id="rId23"/>
    <p:sldId id="285" r:id="rId24"/>
    <p:sldId id="286" r:id="rId25"/>
    <p:sldId id="264" r:id="rId26"/>
    <p:sldId id="265" r:id="rId27"/>
    <p:sldId id="266" r:id="rId28"/>
    <p:sldId id="267" r:id="rId29"/>
    <p:sldId id="268" r:id="rId30"/>
    <p:sldId id="269" r:id="rId31"/>
    <p:sldId id="27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3" d="100"/>
          <a:sy n="103" d="100"/>
        </p:scale>
        <p:origin x="-20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4A9DF9-E20E-4233-A763-5D7C02599D9C}" type="datetimeFigureOut">
              <a:rPr lang="en-US" smtClean="0"/>
              <a:pPr/>
              <a:t>5/15/2013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5DD239-1080-4779-BC09-0D961C8AD3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25DD239-1080-4779-BC09-0D961C8AD383}" type="slidenum">
              <a:rPr lang="en-US" smtClean="0"/>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5/15/2013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5/15/2013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5/15/2013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ITIL</a:t>
            </a:r>
            <a:endParaRPr lang="en-US" dirty="0"/>
          </a:p>
        </p:txBody>
      </p:sp>
      <p:sp>
        <p:nvSpPr>
          <p:cNvPr id="3" name="Subtitle 2"/>
          <p:cNvSpPr>
            <a:spLocks noGrp="1"/>
          </p:cNvSpPr>
          <p:nvPr>
            <p:ph type="subTitle" idx="1"/>
          </p:nvPr>
        </p:nvSpPr>
        <p:spPr/>
        <p:txBody>
          <a:bodyPr/>
          <a:lstStyle/>
          <a:p>
            <a:r>
              <a:rPr lang="en-US" dirty="0" smtClean="0"/>
              <a:t>Introductory Lecture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ITIL</a:t>
            </a:r>
            <a:endParaRPr lang="en-US" dirty="0"/>
          </a:p>
        </p:txBody>
      </p:sp>
      <p:sp>
        <p:nvSpPr>
          <p:cNvPr id="3" name="Content Placeholder 2"/>
          <p:cNvSpPr>
            <a:spLocks noGrp="1"/>
          </p:cNvSpPr>
          <p:nvPr>
            <p:ph idx="1"/>
          </p:nvPr>
        </p:nvSpPr>
        <p:spPr/>
        <p:txBody>
          <a:bodyPr/>
          <a:lstStyle/>
          <a:p>
            <a:r>
              <a:rPr lang="en-US" dirty="0" smtClean="0"/>
              <a:t>ITIL (IT Infrastructure Library) provides a framework of Best Practice guidance for IT Service Management.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Principles of IT Service Management</a:t>
            </a:r>
            <a:endParaRPr lang="en-US" dirty="0"/>
          </a:p>
        </p:txBody>
      </p:sp>
      <p:sp>
        <p:nvSpPr>
          <p:cNvPr id="3" name="Content Placeholder 2"/>
          <p:cNvSpPr>
            <a:spLocks noGrp="1"/>
          </p:cNvSpPr>
          <p:nvPr>
            <p:ph idx="1"/>
          </p:nvPr>
        </p:nvSpPr>
        <p:spPr/>
        <p:txBody>
          <a:bodyPr/>
          <a:lstStyle/>
          <a:p>
            <a:r>
              <a:rPr lang="en-US" dirty="0" smtClean="0"/>
              <a:t> Service Strategy</a:t>
            </a:r>
          </a:p>
          <a:p>
            <a:r>
              <a:rPr lang="en-US" dirty="0" smtClean="0"/>
              <a:t> Service Design</a:t>
            </a:r>
          </a:p>
          <a:p>
            <a:r>
              <a:rPr lang="en-US" dirty="0" smtClean="0"/>
              <a:t> Service Transition</a:t>
            </a:r>
          </a:p>
          <a:p>
            <a:r>
              <a:rPr lang="en-US" dirty="0" smtClean="0"/>
              <a:t> Service Operation</a:t>
            </a:r>
          </a:p>
          <a:p>
            <a:r>
              <a:rPr lang="en-US" dirty="0" smtClean="0"/>
              <a:t> Continual Service Improvement.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Service Management</a:t>
            </a:r>
            <a:endParaRPr lang="en-US" dirty="0"/>
          </a:p>
        </p:txBody>
      </p:sp>
      <p:sp>
        <p:nvSpPr>
          <p:cNvPr id="3" name="Subtitle 2"/>
          <p:cNvSpPr>
            <a:spLocks noGrp="1"/>
          </p:cNvSpPr>
          <p:nvPr>
            <p:ph type="subTitle" idx="1"/>
          </p:nvPr>
        </p:nvSpPr>
        <p:spPr/>
        <p:txBody>
          <a:bodyPr/>
          <a:lstStyle/>
          <a:p>
            <a:r>
              <a:rPr lang="en-US" dirty="0" smtClean="0"/>
              <a:t>Lecture 1</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a:t>
            </a:r>
            <a:endParaRPr lang="en-US" dirty="0"/>
          </a:p>
        </p:txBody>
      </p:sp>
      <p:sp>
        <p:nvSpPr>
          <p:cNvPr id="3" name="Content Placeholder 2"/>
          <p:cNvSpPr>
            <a:spLocks noGrp="1"/>
          </p:cNvSpPr>
          <p:nvPr>
            <p:ph idx="1"/>
          </p:nvPr>
        </p:nvSpPr>
        <p:spPr/>
        <p:txBody>
          <a:bodyPr/>
          <a:lstStyle/>
          <a:p>
            <a:r>
              <a:rPr lang="en-US" dirty="0" smtClean="0"/>
              <a:t>A service is a means of delivering value to customers by facilitating outcomes that customers want to achieve without the ownership of specific costs and risks.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a:t>
            </a:r>
            <a:endParaRPr lang="en-US" dirty="0"/>
          </a:p>
        </p:txBody>
      </p:sp>
      <p:sp>
        <p:nvSpPr>
          <p:cNvPr id="3" name="Content Placeholder 2"/>
          <p:cNvSpPr>
            <a:spLocks noGrp="1"/>
          </p:cNvSpPr>
          <p:nvPr>
            <p:ph idx="1"/>
          </p:nvPr>
        </p:nvSpPr>
        <p:spPr/>
        <p:txBody>
          <a:bodyPr>
            <a:normAutofit/>
          </a:bodyPr>
          <a:lstStyle/>
          <a:p>
            <a:r>
              <a:rPr lang="en-US" dirty="0" smtClean="0"/>
              <a:t>The outcomes that customers want to achieve are the reason why they purchase or use a service. </a:t>
            </a:r>
          </a:p>
          <a:p>
            <a:r>
              <a:rPr lang="en-US" dirty="0" smtClean="0"/>
              <a:t>The value of the service to the customer is directly dependent on how well a service facilitates these outcomes.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Management</a:t>
            </a:r>
            <a:endParaRPr lang="en-US" dirty="0"/>
          </a:p>
        </p:txBody>
      </p:sp>
      <p:sp>
        <p:nvSpPr>
          <p:cNvPr id="3" name="Content Placeholder 2"/>
          <p:cNvSpPr>
            <a:spLocks noGrp="1"/>
          </p:cNvSpPr>
          <p:nvPr>
            <p:ph idx="1"/>
          </p:nvPr>
        </p:nvSpPr>
        <p:spPr/>
        <p:txBody>
          <a:bodyPr>
            <a:normAutofit lnSpcReduction="10000"/>
          </a:bodyPr>
          <a:lstStyle/>
          <a:p>
            <a:r>
              <a:rPr lang="en-US" dirty="0" smtClean="0"/>
              <a:t>Service management enables a service provider to:</a:t>
            </a:r>
          </a:p>
          <a:p>
            <a:pPr lvl="1"/>
            <a:r>
              <a:rPr lang="en-US" dirty="0" smtClean="0"/>
              <a:t>understand the services that they are providing from both a consumer and provider perspective;</a:t>
            </a:r>
          </a:p>
          <a:p>
            <a:pPr lvl="1"/>
            <a:r>
              <a:rPr lang="en-US" dirty="0" smtClean="0"/>
              <a:t>ensure that the services really do facilitate the outcomes that their customers want to achieve;</a:t>
            </a:r>
          </a:p>
          <a:p>
            <a:pPr lvl="1"/>
            <a:r>
              <a:rPr lang="en-US" dirty="0" smtClean="0"/>
              <a:t>understand the value of those services to their customers and hence their relative importance;</a:t>
            </a:r>
          </a:p>
          <a:p>
            <a:pPr lvl="1"/>
            <a:r>
              <a:rPr lang="en-US" dirty="0" smtClean="0"/>
              <a:t>understand and manage all of the costs and risks associated with providing those services.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Management</a:t>
            </a:r>
            <a:endParaRPr lang="en-US" dirty="0"/>
          </a:p>
        </p:txBody>
      </p:sp>
      <p:sp>
        <p:nvSpPr>
          <p:cNvPr id="3" name="Content Placeholder 2"/>
          <p:cNvSpPr>
            <a:spLocks noGrp="1"/>
          </p:cNvSpPr>
          <p:nvPr>
            <p:ph idx="1"/>
          </p:nvPr>
        </p:nvSpPr>
        <p:spPr/>
        <p:txBody>
          <a:bodyPr>
            <a:normAutofit lnSpcReduction="10000"/>
          </a:bodyPr>
          <a:lstStyle/>
          <a:p>
            <a:r>
              <a:rPr lang="en-US" dirty="0" smtClean="0"/>
              <a:t>Service management is a set of </a:t>
            </a:r>
            <a:r>
              <a:rPr lang="en-US" dirty="0" err="1" smtClean="0"/>
              <a:t>specialised</a:t>
            </a:r>
            <a:r>
              <a:rPr lang="en-US" dirty="0" smtClean="0"/>
              <a:t> </a:t>
            </a:r>
            <a:r>
              <a:rPr lang="en-US" dirty="0" err="1" smtClean="0"/>
              <a:t>organisational</a:t>
            </a:r>
            <a:r>
              <a:rPr lang="en-US" dirty="0" smtClean="0"/>
              <a:t> capabilities for providing value to customers in the form of services.</a:t>
            </a:r>
          </a:p>
          <a:p>
            <a:r>
              <a:rPr lang="en-US" dirty="0" smtClean="0"/>
              <a:t>These '</a:t>
            </a:r>
            <a:r>
              <a:rPr lang="en-US" dirty="0" err="1" smtClean="0"/>
              <a:t>specialised</a:t>
            </a:r>
            <a:r>
              <a:rPr lang="en-US" dirty="0" smtClean="0"/>
              <a:t> </a:t>
            </a:r>
            <a:r>
              <a:rPr lang="en-US" dirty="0" err="1" smtClean="0"/>
              <a:t>organisational</a:t>
            </a:r>
            <a:r>
              <a:rPr lang="en-US" dirty="0" smtClean="0"/>
              <a:t> capabilities' include:</a:t>
            </a:r>
          </a:p>
          <a:p>
            <a:pPr lvl="1"/>
            <a:r>
              <a:rPr lang="en-US" dirty="0" smtClean="0"/>
              <a:t> the processes, </a:t>
            </a:r>
          </a:p>
          <a:p>
            <a:pPr lvl="1"/>
            <a:r>
              <a:rPr lang="en-US" dirty="0" smtClean="0"/>
              <a:t>activities,</a:t>
            </a:r>
          </a:p>
          <a:p>
            <a:pPr lvl="1"/>
            <a:r>
              <a:rPr lang="en-US" dirty="0" smtClean="0"/>
              <a:t> functions and </a:t>
            </a:r>
          </a:p>
          <a:p>
            <a:pPr lvl="1"/>
            <a:r>
              <a:rPr lang="en-US" dirty="0" smtClean="0"/>
              <a:t>Roles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Management</a:t>
            </a:r>
            <a:endParaRPr lang="en-US" dirty="0"/>
          </a:p>
        </p:txBody>
      </p:sp>
      <p:sp>
        <p:nvSpPr>
          <p:cNvPr id="3" name="Content Placeholder 2"/>
          <p:cNvSpPr>
            <a:spLocks noGrp="1"/>
          </p:cNvSpPr>
          <p:nvPr>
            <p:ph idx="1"/>
          </p:nvPr>
        </p:nvSpPr>
        <p:spPr/>
        <p:txBody>
          <a:bodyPr>
            <a:normAutofit/>
          </a:bodyPr>
          <a:lstStyle/>
          <a:p>
            <a:r>
              <a:rPr lang="en-US" dirty="0" smtClean="0"/>
              <a:t>ITIL provides this definition for the concept of </a:t>
            </a:r>
            <a:r>
              <a:rPr lang="en-US" i="1" dirty="0" smtClean="0"/>
              <a:t>service management:</a:t>
            </a:r>
            <a:endParaRPr lang="en-US" dirty="0" smtClean="0"/>
          </a:p>
          <a:p>
            <a:pPr lvl="1"/>
            <a:r>
              <a:rPr lang="en-US" dirty="0" smtClean="0"/>
              <a:t>A set of specialized organizational capabilities for providing value to customers in the form of services.</a:t>
            </a:r>
          </a:p>
          <a:p>
            <a:r>
              <a:rPr lang="en-US" dirty="0" smtClean="0"/>
              <a:t>The definition provided for a </a:t>
            </a:r>
            <a:r>
              <a:rPr lang="en-US" i="1" dirty="0" smtClean="0"/>
              <a:t>service provider:</a:t>
            </a:r>
            <a:endParaRPr lang="en-US" dirty="0" smtClean="0"/>
          </a:p>
          <a:p>
            <a:pPr lvl="1"/>
            <a:r>
              <a:rPr lang="en-US" dirty="0" smtClean="0"/>
              <a:t>An organization supplying services to one or more internal or external customers.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IT Service Management</a:t>
            </a:r>
            <a:endParaRPr lang="en-US" dirty="0"/>
          </a:p>
        </p:txBody>
      </p:sp>
      <p:sp>
        <p:nvSpPr>
          <p:cNvPr id="3" name="Content Placeholder 2"/>
          <p:cNvSpPr>
            <a:spLocks noGrp="1"/>
          </p:cNvSpPr>
          <p:nvPr>
            <p:ph idx="1"/>
          </p:nvPr>
        </p:nvSpPr>
        <p:spPr/>
        <p:txBody>
          <a:bodyPr>
            <a:normAutofit/>
          </a:bodyPr>
          <a:lstStyle/>
          <a:p>
            <a:r>
              <a:rPr lang="en-US" dirty="0" smtClean="0"/>
              <a:t>IT service management (ITSM):</a:t>
            </a:r>
          </a:p>
          <a:p>
            <a:pPr lvl="1"/>
            <a:r>
              <a:rPr lang="en-US" dirty="0" smtClean="0"/>
              <a:t> The implementation and management of quality IT services that meet the needs of the business. IT service management is performed by IT service providers through an appropriate mix of people, process and information technology.</a:t>
            </a:r>
          </a:p>
          <a:p>
            <a:r>
              <a:rPr lang="en-US" dirty="0" smtClean="0"/>
              <a:t>IT service provider: </a:t>
            </a:r>
          </a:p>
          <a:p>
            <a:pPr lvl="1"/>
            <a:r>
              <a:rPr lang="en-US" dirty="0" smtClean="0"/>
              <a:t>A service provider that provides IT services to internal or external customers.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IT Service Provider Types</a:t>
            </a:r>
            <a:endParaRPr lang="en-US" dirty="0"/>
          </a:p>
        </p:txBody>
      </p:sp>
      <p:sp>
        <p:nvSpPr>
          <p:cNvPr id="3" name="Content Placeholder 2"/>
          <p:cNvSpPr>
            <a:spLocks noGrp="1"/>
          </p:cNvSpPr>
          <p:nvPr>
            <p:ph idx="1"/>
          </p:nvPr>
        </p:nvSpPr>
        <p:spPr/>
        <p:txBody>
          <a:bodyPr>
            <a:normAutofit/>
          </a:bodyPr>
          <a:lstStyle/>
          <a:p>
            <a:r>
              <a:rPr lang="en-US" dirty="0" smtClean="0"/>
              <a:t> ITIL defines the three provider types:</a:t>
            </a:r>
          </a:p>
          <a:p>
            <a:r>
              <a:rPr lang="en-US" b="1" dirty="0" smtClean="0"/>
              <a:t>Type I: Internal Service Provider</a:t>
            </a:r>
            <a:r>
              <a:rPr lang="en-US" dirty="0" smtClean="0"/>
              <a:t> </a:t>
            </a:r>
          </a:p>
          <a:p>
            <a:r>
              <a:rPr lang="en-US" b="1" dirty="0" smtClean="0"/>
              <a:t>Type II: Shared Services Unit</a:t>
            </a:r>
            <a:r>
              <a:rPr lang="en-US" dirty="0" smtClean="0"/>
              <a:t> </a:t>
            </a:r>
          </a:p>
          <a:p>
            <a:r>
              <a:rPr lang="en-US" b="1" dirty="0" smtClean="0"/>
              <a:t>Type III: External Service Provider</a:t>
            </a:r>
            <a:r>
              <a:rPr lang="en-US" dirty="0" smtClean="0"/>
              <a:t>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Processes and Functions</a:t>
            </a:r>
            <a:endParaRPr lang="en-US" dirty="0"/>
          </a:p>
        </p:txBody>
      </p:sp>
      <p:sp>
        <p:nvSpPr>
          <p:cNvPr id="3" name="Content Placeholder 2"/>
          <p:cNvSpPr>
            <a:spLocks noGrp="1"/>
          </p:cNvSpPr>
          <p:nvPr>
            <p:ph idx="1"/>
          </p:nvPr>
        </p:nvSpPr>
        <p:spPr/>
        <p:txBody>
          <a:bodyPr/>
          <a:lstStyle/>
          <a:p>
            <a:r>
              <a:rPr lang="en-US" dirty="0" smtClean="0"/>
              <a:t>A process is a structured set of activities designed to accomplish a specific objective. A process takes one or more defined inputs and turns them into defined outputs.</a:t>
            </a:r>
          </a:p>
          <a:p>
            <a:r>
              <a:rPr lang="en-US" dirty="0" smtClean="0"/>
              <a:t>The ITIL framework is based on processes.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Process Characteristics</a:t>
            </a:r>
            <a:endParaRPr lang="en-US" dirty="0"/>
          </a:p>
        </p:txBody>
      </p:sp>
      <p:sp>
        <p:nvSpPr>
          <p:cNvPr id="3" name="Content Placeholder 2"/>
          <p:cNvSpPr>
            <a:spLocks noGrp="1"/>
          </p:cNvSpPr>
          <p:nvPr>
            <p:ph idx="1"/>
          </p:nvPr>
        </p:nvSpPr>
        <p:spPr/>
        <p:txBody>
          <a:bodyPr>
            <a:normAutofit/>
          </a:bodyPr>
          <a:lstStyle/>
          <a:p>
            <a:pPr lvl="1"/>
            <a:r>
              <a:rPr lang="en-US" b="1" dirty="0" smtClean="0"/>
              <a:t>Measurability</a:t>
            </a:r>
            <a:endParaRPr lang="en-US" dirty="0" smtClean="0"/>
          </a:p>
          <a:p>
            <a:pPr lvl="1"/>
            <a:r>
              <a:rPr lang="en-US" b="1" dirty="0" smtClean="0"/>
              <a:t>Specific Results</a:t>
            </a:r>
            <a:r>
              <a:rPr lang="en-US" dirty="0" smtClean="0"/>
              <a:t> </a:t>
            </a:r>
          </a:p>
          <a:p>
            <a:pPr lvl="1"/>
            <a:r>
              <a:rPr lang="en-US" b="1" dirty="0" smtClean="0"/>
              <a:t>Customers/Stakeholders</a:t>
            </a:r>
            <a:r>
              <a:rPr lang="en-US" dirty="0" smtClean="0"/>
              <a:t> </a:t>
            </a:r>
          </a:p>
          <a:p>
            <a:pPr lvl="1"/>
            <a:r>
              <a:rPr lang="en-US" b="1" dirty="0" smtClean="0"/>
              <a:t>Responds to a Trigger</a:t>
            </a:r>
            <a:r>
              <a:rPr lang="en-US" dirty="0" smtClean="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Functions</a:t>
            </a:r>
            <a:endParaRPr lang="en-US" dirty="0"/>
          </a:p>
        </p:txBody>
      </p:sp>
      <p:sp>
        <p:nvSpPr>
          <p:cNvPr id="3" name="Content Placeholder 2"/>
          <p:cNvSpPr>
            <a:spLocks noGrp="1"/>
          </p:cNvSpPr>
          <p:nvPr>
            <p:ph idx="1"/>
          </p:nvPr>
        </p:nvSpPr>
        <p:spPr/>
        <p:txBody>
          <a:bodyPr/>
          <a:lstStyle/>
          <a:p>
            <a:r>
              <a:rPr lang="en-US" dirty="0" smtClean="0"/>
              <a:t>A </a:t>
            </a:r>
            <a:r>
              <a:rPr lang="en-US" i="1" dirty="0" smtClean="0"/>
              <a:t>function</a:t>
            </a:r>
            <a:r>
              <a:rPr lang="en-US" dirty="0" smtClean="0"/>
              <a:t> is defined by ITIL as a team or group of people and the other resources or tools that are used to carry out a process or process activities.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Functions</a:t>
            </a:r>
            <a:endParaRPr lang="en-US" dirty="0"/>
          </a:p>
        </p:txBody>
      </p:sp>
      <p:sp>
        <p:nvSpPr>
          <p:cNvPr id="3" name="Content Placeholder 2"/>
          <p:cNvSpPr>
            <a:spLocks noGrp="1"/>
          </p:cNvSpPr>
          <p:nvPr>
            <p:ph idx="1"/>
          </p:nvPr>
        </p:nvSpPr>
        <p:spPr>
          <a:xfrm>
            <a:off x="457200" y="1600200"/>
            <a:ext cx="8534400" cy="4525963"/>
          </a:xfrm>
        </p:spPr>
        <p:txBody>
          <a:bodyPr>
            <a:normAutofit/>
          </a:bodyPr>
          <a:lstStyle/>
          <a:p>
            <a:r>
              <a:rPr lang="en-US" dirty="0" smtClean="0"/>
              <a:t>ITIL provides a set of defined roles:</a:t>
            </a:r>
          </a:p>
          <a:p>
            <a:pPr lvl="1"/>
            <a:r>
              <a:rPr lang="en-US" b="1" dirty="0" smtClean="0"/>
              <a:t>Group:</a:t>
            </a:r>
            <a:r>
              <a:rPr lang="en-US" dirty="0" smtClean="0"/>
              <a:t> A number of people who are performing similar activities. </a:t>
            </a:r>
          </a:p>
          <a:p>
            <a:pPr lvl="1"/>
            <a:r>
              <a:rPr lang="en-US" b="1" dirty="0" smtClean="0"/>
              <a:t>Team</a:t>
            </a:r>
            <a:endParaRPr lang="en-US" dirty="0" smtClean="0"/>
          </a:p>
          <a:p>
            <a:pPr lvl="1"/>
            <a:r>
              <a:rPr lang="en-US" b="1" dirty="0" smtClean="0"/>
              <a:t>Departments</a:t>
            </a:r>
            <a:r>
              <a:rPr lang="en-US" dirty="0" smtClean="0"/>
              <a:t> </a:t>
            </a:r>
          </a:p>
          <a:p>
            <a:pPr lvl="1"/>
            <a:r>
              <a:rPr lang="en-US" b="1" dirty="0" smtClean="0"/>
              <a:t>Division</a:t>
            </a:r>
            <a:r>
              <a:rPr lang="en-US" dirty="0" smtClean="0"/>
              <a:t> </a:t>
            </a:r>
          </a:p>
          <a:p>
            <a:pPr lvl="1">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Sources of Best Practices</a:t>
            </a:r>
            <a:endParaRPr lang="en-US" dirty="0"/>
          </a:p>
        </p:txBody>
      </p:sp>
      <p:sp>
        <p:nvSpPr>
          <p:cNvPr id="3" name="Content Placeholder 2"/>
          <p:cNvSpPr>
            <a:spLocks noGrp="1"/>
          </p:cNvSpPr>
          <p:nvPr>
            <p:ph idx="1"/>
          </p:nvPr>
        </p:nvSpPr>
        <p:spPr/>
        <p:txBody>
          <a:bodyPr>
            <a:normAutofit/>
          </a:bodyPr>
          <a:lstStyle/>
          <a:p>
            <a:r>
              <a:rPr lang="en-US" dirty="0" smtClean="0"/>
              <a:t>The sources of service management best practices include the following:</a:t>
            </a:r>
          </a:p>
          <a:p>
            <a:pPr lvl="1"/>
            <a:r>
              <a:rPr lang="en-US" dirty="0" smtClean="0"/>
              <a:t>Proprietary knowledge/internal experience</a:t>
            </a:r>
          </a:p>
          <a:p>
            <a:pPr lvl="1"/>
            <a:r>
              <a:rPr lang="en-US" dirty="0" smtClean="0"/>
              <a:t>Standards/industry practices</a:t>
            </a:r>
          </a:p>
          <a:p>
            <a:pPr lvl="1"/>
            <a:r>
              <a:rPr lang="en-US" dirty="0" smtClean="0"/>
              <a:t>Training and education/academic research</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534400" cy="1143000"/>
          </a:xfrm>
        </p:spPr>
        <p:txBody>
          <a:bodyPr/>
          <a:lstStyle/>
          <a:p>
            <a:r>
              <a:rPr lang="en-US" dirty="0" smtClean="0"/>
              <a:t>There are many sources of service management best practices.</a:t>
            </a:r>
            <a:endParaRPr lang="en-US" dirty="0"/>
          </a:p>
        </p:txBody>
      </p:sp>
      <p:pic>
        <p:nvPicPr>
          <p:cNvPr id="1026" name="Picture 2" descr="Click to collapse"/>
          <p:cNvPicPr>
            <a:picLocks noChangeAspect="1" noChangeArrowheads="1"/>
          </p:cNvPicPr>
          <p:nvPr/>
        </p:nvPicPr>
        <p:blipFill>
          <a:blip r:embed="rId2"/>
          <a:srcRect/>
          <a:stretch>
            <a:fillRect/>
          </a:stretch>
        </p:blipFill>
        <p:spPr bwMode="auto">
          <a:xfrm>
            <a:off x="1219200" y="1524000"/>
            <a:ext cx="7726987" cy="49530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 Service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ITIL defines an </a:t>
            </a:r>
            <a:r>
              <a:rPr lang="en-US" i="1" dirty="0" smtClean="0"/>
              <a:t>IT service</a:t>
            </a:r>
            <a:r>
              <a:rPr lang="en-US" dirty="0" smtClean="0"/>
              <a:t>:</a:t>
            </a:r>
          </a:p>
          <a:p>
            <a:r>
              <a:rPr lang="en-US" dirty="0" smtClean="0"/>
              <a:t>A service provided by an IT service provider. </a:t>
            </a:r>
          </a:p>
          <a:p>
            <a:r>
              <a:rPr lang="en-US" dirty="0" smtClean="0"/>
              <a:t>An IT service is made up of a combination of information technology, people and processes.</a:t>
            </a:r>
          </a:p>
          <a:p>
            <a:r>
              <a:rPr lang="en-US" dirty="0" smtClean="0"/>
              <a:t> A customer-facing IT service directly supports the business processes of one or more customers and its service level targets should be defined in a service level agreement. </a:t>
            </a:r>
          </a:p>
          <a:p>
            <a:r>
              <a:rPr lang="en-US" dirty="0" smtClean="0"/>
              <a:t>Other IT services, called supporting services, are not directly used by the business but are required by the service provider to deliver customer-facing services.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Identifying Types of Service</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Core Services</a:t>
            </a:r>
            <a:r>
              <a:rPr lang="en-US" dirty="0" smtClean="0"/>
              <a:t> </a:t>
            </a:r>
          </a:p>
          <a:p>
            <a:pPr lvl="1"/>
            <a:r>
              <a:rPr lang="en-US" dirty="0" smtClean="0"/>
              <a:t>These are services that deliver the basic outcomes required by one or more customers. </a:t>
            </a:r>
          </a:p>
          <a:p>
            <a:pPr lvl="1"/>
            <a:r>
              <a:rPr lang="en-US" dirty="0" smtClean="0"/>
              <a:t>They provide the value the customer wants and for which they are willing to pay. </a:t>
            </a:r>
          </a:p>
          <a:p>
            <a:r>
              <a:rPr lang="en-US" b="1" dirty="0" smtClean="0"/>
              <a:t>Enabling Services</a:t>
            </a:r>
            <a:r>
              <a:rPr lang="en-US" dirty="0" smtClean="0"/>
              <a:t> </a:t>
            </a:r>
          </a:p>
          <a:p>
            <a:pPr lvl="1"/>
            <a:r>
              <a:rPr lang="en-US" dirty="0" smtClean="0"/>
              <a:t>These are services that are needed to ensure that the core service can be delivered successfully. </a:t>
            </a:r>
          </a:p>
          <a:p>
            <a:pPr lvl="1"/>
            <a:r>
              <a:rPr lang="en-US" dirty="0" smtClean="0"/>
              <a:t>These services may not be immediately visible to the customer and may not even be perceived as services in their own right. </a:t>
            </a:r>
          </a:p>
          <a:p>
            <a:r>
              <a:rPr lang="en-US" b="1" dirty="0" smtClean="0"/>
              <a:t>Enhancing Services</a:t>
            </a:r>
            <a:r>
              <a:rPr lang="en-US" dirty="0" smtClean="0"/>
              <a:t> </a:t>
            </a:r>
          </a:p>
          <a:p>
            <a:pPr lvl="1"/>
            <a:r>
              <a:rPr lang="en-US" dirty="0" smtClean="0"/>
              <a:t>These are additional services that enhance the core service, making it more attractive or appealing to the customer. </a:t>
            </a:r>
          </a:p>
          <a:p>
            <a:pPr lvl="1"/>
            <a:r>
              <a:rPr lang="en-US" dirty="0" smtClean="0"/>
              <a:t>They are not essential to the delivery of the core services but are extra factors that make the offerings more attractive to the customer.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ITIL FRAMEWORK</a:t>
            </a:r>
            <a:endParaRPr lang="en-US" dirty="0"/>
          </a:p>
        </p:txBody>
      </p:sp>
      <p:sp>
        <p:nvSpPr>
          <p:cNvPr id="3" name="Content Placeholder 2"/>
          <p:cNvSpPr>
            <a:spLocks noGrp="1"/>
          </p:cNvSpPr>
          <p:nvPr>
            <p:ph idx="1"/>
          </p:nvPr>
        </p:nvSpPr>
        <p:spPr/>
        <p:txBody>
          <a:bodyPr>
            <a:normAutofit/>
          </a:bodyPr>
          <a:lstStyle/>
          <a:p>
            <a:r>
              <a:rPr lang="en-US" dirty="0" smtClean="0"/>
              <a:t>ITIL is not a standard in the formal sense but a framework which is a source of good practice in service management. </a:t>
            </a:r>
          </a:p>
          <a:p>
            <a:r>
              <a:rPr lang="en-US" dirty="0" smtClean="0"/>
              <a:t>The standard for IT service management (ITSM) is ISO/IEC 20000.</a:t>
            </a:r>
          </a:p>
          <a:p>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ITIL Framework</a:t>
            </a:r>
            <a:endParaRPr lang="en-US" dirty="0"/>
          </a:p>
        </p:txBody>
      </p:sp>
      <p:sp>
        <p:nvSpPr>
          <p:cNvPr id="3" name="Content Placeholder 2"/>
          <p:cNvSpPr>
            <a:spLocks noGrp="1"/>
          </p:cNvSpPr>
          <p:nvPr>
            <p:ph idx="1"/>
          </p:nvPr>
        </p:nvSpPr>
        <p:spPr/>
        <p:txBody>
          <a:bodyPr>
            <a:normAutofit lnSpcReduction="10000"/>
          </a:bodyPr>
          <a:lstStyle/>
          <a:p>
            <a:r>
              <a:rPr lang="en-US" dirty="0" smtClean="0"/>
              <a:t>The ITIL has the following components:</a:t>
            </a:r>
          </a:p>
          <a:p>
            <a:r>
              <a:rPr lang="en-US" b="1" dirty="0" smtClean="0"/>
              <a:t>ITIL Core:</a:t>
            </a:r>
            <a:r>
              <a:rPr lang="en-US" dirty="0" smtClean="0"/>
              <a:t> Publications describing generic best practice that is applicable to all types of </a:t>
            </a:r>
            <a:r>
              <a:rPr lang="en-US" dirty="0" err="1" smtClean="0"/>
              <a:t>organisation</a:t>
            </a:r>
            <a:r>
              <a:rPr lang="en-US" dirty="0" smtClean="0"/>
              <a:t> that provide services to a business.</a:t>
            </a:r>
          </a:p>
          <a:p>
            <a:r>
              <a:rPr lang="en-US" b="1" dirty="0" smtClean="0"/>
              <a:t>ITIL Complementary Guidance:</a:t>
            </a:r>
            <a:r>
              <a:rPr lang="en-US" dirty="0" smtClean="0"/>
              <a:t> A set of publications with guidance specific to industry sectors, </a:t>
            </a:r>
            <a:r>
              <a:rPr lang="en-US" dirty="0" err="1" smtClean="0"/>
              <a:t>organisation</a:t>
            </a:r>
            <a:r>
              <a:rPr lang="en-US" dirty="0" smtClean="0"/>
              <a:t> types, operating models and technology architectures.</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ITIL CORE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 ITIL core represents the five ITIL service lifecycle publications.</a:t>
            </a:r>
          </a:p>
          <a:p>
            <a:r>
              <a:rPr lang="en-US" dirty="0" smtClean="0"/>
              <a:t>The five core books cover each stage of the service lifecycle from:</a:t>
            </a:r>
          </a:p>
          <a:p>
            <a:r>
              <a:rPr lang="en-US" dirty="0" smtClean="0"/>
              <a:t>Initial definition and analysis of business requirements in Service Strategy and Service Design, </a:t>
            </a:r>
          </a:p>
          <a:p>
            <a:r>
              <a:rPr lang="en-US" dirty="0" smtClean="0"/>
              <a:t>through migration into the live environment within Service Transition, </a:t>
            </a:r>
          </a:p>
          <a:p>
            <a:r>
              <a:rPr lang="en-US" dirty="0" smtClean="0"/>
              <a:t>to live operation and improvement in Service Operation and Continual Service Improvement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ITIL CORE</a:t>
            </a:r>
            <a:endParaRPr lang="en-US" dirty="0"/>
          </a:p>
        </p:txBody>
      </p:sp>
      <p:pic>
        <p:nvPicPr>
          <p:cNvPr id="29698" name="Picture 2" descr="Click to collapse"/>
          <p:cNvPicPr>
            <a:picLocks noChangeAspect="1" noChangeArrowheads="1"/>
          </p:cNvPicPr>
          <p:nvPr/>
        </p:nvPicPr>
        <p:blipFill>
          <a:blip r:embed="rId2"/>
          <a:srcRect/>
          <a:stretch>
            <a:fillRect/>
          </a:stretch>
        </p:blipFill>
        <p:spPr bwMode="auto">
          <a:xfrm>
            <a:off x="1524000" y="1143000"/>
            <a:ext cx="5673788" cy="5516563"/>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Q1. Which of the following is </a:t>
            </a:r>
            <a:r>
              <a:rPr lang="en-US" i="1" dirty="0" smtClean="0"/>
              <a:t>not</a:t>
            </a:r>
            <a:r>
              <a:rPr lang="en-US" dirty="0" smtClean="0"/>
              <a:t> a recognized source of IT best practices according to ITIL?</a:t>
            </a:r>
          </a:p>
          <a:p>
            <a:pPr marL="514350" indent="-514350">
              <a:buFont typeface="+mj-lt"/>
              <a:buAutoNum type="alphaLcParenR"/>
            </a:pPr>
            <a:r>
              <a:rPr lang="en-US" dirty="0" smtClean="0"/>
              <a:t>Proprietary knowledge</a:t>
            </a:r>
          </a:p>
          <a:p>
            <a:pPr marL="514350" indent="-514350">
              <a:buFont typeface="+mj-lt"/>
              <a:buAutoNum type="alphaLcParenR"/>
            </a:pPr>
            <a:r>
              <a:rPr lang="en-US" dirty="0" smtClean="0"/>
              <a:t>Industry standards</a:t>
            </a:r>
          </a:p>
          <a:p>
            <a:pPr marL="514350" indent="-514350">
              <a:buFont typeface="+mj-lt"/>
              <a:buAutoNum type="alphaLcParenR"/>
            </a:pPr>
            <a:r>
              <a:rPr lang="en-US" dirty="0" smtClean="0"/>
              <a:t>Training</a:t>
            </a:r>
          </a:p>
          <a:p>
            <a:pPr marL="514350" indent="-514350">
              <a:buFont typeface="+mj-lt"/>
              <a:buAutoNum type="alphaLcParenR"/>
            </a:pPr>
            <a:r>
              <a:rPr lang="en-US" dirty="0" smtClean="0"/>
              <a:t>Auditors</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dirty="0" smtClean="0"/>
              <a:t>Q2. Which of the following is a reason an organization might want to adopt ITIL best practices?</a:t>
            </a:r>
          </a:p>
          <a:p>
            <a:pPr marL="514350" indent="-514350">
              <a:buFont typeface="+mj-lt"/>
              <a:buAutoNum type="alphaLcParenR"/>
            </a:pPr>
            <a:r>
              <a:rPr lang="en-US" dirty="0" smtClean="0"/>
              <a:t>Advice on the technical specification of infrastructure</a:t>
            </a:r>
          </a:p>
          <a:p>
            <a:pPr marL="514350" indent="-514350">
              <a:buFont typeface="+mj-lt"/>
              <a:buAutoNum type="alphaLcParenR"/>
            </a:pPr>
            <a:r>
              <a:rPr lang="en-US" dirty="0" smtClean="0"/>
              <a:t>Advice on business strategy</a:t>
            </a:r>
          </a:p>
          <a:p>
            <a:pPr marL="514350" indent="-514350">
              <a:buFont typeface="+mj-lt"/>
              <a:buAutoNum type="alphaLcParenR"/>
            </a:pPr>
            <a:r>
              <a:rPr lang="en-US" dirty="0" smtClean="0"/>
              <a:t>Development of programming techniques</a:t>
            </a:r>
          </a:p>
          <a:p>
            <a:pPr marL="514350" indent="-514350">
              <a:buFont typeface="+mj-lt"/>
              <a:buAutoNum type="alphaLcParenR"/>
            </a:pPr>
            <a:r>
              <a:rPr lang="en-US" dirty="0" smtClean="0"/>
              <a:t>Management of IT services and budgetary controls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Q3.Which of the following is the correct description of a service?</a:t>
            </a:r>
          </a:p>
          <a:p>
            <a:pPr marL="514350" indent="-514350">
              <a:buFont typeface="+mj-lt"/>
              <a:buAutoNum type="alphaLcParenR"/>
            </a:pPr>
            <a:r>
              <a:rPr lang="en-US" dirty="0" smtClean="0"/>
              <a:t>Restores normal operations as soon as possible</a:t>
            </a:r>
          </a:p>
          <a:p>
            <a:pPr marL="514350" indent="-514350">
              <a:buFont typeface="+mj-lt"/>
              <a:buAutoNum type="alphaLcParenR"/>
            </a:pPr>
            <a:r>
              <a:rPr lang="en-US" dirty="0" smtClean="0"/>
              <a:t>Delivers value to customers, without ownership of specific costs and risks</a:t>
            </a:r>
          </a:p>
          <a:p>
            <a:pPr marL="514350" indent="-514350">
              <a:buFont typeface="+mj-lt"/>
              <a:buAutoNum type="alphaLcParenR"/>
            </a:pPr>
            <a:r>
              <a:rPr lang="en-US" dirty="0" smtClean="0"/>
              <a:t>Investigates the underlying cause of issues</a:t>
            </a:r>
          </a:p>
          <a:p>
            <a:pPr marL="514350" indent="-514350">
              <a:buFont typeface="+mj-lt"/>
              <a:buAutoNum type="alphaLcParenR"/>
            </a:pPr>
            <a:r>
              <a:rPr lang="en-US" dirty="0" smtClean="0"/>
              <a:t>Monitors targets according to contractual obligations</a:t>
            </a:r>
          </a:p>
          <a:p>
            <a:pPr marL="514350" indent="-514350">
              <a:buNone/>
            </a:pPr>
            <a:endParaRPr lang="en-US" dirty="0" smtClean="0"/>
          </a:p>
          <a:p>
            <a:pPr>
              <a:buNone/>
            </a:pPr>
            <a:r>
              <a:rPr lang="en-US" dirty="0" smtClean="0"/>
              <a:t>Q4.What is this? "The result of carrying out an activity, following a process, or delivering an IT service."</a:t>
            </a:r>
          </a:p>
          <a:p>
            <a:pPr marL="514350" indent="-514350">
              <a:buFont typeface="+mj-lt"/>
              <a:buAutoNum type="alphaLcParenR"/>
            </a:pPr>
            <a:r>
              <a:rPr lang="en-US" dirty="0" smtClean="0"/>
              <a:t>A procedure</a:t>
            </a:r>
          </a:p>
          <a:p>
            <a:pPr marL="514350" indent="-514350">
              <a:buFont typeface="+mj-lt"/>
              <a:buAutoNum type="alphaLcParenR"/>
            </a:pPr>
            <a:r>
              <a:rPr lang="en-US" dirty="0" smtClean="0"/>
              <a:t>A work instruction</a:t>
            </a:r>
          </a:p>
          <a:p>
            <a:pPr marL="514350" indent="-514350">
              <a:buFont typeface="+mj-lt"/>
              <a:buAutoNum type="alphaLcParenR"/>
            </a:pPr>
            <a:r>
              <a:rPr lang="en-US" dirty="0" smtClean="0"/>
              <a:t>An outcome</a:t>
            </a:r>
          </a:p>
          <a:p>
            <a:pPr marL="514350" indent="-514350">
              <a:buFont typeface="+mj-lt"/>
              <a:buAutoNum type="alphaLcParenR"/>
            </a:pPr>
            <a:r>
              <a:rPr lang="en-US" dirty="0" smtClean="0"/>
              <a:t>An input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Q5. What is an IT service made up of?</a:t>
            </a:r>
          </a:p>
          <a:p>
            <a:pPr marL="514350" indent="-514350">
              <a:buFont typeface="+mj-lt"/>
              <a:buAutoNum type="alphaLcParenR"/>
            </a:pPr>
            <a:r>
              <a:rPr lang="en-US" dirty="0" smtClean="0"/>
              <a:t>A combination of information technology, people, and processes</a:t>
            </a:r>
          </a:p>
          <a:p>
            <a:pPr marL="514350" indent="-514350">
              <a:buFont typeface="+mj-lt"/>
              <a:buAutoNum type="alphaLcParenR"/>
            </a:pPr>
            <a:r>
              <a:rPr lang="en-US" dirty="0" smtClean="0"/>
              <a:t>A combination of best practices, information technology, and outcomes</a:t>
            </a:r>
          </a:p>
          <a:p>
            <a:pPr marL="514350" indent="-514350">
              <a:buFont typeface="+mj-lt"/>
              <a:buAutoNum type="alphaLcParenR"/>
            </a:pPr>
            <a:r>
              <a:rPr lang="en-US" dirty="0" smtClean="0"/>
              <a:t>A combination of best practices, outcomes, and inputs</a:t>
            </a:r>
          </a:p>
          <a:p>
            <a:pPr marL="514350" indent="-514350">
              <a:buFont typeface="+mj-lt"/>
              <a:buAutoNum type="alphaLcParenR"/>
            </a:pPr>
            <a:r>
              <a:rPr lang="en-US" dirty="0" smtClean="0"/>
              <a:t>A combination of controls, outcomes, and inputs</a:t>
            </a:r>
          </a:p>
          <a:p>
            <a:pPr marL="514350" indent="-514350">
              <a:buNone/>
            </a:pPr>
            <a:endParaRPr lang="en-US" dirty="0" smtClean="0"/>
          </a:p>
          <a:p>
            <a:pPr>
              <a:buNone/>
            </a:pPr>
            <a:r>
              <a:rPr lang="en-US" dirty="0" smtClean="0"/>
              <a:t>Q6.Which of these is </a:t>
            </a:r>
            <a:r>
              <a:rPr lang="en-US" i="1" dirty="0" smtClean="0"/>
              <a:t>not</a:t>
            </a:r>
            <a:r>
              <a:rPr lang="en-US" dirty="0" smtClean="0"/>
              <a:t> a recognized type of service according to ITIL?</a:t>
            </a:r>
          </a:p>
          <a:p>
            <a:pPr marL="514350" indent="-514350">
              <a:buFont typeface="+mj-lt"/>
              <a:buAutoNum type="alphaLcParenR"/>
            </a:pPr>
            <a:r>
              <a:rPr lang="en-US" dirty="0" smtClean="0"/>
              <a:t>Core service</a:t>
            </a:r>
          </a:p>
          <a:p>
            <a:pPr marL="514350" indent="-514350">
              <a:buFont typeface="+mj-lt"/>
              <a:buAutoNum type="alphaLcParenR"/>
            </a:pPr>
            <a:r>
              <a:rPr lang="en-US" dirty="0" smtClean="0"/>
              <a:t>Supplier service</a:t>
            </a:r>
          </a:p>
          <a:p>
            <a:pPr marL="514350" indent="-514350">
              <a:buFont typeface="+mj-lt"/>
              <a:buAutoNum type="alphaLcParenR"/>
            </a:pPr>
            <a:r>
              <a:rPr lang="en-US" dirty="0" smtClean="0"/>
              <a:t>Enabling service</a:t>
            </a:r>
          </a:p>
          <a:p>
            <a:pPr marL="514350" indent="-514350">
              <a:buFont typeface="+mj-lt"/>
              <a:buAutoNum type="alphaLcParenR"/>
            </a:pPr>
            <a:r>
              <a:rPr lang="en-US" dirty="0" smtClean="0"/>
              <a:t>Enhancing service</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Q7. Which of these statements is/are correct?</a:t>
            </a:r>
          </a:p>
          <a:p>
            <a:r>
              <a:rPr lang="en-US" dirty="0" smtClean="0"/>
              <a:t>Internal services are delivered between departments or business units within the same organization.</a:t>
            </a:r>
          </a:p>
          <a:p>
            <a:r>
              <a:rPr lang="en-US" dirty="0" smtClean="0"/>
              <a:t>External services are those delivered to an external customer.</a:t>
            </a:r>
          </a:p>
          <a:p>
            <a:pPr marL="971550" lvl="1" indent="-514350">
              <a:buFont typeface="+mj-lt"/>
              <a:buAutoNum type="alphaLcParenR"/>
            </a:pPr>
            <a:r>
              <a:rPr lang="en-US" dirty="0" smtClean="0"/>
              <a:t>1 only</a:t>
            </a:r>
          </a:p>
          <a:p>
            <a:pPr marL="971550" lvl="1" indent="-514350">
              <a:buFont typeface="+mj-lt"/>
              <a:buAutoNum type="alphaLcParenR"/>
            </a:pPr>
            <a:r>
              <a:rPr lang="en-US" dirty="0" smtClean="0"/>
              <a:t>2 only</a:t>
            </a:r>
          </a:p>
          <a:p>
            <a:pPr marL="971550" lvl="1" indent="-514350">
              <a:buFont typeface="+mj-lt"/>
              <a:buAutoNum type="alphaLcParenR"/>
            </a:pPr>
            <a:r>
              <a:rPr lang="en-US" dirty="0" smtClean="0"/>
              <a:t>Both</a:t>
            </a:r>
          </a:p>
          <a:p>
            <a:pPr marL="971550" lvl="1" indent="-514350">
              <a:buFont typeface="+mj-lt"/>
              <a:buAutoNum type="alphaLcParenR"/>
            </a:pPr>
            <a:r>
              <a:rPr lang="en-US" dirty="0" smtClean="0"/>
              <a:t>Neither</a:t>
            </a:r>
          </a:p>
          <a:p>
            <a:pPr>
              <a:buNone/>
            </a:pPr>
            <a:r>
              <a:rPr lang="en-US" dirty="0" smtClean="0"/>
              <a:t>Q8.Which of these statements describes an IT service provider?</a:t>
            </a:r>
          </a:p>
          <a:p>
            <a:pPr marL="514350" indent="-514350">
              <a:buFont typeface="+mj-lt"/>
              <a:buAutoNum type="alphaLcParenR"/>
            </a:pPr>
            <a:r>
              <a:rPr lang="en-US" dirty="0" smtClean="0"/>
              <a:t>A third-party service provider delivering components of services</a:t>
            </a:r>
          </a:p>
          <a:p>
            <a:pPr marL="514350" indent="-514350">
              <a:buFont typeface="+mj-lt"/>
              <a:buAutoNum type="alphaLcParenR"/>
            </a:pPr>
            <a:r>
              <a:rPr lang="en-US" dirty="0" smtClean="0"/>
              <a:t>A business unit responsible for IT processes</a:t>
            </a:r>
          </a:p>
          <a:p>
            <a:pPr marL="514350" indent="-514350">
              <a:buFont typeface="+mj-lt"/>
              <a:buAutoNum type="alphaLcParenR"/>
            </a:pPr>
            <a:r>
              <a:rPr lang="en-US" dirty="0" smtClean="0"/>
              <a:t>A function that provides controls for IT infrastructure</a:t>
            </a:r>
          </a:p>
          <a:p>
            <a:pPr marL="514350" indent="-514350">
              <a:buFont typeface="+mj-lt"/>
              <a:buAutoNum type="alphaLcParenR"/>
            </a:pPr>
            <a:r>
              <a:rPr lang="en-US" dirty="0" smtClean="0"/>
              <a:t>A service provider that provides IT services to internal or external customers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dirty="0" smtClean="0"/>
              <a:t>Q9. How many service provider types does ITIL identify?</a:t>
            </a:r>
          </a:p>
          <a:p>
            <a:pPr marL="514350" indent="-514350">
              <a:buFont typeface="+mj-lt"/>
              <a:buAutoNum type="alphaLcParenR"/>
            </a:pPr>
            <a:r>
              <a:rPr lang="en-US" dirty="0" smtClean="0"/>
              <a:t>1</a:t>
            </a:r>
          </a:p>
          <a:p>
            <a:pPr marL="514350" indent="-514350">
              <a:buFont typeface="+mj-lt"/>
              <a:buAutoNum type="alphaLcParenR"/>
            </a:pPr>
            <a:r>
              <a:rPr lang="en-US" dirty="0" smtClean="0"/>
              <a:t>2</a:t>
            </a:r>
          </a:p>
          <a:p>
            <a:pPr marL="514350" indent="-514350">
              <a:buFont typeface="+mj-lt"/>
              <a:buAutoNum type="alphaLcParenR"/>
            </a:pPr>
            <a:r>
              <a:rPr lang="en-US" dirty="0" smtClean="0"/>
              <a:t>3</a:t>
            </a:r>
          </a:p>
          <a:p>
            <a:pPr marL="514350" indent="-514350">
              <a:buFont typeface="+mj-lt"/>
              <a:buAutoNum type="alphaLcParenR"/>
            </a:pPr>
            <a:r>
              <a:rPr lang="en-US" dirty="0" smtClean="0"/>
              <a:t>4</a:t>
            </a:r>
          </a:p>
          <a:p>
            <a:pPr>
              <a:buNone/>
            </a:pPr>
            <a:r>
              <a:rPr lang="en-US" b="1" dirty="0" smtClean="0"/>
              <a:t> </a:t>
            </a:r>
            <a:endParaRPr lang="en-US" dirty="0" smtClean="0"/>
          </a:p>
          <a:p>
            <a:pPr>
              <a:buNone/>
            </a:pPr>
            <a:r>
              <a:rPr lang="en-US" dirty="0" smtClean="0"/>
              <a:t>Q10. Which of these is </a:t>
            </a:r>
            <a:r>
              <a:rPr lang="en-US" i="1" dirty="0" smtClean="0"/>
              <a:t>not</a:t>
            </a:r>
            <a:r>
              <a:rPr lang="en-US" dirty="0" smtClean="0"/>
              <a:t> a characteristic of a process?</a:t>
            </a:r>
          </a:p>
          <a:p>
            <a:pPr marL="514350" indent="-514350">
              <a:buFont typeface="+mj-lt"/>
              <a:buAutoNum type="alphaLcParenR"/>
            </a:pPr>
            <a:r>
              <a:rPr lang="en-US" dirty="0" smtClean="0"/>
              <a:t>Delivers functions</a:t>
            </a:r>
          </a:p>
          <a:p>
            <a:pPr marL="514350" indent="-514350">
              <a:buFont typeface="+mj-lt"/>
              <a:buAutoNum type="alphaLcParenR"/>
            </a:pPr>
            <a:r>
              <a:rPr lang="en-US" dirty="0" smtClean="0"/>
              <a:t>Responds to a trigger</a:t>
            </a:r>
          </a:p>
          <a:p>
            <a:pPr marL="514350" indent="-514350">
              <a:buFont typeface="+mj-lt"/>
              <a:buAutoNum type="alphaLcParenR"/>
            </a:pPr>
            <a:r>
              <a:rPr lang="en-US" dirty="0" smtClean="0"/>
              <a:t>Delivers a specific result</a:t>
            </a:r>
          </a:p>
          <a:p>
            <a:pPr marL="514350" indent="-514350">
              <a:buFont typeface="+mj-lt"/>
              <a:buAutoNum type="alphaLcParenR"/>
            </a:pPr>
            <a:r>
              <a:rPr lang="en-US" dirty="0" smtClean="0"/>
              <a:t>Is measurable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Answers</a:t>
            </a: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smtClean="0"/>
              <a:t>Answers</a:t>
            </a:r>
          </a:p>
          <a:p>
            <a:pPr>
              <a:buNone/>
            </a:pPr>
            <a:r>
              <a:rPr lang="en-US" b="1" dirty="0" smtClean="0"/>
              <a:t>1.</a:t>
            </a:r>
            <a:r>
              <a:rPr lang="en-US" dirty="0" smtClean="0"/>
              <a:t> D. Auditors are not a recognized source of best practice; they are an external body brought in to check something specific. The other three answers are all sources of best practice.</a:t>
            </a:r>
          </a:p>
          <a:p>
            <a:pPr>
              <a:buNone/>
            </a:pPr>
            <a:r>
              <a:rPr lang="en-US" b="1" dirty="0" smtClean="0"/>
              <a:t>2.</a:t>
            </a:r>
            <a:r>
              <a:rPr lang="en-US" dirty="0" smtClean="0"/>
              <a:t>  D. ITIL is a service management process framework concerned with planning, designing, transitioning, operating, and improving IT services within budget.</a:t>
            </a:r>
          </a:p>
          <a:p>
            <a:pPr>
              <a:buNone/>
            </a:pPr>
            <a:r>
              <a:rPr lang="en-US" b="1" dirty="0" smtClean="0"/>
              <a:t>3.</a:t>
            </a:r>
            <a:r>
              <a:rPr lang="en-US" dirty="0" smtClean="0"/>
              <a:t>  B. This is the ITIL definition of a service; all services should deliver value to the customer. A is the definition of incident management, C is an activity of problem management, and D is an activity of supplier management.</a:t>
            </a:r>
          </a:p>
          <a:p>
            <a:pPr>
              <a:buNone/>
            </a:pPr>
            <a:r>
              <a:rPr lang="en-US" b="1" dirty="0" smtClean="0"/>
              <a:t>4.</a:t>
            </a:r>
            <a:r>
              <a:rPr lang="en-US" dirty="0" smtClean="0"/>
              <a:t>  C. This is the ITIL definition of an outcome, the result of doing something.</a:t>
            </a:r>
          </a:p>
          <a:p>
            <a:pPr>
              <a:buNone/>
            </a:pPr>
            <a:r>
              <a:rPr lang="en-US" b="1" dirty="0" smtClean="0"/>
              <a:t>5.</a:t>
            </a:r>
            <a:r>
              <a:rPr lang="en-US" dirty="0" smtClean="0"/>
              <a:t>  A. This is the ITIL definition of the makeup of an IT service: the combination of processes (strategic, design, transition, operations, and improvement), the underlying infrastructure and applications the service is dependent on, and the roles required to support the service through the lifecycle.</a:t>
            </a:r>
          </a:p>
          <a:p>
            <a:pPr>
              <a:buNone/>
            </a:pPr>
            <a:r>
              <a:rPr lang="en-US" b="1" dirty="0" smtClean="0"/>
              <a:t>6.</a:t>
            </a:r>
            <a:r>
              <a:rPr lang="en-US" dirty="0" smtClean="0"/>
              <a:t>  B. There is no "supplier service" type identified. If services are provided by external parties, they would be either core, enabling, or enhancing.</a:t>
            </a:r>
          </a:p>
          <a:p>
            <a:pPr>
              <a:buNone/>
            </a:pPr>
            <a:r>
              <a:rPr lang="en-US" b="1" dirty="0" smtClean="0"/>
              <a:t>7.</a:t>
            </a:r>
            <a:r>
              <a:rPr lang="en-US" dirty="0" smtClean="0"/>
              <a:t>  C. Both of these statements are correct.</a:t>
            </a:r>
          </a:p>
          <a:p>
            <a:pPr>
              <a:buNone/>
            </a:pPr>
            <a:r>
              <a:rPr lang="en-US" b="1" dirty="0" smtClean="0"/>
              <a:t>8.</a:t>
            </a:r>
            <a:r>
              <a:rPr lang="en-US" dirty="0" smtClean="0"/>
              <a:t>  D. This is the ITIL definition for an IT service provider, providing IT services to customers.</a:t>
            </a:r>
          </a:p>
          <a:p>
            <a:pPr>
              <a:buNone/>
            </a:pPr>
            <a:r>
              <a:rPr lang="en-US" b="1" dirty="0" smtClean="0"/>
              <a:t>9.</a:t>
            </a:r>
            <a:r>
              <a:rPr lang="en-US" dirty="0" smtClean="0"/>
              <a:t>  C. There are three types of IT service provider: Type I internally embedded within a business unit, Type II internally shared between business units, and Type III external.</a:t>
            </a:r>
          </a:p>
          <a:p>
            <a:pPr>
              <a:buNone/>
            </a:pPr>
            <a:r>
              <a:rPr lang="en-US" b="1" dirty="0" smtClean="0"/>
              <a:t>10. </a:t>
            </a:r>
            <a:r>
              <a:rPr lang="en-US" dirty="0" smtClean="0"/>
              <a:t>A. Functions are self-contained units of an organization with their own resources and capabilities to support an organization. Processes deliver value and define roles for the activities and decisions within that process.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1149</TotalTime>
  <Words>752</Words>
  <Application>Microsoft Office PowerPoint</Application>
  <PresentationFormat>On-screen Show (4:3)</PresentationFormat>
  <Paragraphs>166</Paragraphs>
  <Slides>31</Slides>
  <Notes>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Introduction to ITIL</vt:lpstr>
      <vt:lpstr>What is ITIL</vt:lpstr>
      <vt:lpstr>Key Principles of IT Service Management</vt:lpstr>
      <vt:lpstr>Service Management</vt:lpstr>
      <vt:lpstr>Service</vt:lpstr>
      <vt:lpstr>Service</vt:lpstr>
      <vt:lpstr>Service Management</vt:lpstr>
      <vt:lpstr>Service Management</vt:lpstr>
      <vt:lpstr>Service Management</vt:lpstr>
      <vt:lpstr>IT Service Management</vt:lpstr>
      <vt:lpstr>IT Service Provider Types</vt:lpstr>
      <vt:lpstr>Processes and Functions</vt:lpstr>
      <vt:lpstr>Process Characteristics</vt:lpstr>
      <vt:lpstr>Functions</vt:lpstr>
      <vt:lpstr>Functions</vt:lpstr>
      <vt:lpstr>Sources of Best Practices</vt:lpstr>
      <vt:lpstr>Slide 17</vt:lpstr>
      <vt:lpstr>IT Service</vt:lpstr>
      <vt:lpstr>Identifying Types of Service</vt:lpstr>
      <vt:lpstr>THE ITIL FRAMEWORK</vt:lpstr>
      <vt:lpstr>ITIL Framework</vt:lpstr>
      <vt:lpstr>THE ITIL CORE</vt:lpstr>
      <vt:lpstr>THE ITIL CORE</vt:lpstr>
      <vt:lpstr>Slide 24</vt:lpstr>
      <vt:lpstr>Quiz</vt:lpstr>
      <vt:lpstr>Slide 26</vt:lpstr>
      <vt:lpstr>Slide 27</vt:lpstr>
      <vt:lpstr>Slide 28</vt:lpstr>
      <vt:lpstr>Slide 29</vt:lpstr>
      <vt:lpstr>Slide 30</vt:lpstr>
      <vt:lpstr>Answers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ITIL</dc:title>
  <dc:creator>Administrator</dc:creator>
  <cp:lastModifiedBy>Administrator</cp:lastModifiedBy>
  <cp:revision>68</cp:revision>
  <dcterms:created xsi:type="dcterms:W3CDTF">2006-08-16T00:00:00Z</dcterms:created>
  <dcterms:modified xsi:type="dcterms:W3CDTF">2013-05-15T12:26:11Z</dcterms:modified>
</cp:coreProperties>
</file>