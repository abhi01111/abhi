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8" r:id="rId9"/>
    <p:sldId id="270" r:id="rId10"/>
    <p:sldId id="271" r:id="rId11"/>
    <p:sldId id="272" r:id="rId12"/>
    <p:sldId id="263" r:id="rId13"/>
    <p:sldId id="264" r:id="rId14"/>
    <p:sldId id="265" r:id="rId15"/>
    <p:sldId id="268" r:id="rId16"/>
    <p:sldId id="269" r:id="rId17"/>
    <p:sldId id="299" r:id="rId18"/>
    <p:sldId id="300" r:id="rId19"/>
    <p:sldId id="273" r:id="rId20"/>
    <p:sldId id="274" r:id="rId21"/>
    <p:sldId id="275" r:id="rId22"/>
    <p:sldId id="276" r:id="rId23"/>
    <p:sldId id="277" r:id="rId24"/>
    <p:sldId id="278" r:id="rId25"/>
    <p:sldId id="279" r:id="rId26"/>
    <p:sldId id="280" r:id="rId27"/>
    <p:sldId id="281"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8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3" d="100"/>
          <a:sy n="103" d="100"/>
        </p:scale>
        <p:origin x="-20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1BD84DC-5C58-47A7-88A8-8B72CA13993B}" type="datetimeFigureOut">
              <a:rPr lang="en-US" smtClean="0"/>
              <a:pPr/>
              <a:t>5/17/2013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BD84DC-5C58-47A7-88A8-8B72CA13993B}" type="datetimeFigureOut">
              <a:rPr lang="en-US" smtClean="0"/>
              <a:pPr/>
              <a:t>5/17/2013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BD84DC-5C58-47A7-88A8-8B72CA13993B}" type="datetimeFigureOut">
              <a:rPr lang="en-US" smtClean="0"/>
              <a:pPr/>
              <a:t>5/17/2013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1BD84DC-5C58-47A7-88A8-8B72CA13993B}" type="datetimeFigureOut">
              <a:rPr lang="en-US" smtClean="0"/>
              <a:pPr/>
              <a:t>5/17/2013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BD84DC-5C58-47A7-88A8-8B72CA13993B}" type="datetimeFigureOut">
              <a:rPr lang="en-US" smtClean="0"/>
              <a:pPr/>
              <a:t>5/17/2013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1BD84DC-5C58-47A7-88A8-8B72CA13993B}" type="datetimeFigureOut">
              <a:rPr lang="en-US" smtClean="0"/>
              <a:pPr/>
              <a:t>5/17/2013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BD84DC-5C58-47A7-88A8-8B72CA13993B}" type="datetimeFigureOut">
              <a:rPr lang="en-US" smtClean="0"/>
              <a:pPr/>
              <a:t>5/17/2013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BD84DC-5C58-47A7-88A8-8B72CA13993B}" type="datetimeFigureOut">
              <a:rPr lang="en-US" smtClean="0"/>
              <a:pPr/>
              <a:t>5/17/2013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BD84DC-5C58-47A7-88A8-8B72CA13993B}" type="datetimeFigureOut">
              <a:rPr lang="en-US" smtClean="0"/>
              <a:pPr/>
              <a:t>5/17/2013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BD84DC-5C58-47A7-88A8-8B72CA13993B}" type="datetimeFigureOut">
              <a:rPr lang="en-US" smtClean="0"/>
              <a:pPr/>
              <a:t>5/17/2013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BD84DC-5C58-47A7-88A8-8B72CA13993B}" type="datetimeFigureOut">
              <a:rPr lang="en-US" smtClean="0"/>
              <a:pPr/>
              <a:t>5/17/2013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7B62-9E13-400C-A3C9-2F1F5ABC42C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BD84DC-5C58-47A7-88A8-8B72CA13993B}" type="datetimeFigureOut">
              <a:rPr lang="en-US" smtClean="0"/>
              <a:pPr/>
              <a:t>5/17/2013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57B62-9E13-400C-A3C9-2F1F5ABC42C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ITIL</a:t>
            </a:r>
            <a:endParaRPr lang="en-US" dirty="0"/>
          </a:p>
        </p:txBody>
      </p:sp>
      <p:sp>
        <p:nvSpPr>
          <p:cNvPr id="3" name="Subtitle 2"/>
          <p:cNvSpPr>
            <a:spLocks noGrp="1"/>
          </p:cNvSpPr>
          <p:nvPr>
            <p:ph type="subTitle" idx="1"/>
          </p:nvPr>
        </p:nvSpPr>
        <p:spPr/>
        <p:txBody>
          <a:bodyPr/>
          <a:lstStyle/>
          <a:p>
            <a:r>
              <a:rPr lang="en-US" dirty="0" smtClean="0"/>
              <a:t>Framework</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ITIL Framework</a:t>
            </a:r>
            <a:endParaRPr lang="en-US" dirty="0"/>
          </a:p>
        </p:txBody>
      </p:sp>
      <p:sp>
        <p:nvSpPr>
          <p:cNvPr id="3" name="Content Placeholder 2"/>
          <p:cNvSpPr>
            <a:spLocks noGrp="1"/>
          </p:cNvSpPr>
          <p:nvPr>
            <p:ph idx="1"/>
          </p:nvPr>
        </p:nvSpPr>
        <p:spPr/>
        <p:txBody>
          <a:bodyPr>
            <a:normAutofit lnSpcReduction="10000"/>
          </a:bodyPr>
          <a:lstStyle/>
          <a:p>
            <a:r>
              <a:rPr lang="en-US" dirty="0" smtClean="0"/>
              <a:t>The ITIL has the following components:</a:t>
            </a:r>
          </a:p>
          <a:p>
            <a:r>
              <a:rPr lang="en-US" b="1" dirty="0" smtClean="0"/>
              <a:t>ITIL Core:</a:t>
            </a:r>
            <a:r>
              <a:rPr lang="en-US" dirty="0" smtClean="0"/>
              <a:t> Publications describing generic best practice that is applicable to all types of </a:t>
            </a:r>
            <a:r>
              <a:rPr lang="en-US" dirty="0" err="1" smtClean="0"/>
              <a:t>organisation</a:t>
            </a:r>
            <a:r>
              <a:rPr lang="en-US" dirty="0" smtClean="0"/>
              <a:t> that provide services to a business.</a:t>
            </a:r>
          </a:p>
          <a:p>
            <a:r>
              <a:rPr lang="en-US" b="1" dirty="0" smtClean="0"/>
              <a:t>ITIL Complementary Guidance:</a:t>
            </a:r>
            <a:r>
              <a:rPr lang="en-US" dirty="0" smtClean="0"/>
              <a:t> A set of publications with guidance specific to industry sectors, </a:t>
            </a:r>
            <a:r>
              <a:rPr lang="en-US" dirty="0" err="1" smtClean="0"/>
              <a:t>organisation</a:t>
            </a:r>
            <a:r>
              <a:rPr lang="en-US" dirty="0" smtClean="0"/>
              <a:t> types, operating models and technology architectures.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ITIL CORE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 ITIL core represents the five ITIL service lifecycle publications.</a:t>
            </a:r>
          </a:p>
          <a:p>
            <a:r>
              <a:rPr lang="en-US" dirty="0" smtClean="0"/>
              <a:t>The five core books cover each stage of the service lifecycle from:</a:t>
            </a:r>
          </a:p>
          <a:p>
            <a:r>
              <a:rPr lang="en-US" dirty="0" smtClean="0"/>
              <a:t>Initial definition and analysis of business requirements in Service Strategy and Service Design, </a:t>
            </a:r>
          </a:p>
          <a:p>
            <a:r>
              <a:rPr lang="en-US" dirty="0" smtClean="0"/>
              <a:t>through migration into the live environment within Service Transition, </a:t>
            </a:r>
          </a:p>
          <a:p>
            <a:r>
              <a:rPr lang="en-US" dirty="0" smtClean="0"/>
              <a:t>to live operation and improvement in Service Operation and Continual Service Improvement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ITIL CORE</a:t>
            </a:r>
            <a:endParaRPr lang="en-US" dirty="0"/>
          </a:p>
        </p:txBody>
      </p:sp>
      <p:pic>
        <p:nvPicPr>
          <p:cNvPr id="29698" name="Picture 2" descr="Click to collapse"/>
          <p:cNvPicPr>
            <a:picLocks noChangeAspect="1" noChangeArrowheads="1"/>
          </p:cNvPicPr>
          <p:nvPr/>
        </p:nvPicPr>
        <p:blipFill>
          <a:blip r:embed="rId2"/>
          <a:srcRect/>
          <a:stretch>
            <a:fillRect/>
          </a:stretch>
        </p:blipFill>
        <p:spPr bwMode="auto">
          <a:xfrm>
            <a:off x="1524000" y="1143000"/>
            <a:ext cx="5673788" cy="5516563"/>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Service </a:t>
            </a:r>
            <a:r>
              <a:rPr lang="en-US" b="1" dirty="0" smtClean="0"/>
              <a:t>Strategy</a:t>
            </a:r>
            <a:endParaRPr lang="en-US" dirty="0"/>
          </a:p>
        </p:txBody>
      </p:sp>
      <p:sp>
        <p:nvSpPr>
          <p:cNvPr id="3" name="Content Placeholder 2"/>
          <p:cNvSpPr>
            <a:spLocks noGrp="1"/>
          </p:cNvSpPr>
          <p:nvPr>
            <p:ph idx="1"/>
          </p:nvPr>
        </p:nvSpPr>
        <p:spPr/>
        <p:txBody>
          <a:bodyPr/>
          <a:lstStyle/>
          <a:p>
            <a:r>
              <a:rPr lang="en-US" b="1" dirty="0"/>
              <a:t>KEY </a:t>
            </a:r>
            <a:r>
              <a:rPr lang="en-US" b="1" dirty="0" smtClean="0"/>
              <a:t>PROCESSES in service strategy is:</a:t>
            </a:r>
          </a:p>
          <a:p>
            <a:pPr lvl="1"/>
            <a:r>
              <a:rPr lang="en-US" dirty="0"/>
              <a:t>business relationship management </a:t>
            </a:r>
            <a:endParaRPr lang="en-US" dirty="0" smtClean="0"/>
          </a:p>
          <a:p>
            <a:pPr lvl="1"/>
            <a:r>
              <a:rPr lang="en-US" dirty="0"/>
              <a:t>Financial management for IT </a:t>
            </a:r>
            <a:r>
              <a:rPr lang="en-US" dirty="0" smtClean="0"/>
              <a:t>services</a:t>
            </a:r>
          </a:p>
          <a:p>
            <a:pPr lvl="1"/>
            <a:r>
              <a:rPr lang="en-US" dirty="0"/>
              <a:t>service portfolio management</a:t>
            </a:r>
            <a:endParaRPr lang="en-US" b="1"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Service </a:t>
            </a:r>
            <a:r>
              <a:rPr lang="en-US" b="1" dirty="0" smtClean="0"/>
              <a:t>Strategy</a:t>
            </a:r>
            <a:endParaRPr lang="en-US" dirty="0"/>
          </a:p>
        </p:txBody>
      </p:sp>
      <p:sp>
        <p:nvSpPr>
          <p:cNvPr id="3" name="Content Placeholder 2"/>
          <p:cNvSpPr>
            <a:spLocks noGrp="1"/>
          </p:cNvSpPr>
          <p:nvPr>
            <p:ph idx="1"/>
          </p:nvPr>
        </p:nvSpPr>
        <p:spPr/>
        <p:txBody>
          <a:bodyPr>
            <a:normAutofit/>
          </a:bodyPr>
          <a:lstStyle/>
          <a:p>
            <a:r>
              <a:rPr lang="en-US" b="1" dirty="0"/>
              <a:t>THE FOUR Ps OF STRATEGY</a:t>
            </a:r>
          </a:p>
          <a:p>
            <a:r>
              <a:rPr lang="en-US" dirty="0" smtClean="0"/>
              <a:t>Strategy </a:t>
            </a:r>
            <a:r>
              <a:rPr lang="en-US" dirty="0"/>
              <a:t>as a </a:t>
            </a:r>
            <a:r>
              <a:rPr lang="en-US" b="1" dirty="0" smtClean="0"/>
              <a:t>Perspective</a:t>
            </a:r>
            <a:r>
              <a:rPr lang="en-US" dirty="0"/>
              <a:t> </a:t>
            </a:r>
          </a:p>
          <a:p>
            <a:r>
              <a:rPr lang="en-US" dirty="0"/>
              <a:t>Strategy as a </a:t>
            </a:r>
            <a:r>
              <a:rPr lang="en-US" b="1" dirty="0" smtClean="0"/>
              <a:t>Position</a:t>
            </a:r>
            <a:r>
              <a:rPr lang="en-US" dirty="0"/>
              <a:t> </a:t>
            </a:r>
          </a:p>
          <a:p>
            <a:r>
              <a:rPr lang="en-US" dirty="0"/>
              <a:t>Strategy as a </a:t>
            </a:r>
            <a:r>
              <a:rPr lang="en-US" b="1" dirty="0" smtClean="0"/>
              <a:t>Plan</a:t>
            </a:r>
            <a:endParaRPr lang="en-US" dirty="0"/>
          </a:p>
          <a:p>
            <a:r>
              <a:rPr lang="en-US" dirty="0"/>
              <a:t>Strategy as a </a:t>
            </a:r>
            <a:r>
              <a:rPr lang="en-US" b="1" dirty="0" smtClean="0"/>
              <a:t>Pattern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 MANAGEMENT AS A STRATEGIC </a:t>
            </a:r>
            <a:r>
              <a:rPr lang="en-US" b="1" dirty="0" smtClean="0"/>
              <a:t>ASSET</a:t>
            </a:r>
            <a:endParaRPr lang="en-US" dirty="0"/>
          </a:p>
        </p:txBody>
      </p:sp>
      <p:sp>
        <p:nvSpPr>
          <p:cNvPr id="3" name="Content Placeholder 2"/>
          <p:cNvSpPr>
            <a:spLocks noGrp="1"/>
          </p:cNvSpPr>
          <p:nvPr>
            <p:ph idx="1"/>
          </p:nvPr>
        </p:nvSpPr>
        <p:spPr>
          <a:xfrm>
            <a:off x="381000" y="1600200"/>
            <a:ext cx="8382000" cy="4525963"/>
          </a:xfrm>
        </p:spPr>
        <p:txBody>
          <a:bodyPr>
            <a:normAutofit/>
          </a:bodyPr>
          <a:lstStyle/>
          <a:p>
            <a:pPr algn="just"/>
            <a:r>
              <a:rPr lang="en-US" dirty="0"/>
              <a:t>There are two components of service strategy</a:t>
            </a:r>
            <a:r>
              <a:rPr lang="en-US" dirty="0" smtClean="0"/>
              <a:t>.</a:t>
            </a:r>
          </a:p>
          <a:p>
            <a:pPr algn="just"/>
            <a:r>
              <a:rPr lang="en-US" dirty="0" smtClean="0"/>
              <a:t> </a:t>
            </a:r>
            <a:r>
              <a:rPr lang="en-US" dirty="0"/>
              <a:t>Service strategy is </a:t>
            </a:r>
            <a:r>
              <a:rPr lang="en-US" dirty="0" smtClean="0"/>
              <a:t>about </a:t>
            </a:r>
            <a:r>
              <a:rPr lang="en-US" dirty="0"/>
              <a:t>developing </a:t>
            </a:r>
            <a:r>
              <a:rPr lang="en-US" dirty="0" smtClean="0"/>
              <a:t>strategies </a:t>
            </a:r>
            <a:r>
              <a:rPr lang="en-US" dirty="0"/>
              <a:t>for the delivery of specific </a:t>
            </a:r>
            <a:r>
              <a:rPr lang="en-US" dirty="0" smtClean="0"/>
              <a:t>services.</a:t>
            </a:r>
          </a:p>
          <a:p>
            <a:pPr algn="just"/>
            <a:r>
              <a:rPr lang="en-US" dirty="0" smtClean="0"/>
              <a:t>SS is also about the </a:t>
            </a:r>
            <a:r>
              <a:rPr lang="en-US" dirty="0"/>
              <a:t>development of </a:t>
            </a:r>
            <a:r>
              <a:rPr lang="en-US" dirty="0" smtClean="0"/>
              <a:t>service management.</a:t>
            </a:r>
            <a:endParaRPr lang="en-US" dirty="0"/>
          </a:p>
          <a:p>
            <a:pPr algn="just"/>
            <a:r>
              <a:rPr lang="en-US" dirty="0"/>
              <a:t>The development of service management as a strategic asset is central to service strategy.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Management</a:t>
            </a:r>
            <a:endParaRPr lang="en-US" dirty="0"/>
          </a:p>
        </p:txBody>
      </p:sp>
      <p:sp>
        <p:nvSpPr>
          <p:cNvPr id="3" name="Content Placeholder 2"/>
          <p:cNvSpPr>
            <a:spLocks noGrp="1"/>
          </p:cNvSpPr>
          <p:nvPr>
            <p:ph idx="1"/>
          </p:nvPr>
        </p:nvSpPr>
        <p:spPr/>
        <p:txBody>
          <a:bodyPr>
            <a:normAutofit lnSpcReduction="10000"/>
          </a:bodyPr>
          <a:lstStyle/>
          <a:p>
            <a:r>
              <a:rPr lang="en-US" dirty="0" smtClean="0"/>
              <a:t>Service management provides the framework within which value is delivered to the customer in the shape of specific services represented collectively in the service catalogue. </a:t>
            </a:r>
            <a:endParaRPr lang="en-US" dirty="0" smtClean="0"/>
          </a:p>
          <a:p>
            <a:r>
              <a:rPr lang="en-US" dirty="0" smtClean="0"/>
              <a:t>The </a:t>
            </a:r>
            <a:r>
              <a:rPr lang="en-US" dirty="0" smtClean="0"/>
              <a:t>customer's confidence in commissioning new service offerings depends on the service management capabilities of the IT service provider.</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Concept: Value creation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Customers must understand service value.</a:t>
            </a:r>
          </a:p>
          <a:p>
            <a:pPr lvl="1"/>
            <a:r>
              <a:rPr lang="en-US" dirty="0" smtClean="0"/>
              <a:t>Value is defined by the customer – not the provider</a:t>
            </a:r>
          </a:p>
          <a:p>
            <a:pPr lvl="1"/>
            <a:r>
              <a:rPr lang="en-US" dirty="0" smtClean="0"/>
              <a:t>An affordable mix of features needs to be on offer for the customer to want a service</a:t>
            </a:r>
          </a:p>
          <a:p>
            <a:pPr lvl="1"/>
            <a:r>
              <a:rPr lang="en-US" dirty="0" smtClean="0"/>
              <a:t>Value might not be measured in financial terms alone – the customer might value a service because it fulfils an ethical or moral objective</a:t>
            </a:r>
          </a:p>
          <a:p>
            <a:pPr lvl="1"/>
            <a:r>
              <a:rPr lang="en-US" dirty="0" smtClean="0"/>
              <a:t>Value changes over time.</a:t>
            </a:r>
          </a:p>
          <a:p>
            <a:r>
              <a:rPr lang="en-US" dirty="0" smtClean="0"/>
              <a:t>The customer must see service value as outweighing service cost. IT needs to articulate what:</a:t>
            </a:r>
          </a:p>
          <a:p>
            <a:pPr lvl="1"/>
            <a:r>
              <a:rPr lang="en-US" dirty="0" smtClean="0"/>
              <a:t>Services it provides</a:t>
            </a:r>
          </a:p>
          <a:p>
            <a:pPr lvl="1"/>
            <a:r>
              <a:rPr lang="en-US" dirty="0" smtClean="0"/>
              <a:t>The services achieve</a:t>
            </a:r>
          </a:p>
          <a:p>
            <a:pPr lvl="1"/>
            <a:r>
              <a:rPr lang="en-US" dirty="0" smtClean="0"/>
              <a:t>The services cost.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value</a:t>
            </a:r>
            <a:endParaRPr lang="en-US" dirty="0"/>
          </a:p>
        </p:txBody>
      </p:sp>
      <p:pic>
        <p:nvPicPr>
          <p:cNvPr id="1026" name="Picture 2" descr="Image from book"/>
          <p:cNvPicPr>
            <a:picLocks noChangeAspect="1" noChangeArrowheads="1"/>
          </p:cNvPicPr>
          <p:nvPr/>
        </p:nvPicPr>
        <p:blipFill>
          <a:blip r:embed="rId2"/>
          <a:srcRect/>
          <a:stretch>
            <a:fillRect/>
          </a:stretch>
        </p:blipFill>
        <p:spPr bwMode="auto">
          <a:xfrm>
            <a:off x="2590800" y="2209800"/>
            <a:ext cx="3076575" cy="320040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Concept: Value creation</a:t>
            </a:r>
            <a:endParaRPr lang="en-US" dirty="0"/>
          </a:p>
        </p:txBody>
      </p:sp>
      <p:sp>
        <p:nvSpPr>
          <p:cNvPr id="3" name="Content Placeholder 2"/>
          <p:cNvSpPr>
            <a:spLocks noGrp="1"/>
          </p:cNvSpPr>
          <p:nvPr>
            <p:ph idx="1"/>
          </p:nvPr>
        </p:nvSpPr>
        <p:spPr/>
        <p:txBody>
          <a:bodyPr/>
          <a:lstStyle/>
          <a:p>
            <a:r>
              <a:rPr lang="en-US" dirty="0" smtClean="0"/>
              <a:t>Value is influenced by:</a:t>
            </a:r>
          </a:p>
          <a:p>
            <a:pPr lvl="1"/>
            <a:r>
              <a:rPr lang="en-US" dirty="0" smtClean="0"/>
              <a:t>Outcomes achieved – does the service support the customer as intended?</a:t>
            </a:r>
          </a:p>
          <a:p>
            <a:pPr lvl="1"/>
            <a:r>
              <a:rPr lang="en-US" dirty="0" smtClean="0"/>
              <a:t>Customer preferences – how do these affect the service?</a:t>
            </a:r>
          </a:p>
          <a:p>
            <a:pPr lvl="1"/>
            <a:r>
              <a:rPr lang="en-US" dirty="0" smtClean="0"/>
              <a:t>Customer perceptions – are these influenced by any other areas, such as supplier reputation?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STRATEGIC ASSET</a:t>
            </a:r>
            <a:endParaRPr lang="en-US" dirty="0"/>
          </a:p>
        </p:txBody>
      </p:sp>
      <p:sp>
        <p:nvSpPr>
          <p:cNvPr id="3" name="Content Placeholder 2"/>
          <p:cNvSpPr>
            <a:spLocks noGrp="1"/>
          </p:cNvSpPr>
          <p:nvPr>
            <p:ph idx="1"/>
          </p:nvPr>
        </p:nvSpPr>
        <p:spPr/>
        <p:txBody>
          <a:bodyPr/>
          <a:lstStyle/>
          <a:p>
            <a:pPr algn="just"/>
            <a:r>
              <a:rPr lang="en-US" dirty="0"/>
              <a:t>Strategic assets are assets that provide the basis for core competence, distinctive performance, durable advantage, and qualifications to participate in business opportunities. </a:t>
            </a:r>
            <a:endParaRPr lang="en-US" dirty="0" smtClean="0"/>
          </a:p>
          <a:p>
            <a:pPr algn="just"/>
            <a:r>
              <a:rPr lang="en-US" dirty="0" smtClean="0"/>
              <a:t>IT </a:t>
            </a:r>
            <a:r>
              <a:rPr lang="en-US" dirty="0" err="1"/>
              <a:t>organisations</a:t>
            </a:r>
            <a:r>
              <a:rPr lang="en-US" dirty="0"/>
              <a:t> can use the guidance provided by ITIL to transform their service management capabilities into strategic assets.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DEVELOPING STRATEGY FOR SPECIFIC </a:t>
            </a:r>
            <a:r>
              <a:rPr lang="en-US" b="1" dirty="0" smtClean="0"/>
              <a:t>SERVICES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dirty="0"/>
              <a:t>strategy for a specific service offering, the key elements are concerned with a series of activities that involve:</a:t>
            </a:r>
          </a:p>
          <a:p>
            <a:pPr lvl="1"/>
            <a:r>
              <a:rPr lang="en-US" dirty="0"/>
              <a:t>understanding the customer and the ways IT can deliver value to them;</a:t>
            </a:r>
          </a:p>
          <a:p>
            <a:pPr lvl="1"/>
            <a:r>
              <a:rPr lang="en-US" dirty="0"/>
              <a:t>understanding the outcomes the customer wants from the service and how the service will deliver benefit;</a:t>
            </a:r>
          </a:p>
          <a:p>
            <a:pPr lvl="1"/>
            <a:r>
              <a:rPr lang="en-US" dirty="0"/>
              <a:t>defining critical success factors for the service;</a:t>
            </a:r>
          </a:p>
          <a:p>
            <a:pPr lvl="1"/>
            <a:r>
              <a:rPr lang="en-US" dirty="0"/>
              <a:t>developing a specification based on the outcomes required by the customer, including the utility and warranty required;</a:t>
            </a:r>
          </a:p>
          <a:p>
            <a:pPr lvl="1"/>
            <a:r>
              <a:rPr lang="en-US" dirty="0"/>
              <a:t>developing through demand management an understanding of the customer's priorities in relation to patterns of business activity (PBAs).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Strategy</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The </a:t>
            </a:r>
            <a:r>
              <a:rPr lang="en-US" dirty="0"/>
              <a:t>initial, conceptual details of the new service </a:t>
            </a:r>
            <a:r>
              <a:rPr lang="en-US" dirty="0" smtClean="0"/>
              <a:t>are captured </a:t>
            </a:r>
            <a:r>
              <a:rPr lang="en-US" dirty="0"/>
              <a:t>in the service portfolio and the new service </a:t>
            </a:r>
            <a:r>
              <a:rPr lang="en-US" dirty="0" smtClean="0"/>
              <a:t>begins its journey </a:t>
            </a:r>
            <a:r>
              <a:rPr lang="en-US" dirty="0"/>
              <a:t>through its lifecycle. </a:t>
            </a:r>
            <a:endParaRPr lang="en-US" dirty="0" smtClean="0"/>
          </a:p>
          <a:p>
            <a:r>
              <a:rPr lang="en-US" dirty="0" smtClean="0"/>
              <a:t>Through </a:t>
            </a:r>
            <a:r>
              <a:rPr lang="en-US" dirty="0"/>
              <a:t>service portfolio management, the new service offering will be put into the broader context of other </a:t>
            </a:r>
            <a:r>
              <a:rPr lang="en-US" dirty="0" smtClean="0"/>
              <a:t>services. </a:t>
            </a:r>
          </a:p>
          <a:p>
            <a:r>
              <a:rPr lang="en-US" dirty="0" smtClean="0"/>
              <a:t>The </a:t>
            </a:r>
            <a:r>
              <a:rPr lang="en-US" dirty="0"/>
              <a:t>business case, developed in conjunction with financial management, will reflect these factors and explain why the service strategy developed represents the best way forward as well as describing how and to what extent it will deliver value.</a:t>
            </a:r>
          </a:p>
          <a:p>
            <a:r>
              <a:rPr lang="en-US" dirty="0"/>
              <a:t>The outcome of the service strategy process is a decision to continue with the service or not. </a:t>
            </a:r>
            <a:endParaRPr lang="en-US" dirty="0" smtClean="0"/>
          </a:p>
          <a:p>
            <a:r>
              <a:rPr lang="en-US" dirty="0" smtClean="0"/>
              <a:t>Approved </a:t>
            </a:r>
            <a:r>
              <a:rPr lang="en-US" dirty="0"/>
              <a:t>services are 'chartered' at which point they are ready to move forward to service design. </a:t>
            </a:r>
            <a:endParaRPr lang="en-US" dirty="0" smtClean="0"/>
          </a:p>
          <a:p>
            <a:r>
              <a:rPr lang="en-US" dirty="0" smtClean="0"/>
              <a:t>The </a:t>
            </a:r>
            <a:r>
              <a:rPr lang="en-US" dirty="0"/>
              <a:t>transfer into service design requires the production of a service package, which describes in detail the IT service to be delivered to the customer, including the service levels to be achieved and the supporting services that will underpin its delivery.</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SERVICE </a:t>
            </a:r>
            <a:r>
              <a:rPr lang="en-US" b="1" dirty="0" smtClean="0"/>
              <a:t>ASSETS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In </a:t>
            </a:r>
            <a:r>
              <a:rPr lang="en-US" dirty="0"/>
              <a:t>delivering a service, the IT service provider exploits its own assets to add value to the customer's assets and generate value for the </a:t>
            </a:r>
            <a:r>
              <a:rPr lang="en-US" dirty="0" err="1"/>
              <a:t>organisation</a:t>
            </a:r>
            <a:r>
              <a:rPr lang="en-US" dirty="0"/>
              <a:t>.</a:t>
            </a:r>
          </a:p>
          <a:p>
            <a:r>
              <a:rPr lang="en-US" dirty="0"/>
              <a:t>The assets used by the IT service provider can be described in terms of its capabilities and </a:t>
            </a:r>
            <a:r>
              <a:rPr lang="en-US" dirty="0" smtClean="0"/>
              <a:t>resources. </a:t>
            </a:r>
            <a:r>
              <a:rPr lang="en-US" dirty="0"/>
              <a:t>The development of a successful service strategy needs to be built on an understanding of the service assets that can be brought into play in service delivery. </a:t>
            </a:r>
            <a:endParaRPr lang="en-US" dirty="0" smtClean="0"/>
          </a:p>
          <a:p>
            <a:r>
              <a:rPr lang="en-US" dirty="0" smtClean="0"/>
              <a:t>There </a:t>
            </a:r>
            <a:r>
              <a:rPr lang="en-US" dirty="0"/>
              <a:t>is no point in formulating a service strategy that requires service assets that will not be available. </a:t>
            </a:r>
            <a:endParaRPr lang="en-US" dirty="0" smtClean="0"/>
          </a:p>
          <a:p>
            <a:r>
              <a:rPr lang="en-US" dirty="0" smtClean="0"/>
              <a:t>Making </a:t>
            </a:r>
            <a:r>
              <a:rPr lang="en-US" dirty="0"/>
              <a:t>assumptions about the </a:t>
            </a:r>
            <a:r>
              <a:rPr lang="en-US" dirty="0" err="1"/>
              <a:t>organisation's</a:t>
            </a:r>
            <a:r>
              <a:rPr lang="en-US" dirty="0"/>
              <a:t> ability to improve its service asset base, especially its capabilities, introduces an element of risk that needs to be acknowledged, understood and managed.</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Concept: Utility and warranty</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Utility and warranty measure value.</a:t>
            </a:r>
          </a:p>
          <a:p>
            <a:r>
              <a:rPr lang="en-US" dirty="0" smtClean="0"/>
              <a:t>Utility: fit for purpose, has required functionality, enhances performance or removes constraints</a:t>
            </a:r>
          </a:p>
          <a:p>
            <a:r>
              <a:rPr lang="en-US" dirty="0" smtClean="0"/>
              <a:t>Warranty: fit for use, includes availability, continuity, security, capacity.</a:t>
            </a:r>
          </a:p>
          <a:p>
            <a:r>
              <a:rPr lang="en-US" dirty="0" smtClean="0"/>
              <a:t>Utility and warranty must both be offered for a service to deliver value.</a:t>
            </a:r>
          </a:p>
          <a:p>
            <a:r>
              <a:rPr lang="en-US" dirty="0" smtClean="0"/>
              <a:t>Utility is what is delivered; warranty is how it is delivered. For example, internet banking utility could include the ability to pay bills online. Warranty could include confidence that information is secure.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SERVICE PACKAGE</a:t>
            </a:r>
            <a:endParaRPr lang="en-US" dirty="0"/>
          </a:p>
        </p:txBody>
      </p:sp>
      <p:sp>
        <p:nvSpPr>
          <p:cNvPr id="3" name="Content Placeholder 2"/>
          <p:cNvSpPr>
            <a:spLocks noGrp="1"/>
          </p:cNvSpPr>
          <p:nvPr>
            <p:ph idx="1"/>
          </p:nvPr>
        </p:nvSpPr>
        <p:spPr/>
        <p:txBody>
          <a:bodyPr>
            <a:normAutofit lnSpcReduction="10000"/>
          </a:bodyPr>
          <a:lstStyle/>
          <a:p>
            <a:r>
              <a:rPr lang="en-US" dirty="0"/>
              <a:t>A service package is two or more services that have been combined to offer a solution to a specific type of customer need or to underpin specific business outcomes. </a:t>
            </a:r>
            <a:endParaRPr lang="en-US" dirty="0" smtClean="0"/>
          </a:p>
          <a:p>
            <a:r>
              <a:rPr lang="en-US" dirty="0" smtClean="0"/>
              <a:t>A </a:t>
            </a:r>
            <a:r>
              <a:rPr lang="en-US" dirty="0"/>
              <a:t>service package can consist of a combination of core services, enabling services and enhancing services. </a:t>
            </a:r>
            <a:endParaRPr lang="en-US" dirty="0" smtClean="0"/>
          </a:p>
          <a:p>
            <a:r>
              <a:rPr lang="en-US" dirty="0" smtClean="0"/>
              <a:t>A </a:t>
            </a:r>
            <a:r>
              <a:rPr lang="en-US" dirty="0"/>
              <a:t>service package provides a specific level of utility and warranty.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SERVICE OPTION</a:t>
            </a:r>
            <a:endParaRPr lang="en-US" dirty="0"/>
          </a:p>
        </p:txBody>
      </p:sp>
      <p:sp>
        <p:nvSpPr>
          <p:cNvPr id="3" name="Content Placeholder 2"/>
          <p:cNvSpPr>
            <a:spLocks noGrp="1"/>
          </p:cNvSpPr>
          <p:nvPr>
            <p:ph idx="1"/>
          </p:nvPr>
        </p:nvSpPr>
        <p:spPr/>
        <p:txBody>
          <a:bodyPr/>
          <a:lstStyle/>
          <a:p>
            <a:r>
              <a:rPr lang="en-US" dirty="0"/>
              <a:t>A service option is a choice of utility and warranty offered to customers by a core service or service package. </a:t>
            </a:r>
            <a:endParaRPr lang="en-US" dirty="0" smtClean="0"/>
          </a:p>
          <a:p>
            <a:r>
              <a:rPr lang="en-US" dirty="0" smtClean="0"/>
              <a:t>Service </a:t>
            </a:r>
            <a:r>
              <a:rPr lang="en-US" dirty="0"/>
              <a:t>options are sometimes referred to as service level packages.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Service Portfolio Management</a:t>
            </a:r>
            <a:endParaRPr lang="en-US" dirty="0"/>
          </a:p>
        </p:txBody>
      </p:sp>
      <p:sp>
        <p:nvSpPr>
          <p:cNvPr id="3" name="Content Placeholder 2"/>
          <p:cNvSpPr>
            <a:spLocks noGrp="1"/>
          </p:cNvSpPr>
          <p:nvPr>
            <p:ph idx="1"/>
          </p:nvPr>
        </p:nvSpPr>
        <p:spPr/>
        <p:txBody>
          <a:bodyPr/>
          <a:lstStyle/>
          <a:p>
            <a:r>
              <a:rPr lang="en-US" b="1" dirty="0" smtClean="0"/>
              <a:t>Purpose and objectives</a:t>
            </a:r>
          </a:p>
          <a:p>
            <a:pPr lvl="1"/>
            <a:r>
              <a:rPr lang="en-US" dirty="0" smtClean="0"/>
              <a:t>Ensures the service provider has the right mix of services to meet customer requirements</a:t>
            </a:r>
          </a:p>
          <a:p>
            <a:pPr lvl="1"/>
            <a:r>
              <a:rPr lang="en-US" dirty="0" smtClean="0"/>
              <a:t>Tracks investment and return</a:t>
            </a:r>
          </a:p>
          <a:p>
            <a:pPr lvl="1"/>
            <a:r>
              <a:rPr lang="en-US" dirty="0" smtClean="0"/>
              <a:t>Defines services and links them to business outcomes, influencing the service lifecycle.</a:t>
            </a:r>
          </a:p>
          <a:p>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Service Portfolio Management</a:t>
            </a:r>
            <a:endParaRPr lang="en-US" dirty="0"/>
          </a:p>
        </p:txBody>
      </p:sp>
      <p:sp>
        <p:nvSpPr>
          <p:cNvPr id="3" name="Content Placeholder 2"/>
          <p:cNvSpPr>
            <a:spLocks noGrp="1"/>
          </p:cNvSpPr>
          <p:nvPr>
            <p:ph idx="1"/>
          </p:nvPr>
        </p:nvSpPr>
        <p:spPr/>
        <p:txBody>
          <a:bodyPr>
            <a:normAutofit lnSpcReduction="10000"/>
          </a:bodyPr>
          <a:lstStyle/>
          <a:p>
            <a:r>
              <a:rPr lang="en-US" dirty="0" smtClean="0"/>
              <a:t>Objectives:</a:t>
            </a:r>
          </a:p>
          <a:p>
            <a:pPr lvl="1"/>
            <a:r>
              <a:rPr lang="en-US" dirty="0" smtClean="0"/>
              <a:t>Provides a process and mechanism to help the service provider decide what services to provide</a:t>
            </a:r>
          </a:p>
          <a:p>
            <a:pPr lvl="1"/>
            <a:r>
              <a:rPr lang="en-US" dirty="0" smtClean="0"/>
              <a:t>Maintains a definitive portfolio of services</a:t>
            </a:r>
          </a:p>
          <a:p>
            <a:pPr lvl="1"/>
            <a:r>
              <a:rPr lang="en-US" dirty="0" smtClean="0"/>
              <a:t>Provides a mechanism to show how services will support </a:t>
            </a:r>
            <a:r>
              <a:rPr lang="en-US" dirty="0" err="1" smtClean="0"/>
              <a:t>organisational</a:t>
            </a:r>
            <a:r>
              <a:rPr lang="en-US" dirty="0" smtClean="0"/>
              <a:t> strategy</a:t>
            </a:r>
          </a:p>
          <a:p>
            <a:pPr lvl="1"/>
            <a:r>
              <a:rPr lang="en-US" dirty="0" smtClean="0"/>
              <a:t>Controls which services are offered and when</a:t>
            </a:r>
          </a:p>
          <a:p>
            <a:pPr lvl="1"/>
            <a:r>
              <a:rPr lang="en-US" dirty="0" smtClean="0"/>
              <a:t>Tracks investment in services</a:t>
            </a:r>
          </a:p>
          <a:p>
            <a:pPr lvl="1"/>
            <a:r>
              <a:rPr lang="en-US" dirty="0" smtClean="0"/>
              <a:t>Analyses which services should be retired and when.</a:t>
            </a:r>
          </a:p>
          <a:p>
            <a:endParaRPr 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Service Portfolio Management</a:t>
            </a:r>
            <a:endParaRPr lang="en-US" dirty="0"/>
          </a:p>
        </p:txBody>
      </p:sp>
      <p:sp>
        <p:nvSpPr>
          <p:cNvPr id="3" name="Content Placeholder 2"/>
          <p:cNvSpPr>
            <a:spLocks noGrp="1"/>
          </p:cNvSpPr>
          <p:nvPr>
            <p:ph idx="1"/>
          </p:nvPr>
        </p:nvSpPr>
        <p:spPr/>
        <p:txBody>
          <a:bodyPr>
            <a:normAutofit/>
          </a:bodyPr>
          <a:lstStyle/>
          <a:p>
            <a:r>
              <a:rPr lang="en-US" b="1" dirty="0" smtClean="0"/>
              <a:t>Scope</a:t>
            </a:r>
          </a:p>
          <a:p>
            <a:pPr lvl="1"/>
            <a:r>
              <a:rPr lang="en-US" dirty="0" smtClean="0"/>
              <a:t>Includes all services</a:t>
            </a:r>
          </a:p>
          <a:p>
            <a:pPr lvl="1"/>
            <a:r>
              <a:rPr lang="en-US" dirty="0" smtClean="0"/>
              <a:t>Ensures the service provider can deliver value through services</a:t>
            </a:r>
          </a:p>
          <a:p>
            <a:pPr lvl="1"/>
            <a:r>
              <a:rPr lang="en-US" dirty="0" smtClean="0"/>
              <a:t>Services are linked to business outcomes so investment can be compared to returns</a:t>
            </a:r>
          </a:p>
          <a:p>
            <a:pPr lvl="1"/>
            <a:r>
              <a:rPr lang="en-US" dirty="0" smtClean="0"/>
              <a:t>Newer services need to add more value than the services they replace.</a:t>
            </a:r>
          </a:p>
          <a:p>
            <a:endParaRPr 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Concept: Service Portfolio</a:t>
            </a:r>
            <a:endParaRPr lang="en-US" dirty="0"/>
          </a:p>
        </p:txBody>
      </p:sp>
      <p:sp>
        <p:nvSpPr>
          <p:cNvPr id="3" name="Content Placeholder 2"/>
          <p:cNvSpPr>
            <a:spLocks noGrp="1"/>
          </p:cNvSpPr>
          <p:nvPr>
            <p:ph idx="1"/>
          </p:nvPr>
        </p:nvSpPr>
        <p:spPr/>
        <p:txBody>
          <a:bodyPr/>
          <a:lstStyle/>
          <a:p>
            <a:r>
              <a:rPr lang="en-US" dirty="0" smtClean="0"/>
              <a:t>Service Portfolio: the full set of services managed by a service provider, including:</a:t>
            </a:r>
          </a:p>
          <a:p>
            <a:pPr lvl="1"/>
            <a:r>
              <a:rPr lang="en-US" dirty="0" smtClean="0"/>
              <a:t>Proposed or in development</a:t>
            </a:r>
          </a:p>
          <a:p>
            <a:pPr lvl="1"/>
            <a:r>
              <a:rPr lang="en-US" dirty="0" smtClean="0"/>
              <a:t>Live</a:t>
            </a:r>
          </a:p>
          <a:p>
            <a:pPr lvl="1"/>
            <a:r>
              <a:rPr lang="en-US" dirty="0" smtClean="0"/>
              <a:t>Retired.</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Concept: Service Portfolio</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Only services that add value are included in the portfolio.</a:t>
            </a:r>
          </a:p>
          <a:p>
            <a:r>
              <a:rPr lang="en-US" b="1" dirty="0" smtClean="0"/>
              <a:t>Service pipeline:</a:t>
            </a:r>
            <a:r>
              <a:rPr lang="en-US" dirty="0" smtClean="0"/>
              <a:t> services that are being developed – not normally visible to customers</a:t>
            </a:r>
          </a:p>
          <a:p>
            <a:r>
              <a:rPr lang="en-US" b="1" dirty="0" smtClean="0"/>
              <a:t>Service catalogue:</a:t>
            </a:r>
            <a:r>
              <a:rPr lang="en-US" dirty="0" smtClean="0"/>
              <a:t> services that are live, visible to customers</a:t>
            </a:r>
          </a:p>
          <a:p>
            <a:r>
              <a:rPr lang="en-US" b="1" dirty="0" smtClean="0"/>
              <a:t>Retired services:</a:t>
            </a:r>
            <a:r>
              <a:rPr lang="en-US" dirty="0" smtClean="0"/>
              <a:t> services may be retired when they are no longer offered to new customers, or when they are no longer offered to any customers. This is typically because they are no longer useful or profitable.</a:t>
            </a:r>
          </a:p>
          <a:p>
            <a:r>
              <a:rPr lang="en-US" dirty="0" smtClean="0"/>
              <a:t>Third-party services may also be included in the portfolio.</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fontScale="90000"/>
          </a:bodyPr>
          <a:lstStyle/>
          <a:p>
            <a:r>
              <a:rPr lang="en-US" b="1" dirty="0" smtClean="0"/>
              <a:t>Financial Management for IT Services (FMITS)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Purpose and objectives</a:t>
            </a:r>
          </a:p>
          <a:p>
            <a:r>
              <a:rPr lang="en-US" dirty="0" smtClean="0"/>
              <a:t>Secure funding for service design, development and delivery</a:t>
            </a:r>
          </a:p>
          <a:p>
            <a:r>
              <a:rPr lang="en-US" dirty="0" smtClean="0"/>
              <a:t>Balance cost and quality</a:t>
            </a:r>
          </a:p>
          <a:p>
            <a:r>
              <a:rPr lang="en-US" dirty="0" smtClean="0"/>
              <a:t>Implement a framework to identify, manage and communicate service costs</a:t>
            </a:r>
          </a:p>
          <a:p>
            <a:r>
              <a:rPr lang="en-US" dirty="0" smtClean="0"/>
              <a:t>Evaluate the financial impact of new or changed strategies.</a:t>
            </a:r>
          </a:p>
          <a:p>
            <a:r>
              <a:rPr lang="en-US" dirty="0" smtClean="0"/>
              <a:t>Most </a:t>
            </a:r>
            <a:r>
              <a:rPr lang="en-US" dirty="0" err="1" smtClean="0"/>
              <a:t>organisations</a:t>
            </a:r>
            <a:r>
              <a:rPr lang="en-US" dirty="0" smtClean="0"/>
              <a:t> have a business Financial Management process. </a:t>
            </a:r>
          </a:p>
          <a:p>
            <a:r>
              <a:rPr lang="en-US" dirty="0" smtClean="0"/>
              <a:t>FMITS needs </a:t>
            </a:r>
            <a:r>
              <a:rPr lang="en-US" dirty="0" err="1" smtClean="0"/>
              <a:t>specialised</a:t>
            </a:r>
            <a:r>
              <a:rPr lang="en-US" dirty="0" smtClean="0"/>
              <a:t> skills. Practitioners need to understand technology, as well as finance and business. Cost-accounting skills are required to provide detailed management information.</a:t>
            </a:r>
          </a:p>
          <a:p>
            <a:r>
              <a:rPr lang="en-US" dirty="0" smtClean="0"/>
              <a:t>IT financial policies and practices need to follow </a:t>
            </a:r>
            <a:r>
              <a:rPr lang="en-US" dirty="0" err="1" smtClean="0"/>
              <a:t>organisational</a:t>
            </a:r>
            <a:r>
              <a:rPr lang="en-US" dirty="0" smtClean="0"/>
              <a:t> guidelines to allow IT and other business areas to communicate.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Financial Management for IT Services (FMITS)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Scope</a:t>
            </a:r>
          </a:p>
          <a:p>
            <a:r>
              <a:rPr lang="en-US" dirty="0" smtClean="0"/>
              <a:t>FMITS includes three processes:</a:t>
            </a:r>
          </a:p>
          <a:p>
            <a:r>
              <a:rPr lang="en-US" b="1" dirty="0" smtClean="0"/>
              <a:t>Budgeting</a:t>
            </a:r>
            <a:r>
              <a:rPr lang="en-US" dirty="0" smtClean="0"/>
              <a:t> predicts and controls income and expenditure</a:t>
            </a:r>
          </a:p>
          <a:p>
            <a:r>
              <a:rPr lang="en-US" b="1" dirty="0" smtClean="0"/>
              <a:t>Accounting</a:t>
            </a:r>
            <a:r>
              <a:rPr lang="en-US" dirty="0" smtClean="0"/>
              <a:t> tracks how money is spent</a:t>
            </a:r>
          </a:p>
          <a:p>
            <a:r>
              <a:rPr lang="en-US" b="1" dirty="0" smtClean="0"/>
              <a:t>Charging</a:t>
            </a:r>
            <a:r>
              <a:rPr lang="en-US" dirty="0" smtClean="0"/>
              <a:t> bills customers for services provided (may not apply to all service providers).</a:t>
            </a:r>
          </a:p>
          <a:p>
            <a:r>
              <a:rPr lang="en-US" dirty="0" smtClean="0"/>
              <a:t>Accounting, budgeting and charging have two cycles of activity. On an annual basis, projections and plans are produced. Operationally, costs are monitored and checked, and bills are issued. This normally happens monthly or quarterly.</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Business Relationship Management (BRM)</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Purpose and objectives</a:t>
            </a:r>
          </a:p>
          <a:p>
            <a:pPr lvl="1"/>
            <a:r>
              <a:rPr lang="en-US" dirty="0" smtClean="0"/>
              <a:t>BRM will:</a:t>
            </a:r>
          </a:p>
          <a:p>
            <a:pPr lvl="1"/>
            <a:r>
              <a:rPr lang="en-US" dirty="0" smtClean="0"/>
              <a:t>Establish and maintain the customer/service provider relationship</a:t>
            </a:r>
          </a:p>
          <a:p>
            <a:pPr lvl="1"/>
            <a:r>
              <a:rPr lang="en-US" dirty="0" smtClean="0"/>
              <a:t>Identify current and future customer needs and make sure they are met.</a:t>
            </a:r>
          </a:p>
          <a:p>
            <a:r>
              <a:rPr lang="en-US" dirty="0" smtClean="0"/>
              <a:t>Objectives include:</a:t>
            </a:r>
          </a:p>
          <a:p>
            <a:pPr lvl="1"/>
            <a:r>
              <a:rPr lang="en-US" dirty="0" smtClean="0"/>
              <a:t>Ensuring the service provider understands the customer perspective</a:t>
            </a:r>
          </a:p>
          <a:p>
            <a:pPr lvl="1"/>
            <a:r>
              <a:rPr lang="en-US" dirty="0" smtClean="0"/>
              <a:t>Improving customer satisfaction</a:t>
            </a:r>
          </a:p>
          <a:p>
            <a:pPr lvl="1"/>
            <a:r>
              <a:rPr lang="en-US" dirty="0" smtClean="0"/>
              <a:t>Identifying changes to the customer environment or technology that could affect services</a:t>
            </a:r>
          </a:p>
          <a:p>
            <a:pPr lvl="1"/>
            <a:r>
              <a:rPr lang="en-US" dirty="0" smtClean="0"/>
              <a:t>Establishing and communicating requirements for new or changed services</a:t>
            </a:r>
          </a:p>
          <a:p>
            <a:pPr lvl="1"/>
            <a:r>
              <a:rPr lang="en-US" dirty="0" smtClean="0"/>
              <a:t>Implementing a process to manage complaints.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b="1" dirty="0" smtClean="0"/>
              <a:t>Which of the following describes the main way in which the Service Strategy publication can assist an </a:t>
            </a:r>
            <a:r>
              <a:rPr lang="en-US" b="1" dirty="0" err="1" smtClean="0"/>
              <a:t>organisation</a:t>
            </a:r>
            <a:r>
              <a:rPr lang="en-US" b="1" dirty="0" smtClean="0"/>
              <a:t>?</a:t>
            </a:r>
            <a:endParaRPr lang="en-US" dirty="0" smtClean="0"/>
          </a:p>
          <a:p>
            <a:pPr marL="514350" indent="-514350">
              <a:buFont typeface="+mj-lt"/>
              <a:buAutoNum type="alphaUcPeriod"/>
            </a:pPr>
            <a:r>
              <a:rPr lang="en-US" dirty="0" smtClean="0"/>
              <a:t>To manage strategic relationships within the IT industry</a:t>
            </a:r>
          </a:p>
          <a:p>
            <a:pPr marL="514350" indent="-514350">
              <a:buFont typeface="+mj-lt"/>
              <a:buAutoNum type="alphaUcPeriod"/>
            </a:pPr>
            <a:r>
              <a:rPr lang="en-US" dirty="0" smtClean="0"/>
              <a:t>To implement ITIL within an IT </a:t>
            </a:r>
            <a:r>
              <a:rPr lang="en-US" dirty="0" err="1" smtClean="0"/>
              <a:t>organisation</a:t>
            </a:r>
            <a:endParaRPr lang="en-US" dirty="0" smtClean="0"/>
          </a:p>
          <a:p>
            <a:pPr marL="514350" indent="-514350">
              <a:buFont typeface="+mj-lt"/>
              <a:buAutoNum type="alphaUcPeriod"/>
            </a:pPr>
            <a:r>
              <a:rPr lang="en-US" dirty="0" smtClean="0"/>
              <a:t>To enable strategic integration with customers and suppliers</a:t>
            </a:r>
          </a:p>
          <a:p>
            <a:pPr marL="514350" indent="-514350">
              <a:buFont typeface="+mj-lt"/>
              <a:buAutoNum type="alphaUcPeriod"/>
            </a:pPr>
            <a:r>
              <a:rPr lang="en-US" dirty="0" smtClean="0"/>
              <a:t>To develop service management as a strategic asset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marL="514350" indent="-514350">
              <a:buNone/>
            </a:pPr>
            <a:r>
              <a:rPr lang="en-US" b="1" dirty="0" smtClean="0"/>
              <a:t>Which of the following statements about the service portfolio are correct?</a:t>
            </a:r>
            <a:endParaRPr lang="en-US" dirty="0" smtClean="0"/>
          </a:p>
          <a:p>
            <a:pPr marL="514350" indent="-514350">
              <a:buFont typeface="+mj-lt"/>
              <a:buAutoNum type="arabicPeriod"/>
            </a:pPr>
            <a:r>
              <a:rPr lang="en-US" dirty="0" smtClean="0"/>
              <a:t>The service portfolio represents the investments made by a service provider</a:t>
            </a:r>
          </a:p>
          <a:p>
            <a:pPr marL="514350" indent="-514350">
              <a:buFont typeface="+mj-lt"/>
              <a:buAutoNum type="arabicPeriod"/>
            </a:pPr>
            <a:r>
              <a:rPr lang="en-US" dirty="0" smtClean="0"/>
              <a:t>The service portfolio includes third party services that are part of service offerings</a:t>
            </a:r>
          </a:p>
          <a:p>
            <a:pPr marL="514350" indent="-514350">
              <a:buFont typeface="+mj-lt"/>
              <a:buAutoNum type="arabicPeriod"/>
            </a:pPr>
            <a:r>
              <a:rPr lang="en-US" dirty="0" smtClean="0"/>
              <a:t>The service portfolio represents the ability of a service provider to serve customers and market spaces</a:t>
            </a:r>
          </a:p>
          <a:p>
            <a:endParaRPr lang="en-US" dirty="0" smtClean="0"/>
          </a:p>
          <a:p>
            <a:pPr marL="514350" indent="-514350">
              <a:buFont typeface="+mj-lt"/>
              <a:buAutoNum type="alphaUcPeriod"/>
            </a:pPr>
            <a:r>
              <a:rPr lang="en-US" dirty="0" smtClean="0"/>
              <a:t>1 and 2 only</a:t>
            </a:r>
          </a:p>
          <a:p>
            <a:pPr marL="514350" indent="-514350">
              <a:buFont typeface="+mj-lt"/>
              <a:buAutoNum type="alphaUcPeriod"/>
            </a:pPr>
            <a:r>
              <a:rPr lang="en-US" dirty="0" smtClean="0"/>
              <a:t>All of the above</a:t>
            </a:r>
          </a:p>
          <a:p>
            <a:pPr marL="514350" indent="-514350">
              <a:buFont typeface="+mj-lt"/>
              <a:buAutoNum type="alphaUcPeriod"/>
            </a:pPr>
            <a:r>
              <a:rPr lang="en-US" dirty="0" smtClean="0"/>
              <a:t>1 and 3 only</a:t>
            </a:r>
          </a:p>
          <a:p>
            <a:pPr marL="514350" indent="-514350">
              <a:buFont typeface="+mj-lt"/>
              <a:buAutoNum type="alphaUcPeriod"/>
            </a:pPr>
            <a:r>
              <a:rPr lang="en-US" dirty="0" smtClean="0"/>
              <a:t>2 and 3 only</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b="1" dirty="0" smtClean="0"/>
              <a:t>What details are contained in the service pipeline?</a:t>
            </a:r>
            <a:endParaRPr lang="en-US" dirty="0" smtClean="0"/>
          </a:p>
          <a:p>
            <a:pPr marL="514350" indent="-514350">
              <a:buFont typeface="+mj-lt"/>
              <a:buAutoNum type="alphaUcPeriod"/>
            </a:pPr>
            <a:r>
              <a:rPr lang="en-US" dirty="0" smtClean="0"/>
              <a:t>Operational capability within the context of a market space</a:t>
            </a:r>
          </a:p>
          <a:p>
            <a:pPr marL="514350" indent="-514350">
              <a:buFont typeface="+mj-lt"/>
              <a:buAutoNum type="alphaUcPeriod"/>
            </a:pPr>
            <a:r>
              <a:rPr lang="en-US" dirty="0" smtClean="0"/>
              <a:t>The resources engaged in all phases of the service lifecycle</a:t>
            </a:r>
          </a:p>
          <a:p>
            <a:pPr marL="514350" indent="-514350">
              <a:buFont typeface="+mj-lt"/>
              <a:buAutoNum type="alphaUcPeriod"/>
            </a:pPr>
            <a:r>
              <a:rPr lang="en-US" dirty="0" smtClean="0"/>
              <a:t>Business requirements that have not yet become live services</a:t>
            </a:r>
          </a:p>
          <a:p>
            <a:pPr marL="514350" indent="-514350">
              <a:buFont typeface="+mj-lt"/>
              <a:buAutoNum type="alphaUcPeriod"/>
            </a:pPr>
            <a:r>
              <a:rPr lang="en-US" dirty="0" smtClean="0"/>
              <a:t>Knowledge and information about phased-out services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b="1" dirty="0" smtClean="0"/>
              <a:t>4 Which of the following statements is/are correct about IT governance?</a:t>
            </a:r>
            <a:endParaRPr lang="en-US" dirty="0" smtClean="0"/>
          </a:p>
          <a:p>
            <a:pPr marL="514350" indent="-514350">
              <a:buFont typeface="+mj-lt"/>
              <a:buAutoNum type="arabicPeriod"/>
            </a:pPr>
            <a:r>
              <a:rPr lang="en-US" dirty="0" smtClean="0"/>
              <a:t>IT governance is an integral part of enterprise governance</a:t>
            </a:r>
          </a:p>
          <a:p>
            <a:pPr marL="514350" indent="-514350">
              <a:buFont typeface="+mj-lt"/>
              <a:buAutoNum type="arabicPeriod"/>
            </a:pPr>
            <a:r>
              <a:rPr lang="en-US" dirty="0" smtClean="0"/>
              <a:t>IT governance is the responsibility of the board of directors</a:t>
            </a:r>
          </a:p>
          <a:p>
            <a:pPr marL="514350" indent="-514350">
              <a:buFont typeface="+mj-lt"/>
              <a:buAutoNum type="arabicPeriod"/>
            </a:pPr>
            <a:r>
              <a:rPr lang="en-US" dirty="0" smtClean="0"/>
              <a:t>IT governance enables </a:t>
            </a:r>
            <a:r>
              <a:rPr lang="en-US" dirty="0" err="1" smtClean="0"/>
              <a:t>organisations</a:t>
            </a:r>
            <a:r>
              <a:rPr lang="en-US" dirty="0" smtClean="0"/>
              <a:t> to benchmark processes</a:t>
            </a:r>
          </a:p>
          <a:p>
            <a:endParaRPr lang="en-US" dirty="0" smtClean="0"/>
          </a:p>
          <a:p>
            <a:pPr marL="514350" indent="-514350">
              <a:buFont typeface="+mj-lt"/>
              <a:buAutoNum type="alphaUcPeriod"/>
            </a:pPr>
            <a:r>
              <a:rPr lang="en-US" dirty="0" smtClean="0"/>
              <a:t>1 only</a:t>
            </a:r>
          </a:p>
          <a:p>
            <a:pPr marL="514350" indent="-514350">
              <a:buFont typeface="+mj-lt"/>
              <a:buAutoNum type="alphaUcPeriod"/>
            </a:pPr>
            <a:r>
              <a:rPr lang="en-US" dirty="0" smtClean="0"/>
              <a:t>1 and 2 only</a:t>
            </a:r>
          </a:p>
          <a:p>
            <a:pPr marL="514350" indent="-514350">
              <a:buFont typeface="+mj-lt"/>
              <a:buAutoNum type="alphaUcPeriod"/>
            </a:pPr>
            <a:r>
              <a:rPr lang="en-US" dirty="0" smtClean="0"/>
              <a:t>2 and 3 only</a:t>
            </a:r>
          </a:p>
          <a:p>
            <a:pPr marL="514350" indent="-514350">
              <a:buFont typeface="+mj-lt"/>
              <a:buAutoNum type="alphaUcPeriod"/>
            </a:pPr>
            <a:r>
              <a:rPr lang="en-US" dirty="0" smtClean="0"/>
              <a:t>All of the above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5 A business case can be most accurately described as?</a:t>
            </a:r>
            <a:endParaRPr lang="en-US" dirty="0" smtClean="0"/>
          </a:p>
          <a:p>
            <a:pPr marL="514350" indent="-514350">
              <a:buFont typeface="+mj-lt"/>
              <a:buAutoNum type="alphaUcPeriod"/>
            </a:pPr>
            <a:r>
              <a:rPr lang="en-US" dirty="0" smtClean="0"/>
              <a:t>A method for tracking business expenditure</a:t>
            </a:r>
          </a:p>
          <a:p>
            <a:pPr marL="514350" indent="-514350">
              <a:buFont typeface="+mj-lt"/>
              <a:buAutoNum type="alphaUcPeriod"/>
            </a:pPr>
            <a:r>
              <a:rPr lang="en-US" dirty="0" smtClean="0"/>
              <a:t>A decision support and planning tool</a:t>
            </a:r>
          </a:p>
          <a:p>
            <a:pPr marL="514350" indent="-514350">
              <a:buFont typeface="+mj-lt"/>
              <a:buAutoNum type="alphaUcPeriod"/>
            </a:pPr>
            <a:r>
              <a:rPr lang="en-US" dirty="0" smtClean="0"/>
              <a:t>A management tool for business communication</a:t>
            </a:r>
          </a:p>
          <a:p>
            <a:pPr marL="514350" indent="-514350">
              <a:buFont typeface="+mj-lt"/>
              <a:buAutoNum type="alphaUcPeriod"/>
            </a:pPr>
            <a:r>
              <a:rPr lang="en-US" dirty="0" smtClean="0"/>
              <a:t>A technique for calculating service valuation</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dirty="0" smtClean="0"/>
              <a:t>6 From a service management perspective which of the following is NOT a specific risk management activity?</a:t>
            </a:r>
            <a:endParaRPr lang="en-US" dirty="0" smtClean="0"/>
          </a:p>
          <a:p>
            <a:pPr marL="514350" indent="-514350">
              <a:buFont typeface="+mj-lt"/>
              <a:buAutoNum type="alphaUcPeriod"/>
            </a:pPr>
            <a:r>
              <a:rPr lang="en-US" dirty="0" smtClean="0"/>
              <a:t>Financial analysis of the likely consequences of a business action</a:t>
            </a:r>
          </a:p>
          <a:p>
            <a:pPr marL="514350" indent="-514350">
              <a:buFont typeface="+mj-lt"/>
              <a:buAutoNum type="alphaUcPeriod"/>
            </a:pPr>
            <a:r>
              <a:rPr lang="en-US" dirty="0" smtClean="0"/>
              <a:t>Ensuring processes are in place for ongoing monitoring of risks</a:t>
            </a:r>
          </a:p>
          <a:p>
            <a:pPr marL="514350" indent="-514350">
              <a:buFont typeface="+mj-lt"/>
              <a:buAutoNum type="alphaUcPeriod"/>
            </a:pPr>
            <a:r>
              <a:rPr lang="en-US" dirty="0" smtClean="0"/>
              <a:t>Identification and selection of appropriate countermeasures</a:t>
            </a:r>
          </a:p>
          <a:p>
            <a:pPr marL="514350" indent="-514350">
              <a:buFont typeface="+mj-lt"/>
              <a:buAutoNum type="alphaUcPeriod"/>
            </a:pPr>
            <a:r>
              <a:rPr lang="en-US" dirty="0" smtClean="0"/>
              <a:t>Having access to reliable and up-to-date information about risks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b="1" dirty="0" smtClean="0"/>
              <a:t>7 It is important to distinguish between the three different types of service provider. Which of the following most accurately describes the main difference between Type I and Type II service providers?</a:t>
            </a:r>
            <a:endParaRPr lang="en-US" dirty="0" smtClean="0"/>
          </a:p>
          <a:p>
            <a:pPr marL="514350" indent="-514350">
              <a:buFont typeface="+mj-lt"/>
              <a:buAutoNum type="alphaUcPeriod"/>
            </a:pPr>
            <a:r>
              <a:rPr lang="en-US" dirty="0" smtClean="0"/>
              <a:t>Type I providers are internal and Type II provide external services</a:t>
            </a:r>
          </a:p>
          <a:p>
            <a:pPr marL="514350" indent="-514350">
              <a:buFont typeface="+mj-lt"/>
              <a:buAutoNum type="alphaUcPeriod"/>
            </a:pPr>
            <a:r>
              <a:rPr lang="en-US" dirty="0" smtClean="0"/>
              <a:t>Type I providers are internal and Type II provide shared services</a:t>
            </a:r>
          </a:p>
          <a:p>
            <a:pPr marL="514350" indent="-514350">
              <a:buFont typeface="+mj-lt"/>
              <a:buAutoNum type="alphaUcPeriod"/>
            </a:pPr>
            <a:r>
              <a:rPr lang="en-US" dirty="0" smtClean="0"/>
              <a:t>Type I providers are external and Type II provide internal services</a:t>
            </a:r>
          </a:p>
          <a:p>
            <a:pPr marL="514350" indent="-514350">
              <a:buFont typeface="+mj-lt"/>
              <a:buAutoNum type="alphaUcPeriod"/>
            </a:pPr>
            <a:r>
              <a:rPr lang="en-US" dirty="0" smtClean="0"/>
              <a:t>Type I providers are technology focused and Type II business focused</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8 Value is defined not only in terms of the customer's business outcomes, it is also highly dependent on?</a:t>
            </a:r>
            <a:endParaRPr lang="en-US" dirty="0" smtClean="0"/>
          </a:p>
          <a:p>
            <a:pPr marL="514350" indent="-514350">
              <a:buFont typeface="+mj-lt"/>
              <a:buAutoNum type="alphaUcPeriod"/>
            </a:pPr>
            <a:r>
              <a:rPr lang="en-US" dirty="0" smtClean="0"/>
              <a:t>The maturity of the IT processes</a:t>
            </a:r>
          </a:p>
          <a:p>
            <a:pPr marL="514350" indent="-514350">
              <a:buFont typeface="+mj-lt"/>
              <a:buAutoNum type="alphaUcPeriod"/>
            </a:pPr>
            <a:r>
              <a:rPr lang="en-US" dirty="0" smtClean="0"/>
              <a:t>Managing the cost of service provision</a:t>
            </a:r>
          </a:p>
          <a:p>
            <a:pPr marL="514350" indent="-514350">
              <a:buFont typeface="+mj-lt"/>
              <a:buAutoNum type="alphaUcPeriod"/>
            </a:pPr>
            <a:r>
              <a:rPr lang="en-US" dirty="0" smtClean="0"/>
              <a:t>The customer's perceptions</a:t>
            </a:r>
          </a:p>
          <a:p>
            <a:pPr marL="514350" indent="-514350">
              <a:buFont typeface="+mj-lt"/>
              <a:buAutoNum type="alphaUcPeriod"/>
            </a:pPr>
            <a:r>
              <a:rPr lang="en-US" dirty="0" smtClean="0"/>
              <a:t>Effective resource </a:t>
            </a:r>
            <a:r>
              <a:rPr lang="en-US" dirty="0" err="1" smtClean="0"/>
              <a:t>utilisation</a:t>
            </a:r>
            <a:endParaRPr lang="en-US"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dirty="0" smtClean="0"/>
              <a:t>9 Which of the following most accurately describes the need for service providers to develop a marketing mindset?</a:t>
            </a:r>
            <a:endParaRPr lang="en-US" dirty="0" smtClean="0"/>
          </a:p>
          <a:p>
            <a:pPr marL="514350" indent="-514350">
              <a:buFont typeface="+mj-lt"/>
              <a:buAutoNum type="alphaUcPeriod"/>
            </a:pPr>
            <a:r>
              <a:rPr lang="en-US" dirty="0" smtClean="0"/>
              <a:t>To offer customers a comprehensive service catalogue</a:t>
            </a:r>
          </a:p>
          <a:p>
            <a:pPr marL="514350" indent="-514350">
              <a:buFont typeface="+mj-lt"/>
              <a:buAutoNum type="alphaUcPeriod"/>
            </a:pPr>
            <a:r>
              <a:rPr lang="en-US" dirty="0" smtClean="0"/>
              <a:t>To offer competitively priced service offerings</a:t>
            </a:r>
          </a:p>
          <a:p>
            <a:pPr marL="514350" indent="-514350">
              <a:buFont typeface="+mj-lt"/>
              <a:buAutoNum type="alphaUcPeriod"/>
            </a:pPr>
            <a:r>
              <a:rPr lang="en-US" dirty="0" smtClean="0"/>
              <a:t>To look at services from the customer's perspective</a:t>
            </a:r>
          </a:p>
          <a:p>
            <a:pPr marL="514350" indent="-514350">
              <a:buFont typeface="+mj-lt"/>
              <a:buAutoNum type="alphaUcPeriod"/>
            </a:pPr>
            <a:r>
              <a:rPr lang="en-US" dirty="0" smtClean="0"/>
              <a:t>To </a:t>
            </a:r>
            <a:r>
              <a:rPr lang="en-US" dirty="0" err="1" smtClean="0"/>
              <a:t>utilise</a:t>
            </a:r>
            <a:r>
              <a:rPr lang="en-US" dirty="0" smtClean="0"/>
              <a:t> a wide range of communication channels</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b="1" dirty="0" smtClean="0"/>
              <a:t>10 'Fitness for purpose' of a service comes from which of the following?</a:t>
            </a:r>
            <a:endParaRPr lang="en-US" dirty="0" smtClean="0"/>
          </a:p>
          <a:p>
            <a:pPr marL="514350" indent="-514350">
              <a:buFont typeface="+mj-lt"/>
              <a:buAutoNum type="alphaUcPeriod"/>
            </a:pPr>
            <a:r>
              <a:rPr lang="en-US" dirty="0" smtClean="0"/>
              <a:t>The attributes of the service that have a positive effect on the performance of the business</a:t>
            </a:r>
          </a:p>
          <a:p>
            <a:pPr marL="514350" indent="-514350">
              <a:buFont typeface="+mj-lt"/>
              <a:buAutoNum type="alphaUcPeriod"/>
            </a:pPr>
            <a:r>
              <a:rPr lang="en-US" dirty="0" smtClean="0"/>
              <a:t>The ability of a service to remain operational at all times as agreed in an SLA</a:t>
            </a:r>
          </a:p>
          <a:p>
            <a:pPr marL="514350" indent="-514350">
              <a:buFont typeface="+mj-lt"/>
              <a:buAutoNum type="alphaUcPeriod"/>
            </a:pPr>
            <a:r>
              <a:rPr lang="en-US" dirty="0" smtClean="0"/>
              <a:t>The ability of a service to provide the required levels of functionality when required</a:t>
            </a:r>
          </a:p>
          <a:p>
            <a:pPr marL="514350" indent="-514350">
              <a:buFont typeface="+mj-lt"/>
              <a:buAutoNum type="alphaUcPeriod"/>
            </a:pPr>
            <a:r>
              <a:rPr lang="en-US" dirty="0" smtClean="0"/>
              <a:t>The service being provided by an outsourcing </a:t>
            </a:r>
            <a:r>
              <a:rPr lang="en-US" dirty="0" err="1" smtClean="0"/>
              <a:t>organisation</a:t>
            </a:r>
            <a:endParaRPr lang="en-US" dirty="0" smtClean="0"/>
          </a:p>
          <a:p>
            <a:pPr>
              <a:buNone/>
            </a:pPr>
            <a:r>
              <a:rPr lang="en-US" b="1" dirty="0" smtClean="0"/>
              <a:t>11 Which of the following is NOT an activity of demand management?</a:t>
            </a:r>
            <a:endParaRPr lang="en-US" dirty="0" smtClean="0"/>
          </a:p>
          <a:p>
            <a:pPr marL="514350" indent="-514350">
              <a:buFont typeface="+mj-lt"/>
              <a:buAutoNum type="alphaUcPeriod"/>
            </a:pPr>
            <a:r>
              <a:rPr lang="en-US" dirty="0" err="1" smtClean="0"/>
              <a:t>Analysing</a:t>
            </a:r>
            <a:r>
              <a:rPr lang="en-US" dirty="0" smtClean="0"/>
              <a:t> and tracking business activities related to IT services</a:t>
            </a:r>
          </a:p>
          <a:p>
            <a:pPr marL="514350" indent="-514350">
              <a:buFont typeface="+mj-lt"/>
              <a:buAutoNum type="alphaUcPeriod"/>
            </a:pPr>
            <a:r>
              <a:rPr lang="en-US" dirty="0" smtClean="0"/>
              <a:t>Influencing demand for services using pricing incentives</a:t>
            </a:r>
          </a:p>
          <a:p>
            <a:pPr marL="514350" indent="-514350">
              <a:buFont typeface="+mj-lt"/>
              <a:buAutoNum type="alphaUcPeriod"/>
            </a:pPr>
            <a:r>
              <a:rPr lang="en-US" dirty="0" smtClean="0"/>
              <a:t>Redesigning business processes to match IT resource constraints</a:t>
            </a:r>
          </a:p>
          <a:p>
            <a:pPr marL="514350" indent="-514350">
              <a:buFont typeface="+mj-lt"/>
              <a:buAutoNum type="alphaUcPeriod"/>
            </a:pPr>
            <a:r>
              <a:rPr lang="en-US" dirty="0" smtClean="0"/>
              <a:t>Providing demand forecasts for capacity management</a:t>
            </a:r>
          </a:p>
          <a:p>
            <a:pPr marL="514350" indent="-514350">
              <a:buNone/>
            </a:pPr>
            <a:endParaRPr lang="en-US"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b="1" dirty="0" smtClean="0"/>
              <a:t>12 Which of the following are potential benefits of </a:t>
            </a:r>
            <a:r>
              <a:rPr lang="en-US" b="1" dirty="0" err="1" smtClean="0"/>
              <a:t>analysing</a:t>
            </a:r>
            <a:r>
              <a:rPr lang="en-US" b="1" dirty="0" smtClean="0"/>
              <a:t> patterns of business activity?</a:t>
            </a:r>
            <a:endParaRPr lang="en-US" dirty="0" smtClean="0"/>
          </a:p>
          <a:p>
            <a:pPr marL="514350" indent="-514350">
              <a:buFont typeface="+mj-lt"/>
              <a:buAutoNum type="arabicPeriod"/>
            </a:pPr>
            <a:r>
              <a:rPr lang="en-US" dirty="0" smtClean="0"/>
              <a:t>Service design can </a:t>
            </a:r>
            <a:r>
              <a:rPr lang="en-US" dirty="0" err="1" smtClean="0"/>
              <a:t>optimise</a:t>
            </a:r>
            <a:r>
              <a:rPr lang="en-US" dirty="0" smtClean="0"/>
              <a:t> designs to suit business demand patterns</a:t>
            </a:r>
          </a:p>
          <a:p>
            <a:pPr marL="514350" indent="-514350">
              <a:buFont typeface="+mj-lt"/>
              <a:buAutoNum type="arabicPeriod"/>
            </a:pPr>
            <a:r>
              <a:rPr lang="en-US" dirty="0" smtClean="0"/>
              <a:t>Financial management can approve incentives to influence demand</a:t>
            </a:r>
          </a:p>
          <a:p>
            <a:pPr marL="514350" indent="-514350">
              <a:buFont typeface="+mj-lt"/>
              <a:buAutoNum type="arabicPeriod"/>
            </a:pPr>
            <a:r>
              <a:rPr lang="en-US" dirty="0" smtClean="0"/>
              <a:t>Service operation can adjust allocation of resources and scheduling</a:t>
            </a:r>
          </a:p>
          <a:p>
            <a:pPr marL="514350" indent="-514350">
              <a:buFont typeface="+mj-lt"/>
              <a:buAutoNum type="arabicPeriod"/>
            </a:pPr>
            <a:r>
              <a:rPr lang="en-US" dirty="0" smtClean="0"/>
              <a:t>Service portfolio management can </a:t>
            </a:r>
            <a:r>
              <a:rPr lang="en-US" dirty="0" err="1" smtClean="0"/>
              <a:t>prioritise</a:t>
            </a:r>
            <a:r>
              <a:rPr lang="en-US" dirty="0" smtClean="0"/>
              <a:t> appropriate investments</a:t>
            </a:r>
          </a:p>
          <a:p>
            <a:pPr>
              <a:buNone/>
            </a:pPr>
            <a:r>
              <a:rPr lang="en-US" dirty="0" smtClean="0"/>
              <a:t> </a:t>
            </a:r>
          </a:p>
          <a:p>
            <a:pPr marL="514350" indent="-514350">
              <a:buFont typeface="+mj-lt"/>
              <a:buAutoNum type="alphaUcPeriod"/>
            </a:pPr>
            <a:r>
              <a:rPr lang="en-US" dirty="0" smtClean="0"/>
              <a:t>1 and 3 only</a:t>
            </a:r>
          </a:p>
          <a:p>
            <a:pPr marL="514350" indent="-514350">
              <a:buFont typeface="+mj-lt"/>
              <a:buAutoNum type="alphaUcPeriod"/>
            </a:pPr>
            <a:r>
              <a:rPr lang="en-US" dirty="0" smtClean="0"/>
              <a:t>2 and 3 only</a:t>
            </a:r>
          </a:p>
          <a:p>
            <a:pPr marL="514350" indent="-514350">
              <a:buFont typeface="+mj-lt"/>
              <a:buAutoNum type="alphaUcPeriod"/>
            </a:pPr>
            <a:r>
              <a:rPr lang="en-US" dirty="0" smtClean="0"/>
              <a:t>1, 2 and 4 only</a:t>
            </a:r>
          </a:p>
          <a:p>
            <a:pPr marL="514350" indent="-514350">
              <a:buFont typeface="+mj-lt"/>
              <a:buAutoNum type="alphaUcPeriod"/>
            </a:pPr>
            <a:r>
              <a:rPr lang="en-US" dirty="0" smtClean="0"/>
              <a:t>All of the above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b="1" dirty="0" smtClean="0"/>
              <a:t>13 How is financial management applicable to the different types of service provider?</a:t>
            </a:r>
            <a:endParaRPr lang="en-US" dirty="0" smtClean="0"/>
          </a:p>
          <a:p>
            <a:pPr marL="514350" indent="-514350">
              <a:buFont typeface="+mj-lt"/>
              <a:buAutoNum type="alphaUcPeriod"/>
            </a:pPr>
            <a:r>
              <a:rPr lang="en-US" dirty="0" smtClean="0"/>
              <a:t>Financial management is mostly applicable to external service providers</a:t>
            </a:r>
          </a:p>
          <a:p>
            <a:pPr marL="514350" indent="-514350">
              <a:buFont typeface="+mj-lt"/>
              <a:buAutoNum type="alphaUcPeriod"/>
            </a:pPr>
            <a:r>
              <a:rPr lang="en-US" dirty="0" smtClean="0"/>
              <a:t>Financial management is only applicable to Type II and Type III providers</a:t>
            </a:r>
          </a:p>
          <a:p>
            <a:pPr marL="514350" indent="-514350">
              <a:buFont typeface="+mj-lt"/>
              <a:buAutoNum type="alphaUcPeriod"/>
            </a:pPr>
            <a:r>
              <a:rPr lang="en-US" dirty="0" smtClean="0"/>
              <a:t>Financial management is less applicable for internal service providers</a:t>
            </a:r>
          </a:p>
          <a:p>
            <a:pPr marL="514350" indent="-514350">
              <a:buFont typeface="+mj-lt"/>
              <a:buAutoNum type="alphaUcPeriod"/>
            </a:pPr>
            <a:r>
              <a:rPr lang="en-US" dirty="0" smtClean="0"/>
              <a:t>Financial management is equally applicable to Type I, II and III service providers</a:t>
            </a:r>
          </a:p>
          <a:p>
            <a:pPr>
              <a:buNone/>
            </a:pPr>
            <a:r>
              <a:rPr lang="en-US" b="1" dirty="0" smtClean="0"/>
              <a:t>14 A goal of financial management is to ensure proper funding for the delivery of services. What is the main way in which this is achieved?</a:t>
            </a:r>
            <a:endParaRPr lang="en-US" dirty="0" smtClean="0"/>
          </a:p>
          <a:p>
            <a:pPr marL="514350" indent="-514350">
              <a:buFont typeface="+mj-lt"/>
              <a:buAutoNum type="alphaUcPeriod"/>
            </a:pPr>
            <a:r>
              <a:rPr lang="en-US" dirty="0" smtClean="0"/>
              <a:t>Introducing charging in order to generate required revenue and profit</a:t>
            </a:r>
          </a:p>
          <a:p>
            <a:pPr marL="514350" indent="-514350">
              <a:buFont typeface="+mj-lt"/>
              <a:buAutoNum type="alphaUcPeriod"/>
            </a:pPr>
            <a:r>
              <a:rPr lang="en-US" dirty="0" smtClean="0"/>
              <a:t>Financial analysis and qualification of the future demand for IT services</a:t>
            </a:r>
          </a:p>
          <a:p>
            <a:pPr marL="514350" indent="-514350">
              <a:buFont typeface="+mj-lt"/>
              <a:buAutoNum type="alphaUcPeriod"/>
            </a:pPr>
            <a:r>
              <a:rPr lang="en-US" dirty="0" smtClean="0"/>
              <a:t>Establishing mature accounting practices and procedures</a:t>
            </a:r>
          </a:p>
          <a:p>
            <a:pPr marL="514350" indent="-514350">
              <a:buFont typeface="+mj-lt"/>
              <a:buAutoNum type="alphaUcPeriod"/>
            </a:pPr>
            <a:r>
              <a:rPr lang="en-US" dirty="0" smtClean="0"/>
              <a:t>Influencing demand for IT services to match current resources</a:t>
            </a:r>
          </a:p>
          <a:p>
            <a:pPr marL="514350" indent="-514350">
              <a:buNone/>
            </a:pPr>
            <a:endParaRPr lang="en-US" dirty="0" smtClean="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458200" cy="4525963"/>
          </a:xfrm>
        </p:spPr>
        <p:txBody>
          <a:bodyPr>
            <a:normAutofit fontScale="70000" lnSpcReduction="20000"/>
          </a:bodyPr>
          <a:lstStyle/>
          <a:p>
            <a:pPr>
              <a:buNone/>
            </a:pPr>
            <a:r>
              <a:rPr lang="en-US" b="1" dirty="0" smtClean="0"/>
              <a:t>15 Which of the following processes is NOT found within the Service Strategy publication?</a:t>
            </a:r>
            <a:endParaRPr lang="en-US" dirty="0" smtClean="0"/>
          </a:p>
          <a:p>
            <a:pPr marL="514350" indent="-514350">
              <a:buFont typeface="+mj-lt"/>
              <a:buAutoNum type="alphaUcPeriod"/>
            </a:pPr>
            <a:r>
              <a:rPr lang="en-US" dirty="0" smtClean="0"/>
              <a:t>Demand management</a:t>
            </a:r>
          </a:p>
          <a:p>
            <a:pPr marL="514350" indent="-514350">
              <a:buFont typeface="+mj-lt"/>
              <a:buAutoNum type="alphaUcPeriod"/>
            </a:pPr>
            <a:r>
              <a:rPr lang="en-US" dirty="0" smtClean="0"/>
              <a:t>Financial management</a:t>
            </a:r>
          </a:p>
          <a:p>
            <a:pPr marL="514350" indent="-514350">
              <a:buFont typeface="+mj-lt"/>
              <a:buAutoNum type="alphaUcPeriod"/>
            </a:pPr>
            <a:r>
              <a:rPr lang="en-US" dirty="0" smtClean="0"/>
              <a:t>Service management</a:t>
            </a:r>
          </a:p>
          <a:p>
            <a:pPr marL="514350" indent="-514350">
              <a:buFont typeface="+mj-lt"/>
              <a:buAutoNum type="alphaUcPeriod"/>
            </a:pPr>
            <a:r>
              <a:rPr lang="en-US" dirty="0" smtClean="0"/>
              <a:t>Service portfolio management</a:t>
            </a:r>
          </a:p>
          <a:p>
            <a:pPr>
              <a:buNone/>
            </a:pPr>
            <a:r>
              <a:rPr lang="en-US" b="1" dirty="0" smtClean="0"/>
              <a:t>16 Effective communication with users, customers and the business is vital at all levels within an </a:t>
            </a:r>
            <a:r>
              <a:rPr lang="en-US" b="1" dirty="0" err="1" smtClean="0"/>
              <a:t>organisation</a:t>
            </a:r>
            <a:r>
              <a:rPr lang="en-US" b="1" dirty="0" smtClean="0"/>
              <a:t>. At which levels will business relationship management typically be most active?</a:t>
            </a:r>
            <a:endParaRPr lang="en-US" dirty="0" smtClean="0"/>
          </a:p>
          <a:p>
            <a:pPr marL="514350" indent="-514350">
              <a:buFont typeface="+mj-lt"/>
              <a:buAutoNum type="alphaUcPeriod"/>
            </a:pPr>
            <a:r>
              <a:rPr lang="en-US" dirty="0" smtClean="0"/>
              <a:t>Tactical and operational</a:t>
            </a:r>
          </a:p>
          <a:p>
            <a:pPr marL="514350" indent="-514350">
              <a:buFont typeface="+mj-lt"/>
              <a:buAutoNum type="alphaUcPeriod"/>
            </a:pPr>
            <a:r>
              <a:rPr lang="en-US" dirty="0" smtClean="0"/>
              <a:t>Strategic and tactical</a:t>
            </a:r>
          </a:p>
          <a:p>
            <a:pPr marL="514350" indent="-514350">
              <a:buFont typeface="+mj-lt"/>
              <a:buAutoNum type="alphaUcPeriod"/>
            </a:pPr>
            <a:r>
              <a:rPr lang="en-US" dirty="0" smtClean="0"/>
              <a:t>Strategic and operational</a:t>
            </a:r>
          </a:p>
          <a:p>
            <a:pPr marL="514350" indent="-514350">
              <a:buFont typeface="+mj-lt"/>
              <a:buAutoNum type="alphaUcPeriod"/>
            </a:pPr>
            <a:r>
              <a:rPr lang="en-US" dirty="0" smtClean="0"/>
              <a:t>Strategic, tactical and operational</a:t>
            </a:r>
          </a:p>
          <a:p>
            <a:pPr marL="514350" indent="-514350">
              <a:buFont typeface="+mj-lt"/>
              <a:buAutoNum type="alphaUcPeriod"/>
            </a:pPr>
            <a:endParaRPr lang="en-US"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a:buNone/>
            </a:pPr>
            <a:r>
              <a:rPr lang="en-US" b="1" dirty="0" smtClean="0"/>
              <a:t>17 Which of the following best describes an external customer?</a:t>
            </a:r>
            <a:endParaRPr lang="en-US" dirty="0" smtClean="0"/>
          </a:p>
          <a:p>
            <a:pPr marL="514350" indent="-514350">
              <a:buFont typeface="+mj-lt"/>
              <a:buAutoNum type="alphaUcPeriod"/>
            </a:pPr>
            <a:r>
              <a:rPr lang="en-US" dirty="0" smtClean="0"/>
              <a:t>A customer who works for the same </a:t>
            </a:r>
            <a:r>
              <a:rPr lang="en-US" dirty="0" err="1" smtClean="0"/>
              <a:t>organisation</a:t>
            </a:r>
            <a:r>
              <a:rPr lang="en-US" dirty="0" smtClean="0"/>
              <a:t> but within a different department and in a different location</a:t>
            </a:r>
          </a:p>
          <a:p>
            <a:pPr marL="514350" indent="-514350">
              <a:buFont typeface="+mj-lt"/>
              <a:buAutoNum type="alphaUcPeriod"/>
            </a:pPr>
            <a:r>
              <a:rPr lang="en-US" dirty="0" smtClean="0"/>
              <a:t>A customer who works for the same </a:t>
            </a:r>
            <a:r>
              <a:rPr lang="en-US" dirty="0" err="1" smtClean="0"/>
              <a:t>organisation</a:t>
            </a:r>
            <a:r>
              <a:rPr lang="en-US" dirty="0" smtClean="0"/>
              <a:t> and who pays for the services provided</a:t>
            </a:r>
          </a:p>
          <a:p>
            <a:pPr marL="514350" indent="-514350">
              <a:buFont typeface="+mj-lt"/>
              <a:buAutoNum type="alphaUcPeriod"/>
            </a:pPr>
            <a:r>
              <a:rPr lang="en-US" dirty="0" smtClean="0"/>
              <a:t>A customer who works for a different </a:t>
            </a:r>
            <a:r>
              <a:rPr lang="en-US" dirty="0" err="1" smtClean="0"/>
              <a:t>organisation</a:t>
            </a:r>
            <a:r>
              <a:rPr lang="en-US" dirty="0" smtClean="0"/>
              <a:t> and who pays for the services provided</a:t>
            </a:r>
          </a:p>
          <a:p>
            <a:pPr marL="514350" indent="-514350">
              <a:buFont typeface="+mj-lt"/>
              <a:buAutoNum type="alphaUcPeriod"/>
            </a:pPr>
            <a:r>
              <a:rPr lang="en-US" dirty="0" smtClean="0"/>
              <a:t>A customer who has signed an SLA for the provision of a service or services</a:t>
            </a:r>
          </a:p>
          <a:p>
            <a:pPr>
              <a:buNone/>
            </a:pPr>
            <a:r>
              <a:rPr lang="en-US" b="1" dirty="0" smtClean="0"/>
              <a:t>18 Which of the four Ps of service strategy represents the ongoing, repeatable actions that a service provider will have to perform in order to continue to meet its strategic objectives?</a:t>
            </a:r>
            <a:endParaRPr lang="en-US" dirty="0" smtClean="0"/>
          </a:p>
          <a:p>
            <a:pPr marL="514350" indent="-514350">
              <a:buFont typeface="+mj-lt"/>
              <a:buAutoNum type="alphaUcPeriod"/>
            </a:pPr>
            <a:r>
              <a:rPr lang="en-US" dirty="0" smtClean="0"/>
              <a:t>Perspective</a:t>
            </a:r>
          </a:p>
          <a:p>
            <a:pPr marL="514350" indent="-514350">
              <a:buFont typeface="+mj-lt"/>
              <a:buAutoNum type="alphaUcPeriod"/>
            </a:pPr>
            <a:r>
              <a:rPr lang="en-US" dirty="0" smtClean="0"/>
              <a:t>Positions</a:t>
            </a:r>
          </a:p>
          <a:p>
            <a:pPr marL="514350" indent="-514350">
              <a:buFont typeface="+mj-lt"/>
              <a:buAutoNum type="alphaUcPeriod"/>
            </a:pPr>
            <a:r>
              <a:rPr lang="en-US" dirty="0" smtClean="0"/>
              <a:t>Plans</a:t>
            </a:r>
          </a:p>
          <a:p>
            <a:pPr marL="514350" indent="-514350">
              <a:buFont typeface="+mj-lt"/>
              <a:buAutoNum type="alphaUcPeriod"/>
            </a:pPr>
            <a:r>
              <a:rPr lang="en-US" dirty="0" smtClean="0"/>
              <a:t>Patterns</a:t>
            </a:r>
          </a:p>
          <a:p>
            <a:pPr marL="514350" indent="-514350">
              <a:buNone/>
            </a:pPr>
            <a:endParaRPr lang="en-US" dirty="0" smtClean="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b="1" dirty="0" smtClean="0"/>
              <a:t>19 Which of the following are </a:t>
            </a:r>
            <a:r>
              <a:rPr lang="en-US" b="1" dirty="0" err="1" smtClean="0"/>
              <a:t>organisations</a:t>
            </a:r>
            <a:r>
              <a:rPr lang="en-US" b="1" dirty="0" smtClean="0"/>
              <a:t> able to achieve through the successful adoption of ITIL?</a:t>
            </a:r>
            <a:endParaRPr lang="en-US" dirty="0" smtClean="0"/>
          </a:p>
          <a:p>
            <a:pPr marL="514350" indent="-514350">
              <a:buFont typeface="+mj-lt"/>
              <a:buAutoNum type="arabicPeriod"/>
            </a:pPr>
            <a:r>
              <a:rPr lang="en-US" dirty="0" smtClean="0"/>
              <a:t>Delivering value for their customers through services</a:t>
            </a:r>
          </a:p>
          <a:p>
            <a:pPr marL="514350" indent="-514350">
              <a:buFont typeface="+mj-lt"/>
              <a:buAutoNum type="arabicPeriod"/>
            </a:pPr>
            <a:r>
              <a:rPr lang="en-US" dirty="0" smtClean="0"/>
              <a:t>Integrating their service strategy with the business strategy</a:t>
            </a:r>
          </a:p>
          <a:p>
            <a:pPr marL="514350" indent="-514350">
              <a:buFont typeface="+mj-lt"/>
              <a:buAutoNum type="arabicPeriod"/>
            </a:pPr>
            <a:r>
              <a:rPr lang="en-US" dirty="0" smtClean="0"/>
              <a:t>Effective management of the IT investment and budget</a:t>
            </a:r>
          </a:p>
          <a:p>
            <a:pPr marL="514350" indent="-514350">
              <a:buFont typeface="+mj-lt"/>
              <a:buAutoNum type="arabicPeriod"/>
            </a:pPr>
            <a:r>
              <a:rPr lang="en-US" dirty="0" smtClean="0"/>
              <a:t>The adoption of specific auditing techniques to ensure industry compliance</a:t>
            </a:r>
          </a:p>
          <a:p>
            <a:pPr>
              <a:buNone/>
            </a:pPr>
            <a:r>
              <a:rPr lang="en-US" dirty="0" smtClean="0"/>
              <a:t> </a:t>
            </a:r>
          </a:p>
          <a:p>
            <a:pPr marL="514350" indent="-514350">
              <a:buFont typeface="+mj-lt"/>
              <a:buAutoNum type="alphaUcPeriod"/>
            </a:pPr>
            <a:r>
              <a:rPr lang="en-US" dirty="0" smtClean="0"/>
              <a:t>1, 2 and 3 only</a:t>
            </a:r>
          </a:p>
          <a:p>
            <a:pPr marL="514350" indent="-514350">
              <a:buFont typeface="+mj-lt"/>
              <a:buAutoNum type="alphaUcPeriod"/>
            </a:pPr>
            <a:r>
              <a:rPr lang="en-US" dirty="0" smtClean="0"/>
              <a:t>1, 2 and 4 only</a:t>
            </a:r>
          </a:p>
          <a:p>
            <a:pPr marL="514350" indent="-514350">
              <a:buFont typeface="+mj-lt"/>
              <a:buAutoNum type="alphaUcPeriod"/>
            </a:pPr>
            <a:r>
              <a:rPr lang="en-US" dirty="0" smtClean="0"/>
              <a:t>2, 3 and 4 only</a:t>
            </a:r>
          </a:p>
          <a:p>
            <a:pPr marL="514350" indent="-514350">
              <a:buFont typeface="+mj-lt"/>
              <a:buAutoNum type="alphaUcPeriod"/>
            </a:pPr>
            <a:r>
              <a:rPr lang="en-US" dirty="0" smtClean="0"/>
              <a:t>All of the above</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smtClean="0"/>
              <a:t>20 Knowledge management is typically displayed within the data, information, knowledge, wisdom structure. Which of these are examples of service assets?</a:t>
            </a:r>
            <a:endParaRPr lang="en-US" dirty="0" smtClean="0"/>
          </a:p>
          <a:p>
            <a:pPr marL="514350" indent="-514350">
              <a:buFont typeface="+mj-lt"/>
              <a:buAutoNum type="alphaUcPeriod"/>
            </a:pPr>
            <a:r>
              <a:rPr lang="en-US" dirty="0" smtClean="0"/>
              <a:t>Knowledge and information</a:t>
            </a:r>
          </a:p>
          <a:p>
            <a:pPr marL="514350" indent="-514350">
              <a:buFont typeface="+mj-lt"/>
              <a:buAutoNum type="alphaUcPeriod"/>
            </a:pPr>
            <a:r>
              <a:rPr lang="en-US" dirty="0" smtClean="0"/>
              <a:t>Knowledge and wisdom</a:t>
            </a:r>
          </a:p>
          <a:p>
            <a:pPr marL="514350" indent="-514350">
              <a:buFont typeface="+mj-lt"/>
              <a:buAutoNum type="alphaUcPeriod"/>
            </a:pPr>
            <a:r>
              <a:rPr lang="en-US" dirty="0" smtClean="0"/>
              <a:t>Information, knowledge and wisdom</a:t>
            </a:r>
          </a:p>
          <a:p>
            <a:pPr marL="514350" indent="-514350">
              <a:buFont typeface="+mj-lt"/>
              <a:buAutoNum type="alphaUcPeriod"/>
            </a:pPr>
            <a:r>
              <a:rPr lang="en-US" dirty="0" smtClean="0"/>
              <a:t>None of these are examples of service assets</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32500" lnSpcReduction="20000"/>
          </a:bodyPr>
          <a:lstStyle/>
          <a:p>
            <a:pPr>
              <a:buNone/>
            </a:pPr>
            <a:r>
              <a:rPr lang="en-US" b="1" dirty="0" smtClean="0"/>
              <a:t>1</a:t>
            </a:r>
            <a:r>
              <a:rPr lang="en-US" dirty="0" smtClean="0"/>
              <a:t> </a:t>
            </a:r>
            <a:r>
              <a:rPr lang="en-US" b="1" dirty="0" smtClean="0"/>
              <a:t>D</a:t>
            </a:r>
            <a:r>
              <a:rPr lang="en-US" dirty="0" smtClean="0"/>
              <a:t> The main purpose of the Service Strategy publication is to help </a:t>
            </a:r>
            <a:r>
              <a:rPr lang="en-US" dirty="0" err="1" smtClean="0"/>
              <a:t>organisations</a:t>
            </a:r>
            <a:r>
              <a:rPr lang="en-US" dirty="0" smtClean="0"/>
              <a:t> transform service management into a strategic asset. To operate and grow successfully in the long term, service providers must have the ability to think and act in a strategic manner. The Service Strategy publication provides guidance on how to develop such abilities.</a:t>
            </a:r>
          </a:p>
          <a:p>
            <a:pPr>
              <a:buNone/>
            </a:pPr>
            <a:r>
              <a:rPr lang="en-US" b="1" dirty="0" smtClean="0"/>
              <a:t>2</a:t>
            </a:r>
            <a:r>
              <a:rPr lang="en-US" dirty="0" smtClean="0"/>
              <a:t>  </a:t>
            </a:r>
            <a:r>
              <a:rPr lang="en-US" b="1" dirty="0" smtClean="0"/>
              <a:t>B</a:t>
            </a:r>
            <a:r>
              <a:rPr lang="en-US" dirty="0" smtClean="0"/>
              <a:t> All three statements are correct regarding the service portfolio. A service portfolio describes a provider's services in terms of business value and is used to manage the entire lifecycle of all services.</a:t>
            </a:r>
          </a:p>
          <a:p>
            <a:pPr>
              <a:buNone/>
            </a:pPr>
            <a:r>
              <a:rPr lang="en-US" b="1" dirty="0" smtClean="0"/>
              <a:t>3</a:t>
            </a:r>
            <a:r>
              <a:rPr lang="en-US" dirty="0" smtClean="0"/>
              <a:t> </a:t>
            </a:r>
            <a:r>
              <a:rPr lang="en-US" b="1" dirty="0" smtClean="0"/>
              <a:t>C</a:t>
            </a:r>
            <a:r>
              <a:rPr lang="en-US" dirty="0" smtClean="0"/>
              <a:t> The service pipeline is a subset of the overall service portfolio and contains details of business requirements that have not yet become services released to the live environment. Option A refers to the service catalogue, Option B refers to the service portfolio, and Option D refers to retired services.</a:t>
            </a:r>
          </a:p>
          <a:p>
            <a:pPr>
              <a:buNone/>
            </a:pPr>
            <a:r>
              <a:rPr lang="en-US" b="1" dirty="0" smtClean="0"/>
              <a:t>4</a:t>
            </a:r>
            <a:r>
              <a:rPr lang="en-US" dirty="0" smtClean="0"/>
              <a:t> </a:t>
            </a:r>
            <a:r>
              <a:rPr lang="en-US" b="1" dirty="0" smtClean="0"/>
              <a:t>B</a:t>
            </a:r>
            <a:r>
              <a:rPr lang="en-US" dirty="0" smtClean="0"/>
              <a:t> Statement 3 is incorrect. IT governance does not enable process benchmarking. Benchmarking is a process in which </a:t>
            </a:r>
            <a:r>
              <a:rPr lang="en-US" dirty="0" err="1" smtClean="0"/>
              <a:t>organisations</a:t>
            </a:r>
            <a:r>
              <a:rPr lang="en-US" dirty="0" smtClean="0"/>
              <a:t> evaluate their processes in relation to best practice, usually within their own sector.</a:t>
            </a:r>
          </a:p>
          <a:p>
            <a:pPr>
              <a:buNone/>
            </a:pPr>
            <a:r>
              <a:rPr lang="en-US" b="1" dirty="0" smtClean="0"/>
              <a:t>5</a:t>
            </a:r>
            <a:r>
              <a:rPr lang="en-US" dirty="0" smtClean="0"/>
              <a:t> </a:t>
            </a:r>
            <a:r>
              <a:rPr lang="en-US" b="1" dirty="0" smtClean="0"/>
              <a:t>B</a:t>
            </a:r>
            <a:r>
              <a:rPr lang="en-US" dirty="0" smtClean="0"/>
              <a:t> "A business case is a decision support and planning tool that projects the likely consequences of a business action.“</a:t>
            </a:r>
          </a:p>
          <a:p>
            <a:pPr>
              <a:buNone/>
            </a:pPr>
            <a:r>
              <a:rPr lang="en-US" b="1" dirty="0" smtClean="0"/>
              <a:t>6</a:t>
            </a:r>
            <a:r>
              <a:rPr lang="en-US" dirty="0" smtClean="0"/>
              <a:t> </a:t>
            </a:r>
            <a:r>
              <a:rPr lang="en-US" b="1" dirty="0" smtClean="0"/>
              <a:t>A</a:t>
            </a:r>
            <a:r>
              <a:rPr lang="en-US" dirty="0" smtClean="0"/>
              <a:t> Option A refers more specifically to the financial analysis activity required to calculate return on investment as part of business case development.</a:t>
            </a:r>
          </a:p>
          <a:p>
            <a:pPr>
              <a:buNone/>
            </a:pPr>
            <a:r>
              <a:rPr lang="en-US" b="1" dirty="0" smtClean="0"/>
              <a:t>7</a:t>
            </a:r>
            <a:r>
              <a:rPr lang="en-US" dirty="0" smtClean="0"/>
              <a:t> </a:t>
            </a:r>
            <a:r>
              <a:rPr lang="en-US" b="1" dirty="0" smtClean="0"/>
              <a:t>B</a:t>
            </a:r>
            <a:r>
              <a:rPr lang="en-US" dirty="0" smtClean="0"/>
              <a:t> Type I are internal service providers, Type II are shared service units, and Type III are external service providers.</a:t>
            </a:r>
          </a:p>
          <a:p>
            <a:pPr>
              <a:buNone/>
            </a:pPr>
            <a:r>
              <a:rPr lang="en-US" b="1" dirty="0" smtClean="0"/>
              <a:t>8</a:t>
            </a:r>
            <a:r>
              <a:rPr lang="en-US" dirty="0" smtClean="0"/>
              <a:t> </a:t>
            </a:r>
            <a:r>
              <a:rPr lang="en-US" b="1" dirty="0" smtClean="0"/>
              <a:t>C</a:t>
            </a:r>
            <a:r>
              <a:rPr lang="en-US" dirty="0" smtClean="0"/>
              <a:t> "Value is defined not only strictly in terms of the customer's business outcomes. It is also highly dependent on the customer's perceptions. What the customer values is frequently different from what the IT </a:t>
            </a:r>
            <a:r>
              <a:rPr lang="en-US" dirty="0" err="1" smtClean="0"/>
              <a:t>organisation</a:t>
            </a:r>
            <a:r>
              <a:rPr lang="en-US" dirty="0" smtClean="0"/>
              <a:t> believes it provides. It is therefore essential for providers to demonstrate value, influence perceptions and respond to preferences."</a:t>
            </a:r>
            <a:r>
              <a:rPr lang="en-US" b="1" dirty="0" smtClean="0"/>
              <a:t> </a:t>
            </a:r>
          </a:p>
          <a:p>
            <a:pPr>
              <a:buNone/>
            </a:pPr>
            <a:r>
              <a:rPr lang="en-US" b="1" dirty="0" smtClean="0"/>
              <a:t>9</a:t>
            </a:r>
            <a:r>
              <a:rPr lang="en-US" dirty="0" smtClean="0"/>
              <a:t> </a:t>
            </a:r>
            <a:r>
              <a:rPr lang="en-US" b="1" dirty="0" smtClean="0"/>
              <a:t>C</a:t>
            </a:r>
            <a:r>
              <a:rPr lang="en-US" dirty="0" smtClean="0"/>
              <a:t> Rather than focusing inward on the production of services there is a need for providers to look at services from the 'outside in', from the customer's perspective. With a marketing mindset it is possible to understand the components of value from the customer's perspective, providing a deep insight into the challenges and opportunities related to the customer's business.</a:t>
            </a:r>
          </a:p>
          <a:p>
            <a:pPr>
              <a:buNone/>
            </a:pPr>
            <a:r>
              <a:rPr lang="en-US" b="1" dirty="0" smtClean="0"/>
              <a:t>10</a:t>
            </a:r>
            <a:r>
              <a:rPr lang="en-US" dirty="0" smtClean="0"/>
              <a:t>  </a:t>
            </a:r>
            <a:r>
              <a:rPr lang="en-US" b="1" dirty="0" smtClean="0"/>
              <a:t>A</a:t>
            </a:r>
            <a:r>
              <a:rPr lang="en-US" dirty="0" smtClean="0"/>
              <a:t> Fitness for purpose (utility) is the functionality offered by a product or service to meet a particular need. Options B and C both refer to 'warranty', which is 'fitness for use'. The warranty element in Option B is linked to the 'times as agreed in the SLA' and in Option C to 'when required'. Option D is not relevant to the question as utility can equally be provided by internal or outsourced service providers.</a:t>
            </a:r>
          </a:p>
          <a:p>
            <a:pPr>
              <a:buNone/>
            </a:pPr>
            <a:r>
              <a:rPr lang="en-US" b="1" dirty="0" smtClean="0"/>
              <a:t>11</a:t>
            </a:r>
            <a:r>
              <a:rPr lang="en-US" dirty="0" smtClean="0"/>
              <a:t>  </a:t>
            </a:r>
            <a:r>
              <a:rPr lang="en-US" b="1" dirty="0" smtClean="0"/>
              <a:t>C</a:t>
            </a:r>
            <a:r>
              <a:rPr lang="en-US" dirty="0" smtClean="0"/>
              <a:t> It is not an activity of demand management to redesign business processes to match IT resource constraints. Demand management activities enable a service provider to understand and influence customer demand for services, and the provision of capacity to meet these demands.</a:t>
            </a:r>
          </a:p>
          <a:p>
            <a:pPr>
              <a:buNone/>
            </a:pPr>
            <a:r>
              <a:rPr lang="en-US" b="1" dirty="0" smtClean="0"/>
              <a:t>12</a:t>
            </a:r>
            <a:r>
              <a:rPr lang="en-US" dirty="0" smtClean="0"/>
              <a:t>  </a:t>
            </a:r>
            <a:r>
              <a:rPr lang="en-US" b="1" dirty="0" smtClean="0"/>
              <a:t>D</a:t>
            </a:r>
            <a:r>
              <a:rPr lang="en-US" dirty="0" smtClean="0"/>
              <a:t> All of the statements are potential benefits of </a:t>
            </a:r>
            <a:r>
              <a:rPr lang="en-US" dirty="0" err="1" smtClean="0"/>
              <a:t>analysing</a:t>
            </a:r>
            <a:r>
              <a:rPr lang="en-US" dirty="0" smtClean="0"/>
              <a:t> patterns of business activity. Patterns of business activity (PBA) influence the demand pattern seen by service providers and PBA analysis provides input to the service management processes across the lifecycle.</a:t>
            </a:r>
          </a:p>
          <a:p>
            <a:pPr>
              <a:buNone/>
            </a:pPr>
            <a:r>
              <a:rPr lang="en-US" b="1" dirty="0" smtClean="0"/>
              <a:t>13</a:t>
            </a:r>
            <a:r>
              <a:rPr lang="en-US" dirty="0" smtClean="0"/>
              <a:t> </a:t>
            </a:r>
            <a:r>
              <a:rPr lang="en-US" b="1" dirty="0" smtClean="0"/>
              <a:t>D</a:t>
            </a:r>
            <a:r>
              <a:rPr lang="en-US" dirty="0" smtClean="0"/>
              <a:t> Financial management as a strategic tool is equally applicable to all three service provider types. Internal service providers are increasingly asked to operate with the same level of financial visibility and accountability as their business unit and external counterparts.</a:t>
            </a:r>
          </a:p>
          <a:p>
            <a:pPr>
              <a:buNone/>
            </a:pPr>
            <a:r>
              <a:rPr lang="en-US" b="1" dirty="0" smtClean="0"/>
              <a:t>14</a:t>
            </a:r>
            <a:r>
              <a:rPr lang="en-US" dirty="0" smtClean="0"/>
              <a:t>  </a:t>
            </a:r>
            <a:r>
              <a:rPr lang="en-US" b="1" dirty="0" smtClean="0"/>
              <a:t>B</a:t>
            </a:r>
            <a:r>
              <a:rPr lang="en-US" dirty="0" smtClean="0"/>
              <a:t> Option B relates directly to the financial planning required to secure proper funding for the delivery and consumption of services.</a:t>
            </a:r>
          </a:p>
          <a:p>
            <a:pPr>
              <a:buNone/>
            </a:pPr>
            <a:r>
              <a:rPr lang="en-US" b="1" dirty="0" smtClean="0"/>
              <a:t>15</a:t>
            </a:r>
            <a:r>
              <a:rPr lang="en-US" dirty="0" smtClean="0"/>
              <a:t>  </a:t>
            </a:r>
            <a:r>
              <a:rPr lang="en-US" b="1" dirty="0" smtClean="0"/>
              <a:t>C</a:t>
            </a:r>
            <a:r>
              <a:rPr lang="en-US" dirty="0" smtClean="0"/>
              <a:t> Service management is not a process. The other three processes are all found within the service strategy publication. "Service management is a set of </a:t>
            </a:r>
            <a:r>
              <a:rPr lang="en-US" dirty="0" err="1" smtClean="0"/>
              <a:t>specialised</a:t>
            </a:r>
            <a:r>
              <a:rPr lang="en-US" dirty="0" smtClean="0"/>
              <a:t> </a:t>
            </a:r>
            <a:r>
              <a:rPr lang="en-US" dirty="0" err="1" smtClean="0"/>
              <a:t>organisational</a:t>
            </a:r>
            <a:r>
              <a:rPr lang="en-US" dirty="0" smtClean="0"/>
              <a:t> capabilities for providing value to customers in the form of services."! ITIL has become the most widely accepted approach to IT service management across the world.</a:t>
            </a:r>
          </a:p>
          <a:p>
            <a:pPr>
              <a:buNone/>
            </a:pPr>
            <a:r>
              <a:rPr lang="en-US" b="1" dirty="0" smtClean="0"/>
              <a:t>16</a:t>
            </a:r>
            <a:r>
              <a:rPr lang="en-US" dirty="0" smtClean="0"/>
              <a:t> </a:t>
            </a:r>
            <a:r>
              <a:rPr lang="en-US" b="1" dirty="0" smtClean="0"/>
              <a:t>B</a:t>
            </a:r>
            <a:r>
              <a:rPr lang="en-US" dirty="0" smtClean="0"/>
              <a:t> Business relationship management (BRM) is responsible for representing the service provider to the customer senior management, and obtaining strategic requirements. BRM will work closely with service level management (SLM) to ensure services deliver the agreed outcomes. BRM therefore works at the strategic and tactical levels. SLM works mostly at the tactical and operational levels.</a:t>
            </a:r>
          </a:p>
          <a:p>
            <a:pPr>
              <a:buNone/>
            </a:pPr>
            <a:r>
              <a:rPr lang="en-US" b="1" dirty="0" smtClean="0"/>
              <a:t>17</a:t>
            </a:r>
            <a:r>
              <a:rPr lang="en-US" dirty="0" smtClean="0"/>
              <a:t>  </a:t>
            </a:r>
            <a:r>
              <a:rPr lang="en-US" b="1" dirty="0" smtClean="0"/>
              <a:t>C</a:t>
            </a:r>
            <a:r>
              <a:rPr lang="en-US" dirty="0" smtClean="0"/>
              <a:t> An external customer works for a different </a:t>
            </a:r>
            <a:r>
              <a:rPr lang="en-US" dirty="0" err="1" smtClean="0"/>
              <a:t>organisation</a:t>
            </a:r>
            <a:r>
              <a:rPr lang="en-US" dirty="0" smtClean="0"/>
              <a:t>, and will pay for the services used. Options A and B are internal customers as they work for the same </a:t>
            </a:r>
            <a:r>
              <a:rPr lang="en-US" dirty="0" err="1" smtClean="0"/>
              <a:t>organisation</a:t>
            </a:r>
            <a:r>
              <a:rPr lang="en-US" dirty="0" smtClean="0"/>
              <a:t>. In option D it is possible for an SLA to describe an externally provided service, however SLAs are used for both internal and external customers therefore this is not the 'best' description offered in the options.</a:t>
            </a:r>
          </a:p>
          <a:p>
            <a:pPr>
              <a:buNone/>
            </a:pPr>
            <a:r>
              <a:rPr lang="en-US" b="1" dirty="0" smtClean="0"/>
              <a:t>18</a:t>
            </a:r>
            <a:r>
              <a:rPr lang="en-US" dirty="0" smtClean="0"/>
              <a:t>  </a:t>
            </a:r>
            <a:r>
              <a:rPr lang="en-US" b="1" dirty="0" smtClean="0"/>
              <a:t>D</a:t>
            </a:r>
            <a:r>
              <a:rPr lang="en-US" dirty="0" smtClean="0"/>
              <a:t> This is the ITIL description of 'patterns'. Perspective describes the vision and direction of the </a:t>
            </a:r>
            <a:r>
              <a:rPr lang="en-US" dirty="0" err="1" smtClean="0"/>
              <a:t>organisation</a:t>
            </a:r>
            <a:r>
              <a:rPr lang="en-US" dirty="0" smtClean="0"/>
              <a:t> and gives an </a:t>
            </a:r>
            <a:r>
              <a:rPr lang="en-US" dirty="0" err="1" smtClean="0"/>
              <a:t>organisation</a:t>
            </a:r>
            <a:r>
              <a:rPr lang="en-US" dirty="0" smtClean="0"/>
              <a:t> its distinctiveness. Position is how an </a:t>
            </a:r>
            <a:r>
              <a:rPr lang="en-US" dirty="0" err="1" smtClean="0"/>
              <a:t>organisation</a:t>
            </a:r>
            <a:r>
              <a:rPr lang="en-US" dirty="0" smtClean="0"/>
              <a:t> intends to compete in the market, for example 'lowest price'. Plan describes the activities an </a:t>
            </a:r>
            <a:r>
              <a:rPr lang="en-US" dirty="0" err="1" smtClean="0"/>
              <a:t>organisation</a:t>
            </a:r>
            <a:r>
              <a:rPr lang="en-US" dirty="0" smtClean="0"/>
              <a:t> will take to achieve its objectives.</a:t>
            </a:r>
          </a:p>
          <a:p>
            <a:pPr>
              <a:buNone/>
            </a:pPr>
            <a:r>
              <a:rPr lang="en-US" b="1" dirty="0" smtClean="0"/>
              <a:t>19</a:t>
            </a:r>
            <a:r>
              <a:rPr lang="en-US" dirty="0" smtClean="0"/>
              <a:t>  </a:t>
            </a:r>
            <a:r>
              <a:rPr lang="en-US" b="1" dirty="0" smtClean="0"/>
              <a:t>A</a:t>
            </a:r>
            <a:r>
              <a:rPr lang="en-US" dirty="0" smtClean="0"/>
              <a:t> ITIL does not recommended specific auditing techniques to ensure industry compliance. ITIL does however recommend that regular audits are carried out. The other statements are all correct.</a:t>
            </a:r>
          </a:p>
          <a:p>
            <a:pPr>
              <a:buNone/>
            </a:pPr>
            <a:r>
              <a:rPr lang="en-US" b="1" dirty="0" smtClean="0"/>
              <a:t>20</a:t>
            </a:r>
            <a:r>
              <a:rPr lang="en-US" dirty="0" smtClean="0"/>
              <a:t>  </a:t>
            </a:r>
            <a:r>
              <a:rPr lang="en-US" b="1" dirty="0" smtClean="0"/>
              <a:t>A</a:t>
            </a:r>
            <a:r>
              <a:rPr lang="en-US" dirty="0" smtClean="0"/>
              <a:t> Information is a resource and knowledge is a capability. Resources and capabilities are both types of service asset.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887</TotalTime>
  <Words>1469</Words>
  <Application>Microsoft Office PowerPoint</Application>
  <PresentationFormat>On-screen Show (4:3)</PresentationFormat>
  <Paragraphs>286</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ITIL</vt:lpstr>
      <vt:lpstr>ITIL Framework</vt:lpstr>
      <vt:lpstr>THE ITIL CORE</vt:lpstr>
      <vt:lpstr>THE ITIL CORE</vt:lpstr>
      <vt:lpstr>Service Strategy</vt:lpstr>
      <vt:lpstr>Service Strategy</vt:lpstr>
      <vt:lpstr>SERVICE MANAGEMENT AS A STRATEGIC ASSET</vt:lpstr>
      <vt:lpstr>Service Management</vt:lpstr>
      <vt:lpstr>Concept: Value creation</vt:lpstr>
      <vt:lpstr>Components of value</vt:lpstr>
      <vt:lpstr>Concept: Value creation</vt:lpstr>
      <vt:lpstr>STRATEGIC ASSET</vt:lpstr>
      <vt:lpstr>DEVELOPING STRATEGY FOR SPECIFIC SERVICES</vt:lpstr>
      <vt:lpstr>Service Strategy</vt:lpstr>
      <vt:lpstr>SERVICE ASSETS</vt:lpstr>
      <vt:lpstr>Concept: Utility and warranty</vt:lpstr>
      <vt:lpstr>SERVICE PACKAGE</vt:lpstr>
      <vt:lpstr>SERVICE OPTION</vt:lpstr>
      <vt:lpstr>Service Portfolio Management</vt:lpstr>
      <vt:lpstr>Service Portfolio Management</vt:lpstr>
      <vt:lpstr>Service Portfolio Management</vt:lpstr>
      <vt:lpstr>Concept: Service Portfolio</vt:lpstr>
      <vt:lpstr>Concept: Service Portfolio</vt:lpstr>
      <vt:lpstr>Financial Management for IT Services (FMITS)</vt:lpstr>
      <vt:lpstr>Financial Management for IT Services (FMITS)</vt:lpstr>
      <vt:lpstr>Business Relationship Management (BRM)</vt:lpstr>
      <vt:lpstr>Quiz</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ITIL</dc:title>
  <dc:creator>Administrator</dc:creator>
  <cp:lastModifiedBy>Administrator</cp:lastModifiedBy>
  <cp:revision>104</cp:revision>
  <dcterms:created xsi:type="dcterms:W3CDTF">2013-05-15T06:01:45Z</dcterms:created>
  <dcterms:modified xsi:type="dcterms:W3CDTF">2013-05-17T04:08:04Z</dcterms:modified>
</cp:coreProperties>
</file>